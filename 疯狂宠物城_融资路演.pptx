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1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39.png"/><Relationship Id="rId3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4288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39805" y="0"/>
            <a:ext cx="7048195" cy="10287000"/>
          </a:xfrm>
          <a:prstGeom prst="rect">
            <a:avLst/>
          </a:prstGeom>
          <a:solidFill>
            <a:srgbClr val="EDED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4e954339e028d100677b67e529cb06d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38098" y="5848502"/>
            <a:ext cx="8572500" cy="9144"/>
          </a:xfrm>
          <a:prstGeom prst="rect">
            <a:avLst/>
          </a:prstGeom>
        </p:spPr>
      </p:pic>
      <p:pic>
        <p:nvPicPr>
          <p:cNvPr id="6" name="Image 2" descr="gen-dedup-2a2a78d286d8638e7da3303339b0579c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>
            <a:fillRect/>
          </a:stretch>
        </p:blipFill>
        <p:spPr>
          <a:xfrm>
            <a:off x="1238098" y="8572500"/>
            <a:ext cx="8572500" cy="9144"/>
          </a:xfrm>
          <a:prstGeom prst="rect">
            <a:avLst/>
          </a:prstGeom>
        </p:spPr>
      </p:pic>
      <p:pic>
        <p:nvPicPr>
          <p:cNvPr id="7" name="Image 3" descr="gen-dedup-292c198aa7f5b9dbeebc2add1bd9d48a.png"/>
          <p:cNvPicPr>
            <a:picLocks noChangeAspect="1"/>
          </p:cNvPicPr>
          <p:nvPr/>
        </p:nvPicPr>
        <p:blipFill>
          <a:blip r:embed="rId4"/>
          <a:srcRect t="-2083" b="-2083"/>
          <a:stretch>
            <a:fillRect/>
          </a:stretch>
        </p:blipFill>
        <p:spPr>
          <a:xfrm>
            <a:off x="11239805" y="0"/>
            <a:ext cx="9144" cy="10287000"/>
          </a:xfrm>
          <a:prstGeom prst="rect">
            <a:avLst/>
          </a:prstGeom>
        </p:spPr>
      </p:pic>
      <p:pic>
        <p:nvPicPr>
          <p:cNvPr id="17" name="Image 8" descr="gen-dedup-44e588de7fa6c03f7f513974a6fe718a.png"/>
          <p:cNvPicPr>
            <a:picLocks noChangeAspect="1"/>
          </p:cNvPicPr>
          <p:nvPr/>
        </p:nvPicPr>
        <p:blipFill>
          <a:blip r:embed="rId5"/>
          <a:srcRect l="-429" r="-429"/>
          <a:stretch>
            <a:fillRect/>
          </a:stretch>
        </p:blipFill>
        <p:spPr>
          <a:xfrm>
            <a:off x="1238098" y="1429207"/>
            <a:ext cx="609905" cy="28346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238098" y="1714500"/>
            <a:ext cx="85725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疯狂宠物城 · AI 陪伴平台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238098" y="2495398"/>
            <a:ext cx="9144000" cy="1905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疯狂宠物城：让AI角色</a:t>
            </a:r>
            <a:endParaRPr lang="en-US" sz="4500" dirty="0"/>
          </a:p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真正生活在世界里的陪伴平台</a:t>
            </a:r>
            <a:endParaRPr lang="en-US" sz="4500" dirty="0"/>
          </a:p>
        </p:txBody>
      </p:sp>
      <p:sp>
        <p:nvSpPr>
          <p:cNvPr id="21" name="Text 10"/>
          <p:cNvSpPr txBox="1"/>
          <p:nvPr/>
        </p:nvSpPr>
        <p:spPr>
          <a:xfrm>
            <a:off x="1238098" y="4608576"/>
            <a:ext cx="8382305" cy="801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用虚拟世界、关系智能与现实硬件入口，做新</a:t>
            </a:r>
            <a:endParaRPr lang="en-US" sz="1950" dirty="0"/>
          </a:p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一代AI陪伴产品</a:t>
            </a:r>
            <a:endParaRPr lang="en-US" sz="1950" dirty="0"/>
          </a:p>
        </p:txBody>
      </p:sp>
      <p:sp>
        <p:nvSpPr>
          <p:cNvPr id="22" name="Text 11"/>
          <p:cNvSpPr txBox="1"/>
          <p:nvPr/>
        </p:nvSpPr>
        <p:spPr>
          <a:xfrm>
            <a:off x="1238098" y="62298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125" dirty="0"/>
          </a:p>
        </p:txBody>
      </p:sp>
      <p:sp>
        <p:nvSpPr>
          <p:cNvPr id="23" name="Text 12"/>
          <p:cNvSpPr txBox="1"/>
          <p:nvPr/>
        </p:nvSpPr>
        <p:spPr>
          <a:xfrm>
            <a:off x="1657807" y="62298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打造持续存在、持续行动、持续关系的AI角色世界</a:t>
            </a:r>
            <a:endParaRPr lang="en-US" sz="1575" dirty="0"/>
          </a:p>
        </p:txBody>
      </p:sp>
      <p:sp>
        <p:nvSpPr>
          <p:cNvPr id="24" name="Text 13"/>
          <p:cNvSpPr txBox="1"/>
          <p:nvPr/>
        </p:nvSpPr>
        <p:spPr>
          <a:xfrm>
            <a:off x="1238098" y="69156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125" dirty="0"/>
          </a:p>
        </p:txBody>
      </p:sp>
      <p:sp>
        <p:nvSpPr>
          <p:cNvPr id="25" name="Text 14"/>
          <p:cNvSpPr txBox="1"/>
          <p:nvPr/>
        </p:nvSpPr>
        <p:spPr>
          <a:xfrm>
            <a:off x="1657807" y="69156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核心形态 = 虚拟AI角色 + 长期关系系统 + 现实硬件入口</a:t>
            </a:r>
            <a:endParaRPr lang="en-US" sz="1575" dirty="0"/>
          </a:p>
        </p:txBody>
      </p:sp>
      <p:sp>
        <p:nvSpPr>
          <p:cNvPr id="26" name="Text 15"/>
          <p:cNvSpPr txBox="1"/>
          <p:nvPr/>
        </p:nvSpPr>
        <p:spPr>
          <a:xfrm>
            <a:off x="1238098" y="76014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125" dirty="0"/>
          </a:p>
        </p:txBody>
      </p:sp>
      <p:sp>
        <p:nvSpPr>
          <p:cNvPr id="27" name="Text 16"/>
          <p:cNvSpPr txBox="1"/>
          <p:nvPr/>
        </p:nvSpPr>
        <p:spPr>
          <a:xfrm>
            <a:off x="1657807" y="76014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商业目标是数字世界与实体终端协同的长期陪伴平台</a:t>
            </a:r>
            <a:endParaRPr lang="en-US" sz="1575" dirty="0"/>
          </a:p>
        </p:txBody>
      </p:sp>
      <p:sp>
        <p:nvSpPr>
          <p:cNvPr id="28" name="Text 17"/>
          <p:cNvSpPr txBox="1"/>
          <p:nvPr/>
        </p:nvSpPr>
        <p:spPr>
          <a:xfrm>
            <a:off x="1238098" y="8858707"/>
            <a:ext cx="8572500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虚拟AI角色 · 长期关系系统 · 现实硬件入口</a:t>
            </a:r>
            <a:endParaRPr lang="en-US" sz="1200" dirty="0"/>
          </a:p>
        </p:txBody>
      </p:sp>
      <p:sp>
        <p:nvSpPr>
          <p:cNvPr id="40" name="TextBox 40"/>
          <p:cNvSpPr txBox="1"/>
          <p:nvPr/>
        </p:nvSpPr>
        <p:spPr>
          <a:xfrm>
            <a:off x="13330238" y="2286000"/>
            <a:ext cx="285750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虚拟世界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持续运行的世界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644313" y="7829550"/>
            <a:ext cx="257175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关系智能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记忆·情绪·人格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5301913" y="7829550"/>
            <a:ext cx="257175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硬件入口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吧唧·桌面实体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3" name="Shape 43"/>
          <p:cNvSpPr/>
          <p:nvPr/>
        </p:nvSpPr>
        <p:spPr>
          <a:xfrm>
            <a:off x="12472988" y="3143250"/>
            <a:ext cx="4572000" cy="4572000"/>
          </a:xfrm>
          <a:prstGeom prst="ellipse">
            <a:avLst/>
          </a:prstGeom>
          <a:solidFill>
            <a:srgbClr val="E8C9A3"/>
          </a:solidFill>
        </p:spPr>
        <p:txBody>
          <a:bodyPr wrap="square" rtlCol="0"/>
          <a:lstStyle/>
          <a:p/>
        </p:txBody>
      </p:sp>
      <p:sp>
        <p:nvSpPr>
          <p:cNvPr id="47" name="Shape 47"/>
          <p:cNvSpPr/>
          <p:nvPr/>
        </p:nvSpPr>
        <p:spPr>
          <a:xfrm>
            <a:off x="13015913" y="3686175"/>
            <a:ext cx="3486150" cy="3486150"/>
          </a:xfrm>
          <a:prstGeom prst="ellipse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48" name="Shape 48"/>
          <p:cNvSpPr/>
          <p:nvPr/>
        </p:nvSpPr>
        <p:spPr>
          <a:xfrm>
            <a:off x="13330238" y="4000500"/>
            <a:ext cx="2857500" cy="2857500"/>
          </a:xfrm>
          <a:prstGeom prst="ellipse">
            <a:avLst/>
          </a:prstGeom>
          <a:solidFill>
            <a:srgbClr val="5A6470"/>
          </a:solidFill>
        </p:spPr>
        <p:txBody>
          <a:bodyPr wrap="square" rtlCol="0"/>
          <a:lstStyle/>
          <a:p>
            <a:pPr algn="ctr"/>
          </a:p>
          <a:p>
            <a:pPr algn="ctr"/>
          </a:p>
          <a:p>
            <a:pPr algn="ctr"/>
          </a:p>
          <a:p>
            <a:pPr algn="ctr"/>
            <a:r>
              <a:rPr sz="2200" b="1">
                <a:solidFill>
                  <a:srgbClr val="FFFFFF"/>
                </a:solidFill>
              </a:rPr>
              <a:t>Agent角色</a:t>
            </a:r>
            <a:endParaRPr sz="2200" b="1">
              <a:solidFill>
                <a:srgbClr val="FFFFFF"/>
              </a:solidFill>
            </a:endParaRPr>
          </a:p>
          <a:p>
            <a:pPr algn="ctr"/>
          </a:p>
          <a:p>
            <a:pPr algn="ctr"/>
            <a:r>
              <a:rPr sz="1100">
                <a:solidFill>
                  <a:srgbClr val="DCDCD4"/>
                </a:solidFill>
              </a:rPr>
              <a:t>持续存在 · 持续行动</a:t>
            </a:r>
            <a:endParaRPr sz="1100">
              <a:solidFill>
                <a:srgbClr val="DCDCD4"/>
              </a:solidFill>
            </a:endParaRPr>
          </a:p>
        </p:txBody>
      </p:sp>
      <p:sp>
        <p:nvSpPr>
          <p:cNvPr id="49" name="Shape 49"/>
          <p:cNvSpPr/>
          <p:nvPr/>
        </p:nvSpPr>
        <p:spPr>
          <a:xfrm>
            <a:off x="14730413" y="3143250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50" name="Shape 50"/>
          <p:cNvSpPr/>
          <p:nvPr/>
        </p:nvSpPr>
        <p:spPr>
          <a:xfrm rot="-3600000">
            <a:off x="14730413" y="6429375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51" name="Shape 51"/>
          <p:cNvSpPr/>
          <p:nvPr/>
        </p:nvSpPr>
        <p:spPr>
          <a:xfrm rot="3600000">
            <a:off x="14730413" y="6429375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AI陪伴缺的不是对话，而是长期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关系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现有产品停留在「会聊天」，Agent时代让关系型AI具备落地可能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3"/>
          <a:stretch>
            <a:fillRect/>
          </a:stretch>
        </p:blipFill>
        <p:spPr>
          <a:xfrm>
            <a:off x="1238250" y="2800985"/>
            <a:ext cx="7651750" cy="4292600"/>
          </a:xfrm>
          <a:prstGeom prst="rect">
            <a:avLst/>
          </a:prstGeom>
        </p:spPr>
      </p:pic>
      <p:sp>
        <p:nvSpPr>
          <p:cNvPr id="5" name="AutoShape 4"/>
          <p:cNvSpPr/>
          <p:nvPr/>
        </p:nvSpPr>
        <p:spPr>
          <a:xfrm>
            <a:off x="9164955" y="2800985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/>
        </p:nvSpPr>
        <p:spPr>
          <a:xfrm>
            <a:off x="9164955" y="2800985"/>
            <a:ext cx="3378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6"/>
          <p:cNvSpPr/>
          <p:nvPr/>
        </p:nvSpPr>
        <p:spPr>
          <a:xfrm>
            <a:off x="9355455" y="2919730"/>
            <a:ext cx="2997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&lt;20%</a:t>
            </a:r>
            <a:endParaRPr lang="en-US" sz="4000" b="1" i="0" u="none" strike="noStrike">
              <a:solidFill>
                <a:srgbClr val="F9731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9355455" y="3880485"/>
            <a:ext cx="29972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三日留存率</a:t>
            </a:r>
            <a:endParaRPr lang="en-US" sz="1100"/>
          </a:p>
        </p:txBody>
      </p:sp>
      <p:sp>
        <p:nvSpPr>
          <p:cNvPr id="9" name="AutoShape 8"/>
          <p:cNvSpPr/>
          <p:nvPr/>
        </p:nvSpPr>
        <p:spPr>
          <a:xfrm>
            <a:off x="9355455" y="4236085"/>
            <a:ext cx="29972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当前AI陪伴市场看似繁荣,但用户平均与单个AI角色建立联系的时长仅为5-7天,三日留存率普遍跌破20%。</a:t>
            </a:r>
            <a:endParaRPr lang="en-US" sz="1100"/>
          </a:p>
        </p:txBody>
      </p:sp>
      <p:sp>
        <p:nvSpPr>
          <p:cNvPr id="10" name="AutoShape 9"/>
          <p:cNvSpPr/>
          <p:nvPr/>
        </p:nvSpPr>
        <p:spPr>
          <a:xfrm>
            <a:off x="13024485" y="280289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0"/>
          <p:cNvSpPr/>
          <p:nvPr/>
        </p:nvSpPr>
        <p:spPr>
          <a:xfrm>
            <a:off x="13024485" y="2802890"/>
            <a:ext cx="3378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1"/>
          <p:cNvSpPr/>
          <p:nvPr/>
        </p:nvSpPr>
        <p:spPr>
          <a:xfrm>
            <a:off x="13214985" y="2921635"/>
            <a:ext cx="2997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5-7天</a:t>
            </a:r>
            <a:endParaRPr lang="en-US" sz="4000" b="1" i="0" u="none" strike="noStrike">
              <a:solidFill>
                <a:srgbClr val="F9731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2"/>
          <p:cNvSpPr/>
          <p:nvPr/>
        </p:nvSpPr>
        <p:spPr>
          <a:xfrm>
            <a:off x="13214985" y="3882390"/>
            <a:ext cx="29972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平均关系时长</a:t>
            </a:r>
            <a:endParaRPr lang="en-US" sz="1100"/>
          </a:p>
        </p:txBody>
      </p:sp>
      <p:sp>
        <p:nvSpPr>
          <p:cNvPr id="14" name="AutoShape 13"/>
          <p:cNvSpPr/>
          <p:nvPr/>
        </p:nvSpPr>
        <p:spPr>
          <a:xfrm>
            <a:off x="13214985" y="4237990"/>
            <a:ext cx="29972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产品普遍困于"高级工具"定位,内核是任务驱动而非关系驱动。用户需要的是能记住、在乎并共同成长的伙伴。</a:t>
            </a:r>
            <a:endParaRPr lang="en-US" sz="1100"/>
          </a:p>
        </p:txBody>
      </p:sp>
      <p:sp>
        <p:nvSpPr>
          <p:cNvPr id="15" name="AutoShape 14"/>
          <p:cNvSpPr/>
          <p:nvPr/>
        </p:nvSpPr>
        <p:spPr>
          <a:xfrm>
            <a:off x="9164955" y="5226685"/>
            <a:ext cx="7238365" cy="153352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5"/>
          <p:cNvSpPr/>
          <p:nvPr/>
        </p:nvSpPr>
        <p:spPr>
          <a:xfrm>
            <a:off x="9164955" y="5226685"/>
            <a:ext cx="7238365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6"/>
          <p:cNvSpPr/>
          <p:nvPr/>
        </p:nvSpPr>
        <p:spPr>
          <a:xfrm>
            <a:off x="9355455" y="5345430"/>
            <a:ext cx="6421755" cy="613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三大缺失</a:t>
            </a:r>
            <a:endParaRPr lang="en-US" sz="4000" b="1" i="0" u="none" strike="noStrike">
              <a:solidFill>
                <a:srgbClr val="F9731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7"/>
          <p:cNvSpPr/>
          <p:nvPr/>
        </p:nvSpPr>
        <p:spPr>
          <a:xfrm>
            <a:off x="9355455" y="6001385"/>
            <a:ext cx="6421755" cy="2660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记忆·情感·</a:t>
            </a:r>
            <a:r>
              <a:rPr lang="zh-CN" alt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性格</a:t>
            </a:r>
            <a:endParaRPr lang="zh-CN" altLang="en-US" sz="1800" b="1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8"/>
          <p:cNvSpPr/>
          <p:nvPr/>
        </p:nvSpPr>
        <p:spPr>
          <a:xfrm>
            <a:off x="9355455" y="6356985"/>
            <a:ext cx="642175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对话局限于单次会话,无法跨时间延续;仅能通过关键词识别情感,无法做到同频;AI被设计成完美客体,关系退化为服务。</a:t>
            </a:r>
            <a:endParaRPr lang="en-US" sz="1100"/>
          </a:p>
        </p:txBody>
      </p:sp>
      <p:cxnSp>
        <p:nvCxnSpPr>
          <p:cNvPr id="20" name="Connector 19"/>
          <p:cNvCxnSpPr/>
          <p:nvPr/>
        </p:nvCxnSpPr>
        <p:spPr>
          <a:xfrm rot="-4092">
            <a:off x="6191889" y="984758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0"/>
          <p:cNvSpPr/>
          <p:nvPr/>
        </p:nvSpPr>
        <p:spPr>
          <a:xfrm>
            <a:off x="1306195" y="7322185"/>
            <a:ext cx="4831715" cy="19411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1"/>
          <p:cNvSpPr/>
          <p:nvPr/>
        </p:nvSpPr>
        <p:spPr>
          <a:xfrm>
            <a:off x="1384300" y="7430135"/>
            <a:ext cx="126365" cy="1369695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2"/>
          <p:cNvSpPr/>
          <p:nvPr/>
        </p:nvSpPr>
        <p:spPr>
          <a:xfrm>
            <a:off x="1574800" y="7557135"/>
            <a:ext cx="4286885" cy="4806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记忆断裂,缺乏延续性</a:t>
            </a:r>
            <a:endParaRPr lang="en-US" sz="1100"/>
          </a:p>
        </p:txBody>
      </p:sp>
      <p:sp>
        <p:nvSpPr>
          <p:cNvPr id="24" name="AutoShape 23"/>
          <p:cNvSpPr/>
          <p:nvPr/>
        </p:nvSpPr>
        <p:spPr>
          <a:xfrm>
            <a:off x="1574800" y="8001635"/>
            <a:ext cx="4359910" cy="10166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对话局限于单次会话,无法跨时间延续,每次互动都像面对陌生人。</a:t>
            </a:r>
            <a:endParaRPr lang="en-US" sz="1100"/>
          </a:p>
        </p:txBody>
      </p:sp>
      <p:sp>
        <p:nvSpPr>
          <p:cNvPr id="25" name="AutoShape 24"/>
          <p:cNvSpPr/>
          <p:nvPr/>
        </p:nvSpPr>
        <p:spPr>
          <a:xfrm>
            <a:off x="6281420" y="7233285"/>
            <a:ext cx="4831715" cy="19411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5"/>
          <p:cNvSpPr/>
          <p:nvPr/>
        </p:nvSpPr>
        <p:spPr>
          <a:xfrm flipH="1">
            <a:off x="6266815" y="7233285"/>
            <a:ext cx="76200" cy="140081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6"/>
          <p:cNvSpPr/>
          <p:nvPr/>
        </p:nvSpPr>
        <p:spPr>
          <a:xfrm>
            <a:off x="6471920" y="7360285"/>
            <a:ext cx="4286885" cy="4806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情感浅层,难以同频</a:t>
            </a:r>
            <a:endParaRPr lang="en-US" sz="1100"/>
          </a:p>
        </p:txBody>
      </p:sp>
      <p:sp>
        <p:nvSpPr>
          <p:cNvPr id="28" name="AutoShape 27"/>
          <p:cNvSpPr/>
          <p:nvPr/>
        </p:nvSpPr>
        <p:spPr>
          <a:xfrm>
            <a:off x="6471920" y="7804785"/>
            <a:ext cx="4359910" cy="10166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仅能通过关键词识别情感,无法捕捉复杂情绪,做不到真正的同频共振。</a:t>
            </a:r>
            <a:endParaRPr lang="en-US" sz="1100"/>
          </a:p>
        </p:txBody>
      </p:sp>
      <p:sp>
        <p:nvSpPr>
          <p:cNvPr id="29" name="AutoShape 28"/>
          <p:cNvSpPr/>
          <p:nvPr/>
        </p:nvSpPr>
        <p:spPr>
          <a:xfrm>
            <a:off x="11163935" y="7430135"/>
            <a:ext cx="5480685" cy="148780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29"/>
          <p:cNvSpPr/>
          <p:nvPr/>
        </p:nvSpPr>
        <p:spPr>
          <a:xfrm>
            <a:off x="11438255" y="7430135"/>
            <a:ext cx="127000" cy="139065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0"/>
          <p:cNvSpPr/>
          <p:nvPr/>
        </p:nvSpPr>
        <p:spPr>
          <a:xfrm>
            <a:off x="11734165" y="7557135"/>
            <a:ext cx="4668520" cy="4806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关系单向,无双向羁绊</a:t>
            </a:r>
            <a:endParaRPr lang="en-US" sz="1100"/>
          </a:p>
        </p:txBody>
      </p:sp>
      <p:sp>
        <p:nvSpPr>
          <p:cNvPr id="32" name="AutoShape 31"/>
          <p:cNvSpPr/>
          <p:nvPr/>
        </p:nvSpPr>
        <p:spPr>
          <a:xfrm>
            <a:off x="11734165" y="8001635"/>
            <a:ext cx="4747895" cy="10166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AI被设计成完美客体,从不"需要"用户,关系退化为纯粹的服务供给。</a:t>
            </a:r>
            <a:endParaRPr lang="en-US" sz="1100"/>
          </a:p>
        </p:txBody>
      </p:sp>
      <p:sp>
        <p:nvSpPr>
          <p:cNvPr id="33" name="AutoShape 32"/>
          <p:cNvSpPr/>
          <p:nvPr/>
        </p:nvSpPr>
        <p:spPr>
          <a:xfrm>
            <a:off x="1384300" y="9017635"/>
            <a:ext cx="15259685" cy="92456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3"/>
          <p:cNvSpPr/>
          <p:nvPr/>
        </p:nvSpPr>
        <p:spPr>
          <a:xfrm>
            <a:off x="1384300" y="9119235"/>
            <a:ext cx="15259685" cy="628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做"关系型陪伴"。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5" name="Image 2" descr="gen-dedup-f70524bbc0962bb78a1f6f13a19f2a1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0098075" y="7440447"/>
            <a:ext cx="6953098" cy="9144"/>
          </a:xfrm>
          <a:prstGeom prst="rect">
            <a:avLst/>
          </a:prstGeom>
        </p:spPr>
      </p:pic>
      <p:pic>
        <p:nvPicPr>
          <p:cNvPr id="6" name="Image 3" descr="gen-dedup-f70524bbc0962bb78a1f6f13a19f2a1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0096170" y="8582508"/>
            <a:ext cx="6953098" cy="9144"/>
          </a:xfrm>
          <a:prstGeom prst="rect">
            <a:avLst/>
          </a:prstGeom>
        </p:spPr>
      </p:pic>
      <p:pic>
        <p:nvPicPr>
          <p:cNvPr id="7" name="Image 4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9258300"/>
            <a:ext cx="15811805" cy="9144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10097770" y="2800985"/>
            <a:ext cx="7086600" cy="3990975"/>
            <a:chOff x="3119" y="5970"/>
            <a:chExt cx="11160" cy="6285"/>
          </a:xfrm>
        </p:grpSpPr>
        <p:sp>
          <p:nvSpPr>
            <p:cNvPr id="9" name="Shape 2"/>
            <p:cNvSpPr/>
            <p:nvPr/>
          </p:nvSpPr>
          <p:spPr>
            <a:xfrm>
              <a:off x="5999" y="8356"/>
              <a:ext cx="5400" cy="2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6181D"/>
              </a:solidFill>
              <a:prstDash val="solid"/>
            </a:ln>
          </p:spPr>
        </p:sp>
        <p:sp>
          <p:nvSpPr>
            <p:cNvPr id="10" name="Text 3"/>
            <p:cNvSpPr txBox="1"/>
            <p:nvPr/>
          </p:nvSpPr>
          <p:spPr>
            <a:xfrm>
              <a:off x="5999" y="8835"/>
              <a:ext cx="5400" cy="51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25" b="1" kern="0" spc="41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虚拟世界</a:t>
              </a:r>
              <a:endParaRPr lang="en-US" sz="2025" dirty="0"/>
            </a:p>
          </p:txBody>
        </p:sp>
        <p:sp>
          <p:nvSpPr>
            <p:cNvPr id="11" name="Text 4"/>
            <p:cNvSpPr txBox="1"/>
            <p:nvPr/>
          </p:nvSpPr>
          <p:spPr>
            <a:xfrm>
              <a:off x="5999" y="9436"/>
              <a:ext cx="5400" cy="3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125" kern="0" spc="90" dirty="0">
                  <a:solidFill>
                    <a:srgbClr val="B45309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关系的容器</a:t>
              </a:r>
              <a:endParaRPr lang="en-US" sz="1125" dirty="0"/>
            </a:p>
          </p:txBody>
        </p:sp>
        <p:sp>
          <p:nvSpPr>
            <p:cNvPr id="12" name="Shape 5"/>
            <p:cNvSpPr/>
            <p:nvPr/>
          </p:nvSpPr>
          <p:spPr>
            <a:xfrm>
              <a:off x="6749" y="6556"/>
              <a:ext cx="3900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2C2B6"/>
              </a:solidFill>
              <a:prstDash val="solid"/>
            </a:ln>
          </p:spPr>
        </p:sp>
        <p:sp>
          <p:nvSpPr>
            <p:cNvPr id="13" name="Text 6"/>
            <p:cNvSpPr txBox="1"/>
            <p:nvPr/>
          </p:nvSpPr>
          <p:spPr>
            <a:xfrm>
              <a:off x="6749" y="6855"/>
              <a:ext cx="3901" cy="39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25" dirty="0">
                  <a:solidFill>
                    <a:srgbClr val="4A4A42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用户</a:t>
              </a:r>
              <a:endParaRPr lang="en-US" sz="1425" dirty="0"/>
            </a:p>
          </p:txBody>
        </p:sp>
        <p:sp>
          <p:nvSpPr>
            <p:cNvPr id="14" name="Shape 7"/>
            <p:cNvSpPr/>
            <p:nvPr/>
          </p:nvSpPr>
          <p:spPr>
            <a:xfrm>
              <a:off x="6749" y="11295"/>
              <a:ext cx="3900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2C2B6"/>
              </a:solidFill>
              <a:prstDash val="solid"/>
            </a:ln>
          </p:spPr>
        </p:sp>
        <p:sp>
          <p:nvSpPr>
            <p:cNvPr id="15" name="Text 8"/>
            <p:cNvSpPr txBox="1"/>
            <p:nvPr/>
          </p:nvSpPr>
          <p:spPr>
            <a:xfrm>
              <a:off x="6749" y="11596"/>
              <a:ext cx="3901" cy="39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25" dirty="0">
                  <a:solidFill>
                    <a:srgbClr val="4A4A42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关系</a:t>
              </a:r>
              <a:endParaRPr lang="en-US" sz="1425" dirty="0"/>
            </a:p>
          </p:txBody>
        </p:sp>
        <p:sp>
          <p:nvSpPr>
            <p:cNvPr id="16" name="Shape 9"/>
            <p:cNvSpPr/>
            <p:nvPr/>
          </p:nvSpPr>
          <p:spPr>
            <a:xfrm>
              <a:off x="3119" y="8925"/>
              <a:ext cx="2280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2C2B6"/>
              </a:solidFill>
              <a:prstDash val="solid"/>
            </a:ln>
          </p:spPr>
        </p:sp>
        <p:sp>
          <p:nvSpPr>
            <p:cNvPr id="17" name="Text 10"/>
            <p:cNvSpPr txBox="1"/>
            <p:nvPr/>
          </p:nvSpPr>
          <p:spPr>
            <a:xfrm>
              <a:off x="3119" y="9225"/>
              <a:ext cx="2281" cy="39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25" dirty="0">
                  <a:solidFill>
                    <a:srgbClr val="4A4A42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记忆</a:t>
              </a:r>
              <a:endParaRPr lang="en-US" sz="1425" dirty="0"/>
            </a:p>
          </p:txBody>
        </p:sp>
        <p:sp>
          <p:nvSpPr>
            <p:cNvPr id="18" name="Shape 11"/>
            <p:cNvSpPr/>
            <p:nvPr/>
          </p:nvSpPr>
          <p:spPr>
            <a:xfrm>
              <a:off x="11999" y="8925"/>
              <a:ext cx="2280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2C2B6"/>
              </a:solidFill>
              <a:prstDash val="solid"/>
            </a:ln>
          </p:spPr>
        </p:sp>
        <p:sp>
          <p:nvSpPr>
            <p:cNvPr id="19" name="Text 12"/>
            <p:cNvSpPr txBox="1"/>
            <p:nvPr/>
          </p:nvSpPr>
          <p:spPr>
            <a:xfrm>
              <a:off x="11999" y="9225"/>
              <a:ext cx="2281" cy="39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25" dirty="0">
                  <a:solidFill>
                    <a:srgbClr val="4A4A42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行为</a:t>
              </a:r>
              <a:endParaRPr lang="en-US" sz="1425" dirty="0"/>
            </a:p>
          </p:txBody>
        </p:sp>
        <p:pic>
          <p:nvPicPr>
            <p:cNvPr id="20" name="Image 5" descr="gen-dedup-6c67b1bafbc44ba77e3bbe3e98abe9a9.png"/>
            <p:cNvPicPr>
              <a:picLocks noChangeAspect="1"/>
            </p:cNvPicPr>
            <p:nvPr/>
          </p:nvPicPr>
          <p:blipFill>
            <a:blip r:embed="rId4"/>
            <a:srcRect t="-2056" b="-2056"/>
            <a:stretch>
              <a:fillRect/>
            </a:stretch>
          </p:blipFill>
          <p:spPr>
            <a:xfrm>
              <a:off x="8684" y="7515"/>
              <a:ext cx="14" cy="840"/>
            </a:xfrm>
            <a:prstGeom prst="rect">
              <a:avLst/>
            </a:prstGeom>
          </p:spPr>
        </p:pic>
        <p:pic>
          <p:nvPicPr>
            <p:cNvPr id="21" name="Image 6" descr="gen-dedup-6c67b1bafbc44ba77e3bbe3e98abe9a9.png"/>
            <p:cNvPicPr>
              <a:picLocks noChangeAspect="1"/>
            </p:cNvPicPr>
            <p:nvPr/>
          </p:nvPicPr>
          <p:blipFill>
            <a:blip r:embed="rId4"/>
            <a:srcRect t="-2056" b="-2056"/>
            <a:stretch>
              <a:fillRect/>
            </a:stretch>
          </p:blipFill>
          <p:spPr>
            <a:xfrm>
              <a:off x="8684" y="10455"/>
              <a:ext cx="14" cy="840"/>
            </a:xfrm>
            <a:prstGeom prst="rect">
              <a:avLst/>
            </a:prstGeom>
          </p:spPr>
        </p:pic>
        <p:pic>
          <p:nvPicPr>
            <p:cNvPr id="22" name="Image 7" descr="gen-dedup-543db0f15f38747a4d01891fa9d329a3.png"/>
            <p:cNvPicPr>
              <a:picLocks noChangeAspect="1"/>
            </p:cNvPicPr>
            <p:nvPr/>
          </p:nvPicPr>
          <p:blipFill>
            <a:blip r:embed="rId5"/>
            <a:srcRect l="-2127" r="-2127"/>
            <a:stretch>
              <a:fillRect/>
            </a:stretch>
          </p:blipFill>
          <p:spPr>
            <a:xfrm>
              <a:off x="5399" y="9390"/>
              <a:ext cx="600" cy="14"/>
            </a:xfrm>
            <a:prstGeom prst="rect">
              <a:avLst/>
            </a:prstGeom>
          </p:spPr>
        </p:pic>
        <p:pic>
          <p:nvPicPr>
            <p:cNvPr id="23" name="Image 8" descr="gen-dedup-543db0f15f38747a4d01891fa9d329a3.png"/>
            <p:cNvPicPr>
              <a:picLocks noChangeAspect="1"/>
            </p:cNvPicPr>
            <p:nvPr/>
          </p:nvPicPr>
          <p:blipFill>
            <a:blip r:embed="rId5"/>
            <a:srcRect l="-2127" r="-2127"/>
            <a:stretch>
              <a:fillRect/>
            </a:stretch>
          </p:blipFill>
          <p:spPr>
            <a:xfrm>
              <a:off x="11399" y="9390"/>
              <a:ext cx="600" cy="14"/>
            </a:xfrm>
            <a:prstGeom prst="rect">
              <a:avLst/>
            </a:prstGeom>
          </p:spPr>
        </p:pic>
        <p:sp>
          <p:nvSpPr>
            <p:cNvPr id="28" name="Text 13"/>
            <p:cNvSpPr txBox="1"/>
            <p:nvPr/>
          </p:nvSpPr>
          <p:spPr>
            <a:xfrm>
              <a:off x="4199" y="5970"/>
              <a:ext cx="9000" cy="33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125" kern="0" spc="203" dirty="0">
                  <a:solidFill>
                    <a:srgbClr val="8A8A7E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持续运行 · 不因窗口关闭而暂停</a:t>
              </a:r>
              <a:endParaRPr lang="en-US" sz="1125" dirty="0"/>
            </a:p>
          </p:txBody>
        </p:sp>
      </p:grpSp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1125" dirty="0"/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我们在做的不是聊天机器人，而是活在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世界里的A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gent角色</a:t>
            </a:r>
            <a:endParaRPr lang="en-US" sz="3450" dirty="0"/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从任务智能到关系智能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持续存在、持续行动、持续记忆，让用户与角色建立可延续关系</a:t>
            </a:r>
            <a:endParaRPr lang="en-US" sz="1725" dirty="0"/>
          </a:p>
        </p:txBody>
      </p:sp>
      <p:sp>
        <p:nvSpPr>
          <p:cNvPr id="32" name="Text 17"/>
          <p:cNvSpPr txBox="1"/>
          <p:nvPr/>
        </p:nvSpPr>
        <p:spPr>
          <a:xfrm>
            <a:off x="10095535" y="6667957"/>
            <a:ext cx="69540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35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125" dirty="0"/>
          </a:p>
        </p:txBody>
      </p:sp>
      <p:sp>
        <p:nvSpPr>
          <p:cNvPr id="33" name="Text 18"/>
          <p:cNvSpPr txBox="1"/>
          <p:nvPr/>
        </p:nvSpPr>
        <p:spPr>
          <a:xfrm>
            <a:off x="10095535" y="6981596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Agent角色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不会随着对话框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关闭而消失</a:t>
            </a:r>
            <a:endParaRPr lang="en-US" sz="2025" dirty="0"/>
          </a:p>
        </p:txBody>
      </p:sp>
      <p:sp>
        <p:nvSpPr>
          <p:cNvPr id="34" name="Text 19"/>
          <p:cNvSpPr txBox="1"/>
          <p:nvPr/>
        </p:nvSpPr>
        <p:spPr>
          <a:xfrm>
            <a:off x="10095535" y="7461656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角色存在于一个持续运行的虚拟世界中，用户离开时它依然在世界里生活。</a:t>
            </a:r>
            <a:endParaRPr lang="en-US" sz="1425" dirty="0"/>
          </a:p>
        </p:txBody>
      </p:sp>
      <p:sp>
        <p:nvSpPr>
          <p:cNvPr id="35" name="Text 20"/>
          <p:cNvSpPr txBox="1"/>
          <p:nvPr/>
        </p:nvSpPr>
        <p:spPr>
          <a:xfrm>
            <a:off x="10098075" y="7783347"/>
            <a:ext cx="69540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35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125" dirty="0"/>
          </a:p>
        </p:txBody>
      </p:sp>
      <p:sp>
        <p:nvSpPr>
          <p:cNvPr id="36" name="Text 21"/>
          <p:cNvSpPr txBox="1"/>
          <p:nvPr/>
        </p:nvSpPr>
        <p:spPr>
          <a:xfrm>
            <a:off x="10098075" y="8097901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关系是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在虚拟与现实中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不断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累积出来的</a:t>
            </a:r>
            <a:endParaRPr lang="en-US" sz="2025" dirty="0"/>
          </a:p>
        </p:txBody>
      </p:sp>
      <p:sp>
        <p:nvSpPr>
          <p:cNvPr id="37" name="Text 22"/>
          <p:cNvSpPr txBox="1"/>
          <p:nvPr/>
        </p:nvSpPr>
        <p:spPr>
          <a:xfrm>
            <a:off x="10098075" y="857704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关系通过互动、承诺、事件与共同经历持续累积，而非每次重新开始。</a:t>
            </a:r>
            <a:endParaRPr lang="en-US" sz="1425" dirty="0"/>
          </a:p>
        </p:txBody>
      </p:sp>
      <p:sp>
        <p:nvSpPr>
          <p:cNvPr id="38" name="Text 23"/>
          <p:cNvSpPr txBox="1"/>
          <p:nvPr/>
        </p:nvSpPr>
        <p:spPr>
          <a:xfrm>
            <a:off x="10096170" y="8925408"/>
            <a:ext cx="69540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35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125" dirty="0"/>
          </a:p>
        </p:txBody>
      </p:sp>
      <p:sp>
        <p:nvSpPr>
          <p:cNvPr id="39" name="Text 24"/>
          <p:cNvSpPr txBox="1"/>
          <p:nvPr/>
        </p:nvSpPr>
        <p:spPr>
          <a:xfrm>
            <a:off x="10096170" y="9239961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真实存在的个体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」，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而不是拟人的</a:t>
            </a:r>
            <a:r>
              <a:rPr lang="en-US" altLang="zh-CN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endParaRPr lang="en-US" altLang="zh-CN" sz="2025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0" name="Text 25"/>
          <p:cNvSpPr txBox="1"/>
          <p:nvPr/>
        </p:nvSpPr>
        <p:spPr>
          <a:xfrm>
            <a:off x="10096170" y="971910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核心不是生成更像人的回复，而是让角色在世界中真正具备存在感。</a:t>
            </a:r>
            <a:endParaRPr lang="en-US" sz="1425" dirty="0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70" y="3377565"/>
            <a:ext cx="8957310" cy="54286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010205"/>
            <a:ext cx="15811805" cy="1181405"/>
          </a:xfrm>
          <a:prstGeom prst="rect">
            <a:avLst/>
          </a:prstGeom>
          <a:solidFill>
            <a:srgbClr val="F1F1EB"/>
          </a:solidFill>
          <a:ln w="12700">
            <a:solidFill>
              <a:srgbClr val="E0E0D6"/>
            </a:solidFill>
            <a:prstDash val="solid"/>
          </a:ln>
        </p:spPr>
      </p:sp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9430207"/>
            <a:ext cx="15811805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90695" y="3429000"/>
            <a:ext cx="1772107" cy="362102"/>
          </a:xfrm>
          <a:prstGeom prst="rect">
            <a:avLst/>
          </a:prstGeom>
          <a:noFill/>
          <a:ln w="12700">
            <a:solidFill>
              <a:srgbClr val="C2C2B6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4190695" y="3534156"/>
            <a:ext cx="1772107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用户提问</a:t>
            </a:r>
            <a:endParaRPr lang="en-US" sz="1275" dirty="0"/>
          </a:p>
        </p:txBody>
      </p:sp>
      <p:pic>
        <p:nvPicPr>
          <p:cNvPr id="9" name="Image 3" descr="gen-dedup-71c7d283fd5466ee9cd35f8edc1dca52.png"/>
          <p:cNvPicPr>
            <a:picLocks noChangeAspect="1"/>
          </p:cNvPicPr>
          <p:nvPr/>
        </p:nvPicPr>
        <p:blipFill>
          <a:blip r:embed="rId4"/>
          <a:srcRect l="-2100" r="-2100"/>
          <a:stretch>
            <a:fillRect/>
          </a:stretch>
        </p:blipFill>
        <p:spPr>
          <a:xfrm>
            <a:off x="6096305" y="3600907"/>
            <a:ext cx="476402" cy="91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724498" y="3429000"/>
            <a:ext cx="1772107" cy="362102"/>
          </a:xfrm>
          <a:prstGeom prst="rect">
            <a:avLst/>
          </a:prstGeom>
          <a:noFill/>
          <a:ln w="12700">
            <a:solidFill>
              <a:srgbClr val="C2C2B6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724498" y="3534156"/>
            <a:ext cx="1772107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模型生成</a:t>
            </a:r>
            <a:endParaRPr lang="en-US" sz="1275" dirty="0"/>
          </a:p>
        </p:txBody>
      </p:sp>
      <p:pic>
        <p:nvPicPr>
          <p:cNvPr id="12" name="Image 4" descr="gen-dedup-71c7d283fd5466ee9cd35f8edc1dca52.png"/>
          <p:cNvPicPr>
            <a:picLocks noChangeAspect="1"/>
          </p:cNvPicPr>
          <p:nvPr/>
        </p:nvPicPr>
        <p:blipFill>
          <a:blip r:embed="rId4"/>
          <a:srcRect l="-2100" r="-2100"/>
          <a:stretch>
            <a:fillRect/>
          </a:stretch>
        </p:blipFill>
        <p:spPr>
          <a:xfrm>
            <a:off x="8630107" y="3600907"/>
            <a:ext cx="476402" cy="9144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9258300" y="3429000"/>
            <a:ext cx="1772107" cy="362102"/>
          </a:xfrm>
          <a:prstGeom prst="rect">
            <a:avLst/>
          </a:prstGeom>
          <a:noFill/>
          <a:ln w="12700">
            <a:solidFill>
              <a:srgbClr val="C2C2B6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9258300" y="3534156"/>
            <a:ext cx="1772107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回复输出</a:t>
            </a:r>
            <a:endParaRPr lang="en-US" sz="1275" dirty="0"/>
          </a:p>
        </p:txBody>
      </p:sp>
      <p:pic>
        <p:nvPicPr>
          <p:cNvPr id="15" name="Image 5" descr="gen-dedup-71c7d283fd5466ee9cd35f8edc1dca52.png"/>
          <p:cNvPicPr>
            <a:picLocks noChangeAspect="1"/>
          </p:cNvPicPr>
          <p:nvPr/>
        </p:nvPicPr>
        <p:blipFill>
          <a:blip r:embed="rId4"/>
          <a:srcRect l="-2100" r="-2100"/>
          <a:stretch>
            <a:fillRect/>
          </a:stretch>
        </p:blipFill>
        <p:spPr>
          <a:xfrm>
            <a:off x="11162995" y="3600907"/>
            <a:ext cx="476402" cy="9144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1792102" y="3429000"/>
            <a:ext cx="1962302" cy="362102"/>
          </a:xfrm>
          <a:prstGeom prst="rect">
            <a:avLst/>
          </a:prstGeom>
          <a:noFill/>
          <a:ln w="12700">
            <a:solidFill>
              <a:srgbClr val="D2D2C8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11792102" y="3534156"/>
            <a:ext cx="1962302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上下文清空</a:t>
            </a:r>
            <a:endParaRPr lang="en-US" sz="1275" dirty="0"/>
          </a:p>
        </p:txBody>
      </p:sp>
      <p:sp>
        <p:nvSpPr>
          <p:cNvPr id="18" name="Text 10"/>
          <p:cNvSpPr txBox="1"/>
          <p:nvPr/>
        </p:nvSpPr>
        <p:spPr>
          <a:xfrm>
            <a:off x="14058900" y="3534156"/>
            <a:ext cx="270571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关系不沉淀，下次从零开始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1238098" y="5067605"/>
            <a:ext cx="236189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20" name="Image 6" descr="gen-dedup-94b23ef9853332cc4f7d85531b1d726c.png"/>
          <p:cNvPicPr>
            <a:picLocks noChangeAspect="1"/>
          </p:cNvPicPr>
          <p:nvPr/>
        </p:nvPicPr>
        <p:blipFill>
          <a:blip r:embed="rId5"/>
          <a:srcRect l="-397" r="-397"/>
          <a:stretch>
            <a:fillRect/>
          </a:stretch>
        </p:blipFill>
        <p:spPr>
          <a:xfrm>
            <a:off x="1238098" y="5067605"/>
            <a:ext cx="2361895" cy="2834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238098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050" dirty="0"/>
          </a:p>
        </p:txBody>
      </p:sp>
      <p:sp>
        <p:nvSpPr>
          <p:cNvPr id="22" name="Text 13"/>
          <p:cNvSpPr txBox="1"/>
          <p:nvPr/>
        </p:nvSpPr>
        <p:spPr>
          <a:xfrm>
            <a:off x="1238098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</a:t>
            </a:r>
            <a:endParaRPr lang="en-US" sz="1725" dirty="0"/>
          </a:p>
        </p:txBody>
      </p:sp>
      <p:sp>
        <p:nvSpPr>
          <p:cNvPr id="23" name="Text 14"/>
          <p:cNvSpPr txBox="1"/>
          <p:nvPr/>
        </p:nvSpPr>
        <p:spPr>
          <a:xfrm>
            <a:off x="1238098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自然语言表达</a:t>
            </a:r>
            <a:endParaRPr lang="en-US" sz="1125" dirty="0"/>
          </a:p>
        </p:txBody>
      </p:sp>
      <p:sp>
        <p:nvSpPr>
          <p:cNvPr id="24" name="Shape 15"/>
          <p:cNvSpPr/>
          <p:nvPr/>
        </p:nvSpPr>
        <p:spPr>
          <a:xfrm>
            <a:off x="3924605" y="5067605"/>
            <a:ext cx="236189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25" name="Image 7" descr="gen-dedup-94b23ef9853332cc4f7d85531b1d726c.png"/>
          <p:cNvPicPr>
            <a:picLocks noChangeAspect="1"/>
          </p:cNvPicPr>
          <p:nvPr/>
        </p:nvPicPr>
        <p:blipFill>
          <a:blip r:embed="rId5"/>
          <a:srcRect l="-397" r="-397"/>
          <a:stretch>
            <a:fillRect/>
          </a:stretch>
        </p:blipFill>
        <p:spPr>
          <a:xfrm>
            <a:off x="3924605" y="5067605"/>
            <a:ext cx="2361895" cy="28346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3924605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050" dirty="0"/>
          </a:p>
        </p:txBody>
      </p:sp>
      <p:sp>
        <p:nvSpPr>
          <p:cNvPr id="27" name="Text 17"/>
          <p:cNvSpPr txBox="1"/>
          <p:nvPr/>
        </p:nvSpPr>
        <p:spPr>
          <a:xfrm>
            <a:off x="3924605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意图解析</a:t>
            </a:r>
            <a:endParaRPr lang="en-US" sz="1725" dirty="0"/>
          </a:p>
        </p:txBody>
      </p:sp>
      <p:sp>
        <p:nvSpPr>
          <p:cNvPr id="28" name="Text 18"/>
          <p:cNvSpPr txBox="1"/>
          <p:nvPr/>
        </p:nvSpPr>
        <p:spPr>
          <a:xfrm>
            <a:off x="3924605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 → 可执行意图</a:t>
            </a:r>
            <a:endParaRPr lang="en-US" sz="1125" dirty="0"/>
          </a:p>
        </p:txBody>
      </p:sp>
      <p:sp>
        <p:nvSpPr>
          <p:cNvPr id="29" name="Shape 19"/>
          <p:cNvSpPr/>
          <p:nvPr/>
        </p:nvSpPr>
        <p:spPr>
          <a:xfrm>
            <a:off x="6610198" y="5067605"/>
            <a:ext cx="236189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30" name="Image 8" descr="gen-dedup-94b23ef9853332cc4f7d85531b1d726c.png"/>
          <p:cNvPicPr>
            <a:picLocks noChangeAspect="1"/>
          </p:cNvPicPr>
          <p:nvPr/>
        </p:nvPicPr>
        <p:blipFill>
          <a:blip r:embed="rId5"/>
          <a:srcRect l="-397" r="-397"/>
          <a:stretch>
            <a:fillRect/>
          </a:stretch>
        </p:blipFill>
        <p:spPr>
          <a:xfrm>
            <a:off x="6610198" y="5067605"/>
            <a:ext cx="2361895" cy="2834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610198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050" dirty="0"/>
          </a:p>
        </p:txBody>
      </p:sp>
      <p:sp>
        <p:nvSpPr>
          <p:cNvPr id="32" name="Text 21"/>
          <p:cNvSpPr txBox="1"/>
          <p:nvPr/>
        </p:nvSpPr>
        <p:spPr>
          <a:xfrm>
            <a:off x="6610198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世界行动</a:t>
            </a:r>
            <a:endParaRPr lang="en-US" sz="1725" dirty="0"/>
          </a:p>
        </p:txBody>
      </p:sp>
      <p:sp>
        <p:nvSpPr>
          <p:cNvPr id="33" name="Text 22"/>
          <p:cNvSpPr txBox="1"/>
          <p:nvPr/>
        </p:nvSpPr>
        <p:spPr>
          <a:xfrm>
            <a:off x="6610198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角色执行行为与任务</a:t>
            </a:r>
            <a:endParaRPr lang="en-US" sz="1125" dirty="0"/>
          </a:p>
        </p:txBody>
      </p:sp>
      <p:sp>
        <p:nvSpPr>
          <p:cNvPr id="34" name="Shape 23"/>
          <p:cNvSpPr/>
          <p:nvPr/>
        </p:nvSpPr>
        <p:spPr>
          <a:xfrm>
            <a:off x="9296705" y="5067605"/>
            <a:ext cx="236189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35" name="Image 9" descr="gen-dedup-94b23ef9853332cc4f7d85531b1d726c.png"/>
          <p:cNvPicPr>
            <a:picLocks noChangeAspect="1"/>
          </p:cNvPicPr>
          <p:nvPr/>
        </p:nvPicPr>
        <p:blipFill>
          <a:blip r:embed="rId5"/>
          <a:srcRect l="-397" r="-397"/>
          <a:stretch>
            <a:fillRect/>
          </a:stretch>
        </p:blipFill>
        <p:spPr>
          <a:xfrm>
            <a:off x="9296705" y="5067605"/>
            <a:ext cx="2361895" cy="2834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296705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050" dirty="0"/>
          </a:p>
        </p:txBody>
      </p:sp>
      <p:sp>
        <p:nvSpPr>
          <p:cNvPr id="37" name="Text 25"/>
          <p:cNvSpPr txBox="1"/>
          <p:nvPr/>
        </p:nvSpPr>
        <p:spPr>
          <a:xfrm>
            <a:off x="9296705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角色反馈</a:t>
            </a:r>
            <a:endParaRPr lang="en-US" sz="1725" dirty="0"/>
          </a:p>
        </p:txBody>
      </p:sp>
      <p:sp>
        <p:nvSpPr>
          <p:cNvPr id="38" name="Text 26"/>
          <p:cNvSpPr txBox="1"/>
          <p:nvPr/>
        </p:nvSpPr>
        <p:spPr>
          <a:xfrm>
            <a:off x="9296705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带结果的真实回应</a:t>
            </a:r>
            <a:endParaRPr lang="en-US" sz="1125" dirty="0"/>
          </a:p>
        </p:txBody>
      </p:sp>
      <p:sp>
        <p:nvSpPr>
          <p:cNvPr id="39" name="Shape 27"/>
          <p:cNvSpPr/>
          <p:nvPr/>
        </p:nvSpPr>
        <p:spPr>
          <a:xfrm>
            <a:off x="11982298" y="5067605"/>
            <a:ext cx="2361895" cy="1162202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40" name="Image 10" descr="gen-dedup-4376aedd9d26409c33722d65463f8888.png"/>
          <p:cNvPicPr>
            <a:picLocks noChangeAspect="1"/>
          </p:cNvPicPr>
          <p:nvPr/>
        </p:nvPicPr>
        <p:blipFill>
          <a:blip r:embed="rId6"/>
          <a:srcRect l="-397" r="-397"/>
          <a:stretch>
            <a:fillRect/>
          </a:stretch>
        </p:blipFill>
        <p:spPr>
          <a:xfrm>
            <a:off x="11982298" y="5067605"/>
            <a:ext cx="2361895" cy="2834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1982298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050" dirty="0"/>
          </a:p>
        </p:txBody>
      </p:sp>
      <p:sp>
        <p:nvSpPr>
          <p:cNvPr id="42" name="Text 29"/>
          <p:cNvSpPr txBox="1"/>
          <p:nvPr/>
        </p:nvSpPr>
        <p:spPr>
          <a:xfrm>
            <a:off x="11982298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记忆沉淀</a:t>
            </a:r>
            <a:endParaRPr lang="en-US" sz="1725" dirty="0"/>
          </a:p>
        </p:txBody>
      </p:sp>
      <p:sp>
        <p:nvSpPr>
          <p:cNvPr id="43" name="Text 30"/>
          <p:cNvSpPr txBox="1"/>
          <p:nvPr/>
        </p:nvSpPr>
        <p:spPr>
          <a:xfrm>
            <a:off x="11982298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写入关系资产</a:t>
            </a:r>
            <a:endParaRPr lang="en-US" sz="1125" dirty="0"/>
          </a:p>
        </p:txBody>
      </p:sp>
      <p:sp>
        <p:nvSpPr>
          <p:cNvPr id="44" name="Shape 31"/>
          <p:cNvSpPr/>
          <p:nvPr/>
        </p:nvSpPr>
        <p:spPr>
          <a:xfrm>
            <a:off x="14668805" y="5067605"/>
            <a:ext cx="2361895" cy="1162202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45" name="Image 11" descr="gen-dedup-4376aedd9d26409c33722d65463f8888.png"/>
          <p:cNvPicPr>
            <a:picLocks noChangeAspect="1"/>
          </p:cNvPicPr>
          <p:nvPr/>
        </p:nvPicPr>
        <p:blipFill>
          <a:blip r:embed="rId6"/>
          <a:srcRect l="-397" r="-397"/>
          <a:stretch>
            <a:fillRect/>
          </a:stretch>
        </p:blipFill>
        <p:spPr>
          <a:xfrm>
            <a:off x="14668805" y="5067605"/>
            <a:ext cx="2361895" cy="2834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14668805" y="5277002"/>
            <a:ext cx="2362810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7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050" dirty="0"/>
          </a:p>
        </p:txBody>
      </p:sp>
      <p:sp>
        <p:nvSpPr>
          <p:cNvPr id="47" name="Text 33"/>
          <p:cNvSpPr txBox="1"/>
          <p:nvPr/>
        </p:nvSpPr>
        <p:spPr>
          <a:xfrm>
            <a:off x="14668805" y="5544007"/>
            <a:ext cx="236281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下次互动</a:t>
            </a:r>
            <a:endParaRPr lang="en-US" sz="1725" dirty="0"/>
          </a:p>
        </p:txBody>
      </p:sp>
      <p:sp>
        <p:nvSpPr>
          <p:cNvPr id="48" name="Text 34"/>
          <p:cNvSpPr txBox="1"/>
          <p:nvPr/>
        </p:nvSpPr>
        <p:spPr>
          <a:xfrm>
            <a:off x="14668805" y="5905195"/>
            <a:ext cx="23628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在既有关系上继续</a:t>
            </a:r>
            <a:endParaRPr lang="en-US" sz="1125" dirty="0"/>
          </a:p>
        </p:txBody>
      </p:sp>
      <p:pic>
        <p:nvPicPr>
          <p:cNvPr id="49" name="Image 12" descr="gen-dedup-cfe318d621c8ccea20c296d89718a94f.png"/>
          <p:cNvPicPr>
            <a:picLocks noChangeAspect="1"/>
          </p:cNvPicPr>
          <p:nvPr/>
        </p:nvPicPr>
        <p:blipFill>
          <a:blip r:embed="rId7"/>
          <a:srcRect l="-2187" r="-2187"/>
          <a:stretch>
            <a:fillRect/>
          </a:stretch>
        </p:blipFill>
        <p:spPr>
          <a:xfrm>
            <a:off x="3657600" y="5639105"/>
            <a:ext cx="152705" cy="9144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3781044" y="5600700"/>
            <a:ext cx="85954" cy="914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3857854" y="5600700"/>
            <a:ext cx="9144" cy="8595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52" name="Image 13" descr="gen-dedup-cfe318d621c8ccea20c296d89718a94f.png"/>
          <p:cNvPicPr>
            <a:picLocks noChangeAspect="1"/>
          </p:cNvPicPr>
          <p:nvPr/>
        </p:nvPicPr>
        <p:blipFill>
          <a:blip r:embed="rId7"/>
          <a:srcRect l="-2187" r="-2187"/>
          <a:stretch>
            <a:fillRect/>
          </a:stretch>
        </p:blipFill>
        <p:spPr>
          <a:xfrm>
            <a:off x="6344107" y="5639105"/>
            <a:ext cx="152705" cy="9144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6467551" y="5600700"/>
            <a:ext cx="85954" cy="914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54" name="Shape 38"/>
          <p:cNvSpPr/>
          <p:nvPr/>
        </p:nvSpPr>
        <p:spPr>
          <a:xfrm>
            <a:off x="6544361" y="5600700"/>
            <a:ext cx="9144" cy="8595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55" name="Image 14" descr="gen-dedup-cfe318d621c8ccea20c296d89718a94f.png"/>
          <p:cNvPicPr>
            <a:picLocks noChangeAspect="1"/>
          </p:cNvPicPr>
          <p:nvPr/>
        </p:nvPicPr>
        <p:blipFill>
          <a:blip r:embed="rId7"/>
          <a:srcRect l="-2187" r="-2187"/>
          <a:stretch>
            <a:fillRect/>
          </a:stretch>
        </p:blipFill>
        <p:spPr>
          <a:xfrm>
            <a:off x="9029700" y="5639105"/>
            <a:ext cx="152705" cy="9144"/>
          </a:xfrm>
          <a:prstGeom prst="rect">
            <a:avLst/>
          </a:prstGeom>
        </p:spPr>
      </p:pic>
      <p:sp>
        <p:nvSpPr>
          <p:cNvPr id="56" name="Shape 39"/>
          <p:cNvSpPr/>
          <p:nvPr/>
        </p:nvSpPr>
        <p:spPr>
          <a:xfrm>
            <a:off x="9153144" y="5600700"/>
            <a:ext cx="85954" cy="914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57" name="Shape 40"/>
          <p:cNvSpPr/>
          <p:nvPr/>
        </p:nvSpPr>
        <p:spPr>
          <a:xfrm>
            <a:off x="9229954" y="5600700"/>
            <a:ext cx="9144" cy="8595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58" name="Image 15" descr="gen-dedup-b32b9511bb0b7f9caca1672ca65f9e27.png"/>
          <p:cNvPicPr>
            <a:picLocks noChangeAspect="1"/>
          </p:cNvPicPr>
          <p:nvPr/>
        </p:nvPicPr>
        <p:blipFill>
          <a:blip r:embed="rId8"/>
          <a:srcRect l="-2187" r="-2187"/>
          <a:stretch>
            <a:fillRect/>
          </a:stretch>
        </p:blipFill>
        <p:spPr>
          <a:xfrm>
            <a:off x="11716207" y="5639105"/>
            <a:ext cx="152705" cy="9144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11839651" y="5600700"/>
            <a:ext cx="85954" cy="91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11916461" y="5600700"/>
            <a:ext cx="9144" cy="8595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61" name="Image 16" descr="gen-dedup-b32b9511bb0b7f9caca1672ca65f9e27.png"/>
          <p:cNvPicPr>
            <a:picLocks noChangeAspect="1"/>
          </p:cNvPicPr>
          <p:nvPr/>
        </p:nvPicPr>
        <p:blipFill>
          <a:blip r:embed="rId8"/>
          <a:srcRect l="-2187" r="-2187"/>
          <a:stretch>
            <a:fillRect/>
          </a:stretch>
        </p:blipFill>
        <p:spPr>
          <a:xfrm>
            <a:off x="14401800" y="5639105"/>
            <a:ext cx="152705" cy="9144"/>
          </a:xfrm>
          <a:prstGeom prst="rect">
            <a:avLst/>
          </a:prstGeom>
        </p:spPr>
      </p:pic>
      <p:sp>
        <p:nvSpPr>
          <p:cNvPr id="62" name="Shape 43"/>
          <p:cNvSpPr/>
          <p:nvPr/>
        </p:nvSpPr>
        <p:spPr>
          <a:xfrm>
            <a:off x="14525244" y="5600700"/>
            <a:ext cx="85954" cy="91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Shape 44"/>
          <p:cNvSpPr/>
          <p:nvPr/>
        </p:nvSpPr>
        <p:spPr>
          <a:xfrm>
            <a:off x="14602054" y="5600700"/>
            <a:ext cx="9144" cy="8595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64" name="Image 17" descr="gen-dedup-62a43475aeaf1fe4f1a68b661925436e.png"/>
          <p:cNvPicPr>
            <a:picLocks noChangeAspect="1"/>
          </p:cNvPicPr>
          <p:nvPr/>
        </p:nvPicPr>
        <p:blipFill>
          <a:blip r:embed="rId9"/>
          <a:srcRect t="-2056" b="-2056"/>
          <a:stretch>
            <a:fillRect/>
          </a:stretch>
        </p:blipFill>
        <p:spPr>
          <a:xfrm>
            <a:off x="15849295" y="6229807"/>
            <a:ext cx="9144" cy="533095"/>
          </a:xfrm>
          <a:prstGeom prst="rect">
            <a:avLst/>
          </a:prstGeom>
        </p:spPr>
      </p:pic>
      <p:pic>
        <p:nvPicPr>
          <p:cNvPr id="65" name="Image 18" descr="gen-dedup-509b7a055ac8eadf79cc72e85b841df6.png"/>
          <p:cNvPicPr>
            <a:picLocks noChangeAspect="1"/>
          </p:cNvPicPr>
          <p:nvPr/>
        </p:nvPicPr>
        <p:blipFill>
          <a:blip r:embed="rId10"/>
          <a:srcRect l="-2083" r="-2083"/>
          <a:stretch>
            <a:fillRect/>
          </a:stretch>
        </p:blipFill>
        <p:spPr>
          <a:xfrm>
            <a:off x="2419502" y="6762902"/>
            <a:ext cx="13430707" cy="9144"/>
          </a:xfrm>
          <a:prstGeom prst="rect">
            <a:avLst/>
          </a:prstGeom>
        </p:spPr>
      </p:pic>
      <p:pic>
        <p:nvPicPr>
          <p:cNvPr id="66" name="Image 19" descr="gen-dedup-17928ff8e9e9ddc9f25fdcd854e61f67.png"/>
          <p:cNvPicPr>
            <a:picLocks noChangeAspect="1"/>
          </p:cNvPicPr>
          <p:nvPr/>
        </p:nvPicPr>
        <p:blipFill>
          <a:blip r:embed="rId11"/>
          <a:srcRect t="-2056" b="-2056"/>
          <a:stretch>
            <a:fillRect/>
          </a:stretch>
        </p:blipFill>
        <p:spPr>
          <a:xfrm>
            <a:off x="2419502" y="6229807"/>
            <a:ext cx="9144" cy="533095"/>
          </a:xfrm>
          <a:prstGeom prst="rect">
            <a:avLst/>
          </a:prstGeom>
        </p:spPr>
      </p:pic>
      <p:sp>
        <p:nvSpPr>
          <p:cNvPr id="67" name="Shape 45"/>
          <p:cNvSpPr/>
          <p:nvPr/>
        </p:nvSpPr>
        <p:spPr>
          <a:xfrm>
            <a:off x="2381098" y="6229807"/>
            <a:ext cx="85954" cy="914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68" name="Shape 46"/>
          <p:cNvSpPr/>
          <p:nvPr/>
        </p:nvSpPr>
        <p:spPr>
          <a:xfrm>
            <a:off x="2381098" y="6229807"/>
            <a:ext cx="9144" cy="8595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69" name="Text 47"/>
          <p:cNvSpPr txBox="1"/>
          <p:nvPr/>
        </p:nvSpPr>
        <p:spPr>
          <a:xfrm>
            <a:off x="7810805" y="6572707"/>
            <a:ext cx="2762402" cy="200254"/>
          </a:xfrm>
          <a:prstGeom prst="rect">
            <a:avLst/>
          </a:prstGeom>
          <a:solidFill>
            <a:srgbClr val="F7F7F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kern="0" spc="68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关系资产回流，闭环自我强化</a:t>
            </a:r>
            <a:endParaRPr lang="en-US" sz="1125" dirty="0"/>
          </a:p>
        </p:txBody>
      </p:sp>
      <p:sp>
        <p:nvSpPr>
          <p:cNvPr id="70" name="Text 48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核心机制</a:t>
            </a:r>
            <a:endParaRPr lang="en-US" sz="1125" dirty="0"/>
          </a:p>
        </p:txBody>
      </p:sp>
      <p:sp>
        <p:nvSpPr>
          <p:cNvPr id="71" name="Text 49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从「对话闭环」到「行动闭环」</a:t>
            </a:r>
            <a:endParaRPr lang="en-US" sz="3450" dirty="0"/>
          </a:p>
        </p:txBody>
      </p:sp>
      <p:sp>
        <p:nvSpPr>
          <p:cNvPr id="72" name="Text 50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角色在世界中真实行动、沉淀记忆，并持续影响后续关系</a:t>
            </a:r>
            <a:endParaRPr lang="en-US" sz="1725" dirty="0"/>
          </a:p>
        </p:txBody>
      </p:sp>
      <p:sp>
        <p:nvSpPr>
          <p:cNvPr id="73" name="Text 51"/>
          <p:cNvSpPr txBox="1"/>
          <p:nvPr/>
        </p:nvSpPr>
        <p:spPr>
          <a:xfrm>
            <a:off x="1580998" y="3238805"/>
            <a:ext cx="2382012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 · 行业现状</a:t>
            </a:r>
            <a:endParaRPr lang="en-US" sz="1050" dirty="0"/>
          </a:p>
        </p:txBody>
      </p:sp>
      <p:sp>
        <p:nvSpPr>
          <p:cNvPr id="74" name="Text 52"/>
          <p:cNvSpPr txBox="1"/>
          <p:nvPr/>
        </p:nvSpPr>
        <p:spPr>
          <a:xfrm>
            <a:off x="1580998" y="3524098"/>
            <a:ext cx="2382012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对话闭环</a:t>
            </a:r>
            <a:endParaRPr lang="en-US" sz="1725" dirty="0"/>
          </a:p>
        </p:txBody>
      </p:sp>
      <p:sp>
        <p:nvSpPr>
          <p:cNvPr id="75" name="Text 53"/>
          <p:cNvSpPr txBox="1"/>
          <p:nvPr/>
        </p:nvSpPr>
        <p:spPr>
          <a:xfrm>
            <a:off x="1238098" y="4629607"/>
            <a:ext cx="571500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我们的机制 · 行动闭环</a:t>
            </a:r>
            <a:endParaRPr lang="en-US" sz="1050" dirty="0"/>
          </a:p>
        </p:txBody>
      </p:sp>
      <p:pic>
        <p:nvPicPr>
          <p:cNvPr id="76" name="Image 20" descr="gen-dedup-5c1a626a51678c19b4e403df2e8c37f8.png"/>
          <p:cNvPicPr>
            <a:picLocks noChangeAspect="1"/>
          </p:cNvPicPr>
          <p:nvPr/>
        </p:nvPicPr>
        <p:blipFill>
          <a:blip r:embed="rId12"/>
          <a:srcRect t="-424" b="-424"/>
          <a:stretch>
            <a:fillRect/>
          </a:stretch>
        </p:blipFill>
        <p:spPr>
          <a:xfrm>
            <a:off x="1238098" y="7619695"/>
            <a:ext cx="323698" cy="19202"/>
          </a:xfrm>
          <a:prstGeom prst="rect">
            <a:avLst/>
          </a:prstGeom>
        </p:spPr>
      </p:pic>
      <p:sp>
        <p:nvSpPr>
          <p:cNvPr id="77" name="Text 54"/>
          <p:cNvSpPr txBox="1"/>
          <p:nvPr/>
        </p:nvSpPr>
        <p:spPr>
          <a:xfrm>
            <a:off x="1238098" y="7810805"/>
            <a:ext cx="4668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不依赖唤起而存在</a:t>
            </a:r>
            <a:endParaRPr lang="en-US" sz="1650" dirty="0"/>
          </a:p>
        </p:txBody>
      </p:sp>
      <p:sp>
        <p:nvSpPr>
          <p:cNvPr id="78" name="Text 55"/>
          <p:cNvSpPr txBox="1"/>
          <p:nvPr/>
        </p:nvSpPr>
        <p:spPr>
          <a:xfrm>
            <a:off x="1238098" y="8228686"/>
            <a:ext cx="4668012" cy="2862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角色持续运行，不需要用户每次主动唤起才存在。</a:t>
            </a:r>
            <a:endParaRPr lang="en-US" sz="1350" dirty="0"/>
          </a:p>
        </p:txBody>
      </p:sp>
      <p:pic>
        <p:nvPicPr>
          <p:cNvPr id="79" name="Image 21" descr="gen-dedup-5c1a626a51678c19b4e403df2e8c37f8.png"/>
          <p:cNvPicPr>
            <a:picLocks noChangeAspect="1"/>
          </p:cNvPicPr>
          <p:nvPr/>
        </p:nvPicPr>
        <p:blipFill>
          <a:blip r:embed="rId12"/>
          <a:srcRect t="-424" b="-424"/>
          <a:stretch>
            <a:fillRect/>
          </a:stretch>
        </p:blipFill>
        <p:spPr>
          <a:xfrm>
            <a:off x="6810451" y="7619695"/>
            <a:ext cx="323698" cy="19202"/>
          </a:xfrm>
          <a:prstGeom prst="rect">
            <a:avLst/>
          </a:prstGeom>
        </p:spPr>
      </p:pic>
      <p:sp>
        <p:nvSpPr>
          <p:cNvPr id="80" name="Text 56"/>
          <p:cNvSpPr txBox="1"/>
          <p:nvPr/>
        </p:nvSpPr>
        <p:spPr>
          <a:xfrm>
            <a:off x="6810451" y="7810805"/>
            <a:ext cx="4668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语言可转化为行为</a:t>
            </a:r>
            <a:endParaRPr lang="en-US" sz="1650" dirty="0"/>
          </a:p>
        </p:txBody>
      </p:sp>
      <p:sp>
        <p:nvSpPr>
          <p:cNvPr id="81" name="Text 57"/>
          <p:cNvSpPr txBox="1"/>
          <p:nvPr/>
        </p:nvSpPr>
        <p:spPr>
          <a:xfrm>
            <a:off x="6810451" y="8228686"/>
            <a:ext cx="4668012" cy="2862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用户语言可以转化为角色在世界中的行为、任务与反馈。</a:t>
            </a:r>
            <a:endParaRPr lang="en-US" sz="1350" dirty="0"/>
          </a:p>
        </p:txBody>
      </p:sp>
      <p:pic>
        <p:nvPicPr>
          <p:cNvPr id="82" name="Image 22" descr="gen-dedup-6bfcf5e1f09bdf2b5006dd89502bab73.png"/>
          <p:cNvPicPr>
            <a:picLocks noChangeAspect="1"/>
          </p:cNvPicPr>
          <p:nvPr/>
        </p:nvPicPr>
        <p:blipFill>
          <a:blip r:embed="rId13"/>
          <a:srcRect t="-424" b="-424"/>
          <a:stretch>
            <a:fillRect/>
          </a:stretch>
        </p:blipFill>
        <p:spPr>
          <a:xfrm>
            <a:off x="12382805" y="7619695"/>
            <a:ext cx="323698" cy="19202"/>
          </a:xfrm>
          <a:prstGeom prst="rect">
            <a:avLst/>
          </a:prstGeom>
        </p:spPr>
      </p:pic>
      <p:sp>
        <p:nvSpPr>
          <p:cNvPr id="83" name="Text 58"/>
          <p:cNvSpPr txBox="1"/>
          <p:nvPr/>
        </p:nvSpPr>
        <p:spPr>
          <a:xfrm>
            <a:off x="12382805" y="7810805"/>
            <a:ext cx="4668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互动沉淀为关系资产</a:t>
            </a:r>
            <a:endParaRPr lang="en-US" sz="1650" dirty="0"/>
          </a:p>
        </p:txBody>
      </p:sp>
      <p:sp>
        <p:nvSpPr>
          <p:cNvPr id="84" name="Text 59"/>
          <p:cNvSpPr txBox="1"/>
          <p:nvPr/>
        </p:nvSpPr>
        <p:spPr>
          <a:xfrm>
            <a:off x="12382805" y="8228686"/>
            <a:ext cx="46680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每次互动都会沉淀为记忆与关系资产，反过来影响下一次互动。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077602" y="3600907"/>
            <a:ext cx="6972300" cy="521939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6"/>
            </a:solidFill>
            <a:prstDash val="solid"/>
          </a:ln>
        </p:spPr>
      </p:sp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9258300"/>
            <a:ext cx="15811805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38098" y="3105302"/>
            <a:ext cx="8287207" cy="780898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543507" y="3314700"/>
            <a:ext cx="4953305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关系应用层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1543507" y="3600907"/>
            <a:ext cx="7239305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虚拟世界角色 · 电子吧唧 · 桌面宠物机器人</a:t>
            </a:r>
            <a:endParaRPr lang="en-US" sz="1125" dirty="0"/>
          </a:p>
        </p:txBody>
      </p:sp>
      <p:pic>
        <p:nvPicPr>
          <p:cNvPr id="10" name="Image 3" descr="gen-dedup-becd15c398d5e8733cfc52c845a7fc6b.png"/>
          <p:cNvPicPr>
            <a:picLocks noChangeAspect="1"/>
          </p:cNvPicPr>
          <p:nvPr/>
        </p:nvPicPr>
        <p:blipFill>
          <a:blip r:embed="rId4"/>
          <a:srcRect t="-2116" b="-2116"/>
          <a:stretch>
            <a:fillRect/>
          </a:stretch>
        </p:blipFill>
        <p:spPr>
          <a:xfrm>
            <a:off x="5352898" y="3886200"/>
            <a:ext cx="9144" cy="2478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238098" y="41340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12" name="Image 4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4134002"/>
            <a:ext cx="38405" cy="9144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543507" y="43434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长期记忆系统</a:t>
            </a:r>
            <a:endParaRPr lang="en-US" sz="1725" dirty="0"/>
          </a:p>
        </p:txBody>
      </p:sp>
      <p:sp>
        <p:nvSpPr>
          <p:cNvPr id="14" name="Text 7"/>
          <p:cNvSpPr txBox="1"/>
          <p:nvPr/>
        </p:nvSpPr>
        <p:spPr>
          <a:xfrm>
            <a:off x="1543507" y="46670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跨天、跨场景保留用户偏好、事件与关系节点</a:t>
            </a:r>
            <a:endParaRPr lang="en-US" sz="1125" dirty="0"/>
          </a:p>
        </p:txBody>
      </p:sp>
      <p:sp>
        <p:nvSpPr>
          <p:cNvPr id="15" name="Text 8"/>
          <p:cNvSpPr txBox="1"/>
          <p:nvPr/>
        </p:nvSpPr>
        <p:spPr>
          <a:xfrm>
            <a:off x="8667598" y="44384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L3</a:t>
            </a:r>
            <a:endParaRPr lang="en-US" sz="1125" dirty="0"/>
          </a:p>
        </p:txBody>
      </p:sp>
      <p:sp>
        <p:nvSpPr>
          <p:cNvPr id="16" name="Shape 9"/>
          <p:cNvSpPr/>
          <p:nvPr/>
        </p:nvSpPr>
        <p:spPr>
          <a:xfrm>
            <a:off x="1238098" y="51627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17" name="Image 5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5162702"/>
            <a:ext cx="38405" cy="9144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543507" y="53721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情绪感知引擎</a:t>
            </a:r>
            <a:endParaRPr lang="en-US" sz="1725" dirty="0"/>
          </a:p>
        </p:txBody>
      </p:sp>
      <p:sp>
        <p:nvSpPr>
          <p:cNvPr id="19" name="Text 11"/>
          <p:cNvSpPr txBox="1"/>
          <p:nvPr/>
        </p:nvSpPr>
        <p:spPr>
          <a:xfrm>
            <a:off x="1543507" y="56957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识别并跟踪用户长期情绪状态，而非只做单轮判断</a:t>
            </a:r>
            <a:endParaRPr lang="en-US" sz="1125" dirty="0"/>
          </a:p>
        </p:txBody>
      </p:sp>
      <p:sp>
        <p:nvSpPr>
          <p:cNvPr id="20" name="Text 12"/>
          <p:cNvSpPr txBox="1"/>
          <p:nvPr/>
        </p:nvSpPr>
        <p:spPr>
          <a:xfrm>
            <a:off x="8667598" y="54671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L2</a:t>
            </a:r>
            <a:endParaRPr lang="en-US" sz="1125" dirty="0"/>
          </a:p>
        </p:txBody>
      </p:sp>
      <p:sp>
        <p:nvSpPr>
          <p:cNvPr id="21" name="Shape 13"/>
          <p:cNvSpPr/>
          <p:nvPr/>
        </p:nvSpPr>
        <p:spPr>
          <a:xfrm>
            <a:off x="1238098" y="61914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22" name="Image 6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6191402"/>
            <a:ext cx="38405" cy="9144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543507" y="64008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人格一致性模型</a:t>
            </a:r>
            <a:endParaRPr lang="en-US" sz="1725" dirty="0"/>
          </a:p>
        </p:txBody>
      </p:sp>
      <p:sp>
        <p:nvSpPr>
          <p:cNvPr id="24" name="Text 15"/>
          <p:cNvSpPr txBox="1"/>
          <p:nvPr/>
        </p:nvSpPr>
        <p:spPr>
          <a:xfrm>
            <a:off x="1543507" y="67244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确保角色身份、风格与边界长期稳定</a:t>
            </a:r>
            <a:endParaRPr lang="en-US" sz="1125" dirty="0"/>
          </a:p>
        </p:txBody>
      </p:sp>
      <p:sp>
        <p:nvSpPr>
          <p:cNvPr id="25" name="Text 16"/>
          <p:cNvSpPr txBox="1"/>
          <p:nvPr/>
        </p:nvSpPr>
        <p:spPr>
          <a:xfrm>
            <a:off x="8667598" y="64958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L1</a:t>
            </a:r>
            <a:endParaRPr lang="en-US" sz="1125" dirty="0"/>
          </a:p>
        </p:txBody>
      </p:sp>
      <p:pic>
        <p:nvPicPr>
          <p:cNvPr id="26" name="Image 7" descr="gen-dedup-93a718a0d9d7ada48edf1e84d7128d48.png"/>
          <p:cNvPicPr>
            <a:picLocks noChangeAspect="1"/>
          </p:cNvPicPr>
          <p:nvPr/>
        </p:nvPicPr>
        <p:blipFill>
          <a:blip r:embed="rId6"/>
          <a:srcRect t="-2116" b="-2116"/>
          <a:stretch>
            <a:fillRect/>
          </a:stretch>
        </p:blipFill>
        <p:spPr>
          <a:xfrm>
            <a:off x="5352898" y="7105802"/>
            <a:ext cx="9144" cy="247802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238098" y="7353605"/>
            <a:ext cx="8287207" cy="780898"/>
          </a:xfrm>
          <a:prstGeom prst="rect">
            <a:avLst/>
          </a:prstGeom>
          <a:solidFill>
            <a:srgbClr val="F1F1EB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1543507" y="7563002"/>
            <a:ext cx="4953305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基础模型层</a:t>
            </a:r>
            <a:endParaRPr lang="en-US" sz="1800" dirty="0"/>
          </a:p>
        </p:txBody>
      </p:sp>
      <p:sp>
        <p:nvSpPr>
          <p:cNvPr id="29" name="Text 19"/>
          <p:cNvSpPr txBox="1"/>
          <p:nvPr/>
        </p:nvSpPr>
        <p:spPr>
          <a:xfrm>
            <a:off x="1543507" y="7848295"/>
            <a:ext cx="7239305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 · 多模态 · 推理能力（可替换、非壁垒所在）</a:t>
            </a:r>
            <a:endParaRPr lang="en-US" sz="1125" dirty="0"/>
          </a:p>
        </p:txBody>
      </p:sp>
      <p:sp>
        <p:nvSpPr>
          <p:cNvPr id="30" name="Text 20"/>
          <p:cNvSpPr txBox="1"/>
          <p:nvPr/>
        </p:nvSpPr>
        <p:spPr>
          <a:xfrm>
            <a:off x="1238098" y="8419795"/>
            <a:ext cx="8287207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壁垒位于 L1–L3 关系能力层，而非可替换的基础模型</a:t>
            </a:r>
            <a:endParaRPr lang="en-US" sz="1125" dirty="0"/>
          </a:p>
        </p:txBody>
      </p:sp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Mind Engine：关系智能的底层操作系统</a:t>
            </a:r>
            <a:endParaRPr lang="en-US" sz="3450" dirty="0"/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长期记忆、情绪感知、人格一致性，让AI从任务智能升级为关系智能</a:t>
            </a:r>
            <a:endParaRPr lang="en-US" sz="1725" dirty="0"/>
          </a:p>
        </p:txBody>
      </p:sp>
      <p:sp>
        <p:nvSpPr>
          <p:cNvPr id="34" name="Text 24"/>
          <p:cNvSpPr txBox="1"/>
          <p:nvPr/>
        </p:nvSpPr>
        <p:spPr>
          <a:xfrm>
            <a:off x="10077602" y="3105302"/>
            <a:ext cx="6972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关系智能 ≠ 对话智能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10420502" y="3924605"/>
          <a:ext cx="6286500" cy="3553358"/>
        </p:xfrm>
        <a:graphic>
          <a:graphicData uri="http://schemas.openxmlformats.org/drawingml/2006/table">
            <a:tbl>
              <a:tblPr/>
              <a:tblGrid>
                <a:gridCol w="1714500"/>
                <a:gridCol w="2133295"/>
                <a:gridCol w="2438705"/>
              </a:tblGrid>
              <a:tr h="5922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维度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0" marB="15270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对话智能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0" marB="15270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B4530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关系智能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0" marB="15270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2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4A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时间尺度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单轮 / 单会话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跨天、跨场景延续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2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4A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记忆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上下文窗口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结构化关系节点沉淀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2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4A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情绪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单轮情感分类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长期情绪状态跟踪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2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4A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人格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提示词设定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身份与边界长期稳定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2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4A42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评价标准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回答质量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B4530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关系是否成立并延续</a:t>
                      </a:r>
                      <a:endParaRPr lang="en-US" sz="1350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190195" marB="190195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486607"/>
            <a:ext cx="15811805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6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238098" y="8419795"/>
            <a:ext cx="15811805" cy="1067105"/>
          </a:xfrm>
          <a:prstGeom prst="rect">
            <a:avLst/>
          </a:prstGeom>
          <a:solidFill>
            <a:srgbClr val="F1F1EB"/>
          </a:solidFill>
        </p:spPr>
      </p:sp>
      <p:sp>
        <p:nvSpPr>
          <p:cNvPr id="7" name="Shape 3"/>
          <p:cNvSpPr/>
          <p:nvPr/>
        </p:nvSpPr>
        <p:spPr>
          <a:xfrm>
            <a:off x="1238098" y="8419795"/>
            <a:ext cx="28346" cy="1067105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能力验证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我们的壁垒是可验证的关系能力</a:t>
            </a:r>
            <a:endParaRPr lang="en-US" sz="3450" dirty="0"/>
          </a:p>
        </p:txBody>
      </p:sp>
      <p:sp>
        <p:nvSpPr>
          <p:cNvPr id="10" name="Text 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通过记忆、情绪、人格与关系连续性测试体系，证明这不是普通ChatBot</a:t>
            </a:r>
            <a:endParaRPr lang="en-US" sz="1725" dirty="0"/>
          </a:p>
        </p:txBody>
      </p:sp>
      <p:sp>
        <p:nvSpPr>
          <p:cNvPr id="11" name="Text 7"/>
          <p:cNvSpPr txBox="1"/>
          <p:nvPr/>
        </p:nvSpPr>
        <p:spPr>
          <a:xfrm>
            <a:off x="1238098" y="3029407"/>
            <a:ext cx="95253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测试维度 × 可通过的判据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1619402" y="3810305"/>
          <a:ext cx="15050110" cy="3286355"/>
        </p:xfrm>
        <a:graphic>
          <a:graphicData uri="http://schemas.openxmlformats.org/drawingml/2006/table">
            <a:tbl>
              <a:tblPr/>
              <a:tblGrid>
                <a:gridCol w="2615184"/>
                <a:gridCol w="4551883"/>
                <a:gridCol w="5132527"/>
                <a:gridCol w="2750515"/>
              </a:tblGrid>
              <a:tr h="6572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测试维度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0" marB="171907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验证方式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0" marB="171907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B4530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通过判据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0" marB="171907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9A9A8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普通ChatBot表现</a:t>
                      </a:r>
                      <a:endParaRPr lang="en-US" sz="11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0" marB="171907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记忆连续性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6B6B6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跨天、跨场景的关系节点召回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2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无需用户复述即可接上既有事件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A8A89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窗口外即遗忘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情绪追踪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6B6B6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长期情绪状态的分层回应测试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2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对持续低落与偶发波动作出不同回应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A8A89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单轮情感分类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人格稳定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6B6B6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长周期对照测试与边界诱导测试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2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身份、风格与边界不随诱导漂移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A8A89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易被提示词改写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6181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关系延续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45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6B6B6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中断后重启的关系接续测试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45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B4530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关系状态可重复成立，而非偶发表现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247802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45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A8A89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每次重新开始</a:t>
                      </a:r>
                      <a:endParaRPr lang="en-US" sz="1425" dirty="0">
                        <a:latin typeface="Noto Sans SC" pitchFamily="34" charset="0"/>
                        <a:ea typeface="Noto Sans SC" pitchFamily="34" charset="0"/>
                        <a:cs typeface="Noto Sans SC" pitchFamily="34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45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1657807" y="8630107"/>
            <a:ext cx="150501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判断标准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657807" y="8934602"/>
            <a:ext cx="15050110" cy="3145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核心能力不是一次回答，而是长期陪伴关系的</a:t>
            </a:r>
            <a:r>
              <a:rPr lang="en-US" sz="165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可重复成立</a:t>
            </a:r>
            <a:r>
              <a:rPr lang="en-US" sz="165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429000"/>
            <a:ext cx="77339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15907" y="3429000"/>
            <a:ext cx="77339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38098" y="6172200"/>
            <a:ext cx="77339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15907" y="6172200"/>
            <a:ext cx="7733995" cy="2514600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9" name="Image 2" descr="gen-dedup-e99043ed5a8b4bdae7200359911e85f6.png"/>
          <p:cNvPicPr>
            <a:picLocks noChangeAspect="1"/>
          </p:cNvPicPr>
          <p:nvPr/>
        </p:nvPicPr>
        <p:blipFill>
          <a:blip r:embed="rId3"/>
          <a:srcRect l="-402" r="-402"/>
          <a:stretch>
            <a:fillRect/>
          </a:stretch>
        </p:blipFill>
        <p:spPr>
          <a:xfrm>
            <a:off x="1238098" y="3429000"/>
            <a:ext cx="7733995" cy="28346"/>
          </a:xfrm>
          <a:prstGeom prst="rect">
            <a:avLst/>
          </a:prstGeom>
        </p:spPr>
      </p:pic>
      <p:pic>
        <p:nvPicPr>
          <p:cNvPr id="10" name="Image 3" descr="gen-dedup-5e38a14ad02e9f27321ec967e8c1e4ea.png"/>
          <p:cNvPicPr>
            <a:picLocks noChangeAspect="1"/>
          </p:cNvPicPr>
          <p:nvPr/>
        </p:nvPicPr>
        <p:blipFill>
          <a:blip r:embed="rId4"/>
          <a:srcRect l="-402" r="-402"/>
          <a:stretch>
            <a:fillRect/>
          </a:stretch>
        </p:blipFill>
        <p:spPr>
          <a:xfrm>
            <a:off x="9315907" y="3429000"/>
            <a:ext cx="7733995" cy="28346"/>
          </a:xfrm>
          <a:prstGeom prst="rect">
            <a:avLst/>
          </a:prstGeom>
        </p:spPr>
      </p:pic>
      <p:pic>
        <p:nvPicPr>
          <p:cNvPr id="11" name="Image 4" descr="gen-dedup-5e38a14ad02e9f27321ec967e8c1e4ea.png"/>
          <p:cNvPicPr>
            <a:picLocks noChangeAspect="1"/>
          </p:cNvPicPr>
          <p:nvPr/>
        </p:nvPicPr>
        <p:blipFill>
          <a:blip r:embed="rId4"/>
          <a:srcRect l="-402" r="-402"/>
          <a:stretch>
            <a:fillRect/>
          </a:stretch>
        </p:blipFill>
        <p:spPr>
          <a:xfrm>
            <a:off x="1238098" y="6172200"/>
            <a:ext cx="7733995" cy="28346"/>
          </a:xfrm>
          <a:prstGeom prst="rect">
            <a:avLst/>
          </a:prstGeom>
        </p:spPr>
      </p:pic>
      <p:pic>
        <p:nvPicPr>
          <p:cNvPr id="12" name="Image 5" descr="gen-dedup-e99043ed5a8b4bdae7200359911e85f6.png"/>
          <p:cNvPicPr>
            <a:picLocks noChangeAspect="1"/>
          </p:cNvPicPr>
          <p:nvPr/>
        </p:nvPicPr>
        <p:blipFill>
          <a:blip r:embed="rId3"/>
          <a:srcRect l="-402" r="-402"/>
          <a:stretch>
            <a:fillRect/>
          </a:stretch>
        </p:blipFill>
        <p:spPr>
          <a:xfrm>
            <a:off x="9315907" y="6172200"/>
            <a:ext cx="7733995" cy="28346"/>
          </a:xfrm>
          <a:prstGeom prst="rect">
            <a:avLst/>
          </a:prstGeom>
        </p:spPr>
      </p:pic>
      <p:pic>
        <p:nvPicPr>
          <p:cNvPr id="13" name="Image 6" descr="gen-dedup-dc5decca72c6143fc8f18a4497e33886.png"/>
          <p:cNvPicPr>
            <a:picLocks noChangeAspect="1"/>
          </p:cNvPicPr>
          <p:nvPr/>
        </p:nvPicPr>
        <p:blipFill>
          <a:blip r:embed="rId5"/>
          <a:srcRect t="-2083" b="-2083"/>
          <a:stretch>
            <a:fillRect/>
          </a:stretch>
        </p:blipFill>
        <p:spPr>
          <a:xfrm>
            <a:off x="9144000" y="3429000"/>
            <a:ext cx="9144" cy="5257800"/>
          </a:xfrm>
          <a:prstGeom prst="rect">
            <a:avLst/>
          </a:prstGeom>
        </p:spPr>
      </p:pic>
      <p:pic>
        <p:nvPicPr>
          <p:cNvPr id="14" name="Image 7" descr="gen-dedup-a43ea318ed141a9418a3eb0b8c76837f.png"/>
          <p:cNvPicPr>
            <a:picLocks noChangeAspect="1"/>
          </p:cNvPicPr>
          <p:nvPr/>
        </p:nvPicPr>
        <p:blipFill>
          <a:blip r:embed="rId6"/>
          <a:srcRect l="-2083" r="-2083"/>
          <a:stretch>
            <a:fillRect/>
          </a:stretch>
        </p:blipFill>
        <p:spPr>
          <a:xfrm>
            <a:off x="1238098" y="6057900"/>
            <a:ext cx="15811805" cy="9144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情感陪伴合规策略</a:t>
            </a:r>
            <a:endParaRPr lang="en-US" sz="1125" dirty="0"/>
          </a:p>
        </p:txBody>
      </p:sp>
      <p:sp>
        <p:nvSpPr>
          <p:cNvPr id="16" name="Text 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合规不是事后补丁，而是底层设计</a:t>
            </a:r>
            <a:endParaRPr lang="en-US" sz="3450" dirty="0"/>
          </a:p>
        </p:txBody>
      </p:sp>
      <p:sp>
        <p:nvSpPr>
          <p:cNvPr id="17" name="Text 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通过年龄分层、监护可控、角色分级和风险干预，构建可长期运营的陪伴产品体系</a:t>
            </a:r>
            <a:endParaRPr lang="en-US" sz="1725" dirty="0"/>
          </a:p>
        </p:txBody>
      </p:sp>
      <p:sp>
        <p:nvSpPr>
          <p:cNvPr id="18" name="Text 8"/>
          <p:cNvSpPr txBox="1"/>
          <p:nvPr/>
        </p:nvSpPr>
        <p:spPr>
          <a:xfrm>
            <a:off x="1238098" y="2971800"/>
            <a:ext cx="95253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治理矩阵 · 我们主动把合规写进架构</a:t>
            </a:r>
            <a:endParaRPr lang="en-US" sz="1050" dirty="0"/>
          </a:p>
        </p:txBody>
      </p:sp>
      <p:sp>
        <p:nvSpPr>
          <p:cNvPr id="19" name="Text 9"/>
          <p:cNvSpPr txBox="1"/>
          <p:nvPr/>
        </p:nvSpPr>
        <p:spPr>
          <a:xfrm>
            <a:off x="1619402" y="3933749"/>
            <a:ext cx="219456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125" dirty="0"/>
          </a:p>
        </p:txBody>
      </p:sp>
      <p:sp>
        <p:nvSpPr>
          <p:cNvPr id="20" name="Text 10"/>
          <p:cNvSpPr txBox="1"/>
          <p:nvPr/>
        </p:nvSpPr>
        <p:spPr>
          <a:xfrm>
            <a:off x="2002536" y="3771900"/>
            <a:ext cx="1077163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年龄分层</a:t>
            </a:r>
            <a:endParaRPr lang="en-US" sz="2100" dirty="0"/>
          </a:p>
        </p:txBody>
      </p:sp>
      <p:sp>
        <p:nvSpPr>
          <p:cNvPr id="21" name="Text 11"/>
          <p:cNvSpPr txBox="1"/>
          <p:nvPr/>
        </p:nvSpPr>
        <p:spPr>
          <a:xfrm>
            <a:off x="1619402" y="4324198"/>
            <a:ext cx="69723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成人与未成年人模式完整分离。</a:t>
            </a:r>
            <a:r>
              <a:rPr lang="en-US" sz="15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未成年人不提供虚拟亲密关系型服务</a:t>
            </a: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，仅开放陪伴、学习与兴趣向角色。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9696298" y="3933749"/>
            <a:ext cx="219456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125" dirty="0"/>
          </a:p>
        </p:txBody>
      </p:sp>
      <p:sp>
        <p:nvSpPr>
          <p:cNvPr id="23" name="Text 13"/>
          <p:cNvSpPr txBox="1"/>
          <p:nvPr/>
        </p:nvSpPr>
        <p:spPr>
          <a:xfrm>
            <a:off x="10079431" y="3771900"/>
            <a:ext cx="1077163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监护可控</a:t>
            </a:r>
            <a:endParaRPr lang="en-US" sz="2100" dirty="0"/>
          </a:p>
        </p:txBody>
      </p:sp>
      <p:sp>
        <p:nvSpPr>
          <p:cNvPr id="24" name="Text 14"/>
          <p:cNvSpPr txBox="1"/>
          <p:nvPr/>
        </p:nvSpPr>
        <p:spPr>
          <a:xfrm>
            <a:off x="9696298" y="4324198"/>
            <a:ext cx="69723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内置监护同意流程、使用时长限制、消费额度控制与现实提醒机制，监护人可查可管可停。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1619402" y="6676949"/>
            <a:ext cx="219456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125" dirty="0"/>
          </a:p>
        </p:txBody>
      </p:sp>
      <p:sp>
        <p:nvSpPr>
          <p:cNvPr id="26" name="Text 16"/>
          <p:cNvSpPr txBox="1"/>
          <p:nvPr/>
        </p:nvSpPr>
        <p:spPr>
          <a:xfrm>
            <a:off x="2002536" y="6515100"/>
            <a:ext cx="1877263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内容与角色分级</a:t>
            </a:r>
            <a:endParaRPr lang="en-US" sz="2100" dirty="0"/>
          </a:p>
        </p:txBody>
      </p:sp>
      <p:sp>
        <p:nvSpPr>
          <p:cNvPr id="27" name="Text 17"/>
          <p:cNvSpPr txBox="1"/>
          <p:nvPr/>
        </p:nvSpPr>
        <p:spPr>
          <a:xfrm>
            <a:off x="1619402" y="7067398"/>
            <a:ext cx="69723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角色人格、关系类型与可触达内容按等级授权，人格一致性模型保证边界不被提示词诱导突破。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9696298" y="6676949"/>
            <a:ext cx="219456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15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125" dirty="0"/>
          </a:p>
        </p:txBody>
      </p:sp>
      <p:sp>
        <p:nvSpPr>
          <p:cNvPr id="29" name="Text 19"/>
          <p:cNvSpPr txBox="1"/>
          <p:nvPr/>
        </p:nvSpPr>
        <p:spPr>
          <a:xfrm>
            <a:off x="10079431" y="6515100"/>
            <a:ext cx="1877263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风险识别与干预</a:t>
            </a:r>
            <a:endParaRPr lang="en-US" sz="2100" dirty="0"/>
          </a:p>
        </p:txBody>
      </p:sp>
      <p:sp>
        <p:nvSpPr>
          <p:cNvPr id="30" name="Text 20"/>
          <p:cNvSpPr txBox="1"/>
          <p:nvPr/>
        </p:nvSpPr>
        <p:spPr>
          <a:xfrm>
            <a:off x="9696298" y="7067398"/>
            <a:ext cx="6972300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对高风险内容、异常情感依赖与自伤暗示进行识别，执行</a:t>
            </a:r>
            <a:r>
              <a:rPr lang="en-US" sz="15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强制降级与干预</a:t>
            </a:r>
            <a:r>
              <a:rPr lang="en-US" sz="1500" dirty="0">
                <a:solidFill>
                  <a:srgbClr val="4A4A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，并引导至现实支持资源。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1238098" y="9029700"/>
            <a:ext cx="15811805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我们主动为未成年人关闭虚拟亲密关系服务，并将合规约束写入 Mind Engine 的人格与边界层，而非交给运营侧事后审核。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5" name="Image 2" descr="gen-dedup-f70524bbc0962bb78a1f6f13a19f2a13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0096805" y="4781398"/>
            <a:ext cx="6953098" cy="9144"/>
          </a:xfrm>
          <a:prstGeom prst="rect">
            <a:avLst/>
          </a:prstGeom>
        </p:spPr>
      </p:pic>
      <p:pic>
        <p:nvPicPr>
          <p:cNvPr id="6" name="Image 3" descr="gen-dedup-f70524bbc0962bb78a1f6f13a19f2a13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0096805" y="6610198"/>
            <a:ext cx="6953098" cy="9144"/>
          </a:xfrm>
          <a:prstGeom prst="rect">
            <a:avLst/>
          </a:prstGeom>
        </p:spPr>
      </p:pic>
      <p:pic>
        <p:nvPicPr>
          <p:cNvPr id="7" name="Image 4" descr="gen-dedup-259e8fa7c7a40b57c460ac6833752707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10096805" y="8572500"/>
            <a:ext cx="6953098" cy="9144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238098" y="7048195"/>
            <a:ext cx="8287207" cy="1238098"/>
          </a:xfrm>
          <a:prstGeom prst="rect">
            <a:avLst/>
          </a:prstGeom>
          <a:solidFill>
            <a:srgbClr val="F1F1EB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1580998" y="7315200"/>
            <a:ext cx="5715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能力飞轮</a:t>
            </a:r>
            <a:endParaRPr lang="en-US" sz="1875" dirty="0"/>
          </a:p>
        </p:txBody>
      </p:sp>
      <p:sp>
        <p:nvSpPr>
          <p:cNvPr id="10" name="Text 3"/>
          <p:cNvSpPr txBox="1"/>
          <p:nvPr/>
        </p:nvSpPr>
        <p:spPr>
          <a:xfrm>
            <a:off x="1580998" y="7677302"/>
            <a:ext cx="723930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 → 情绪 → 人格，三层能力互相供给，越用越准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8762695" y="7315200"/>
            <a:ext cx="4197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0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基座</a:t>
            </a:r>
            <a:endParaRPr lang="en-US" sz="1050" dirty="0"/>
          </a:p>
        </p:txBody>
      </p:sp>
      <p:sp>
        <p:nvSpPr>
          <p:cNvPr id="12" name="Shape 5"/>
          <p:cNvSpPr/>
          <p:nvPr/>
        </p:nvSpPr>
        <p:spPr>
          <a:xfrm>
            <a:off x="1790395" y="5429707"/>
            <a:ext cx="7181698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13" name="Image 5" descr="gen-dedup-8ed97839fe875dbdd30b0e78b3a9a4f8.png"/>
          <p:cNvPicPr>
            <a:picLocks noChangeAspect="1"/>
          </p:cNvPicPr>
          <p:nvPr/>
        </p:nvPicPr>
        <p:blipFill>
          <a:blip r:embed="rId5"/>
          <a:srcRect l="-402" r="-402"/>
          <a:stretch>
            <a:fillRect/>
          </a:stretch>
        </p:blipFill>
        <p:spPr>
          <a:xfrm>
            <a:off x="1790395" y="5429707"/>
            <a:ext cx="7181698" cy="2834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2133295" y="5715000"/>
            <a:ext cx="5715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虚拟世界沉浸感</a:t>
            </a:r>
            <a:endParaRPr lang="en-US" sz="1875" dirty="0"/>
          </a:p>
        </p:txBody>
      </p:sp>
      <p:sp>
        <p:nvSpPr>
          <p:cNvPr id="15" name="Text 7"/>
          <p:cNvSpPr txBox="1"/>
          <p:nvPr/>
        </p:nvSpPr>
        <p:spPr>
          <a:xfrm>
            <a:off x="2133295" y="6077102"/>
            <a:ext cx="6286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角色持续存在并给出真实反馈，世界成为关系的容器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8191195" y="5715000"/>
            <a:ext cx="4197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0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承载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2343607" y="3810305"/>
            <a:ext cx="6077102" cy="1238098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18" name="Image 6" descr="gen-dedup-bb75033aa47cf41ec782f5272506724c.png"/>
          <p:cNvPicPr>
            <a:picLocks noChangeAspect="1"/>
          </p:cNvPicPr>
          <p:nvPr/>
        </p:nvPicPr>
        <p:blipFill>
          <a:blip r:embed="rId6"/>
          <a:srcRect l="-406" r="-406"/>
          <a:stretch>
            <a:fillRect/>
          </a:stretch>
        </p:blipFill>
        <p:spPr>
          <a:xfrm>
            <a:off x="2343607" y="3810305"/>
            <a:ext cx="6077102" cy="28346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2686507" y="4095598"/>
            <a:ext cx="533461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用户关系沉淀</a:t>
            </a:r>
            <a:endParaRPr lang="en-US" sz="1875" dirty="0"/>
          </a:p>
        </p:txBody>
      </p:sp>
      <p:sp>
        <p:nvSpPr>
          <p:cNvPr id="20" name="Text 11"/>
          <p:cNvSpPr txBox="1"/>
          <p:nvPr/>
        </p:nvSpPr>
        <p:spPr>
          <a:xfrm>
            <a:off x="2686507" y="4457700"/>
            <a:ext cx="533461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共同经历与承诺累积，替换成本随时间上升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7658100" y="4095598"/>
            <a:ext cx="4197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05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壁垒</a:t>
            </a:r>
            <a:endParaRPr lang="en-US" sz="1050" dirty="0"/>
          </a:p>
        </p:txBody>
      </p:sp>
      <p:pic>
        <p:nvPicPr>
          <p:cNvPr id="22" name="Image 7" descr="gen-dedup-4a9c9d3f08d7763a32461b51f644e92e.png"/>
          <p:cNvPicPr>
            <a:picLocks noChangeAspect="1"/>
          </p:cNvPicPr>
          <p:nvPr/>
        </p:nvPicPr>
        <p:blipFill>
          <a:blip r:embed="rId7"/>
          <a:srcRect t="-2127" b="-2127"/>
          <a:stretch>
            <a:fillRect/>
          </a:stretch>
        </p:blipFill>
        <p:spPr>
          <a:xfrm>
            <a:off x="5372100" y="5048402"/>
            <a:ext cx="9144" cy="381305"/>
          </a:xfrm>
          <a:prstGeom prst="rect">
            <a:avLst/>
          </a:prstGeom>
        </p:spPr>
      </p:pic>
      <p:pic>
        <p:nvPicPr>
          <p:cNvPr id="23" name="Image 8" descr="gen-dedup-085d3c1a64de253fe3302e3cfb6403d0.png"/>
          <p:cNvPicPr>
            <a:picLocks noChangeAspect="1"/>
          </p:cNvPicPr>
          <p:nvPr/>
        </p:nvPicPr>
        <p:blipFill>
          <a:blip r:embed="rId8"/>
          <a:srcRect t="-2127" b="-2127"/>
          <a:stretch>
            <a:fillRect/>
          </a:stretch>
        </p:blipFill>
        <p:spPr>
          <a:xfrm>
            <a:off x="5372100" y="6667805"/>
            <a:ext cx="9144" cy="3813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238098" y="3372307"/>
            <a:ext cx="8287207" cy="2103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越往上越难复制：模型可采购，关系不可迁移</a:t>
            </a:r>
            <a:endParaRPr lang="en-US" sz="1125" dirty="0"/>
          </a:p>
        </p:txBody>
      </p:sp>
      <p:sp>
        <p:nvSpPr>
          <p:cNvPr id="25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护城河</a:t>
            </a:r>
            <a:endParaRPr lang="en-US" sz="1125" dirty="0"/>
          </a:p>
        </p:txBody>
      </p:sp>
      <p:sp>
        <p:nvSpPr>
          <p:cNvPr id="26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真正难复制的不是模型，而是关系资产</a:t>
            </a:r>
            <a:endParaRPr lang="en-US" sz="3450" dirty="0"/>
          </a:p>
        </p:txBody>
      </p:sp>
      <p:sp>
        <p:nvSpPr>
          <p:cNvPr id="27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长期互动与情感沉淀提升迁移成本，形成系统、产品与关系的复合护城河</a:t>
            </a:r>
            <a:endParaRPr lang="en-US" sz="1725" dirty="0"/>
          </a:p>
        </p:txBody>
      </p:sp>
      <p:pic>
        <p:nvPicPr>
          <p:cNvPr id="28" name="Image 9" descr="gen-dedup-5c1a626a51678c19b4e403df2e8c37f8.png"/>
          <p:cNvPicPr>
            <a:picLocks noChangeAspect="1"/>
          </p:cNvPicPr>
          <p:nvPr/>
        </p:nvPicPr>
        <p:blipFill>
          <a:blip r:embed="rId9"/>
          <a:srcRect t="-424" b="-424"/>
          <a:stretch>
            <a:fillRect/>
          </a:stretch>
        </p:blipFill>
        <p:spPr>
          <a:xfrm>
            <a:off x="10096805" y="3295498"/>
            <a:ext cx="323698" cy="19202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0096805" y="3467405"/>
            <a:ext cx="6954012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能力飞轮</a:t>
            </a:r>
            <a:endParaRPr lang="en-US" sz="1800" dirty="0"/>
          </a:p>
        </p:txBody>
      </p:sp>
      <p:sp>
        <p:nvSpPr>
          <p:cNvPr id="30" name="Text 18"/>
          <p:cNvSpPr txBox="1"/>
          <p:nvPr/>
        </p:nvSpPr>
        <p:spPr>
          <a:xfrm>
            <a:off x="10096805" y="390631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形成记忆、情绪、人格三层关系能力飞轮。</a:t>
            </a:r>
            <a:endParaRPr lang="en-US" sz="1425" dirty="0"/>
          </a:p>
        </p:txBody>
      </p:sp>
      <p:pic>
        <p:nvPicPr>
          <p:cNvPr id="31" name="Image 10" descr="gen-dedup-5c1a626a51678c19b4e403df2e8c37f8.png"/>
          <p:cNvPicPr>
            <a:picLocks noChangeAspect="1"/>
          </p:cNvPicPr>
          <p:nvPr/>
        </p:nvPicPr>
        <p:blipFill>
          <a:blip r:embed="rId9"/>
          <a:srcRect t="-424" b="-424"/>
          <a:stretch>
            <a:fillRect/>
          </a:stretch>
        </p:blipFill>
        <p:spPr>
          <a:xfrm>
            <a:off x="10096805" y="5124298"/>
            <a:ext cx="323698" cy="1920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0096805" y="5296205"/>
            <a:ext cx="6954012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世界作为容器</a:t>
            </a:r>
            <a:endParaRPr lang="en-US" sz="1800" dirty="0"/>
          </a:p>
        </p:txBody>
      </p:sp>
      <p:sp>
        <p:nvSpPr>
          <p:cNvPr id="33" name="Text 20"/>
          <p:cNvSpPr txBox="1"/>
          <p:nvPr/>
        </p:nvSpPr>
        <p:spPr>
          <a:xfrm>
            <a:off x="10096805" y="573511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虚拟世界提供角色持续存在与真实反馈，提升关系沉浸感。</a:t>
            </a:r>
            <a:endParaRPr lang="en-US" sz="1425" dirty="0"/>
          </a:p>
        </p:txBody>
      </p:sp>
      <p:pic>
        <p:nvPicPr>
          <p:cNvPr id="34" name="Image 11" descr="gen-dedup-6bfcf5e1f09bdf2b5006dd89502bab73.png"/>
          <p:cNvPicPr>
            <a:picLocks noChangeAspect="1"/>
          </p:cNvPicPr>
          <p:nvPr/>
        </p:nvPicPr>
        <p:blipFill>
          <a:blip r:embed="rId10"/>
          <a:srcRect t="-424" b="-424"/>
          <a:stretch>
            <a:fillRect/>
          </a:stretch>
        </p:blipFill>
        <p:spPr>
          <a:xfrm>
            <a:off x="10096805" y="6953098"/>
            <a:ext cx="323698" cy="19202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0096805" y="7125005"/>
            <a:ext cx="6954012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迁移成本</a:t>
            </a:r>
            <a:endParaRPr lang="en-US" sz="1800" dirty="0"/>
          </a:p>
        </p:txBody>
      </p:sp>
      <p:sp>
        <p:nvSpPr>
          <p:cNvPr id="36" name="Text 22"/>
          <p:cNvSpPr txBox="1"/>
          <p:nvPr/>
        </p:nvSpPr>
        <p:spPr>
          <a:xfrm>
            <a:off x="10096805" y="756391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一旦用户与角色建立长期关系，替换产品的迁移成本显著提高。</a:t>
            </a:r>
            <a:endParaRPr lang="en-US" sz="1425" dirty="0"/>
          </a:p>
        </p:txBody>
      </p:sp>
      <p:sp>
        <p:nvSpPr>
          <p:cNvPr id="37" name="Text 23"/>
          <p:cNvSpPr txBox="1"/>
          <p:nvPr/>
        </p:nvSpPr>
        <p:spPr>
          <a:xfrm>
            <a:off x="10096805" y="8820302"/>
            <a:ext cx="695401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关系是世界的内容，硬件是关系的放大器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905402"/>
            <a:ext cx="4972507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905402"/>
            <a:ext cx="4972507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905402"/>
            <a:ext cx="4972507" cy="4343400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8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8630107"/>
            <a:ext cx="15811805" cy="9144"/>
          </a:xfrm>
          <a:prstGeom prst="rect">
            <a:avLst/>
          </a:prstGeom>
        </p:spPr>
      </p:pic>
      <p:pic>
        <p:nvPicPr>
          <p:cNvPr id="9" name="Image 3" descr="gen-dedup-2244e130567dc5d90e6eedf1a9dcaba3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1238098" y="3333902"/>
            <a:ext cx="15811805" cy="91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96005" y="3276295"/>
            <a:ext cx="123444" cy="123444"/>
          </a:xfrm>
          <a:prstGeom prst="ellipse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9087307" y="3276295"/>
            <a:ext cx="123444" cy="123444"/>
          </a:xfrm>
          <a:prstGeom prst="ellipse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4459407" y="3247949"/>
            <a:ext cx="181051" cy="181051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238098" y="3143707"/>
            <a:ext cx="1905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线上验证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15145207" y="3143707"/>
            <a:ext cx="1905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具身放大</a:t>
            </a:r>
            <a:endParaRPr lang="en-US" sz="1050" dirty="0"/>
          </a:p>
        </p:txBody>
      </p:sp>
      <p:pic>
        <p:nvPicPr>
          <p:cNvPr id="15" name="Image 4" descr="gen-dedup-ab77413bf1d788d088fa0f7af44c58e7.png"/>
          <p:cNvPicPr>
            <a:picLocks noChangeAspect="1"/>
          </p:cNvPicPr>
          <p:nvPr/>
        </p:nvPicPr>
        <p:blipFill>
          <a:blip r:embed="rId5"/>
          <a:srcRect l="-409" r="-409"/>
          <a:stretch>
            <a:fillRect/>
          </a:stretch>
        </p:blipFill>
        <p:spPr>
          <a:xfrm>
            <a:off x="1238098" y="3905402"/>
            <a:ext cx="4972507" cy="2834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619402" y="4496105"/>
            <a:ext cx="1867205" cy="990295"/>
          </a:xfrm>
          <a:prstGeom prst="rect">
            <a:avLst/>
          </a:prstGeom>
          <a:solidFill>
            <a:srgbClr val="F7F7F4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1867205" y="4743907"/>
            <a:ext cx="1371600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9C"/>
            </a:solidFill>
            <a:prstDash val="solid"/>
          </a:ln>
        </p:spPr>
      </p:sp>
      <p:pic>
        <p:nvPicPr>
          <p:cNvPr id="18" name="Image 5" descr="gen-dedup-9a93099b0cada72cb12c07e06f41e0c5.png"/>
          <p:cNvPicPr>
            <a:picLocks noChangeAspect="1"/>
          </p:cNvPicPr>
          <p:nvPr/>
        </p:nvPicPr>
        <p:blipFill>
          <a:blip r:embed="rId6"/>
          <a:srcRect l="-57" r="-57"/>
          <a:stretch>
            <a:fillRect/>
          </a:stretch>
        </p:blipFill>
        <p:spPr>
          <a:xfrm>
            <a:off x="2229307" y="4895698"/>
            <a:ext cx="647395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829507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AI角色</a:t>
            </a:r>
            <a:endParaRPr lang="en-US" sz="1200" dirty="0"/>
          </a:p>
        </p:txBody>
      </p:sp>
      <p:pic>
        <p:nvPicPr>
          <p:cNvPr id="20" name="Image 6" descr="gen-dedup-ab77413bf1d788d088fa0f7af44c58e7.png"/>
          <p:cNvPicPr>
            <a:picLocks noChangeAspect="1"/>
          </p:cNvPicPr>
          <p:nvPr/>
        </p:nvPicPr>
        <p:blipFill>
          <a:blip r:embed="rId5"/>
          <a:srcRect l="-409" r="-409"/>
          <a:stretch>
            <a:fillRect/>
          </a:stretch>
        </p:blipFill>
        <p:spPr>
          <a:xfrm>
            <a:off x="6657746" y="3905402"/>
            <a:ext cx="4972507" cy="28346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496251" y="4438498"/>
            <a:ext cx="914400" cy="914400"/>
          </a:xfrm>
          <a:prstGeom prst="ellipse">
            <a:avLst/>
          </a:prstGeom>
          <a:solidFill>
            <a:srgbClr val="F7F7F4"/>
          </a:solidFill>
          <a:ln w="12700">
            <a:solidFill>
              <a:srgbClr val="A8A89C"/>
            </a:solidFill>
            <a:prstDash val="solid"/>
          </a:ln>
        </p:spPr>
      </p:sp>
      <p:pic>
        <p:nvPicPr>
          <p:cNvPr id="22" name="Image 7" descr="gen-dedup-38f7f474f13d3dc344a4cf90927a0020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05649" y="4647895"/>
            <a:ext cx="495605" cy="49560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895844" y="4362602"/>
            <a:ext cx="114300" cy="114300"/>
          </a:xfrm>
          <a:prstGeom prst="ellips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249156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电子吧唧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可挂 · 可贴 · 可携带</a:t>
            </a:r>
            <a:endParaRPr lang="en-US" sz="1200" dirty="0"/>
          </a:p>
        </p:txBody>
      </p:sp>
      <p:pic>
        <p:nvPicPr>
          <p:cNvPr id="25" name="Image 8" descr="gen-dedup-d75b28c3872631fc56e93fd353f52260.png"/>
          <p:cNvPicPr>
            <a:picLocks noChangeAspect="1"/>
          </p:cNvPicPr>
          <p:nvPr/>
        </p:nvPicPr>
        <p:blipFill>
          <a:blip r:embed="rId8"/>
          <a:srcRect l="-409" r="-409"/>
          <a:stretch>
            <a:fillRect/>
          </a:stretch>
        </p:blipFill>
        <p:spPr>
          <a:xfrm>
            <a:off x="12077395" y="3905402"/>
            <a:ext cx="4972507" cy="28346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12763195" y="4572000"/>
            <a:ext cx="1238098" cy="761695"/>
          </a:xfrm>
          <a:prstGeom prst="roundRect">
            <a:avLst>
              <a:gd name="adj" fmla="val 12485"/>
            </a:avLst>
          </a:prstGeom>
          <a:solidFill>
            <a:srgbClr val="FFFFFF"/>
          </a:solidFill>
          <a:ln w="12700">
            <a:solidFill>
              <a:srgbClr val="C79A5E"/>
            </a:solidFill>
            <a:prstDash val="solid"/>
          </a:ln>
        </p:spPr>
      </p:sp>
      <p:pic>
        <p:nvPicPr>
          <p:cNvPr id="27" name="Image 9" descr="gen-dedup-df234bd2ef3e7f2318a2188a036883fc.png"/>
          <p:cNvPicPr>
            <a:picLocks noChangeAspect="1"/>
          </p:cNvPicPr>
          <p:nvPr/>
        </p:nvPicPr>
        <p:blipFill>
          <a:blip r:embed="rId9"/>
          <a:srcRect l="-9" r="-9"/>
          <a:stretch>
            <a:fillRect/>
          </a:stretch>
        </p:blipFill>
        <p:spPr>
          <a:xfrm>
            <a:off x="12973507" y="4781398"/>
            <a:ext cx="819302" cy="342900"/>
          </a:xfrm>
          <a:prstGeom prst="rect">
            <a:avLst/>
          </a:prstGeom>
        </p:spPr>
      </p:pic>
      <p:pic>
        <p:nvPicPr>
          <p:cNvPr id="28" name="Image 10" descr="gen-dedup-79dc65d6e47a43ff7d9ffce45d959eb8.png"/>
          <p:cNvPicPr>
            <a:picLocks noChangeAspect="1"/>
          </p:cNvPicPr>
          <p:nvPr/>
        </p:nvPicPr>
        <p:blipFill>
          <a:blip r:embed="rId10"/>
          <a:srcRect l="-2100" r="-2100"/>
          <a:stretch>
            <a:fillRect/>
          </a:stretch>
        </p:blipFill>
        <p:spPr>
          <a:xfrm>
            <a:off x="12668098" y="5333695"/>
            <a:ext cx="1429207" cy="91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4668805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桌面宠物机器人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具身终端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商业路径</a:t>
            </a:r>
            <a:endParaRPr lang="en-US" sz="1125" dirty="0"/>
          </a:p>
        </p:txBody>
      </p:sp>
      <p:sp>
        <p:nvSpPr>
          <p:cNvPr id="31" name="Text 18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先在线上验证关系，再在线下具身化放大</a:t>
            </a:r>
            <a:endParaRPr lang="en-US" sz="3450" dirty="0"/>
          </a:p>
        </p:txBody>
      </p:sp>
      <p:sp>
        <p:nvSpPr>
          <p:cNvPr id="32" name="Text 19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从虚拟世界建立陪伴关系，再通过电子吧唧、桌面宠物机器人等硬件承接长期价值</a:t>
            </a:r>
            <a:endParaRPr lang="en-US" sz="1725" dirty="0"/>
          </a:p>
        </p:txBody>
      </p:sp>
      <p:sp>
        <p:nvSpPr>
          <p:cNvPr id="33" name="Text 20"/>
          <p:cNvSpPr txBox="1"/>
          <p:nvPr/>
        </p:nvSpPr>
        <p:spPr>
          <a:xfrm>
            <a:off x="1619402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01</a:t>
            </a:r>
            <a:endParaRPr lang="en-US" sz="1050" dirty="0"/>
          </a:p>
        </p:txBody>
      </p:sp>
      <p:sp>
        <p:nvSpPr>
          <p:cNvPr id="34" name="Text 21"/>
          <p:cNvSpPr txBox="1"/>
          <p:nvPr/>
        </p:nvSpPr>
        <p:spPr>
          <a:xfrm>
            <a:off x="1619402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在线验证关系成立</a:t>
            </a:r>
            <a:endParaRPr lang="en-US" sz="2100" dirty="0"/>
          </a:p>
        </p:txBody>
      </p:sp>
      <p:sp>
        <p:nvSpPr>
          <p:cNvPr id="35" name="Text 22"/>
          <p:cNvSpPr txBox="1"/>
          <p:nvPr/>
        </p:nvSpPr>
        <p:spPr>
          <a:xfrm>
            <a:off x="1619402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验证留存、互动深度与角色粘性，证明关系可延续而非一次性体验。</a:t>
            </a:r>
            <a:endParaRPr lang="en-US" sz="1350" dirty="0"/>
          </a:p>
        </p:txBody>
      </p:sp>
      <p:sp>
        <p:nvSpPr>
          <p:cNvPr id="36" name="Text 23"/>
          <p:cNvSpPr txBox="1"/>
          <p:nvPr/>
        </p:nvSpPr>
        <p:spPr>
          <a:xfrm>
            <a:off x="7039051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02</a:t>
            </a:r>
            <a:endParaRPr lang="en-US" sz="1050" dirty="0"/>
          </a:p>
        </p:txBody>
      </p:sp>
      <p:sp>
        <p:nvSpPr>
          <p:cNvPr id="37" name="Text 24"/>
          <p:cNvSpPr txBox="1"/>
          <p:nvPr/>
        </p:nvSpPr>
        <p:spPr>
          <a:xfrm>
            <a:off x="7039051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轻硬件承接在场感</a:t>
            </a:r>
            <a:endParaRPr lang="en-US" sz="2100" dirty="0"/>
          </a:p>
        </p:txBody>
      </p:sp>
      <p:sp>
        <p:nvSpPr>
          <p:cNvPr id="38" name="Text 25"/>
          <p:cNvSpPr txBox="1"/>
          <p:nvPr/>
        </p:nvSpPr>
        <p:spPr>
          <a:xfrm>
            <a:off x="7039051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以电子吧唧承接已建立的关系，让角色随身在场，而非再造一个玩具。</a:t>
            </a:r>
            <a:endParaRPr lang="en-US" sz="1350" dirty="0"/>
          </a:p>
        </p:txBody>
      </p:sp>
      <p:sp>
        <p:nvSpPr>
          <p:cNvPr id="39" name="Text 26"/>
          <p:cNvSpPr txBox="1"/>
          <p:nvPr/>
        </p:nvSpPr>
        <p:spPr>
          <a:xfrm>
            <a:off x="12458700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03</a:t>
            </a:r>
            <a:endParaRPr lang="en-US" sz="1050" dirty="0"/>
          </a:p>
        </p:txBody>
      </p:sp>
      <p:sp>
        <p:nvSpPr>
          <p:cNvPr id="40" name="Text 27"/>
          <p:cNvSpPr txBox="1"/>
          <p:nvPr/>
        </p:nvSpPr>
        <p:spPr>
          <a:xfrm>
            <a:off x="12458700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具身终端放大价值</a:t>
            </a:r>
            <a:endParaRPr lang="en-US" sz="2100" dirty="0"/>
          </a:p>
        </p:txBody>
      </p:sp>
      <p:sp>
        <p:nvSpPr>
          <p:cNvPr id="41" name="Text 28"/>
          <p:cNvSpPr txBox="1"/>
          <p:nvPr/>
        </p:nvSpPr>
        <p:spPr>
          <a:xfrm>
            <a:off x="12458700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扩展至桌面宠物机器人等具身终端，放大 LTV 与品牌势能。</a:t>
            </a:r>
            <a:endParaRPr lang="en-US" sz="1350" dirty="0"/>
          </a:p>
        </p:txBody>
      </p:sp>
      <p:sp>
        <p:nvSpPr>
          <p:cNvPr id="42" name="Text 29"/>
          <p:cNvSpPr txBox="1"/>
          <p:nvPr/>
        </p:nvSpPr>
        <p:spPr>
          <a:xfrm>
            <a:off x="1238098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长期留存与互动深度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6657746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硬件转化率与日常携带率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12077395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单用户 LTV 与复购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277002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15907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353898" y="3143707"/>
            <a:ext cx="3696005" cy="36191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9" name="Image 2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1238098" y="3143707"/>
            <a:ext cx="3676802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600200" y="3543300"/>
            <a:ext cx="533095" cy="533095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733702" y="3676802"/>
            <a:ext cx="267005" cy="267005"/>
          </a:xfrm>
          <a:prstGeom prst="ellipse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pic>
        <p:nvPicPr>
          <p:cNvPr id="12" name="Image 3" descr="gen-dedup-285683f193522a26ca86e2aeb96f217f.png"/>
          <p:cNvPicPr>
            <a:picLocks noChangeAspect="1"/>
          </p:cNvPicPr>
          <p:nvPr/>
        </p:nvPicPr>
        <p:blipFill>
          <a:blip r:embed="rId4"/>
          <a:srcRect l="-360" r="-360"/>
          <a:stretch>
            <a:fillRect/>
          </a:stretch>
        </p:blipFill>
        <p:spPr>
          <a:xfrm>
            <a:off x="1857146" y="3619195"/>
            <a:ext cx="19202" cy="381305"/>
          </a:xfrm>
          <a:prstGeom prst="rect">
            <a:avLst/>
          </a:prstGeom>
        </p:spPr>
      </p:pic>
      <p:pic>
        <p:nvPicPr>
          <p:cNvPr id="13" name="Image 4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5277002" y="3143707"/>
            <a:ext cx="3676802" cy="2834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639105" y="3657600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943600" y="3543300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5943600" y="3847795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pic>
        <p:nvPicPr>
          <p:cNvPr id="17" name="Image 5" descr="gen-dedup-43b861830bdd208a666c6588e0ebea74.png"/>
          <p:cNvPicPr>
            <a:picLocks noChangeAspect="1"/>
          </p:cNvPicPr>
          <p:nvPr/>
        </p:nvPicPr>
        <p:blipFill>
          <a:blip r:embed="rId5"/>
          <a:srcRect l="-1876" r="-1876"/>
          <a:stretch>
            <a:fillRect/>
          </a:stretch>
        </p:blipFill>
        <p:spPr>
          <a:xfrm>
            <a:off x="5867705" y="3762756"/>
            <a:ext cx="75895" cy="9144"/>
          </a:xfrm>
          <a:prstGeom prst="rect">
            <a:avLst/>
          </a:prstGeom>
        </p:spPr>
      </p:pic>
      <p:pic>
        <p:nvPicPr>
          <p:cNvPr id="18" name="Image 6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9315907" y="3143707"/>
            <a:ext cx="3676802" cy="28346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600907"/>
            <a:ext cx="418795" cy="418795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9791395" y="3543300"/>
            <a:ext cx="418795" cy="418795"/>
          </a:xfrm>
          <a:prstGeom prst="rect">
            <a:avLst/>
          </a:prstGeom>
          <a:noFill/>
          <a:ln w="12700">
            <a:solidFill>
              <a:srgbClr val="A8A89C"/>
            </a:solidFill>
            <a:prstDash val="solid"/>
          </a:ln>
        </p:spPr>
      </p:sp>
      <p:pic>
        <p:nvPicPr>
          <p:cNvPr id="21" name="Image 7" descr="gen-dedup-6c365fb5bbdc770f426565357468fee8.png"/>
          <p:cNvPicPr>
            <a:picLocks noChangeAspect="1"/>
          </p:cNvPicPr>
          <p:nvPr/>
        </p:nvPicPr>
        <p:blipFill>
          <a:blip r:embed="rId6"/>
          <a:srcRect l="-407" r="-407"/>
          <a:stretch>
            <a:fillRect/>
          </a:stretch>
        </p:blipFill>
        <p:spPr>
          <a:xfrm>
            <a:off x="13353898" y="3143707"/>
            <a:ext cx="3696005" cy="28346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13735202" y="3619195"/>
            <a:ext cx="495605" cy="381305"/>
          </a:xfrm>
          <a:prstGeom prst="roundRect">
            <a:avLst>
              <a:gd name="adj" fmla="val 15108"/>
            </a:avLst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13868705" y="3733495"/>
            <a:ext cx="228600" cy="152705"/>
          </a:xfrm>
          <a:prstGeom prst="roundRect">
            <a:avLst>
              <a:gd name="adj" fmla="val 18563"/>
            </a:avLst>
          </a:prstGeom>
          <a:solidFill>
            <a:srgbClr val="E8C0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13944600" y="3543300"/>
            <a:ext cx="75895" cy="75895"/>
          </a:xfrm>
          <a:prstGeom prst="ellips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15"/>
          <p:cNvSpPr txBox="1"/>
          <p:nvPr/>
        </p:nvSpPr>
        <p:spPr>
          <a:xfrm>
            <a:off x="1238098" y="7830007"/>
            <a:ext cx="1429207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2857500" y="7848295"/>
            <a:ext cx="6019495" cy="152705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8915400" y="7848295"/>
            <a:ext cx="3943807" cy="152705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12896698" y="7848295"/>
            <a:ext cx="1123798" cy="152705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1238098" y="8248802"/>
            <a:ext cx="1429207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成熟阶段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2857500" y="8268005"/>
            <a:ext cx="4324198" cy="152705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220102" y="8268005"/>
            <a:ext cx="3581705" cy="152705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10839298" y="8268005"/>
            <a:ext cx="1695298" cy="152705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2573000" y="8268005"/>
            <a:ext cx="4058107" cy="152705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</a:t>
            </a:r>
            <a:endParaRPr lang="en-US" sz="1125" dirty="0"/>
          </a:p>
        </p:txBody>
      </p:sp>
      <p:sp>
        <p:nvSpPr>
          <p:cNvPr id="35" name="Text 2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长期价值来自关系，收入来自数字世界与实体终端协同</a:t>
            </a:r>
            <a:endParaRPr lang="en-US" sz="3450" dirty="0"/>
          </a:p>
        </p:txBody>
      </p:sp>
      <p:sp>
        <p:nvSpPr>
          <p:cNvPr id="36" name="Text 2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订阅、虚拟消费、内容衍生、硬件销售，构建多层收入结构</a:t>
            </a:r>
            <a:endParaRPr lang="en-US" sz="1725" dirty="0"/>
          </a:p>
        </p:txBody>
      </p:sp>
      <p:sp>
        <p:nvSpPr>
          <p:cNvPr id="37" name="Text 27"/>
          <p:cNvSpPr txBox="1"/>
          <p:nvPr/>
        </p:nvSpPr>
        <p:spPr>
          <a:xfrm>
            <a:off x="1600200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1600200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订阅收入</a:t>
            </a:r>
            <a:endParaRPr lang="en-US" sz="2025" dirty="0"/>
          </a:p>
        </p:txBody>
      </p:sp>
      <p:sp>
        <p:nvSpPr>
          <p:cNvPr id="39" name="Text 29"/>
          <p:cNvSpPr txBox="1"/>
          <p:nvPr/>
        </p:nvSpPr>
        <p:spPr>
          <a:xfrm>
            <a:off x="1600200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围绕角色成长、记忆增强与长期陪伴能力持续收费，关系越深越有续费理由。</a:t>
            </a:r>
            <a:endParaRPr lang="en-US" sz="1350" dirty="0"/>
          </a:p>
        </p:txBody>
      </p:sp>
      <p:sp>
        <p:nvSpPr>
          <p:cNvPr id="40" name="Text 30"/>
          <p:cNvSpPr txBox="1"/>
          <p:nvPr/>
        </p:nvSpPr>
        <p:spPr>
          <a:xfrm>
            <a:off x="5639105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5639105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虚拟消费</a:t>
            </a:r>
            <a:endParaRPr lang="en-US" sz="2025" dirty="0"/>
          </a:p>
        </p:txBody>
      </p:sp>
      <p:sp>
        <p:nvSpPr>
          <p:cNvPr id="42" name="Text 32"/>
          <p:cNvSpPr txBox="1"/>
          <p:nvPr/>
        </p:nvSpPr>
        <p:spPr>
          <a:xfrm>
            <a:off x="5639105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装扮、道具、剧情、成长档案构成世界内消费场景，消费即关系表达。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9677095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9677095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内容衍生</a:t>
            </a:r>
            <a:endParaRPr lang="en-US" sz="2025" dirty="0"/>
          </a:p>
        </p:txBody>
      </p:sp>
      <p:sp>
        <p:nvSpPr>
          <p:cNvPr id="45" name="Text 35"/>
          <p:cNvSpPr txBox="1"/>
          <p:nvPr/>
        </p:nvSpPr>
        <p:spPr>
          <a:xfrm>
            <a:off x="9677095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角色与世界观沉淀为可延展的内容资产，支撑联名与二次开发。</a:t>
            </a:r>
            <a:endParaRPr lang="en-US" sz="1350" dirty="0"/>
          </a:p>
        </p:txBody>
      </p:sp>
      <p:sp>
        <p:nvSpPr>
          <p:cNvPr id="46" name="Text 36"/>
          <p:cNvSpPr txBox="1"/>
          <p:nvPr/>
        </p:nvSpPr>
        <p:spPr>
          <a:xfrm>
            <a:off x="13716000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050" dirty="0"/>
          </a:p>
        </p:txBody>
      </p:sp>
      <p:sp>
        <p:nvSpPr>
          <p:cNvPr id="47" name="Text 37"/>
          <p:cNvSpPr txBox="1"/>
          <p:nvPr/>
        </p:nvSpPr>
        <p:spPr>
          <a:xfrm>
            <a:off x="13716000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2025" dirty="0"/>
          </a:p>
        </p:txBody>
      </p:sp>
      <p:sp>
        <p:nvSpPr>
          <p:cNvPr id="48" name="Text 38"/>
          <p:cNvSpPr txBox="1"/>
          <p:nvPr/>
        </p:nvSpPr>
        <p:spPr>
          <a:xfrm>
            <a:off x="13716000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在关系成立后，以电子吧唧、桌面终端完成具身化收入放大。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1238098" y="7391095"/>
            <a:ext cx="85725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收入结构演进 · 示意比例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2857500" y="8953805"/>
            <a:ext cx="114300" cy="1143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3066898" y="8915400"/>
            <a:ext cx="31455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4000500" y="8953805"/>
            <a:ext cx="114300" cy="114300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4209898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虚拟消费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5524805" y="8953805"/>
            <a:ext cx="114300" cy="114300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5734202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内容衍生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7048195" y="8953805"/>
            <a:ext cx="114300" cy="11430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7258507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8953805" y="8915400"/>
            <a:ext cx="260055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上图为收入结构示意比例，非收入承诺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38098" y="8248802"/>
            <a:ext cx="15811805" cy="1086307"/>
          </a:xfrm>
          <a:prstGeom prst="rect">
            <a:avLst/>
          </a:prstGeom>
          <a:solidFill>
            <a:srgbClr val="F1F1EB"/>
          </a:solidFill>
        </p:spPr>
      </p:sp>
      <p:sp>
        <p:nvSpPr>
          <p:cNvPr id="9" name="Shape 5"/>
          <p:cNvSpPr/>
          <p:nvPr/>
        </p:nvSpPr>
        <p:spPr>
          <a:xfrm>
            <a:off x="1238098" y="8248802"/>
            <a:ext cx="28346" cy="1086307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10" name="Image 2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1238098" y="3181198"/>
            <a:ext cx="4972507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57807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009851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76349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4" name="Image 3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6657746" y="3181198"/>
            <a:ext cx="4972507" cy="2834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077456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29500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295998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8" name="Image 4" descr="gen-dedup-d75b28c3872631fc56e93fd353f52260.png"/>
          <p:cNvPicPr>
            <a:picLocks noChangeAspect="1"/>
          </p:cNvPicPr>
          <p:nvPr/>
        </p:nvPicPr>
        <p:blipFill>
          <a:blip r:embed="rId4"/>
          <a:srcRect l="-409" r="-409"/>
          <a:stretch>
            <a:fillRect/>
          </a:stretch>
        </p:blipFill>
        <p:spPr>
          <a:xfrm>
            <a:off x="12077395" y="3181198"/>
            <a:ext cx="4972507" cy="2834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2497105" y="3696005"/>
            <a:ext cx="990295" cy="9902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2849149" y="3933749"/>
            <a:ext cx="304495" cy="304495"/>
          </a:xfrm>
          <a:prstGeom prst="ellipse">
            <a:avLst/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2715646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兼具AI、教育与硬件能力的复合型团队</a:t>
            </a:r>
            <a:endParaRPr lang="en-US" sz="345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围绕关系型AI产品搭建完整能力结构，项目已完成第一阶段 prototype demo</a:t>
            </a:r>
            <a:endParaRPr lang="en-US" sz="1725" dirty="0"/>
          </a:p>
        </p:txBody>
      </p:sp>
      <p:sp>
        <p:nvSpPr>
          <p:cNvPr id="25" name="Text 18"/>
          <p:cNvSpPr txBox="1"/>
          <p:nvPr/>
        </p:nvSpPr>
        <p:spPr>
          <a:xfrm>
            <a:off x="1657807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CEO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1657807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儿童教育产品专家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1657807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形象与姓名待披露</a:t>
            </a:r>
            <a:endParaRPr lang="en-US" sz="1200" dirty="0"/>
          </a:p>
        </p:txBody>
      </p:sp>
      <p:pic>
        <p:nvPicPr>
          <p:cNvPr id="28" name="Image 5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657807" y="6277356"/>
            <a:ext cx="418795" cy="91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57807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拥有10年以上智能硬件经验，负责产品定义、教育场景理解与整体商业推进。</a:t>
            </a:r>
            <a:endParaRPr lang="en-US" sz="1425" dirty="0"/>
          </a:p>
        </p:txBody>
      </p:sp>
      <p:sp>
        <p:nvSpPr>
          <p:cNvPr id="30" name="Text 22"/>
          <p:cNvSpPr txBox="1"/>
          <p:nvPr/>
        </p:nvSpPr>
        <p:spPr>
          <a:xfrm>
            <a:off x="7077456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CTO</a:t>
            </a:r>
            <a:endParaRPr lang="en-US" sz="1125" dirty="0"/>
          </a:p>
        </p:txBody>
      </p:sp>
      <p:sp>
        <p:nvSpPr>
          <p:cNvPr id="31" name="Text 23"/>
          <p:cNvSpPr txBox="1"/>
          <p:nvPr/>
        </p:nvSpPr>
        <p:spPr>
          <a:xfrm>
            <a:off x="7077456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AI大模型专家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7077456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形象与姓名待披露</a:t>
            </a:r>
            <a:endParaRPr lang="en-US" sz="1200" dirty="0"/>
          </a:p>
        </p:txBody>
      </p:sp>
      <p:pic>
        <p:nvPicPr>
          <p:cNvPr id="33" name="Image 6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7077456" y="6277356"/>
            <a:ext cx="418795" cy="91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77456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负责核心AI架构、记忆系统与关系能力建设，主导 Mind Engine 的工程实现。</a:t>
            </a:r>
            <a:endParaRPr lang="en-US" sz="1425" dirty="0"/>
          </a:p>
        </p:txBody>
      </p:sp>
      <p:sp>
        <p:nvSpPr>
          <p:cNvPr id="35" name="Text 26"/>
          <p:cNvSpPr txBox="1"/>
          <p:nvPr/>
        </p:nvSpPr>
        <p:spPr>
          <a:xfrm>
            <a:off x="12497105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 LEAD</a:t>
            </a:r>
            <a:endParaRPr lang="en-US" sz="1125" dirty="0"/>
          </a:p>
        </p:txBody>
      </p:sp>
      <p:sp>
        <p:nvSpPr>
          <p:cNvPr id="36" name="Text 27"/>
          <p:cNvSpPr txBox="1"/>
          <p:nvPr/>
        </p:nvSpPr>
        <p:spPr>
          <a:xfrm>
            <a:off x="12497105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硬件技术负责人</a:t>
            </a:r>
            <a:endParaRPr lang="en-US" sz="2100" dirty="0"/>
          </a:p>
        </p:txBody>
      </p:sp>
      <p:sp>
        <p:nvSpPr>
          <p:cNvPr id="37" name="Text 28"/>
          <p:cNvSpPr txBox="1"/>
          <p:nvPr/>
        </p:nvSpPr>
        <p:spPr>
          <a:xfrm>
            <a:off x="12497105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形象与姓名待披露</a:t>
            </a:r>
            <a:endParaRPr lang="en-US" sz="1200" dirty="0"/>
          </a:p>
        </p:txBody>
      </p:sp>
      <p:pic>
        <p:nvPicPr>
          <p:cNvPr id="38" name="Image 7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2497105" y="6277356"/>
            <a:ext cx="418795" cy="91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2497105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20年行业经验，负责首款硬件的工程实现与供应链落地。</a:t>
            </a:r>
            <a:endParaRPr lang="en-US" sz="1425" dirty="0"/>
          </a:p>
        </p:txBody>
      </p:sp>
      <p:sp>
        <p:nvSpPr>
          <p:cNvPr id="40" name="Text 30"/>
          <p:cNvSpPr txBox="1"/>
          <p:nvPr/>
        </p:nvSpPr>
        <p:spPr>
          <a:xfrm>
            <a:off x="1657807" y="8477402"/>
            <a:ext cx="914400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当前进展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1657807" y="8781898"/>
            <a:ext cx="9144000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项目已完成第一阶段 prototype demo · 融资后将继续扩充关键岗位</a:t>
            </a:r>
            <a:endParaRPr lang="en-US" sz="1575" dirty="0"/>
          </a:p>
        </p:txBody>
      </p:sp>
      <p:sp>
        <p:nvSpPr>
          <p:cNvPr id="42" name="Text 32"/>
          <p:cNvSpPr txBox="1"/>
          <p:nvPr/>
        </p:nvSpPr>
        <p:spPr>
          <a:xfrm>
            <a:off x="11334902" y="8477402"/>
            <a:ext cx="5334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21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能力结构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11334902" y="8781898"/>
            <a:ext cx="5334610" cy="2770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架构 · 教育场景 · 硬件量产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75245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6"/>
            </a:solidFill>
            <a:prstDash val="solid"/>
          </a:ln>
        </p:spPr>
      </p:sp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9068105"/>
            <a:ext cx="15811805" cy="9144"/>
          </a:xfrm>
          <a:prstGeom prst="rect">
            <a:avLst/>
          </a:prstGeom>
        </p:spPr>
      </p:pic>
      <p:pic>
        <p:nvPicPr>
          <p:cNvPr id="7" name="Image 3" descr="gen-dedup-0ae5947bcbed9a22dc8c36704d1be725.png"/>
          <p:cNvPicPr>
            <a:picLocks noChangeAspect="1"/>
          </p:cNvPicPr>
          <p:nvPr/>
        </p:nvPicPr>
        <p:blipFill>
          <a:blip r:embed="rId4"/>
          <a:srcRect l="-402" r="-402"/>
          <a:stretch>
            <a:fillRect/>
          </a:stretch>
        </p:blipFill>
        <p:spPr>
          <a:xfrm>
            <a:off x="1238098" y="3143707"/>
            <a:ext cx="7524598" cy="28346"/>
          </a:xfrm>
          <a:prstGeom prst="rect">
            <a:avLst/>
          </a:prstGeom>
        </p:spPr>
      </p:pic>
      <p:pic>
        <p:nvPicPr>
          <p:cNvPr id="8" name="Image 4" descr="gen-dedup-002180e1191cdf5c81b49534b2cd8ca4.png"/>
          <p:cNvPicPr>
            <a:picLocks noChangeAspect="1"/>
          </p:cNvPicPr>
          <p:nvPr/>
        </p:nvPicPr>
        <p:blipFill>
          <a:blip r:embed="rId5"/>
          <a:srcRect t="-2083" b="-2083"/>
          <a:stretch>
            <a:fillRect/>
          </a:stretch>
        </p:blipFill>
        <p:spPr>
          <a:xfrm>
            <a:off x="4990795" y="3638398"/>
            <a:ext cx="9144" cy="17145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525305" y="3733495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虚拟世界构建</a:t>
            </a:r>
            <a:endParaRPr lang="en-US" sz="1800" dirty="0"/>
          </a:p>
        </p:txBody>
      </p:sp>
      <p:sp>
        <p:nvSpPr>
          <p:cNvPr id="10" name="Text 3"/>
          <p:cNvSpPr txBox="1"/>
          <p:nvPr/>
        </p:nvSpPr>
        <p:spPr>
          <a:xfrm>
            <a:off x="15906902" y="3733495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50%</a:t>
            </a:r>
            <a:endParaRPr lang="en-US" sz="2250" dirty="0"/>
          </a:p>
        </p:txBody>
      </p:sp>
      <p:pic>
        <p:nvPicPr>
          <p:cNvPr id="11" name="Image 5" descr="gen-dedup-5044c63faebd2674225f464894ba57ac.png"/>
          <p:cNvPicPr>
            <a:picLocks noChangeAspect="1"/>
          </p:cNvPicPr>
          <p:nvPr/>
        </p:nvPicPr>
        <p:blipFill>
          <a:blip r:embed="rId6"/>
          <a:srcRect l="-200" r="-200"/>
          <a:stretch>
            <a:fillRect/>
          </a:stretch>
        </p:blipFill>
        <p:spPr>
          <a:xfrm>
            <a:off x="9525305" y="4172407"/>
            <a:ext cx="7524598" cy="75895"/>
          </a:xfrm>
          <a:prstGeom prst="rect">
            <a:avLst/>
          </a:prstGeom>
        </p:spPr>
      </p:pic>
      <p:pic>
        <p:nvPicPr>
          <p:cNvPr id="12" name="Image 6" descr="gen-dedup-436d3f7de47af44381d2c61514ea9fe6.png"/>
          <p:cNvPicPr>
            <a:picLocks noChangeAspect="1"/>
          </p:cNvPicPr>
          <p:nvPr/>
        </p:nvPicPr>
        <p:blipFill>
          <a:blip r:embed="rId7"/>
          <a:srcRect l="-206" r="-206"/>
          <a:stretch>
            <a:fillRect/>
          </a:stretch>
        </p:blipFill>
        <p:spPr>
          <a:xfrm>
            <a:off x="9525305" y="4172407"/>
            <a:ext cx="3762756" cy="75895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9525305" y="4401007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世界系统、角色行为与持续运行能力</a:t>
            </a:r>
            <a:endParaRPr lang="en-US" sz="1200" dirty="0"/>
          </a:p>
        </p:txBody>
      </p:sp>
      <p:sp>
        <p:nvSpPr>
          <p:cNvPr id="14" name="Text 5"/>
          <p:cNvSpPr txBox="1"/>
          <p:nvPr/>
        </p:nvSpPr>
        <p:spPr>
          <a:xfrm>
            <a:off x="9525305" y="5009998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完善</a:t>
            </a:r>
            <a:endParaRPr lang="en-US" sz="1800" dirty="0"/>
          </a:p>
        </p:txBody>
      </p:sp>
      <p:sp>
        <p:nvSpPr>
          <p:cNvPr id="15" name="Text 6"/>
          <p:cNvSpPr txBox="1"/>
          <p:nvPr/>
        </p:nvSpPr>
        <p:spPr>
          <a:xfrm>
            <a:off x="15906902" y="5009998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25%</a:t>
            </a:r>
            <a:endParaRPr lang="en-US" sz="2250" dirty="0"/>
          </a:p>
        </p:txBody>
      </p:sp>
      <p:pic>
        <p:nvPicPr>
          <p:cNvPr id="16" name="Image 7" descr="gen-dedup-5044c63faebd2674225f464894ba57ac.png"/>
          <p:cNvPicPr>
            <a:picLocks noChangeAspect="1"/>
          </p:cNvPicPr>
          <p:nvPr/>
        </p:nvPicPr>
        <p:blipFill>
          <a:blip r:embed="rId6"/>
          <a:srcRect l="-200" r="-200"/>
          <a:stretch>
            <a:fillRect/>
          </a:stretch>
        </p:blipFill>
        <p:spPr>
          <a:xfrm>
            <a:off x="9525305" y="5447995"/>
            <a:ext cx="7524598" cy="75895"/>
          </a:xfrm>
          <a:prstGeom prst="rect">
            <a:avLst/>
          </a:prstGeom>
        </p:spPr>
      </p:pic>
      <p:pic>
        <p:nvPicPr>
          <p:cNvPr id="17" name="Image 8" descr="gen-dedup-adf6798d697a5146748691119c50db89.png"/>
          <p:cNvPicPr>
            <a:picLocks noChangeAspect="1"/>
          </p:cNvPicPr>
          <p:nvPr/>
        </p:nvPicPr>
        <p:blipFill>
          <a:blip r:embed="rId8"/>
          <a:srcRect l="-199" r="-199"/>
          <a:stretch>
            <a:fillRect/>
          </a:stretch>
        </p:blipFill>
        <p:spPr>
          <a:xfrm>
            <a:off x="9525305" y="5447995"/>
            <a:ext cx="1876349" cy="7589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9525305" y="5676595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长期记忆、情绪感知与人格一致性系统</a:t>
            </a:r>
            <a:endParaRPr lang="en-US" sz="1200" dirty="0"/>
          </a:p>
        </p:txBody>
      </p:sp>
      <p:sp>
        <p:nvSpPr>
          <p:cNvPr id="19" name="Text 8"/>
          <p:cNvSpPr txBox="1"/>
          <p:nvPr/>
        </p:nvSpPr>
        <p:spPr>
          <a:xfrm>
            <a:off x="9525305" y="6286500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首款电子吧唧研发</a:t>
            </a:r>
            <a:endParaRPr lang="en-US" sz="1800" dirty="0"/>
          </a:p>
        </p:txBody>
      </p:sp>
      <p:sp>
        <p:nvSpPr>
          <p:cNvPr id="20" name="Text 9"/>
          <p:cNvSpPr txBox="1"/>
          <p:nvPr/>
        </p:nvSpPr>
        <p:spPr>
          <a:xfrm>
            <a:off x="15906902" y="6286500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20%</a:t>
            </a:r>
            <a:endParaRPr lang="en-US" sz="2250" dirty="0"/>
          </a:p>
        </p:txBody>
      </p:sp>
      <p:pic>
        <p:nvPicPr>
          <p:cNvPr id="21" name="Image 9" descr="gen-dedup-5044c63faebd2674225f464894ba57ac.png"/>
          <p:cNvPicPr>
            <a:picLocks noChangeAspect="1"/>
          </p:cNvPicPr>
          <p:nvPr/>
        </p:nvPicPr>
        <p:blipFill>
          <a:blip r:embed="rId6"/>
          <a:srcRect l="-200" r="-200"/>
          <a:stretch>
            <a:fillRect/>
          </a:stretch>
        </p:blipFill>
        <p:spPr>
          <a:xfrm>
            <a:off x="9525305" y="6724498"/>
            <a:ext cx="7524598" cy="75895"/>
          </a:xfrm>
          <a:prstGeom prst="rect">
            <a:avLst/>
          </a:prstGeom>
        </p:spPr>
      </p:pic>
      <p:pic>
        <p:nvPicPr>
          <p:cNvPr id="22" name="Image 10" descr="gen-dedup-9ae1a58e5553c9e512a086ffb9863f7d.png"/>
          <p:cNvPicPr>
            <a:picLocks noChangeAspect="1"/>
          </p:cNvPicPr>
          <p:nvPr/>
        </p:nvPicPr>
        <p:blipFill>
          <a:blip r:embed="rId9"/>
          <a:srcRect l="-206" r="-206"/>
          <a:stretch>
            <a:fillRect/>
          </a:stretch>
        </p:blipFill>
        <p:spPr>
          <a:xfrm>
            <a:off x="9525305" y="6724498"/>
            <a:ext cx="1505102" cy="75895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9525305" y="6953098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从概念验证到可交付形态的工程与供应链</a:t>
            </a:r>
            <a:endParaRPr lang="en-US" sz="1200" dirty="0"/>
          </a:p>
        </p:txBody>
      </p:sp>
      <p:sp>
        <p:nvSpPr>
          <p:cNvPr id="24" name="Text 11"/>
          <p:cNvSpPr txBox="1"/>
          <p:nvPr/>
        </p:nvSpPr>
        <p:spPr>
          <a:xfrm>
            <a:off x="9525305" y="7563002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运营与合规</a:t>
            </a:r>
            <a:endParaRPr lang="en-US" sz="1800" dirty="0"/>
          </a:p>
        </p:txBody>
      </p:sp>
      <p:sp>
        <p:nvSpPr>
          <p:cNvPr id="25" name="Text 12"/>
          <p:cNvSpPr txBox="1"/>
          <p:nvPr/>
        </p:nvSpPr>
        <p:spPr>
          <a:xfrm>
            <a:off x="15906902" y="7563002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</a:t>
            </a:r>
            <a:endParaRPr lang="en-US" sz="2250" dirty="0"/>
          </a:p>
        </p:txBody>
      </p:sp>
      <p:pic>
        <p:nvPicPr>
          <p:cNvPr id="26" name="Image 11" descr="gen-dedup-5044c63faebd2674225f464894ba57ac.png"/>
          <p:cNvPicPr>
            <a:picLocks noChangeAspect="1"/>
          </p:cNvPicPr>
          <p:nvPr/>
        </p:nvPicPr>
        <p:blipFill>
          <a:blip r:embed="rId6"/>
          <a:srcRect l="-200" r="-200"/>
          <a:stretch>
            <a:fillRect/>
          </a:stretch>
        </p:blipFill>
        <p:spPr>
          <a:xfrm>
            <a:off x="9525305" y="8001000"/>
            <a:ext cx="7524598" cy="75895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9525305" y="8001000"/>
            <a:ext cx="381305" cy="75895"/>
          </a:xfrm>
          <a:prstGeom prst="rect">
            <a:avLst/>
          </a:prstGeom>
          <a:solidFill>
            <a:srgbClr val="9A9A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4"/>
          <p:cNvSpPr txBox="1"/>
          <p:nvPr/>
        </p:nvSpPr>
        <p:spPr>
          <a:xfrm>
            <a:off x="9525305" y="8229600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年龄分层、监护机制与风险干预体系建设</a:t>
            </a:r>
            <a:endParaRPr lang="en-US" sz="1200" dirty="0"/>
          </a:p>
        </p:txBody>
      </p:sp>
      <p:sp>
        <p:nvSpPr>
          <p:cNvPr id="29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融资计划</a:t>
            </a:r>
            <a:endParaRPr lang="en-US" sz="1125" dirty="0"/>
          </a:p>
        </p:txBody>
      </p:sp>
      <p:sp>
        <p:nvSpPr>
          <p:cNvPr id="30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本轮融资计划：用2000万跑通「关系世界 + 硬件入口」的关键闭环</a:t>
            </a:r>
            <a:endParaRPr lang="en-US" sz="3450" dirty="0"/>
          </a:p>
        </p:txBody>
      </p:sp>
      <p:sp>
        <p:nvSpPr>
          <p:cNvPr id="31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以2亿元估值融资2000万元，完成世界构建与首款电子吧唧落地</a:t>
            </a:r>
            <a:endParaRPr lang="en-US" sz="1725" dirty="0"/>
          </a:p>
        </p:txBody>
      </p:sp>
      <p:sp>
        <p:nvSpPr>
          <p:cNvPr id="32" name="Text 18"/>
          <p:cNvSpPr txBox="1"/>
          <p:nvPr/>
        </p:nvSpPr>
        <p:spPr>
          <a:xfrm>
            <a:off x="1657807" y="3543300"/>
            <a:ext cx="30486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 / 团队估值</a:t>
            </a:r>
            <a:endParaRPr lang="en-US" sz="1125" dirty="0"/>
          </a:p>
        </p:txBody>
      </p:sp>
      <p:sp>
        <p:nvSpPr>
          <p:cNvPr id="33" name="Text 19"/>
          <p:cNvSpPr txBox="1"/>
          <p:nvPr/>
        </p:nvSpPr>
        <p:spPr>
          <a:xfrm>
            <a:off x="1657807" y="3972154"/>
            <a:ext cx="3048610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亿元</a:t>
            </a:r>
            <a:endParaRPr lang="en-US" sz="6900" dirty="0"/>
          </a:p>
        </p:txBody>
      </p:sp>
      <p:sp>
        <p:nvSpPr>
          <p:cNvPr id="34" name="Text 20"/>
          <p:cNvSpPr txBox="1"/>
          <p:nvPr/>
        </p:nvSpPr>
        <p:spPr>
          <a:xfrm>
            <a:off x="1657807" y="5076749"/>
            <a:ext cx="304861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投前估值</a:t>
            </a:r>
            <a:endParaRPr lang="en-US" sz="1275" dirty="0"/>
          </a:p>
        </p:txBody>
      </p:sp>
      <p:sp>
        <p:nvSpPr>
          <p:cNvPr id="35" name="Text 21"/>
          <p:cNvSpPr txBox="1"/>
          <p:nvPr/>
        </p:nvSpPr>
        <p:spPr>
          <a:xfrm>
            <a:off x="5562295" y="3543300"/>
            <a:ext cx="28575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本轮计划融资</a:t>
            </a:r>
            <a:endParaRPr lang="en-US" sz="1125" dirty="0"/>
          </a:p>
        </p:txBody>
      </p:sp>
      <p:sp>
        <p:nvSpPr>
          <p:cNvPr id="36" name="Text 22"/>
          <p:cNvSpPr txBox="1"/>
          <p:nvPr/>
        </p:nvSpPr>
        <p:spPr>
          <a:xfrm>
            <a:off x="5562295" y="3972154"/>
            <a:ext cx="3776472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2000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万</a:t>
            </a:r>
            <a:endParaRPr lang="en-US" sz="6900" dirty="0"/>
          </a:p>
        </p:txBody>
      </p:sp>
      <p:sp>
        <p:nvSpPr>
          <p:cNvPr id="37" name="Text 23"/>
          <p:cNvSpPr txBox="1"/>
          <p:nvPr/>
        </p:nvSpPr>
        <p:spPr>
          <a:xfrm>
            <a:off x="5562295" y="5076749"/>
            <a:ext cx="285750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人民币</a:t>
            </a:r>
            <a:endParaRPr lang="en-US" sz="1275" dirty="0"/>
          </a:p>
        </p:txBody>
      </p:sp>
      <p:sp>
        <p:nvSpPr>
          <p:cNvPr id="38" name="Text 24"/>
          <p:cNvSpPr txBox="1"/>
          <p:nvPr/>
        </p:nvSpPr>
        <p:spPr>
          <a:xfrm>
            <a:off x="1238098" y="6248095"/>
            <a:ext cx="75255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本轮亮点</a:t>
            </a:r>
            <a:endParaRPr lang="en-US" sz="1050" dirty="0"/>
          </a:p>
        </p:txBody>
      </p:sp>
      <p:sp>
        <p:nvSpPr>
          <p:cNvPr id="39" name="Shape 25"/>
          <p:cNvSpPr/>
          <p:nvPr/>
        </p:nvSpPr>
        <p:spPr>
          <a:xfrm>
            <a:off x="1238098" y="6810451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1495044" y="6705295"/>
            <a:ext cx="4677156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已完成第一阶段 prototype demo，关系能力可现场验证</a:t>
            </a:r>
            <a:endParaRPr lang="en-US" sz="1500" dirty="0"/>
          </a:p>
        </p:txBody>
      </p:sp>
      <p:sp>
        <p:nvSpPr>
          <p:cNvPr id="41" name="Shape 27"/>
          <p:cNvSpPr/>
          <p:nvPr/>
        </p:nvSpPr>
        <p:spPr>
          <a:xfrm>
            <a:off x="1238098" y="7515454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1495044" y="7410298"/>
            <a:ext cx="4534510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三层能力已跑通主链路，具备工程化基础</a:t>
            </a:r>
            <a:endParaRPr lang="en-US" sz="1500" dirty="0"/>
          </a:p>
        </p:txBody>
      </p:sp>
      <p:sp>
        <p:nvSpPr>
          <p:cNvPr id="43" name="Shape 29"/>
          <p:cNvSpPr/>
          <p:nvPr/>
        </p:nvSpPr>
        <p:spPr>
          <a:xfrm>
            <a:off x="1238098" y="8220456"/>
            <a:ext cx="66751" cy="66751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1495044" y="8115300"/>
            <a:ext cx="4191610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合规框架前置设计，具备长期运营与硬件上市条件</a:t>
            </a:r>
            <a:endParaRPr lang="en-US" sz="1500" dirty="0"/>
          </a:p>
        </p:txBody>
      </p:sp>
      <p:sp>
        <p:nvSpPr>
          <p:cNvPr id="45" name="Text 31"/>
          <p:cNvSpPr txBox="1"/>
          <p:nvPr/>
        </p:nvSpPr>
        <p:spPr>
          <a:xfrm>
            <a:off x="9525305" y="3143707"/>
            <a:ext cx="752551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资金用途分配 · 示意比例</a:t>
            </a:r>
            <a:endParaRPr lang="en-US" sz="1050" dirty="0"/>
          </a:p>
        </p:txBody>
      </p:sp>
      <p:sp>
        <p:nvSpPr>
          <p:cNvPr id="46" name="Text 32"/>
          <p:cNvSpPr txBox="1"/>
          <p:nvPr/>
        </p:nvSpPr>
        <p:spPr>
          <a:xfrm>
            <a:off x="1238098" y="9353398"/>
            <a:ext cx="15811805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阶段目标：将原型升级为可运营版本，并完成首款硬件从概念验证到可交付形态。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3596</Words>
  <Application>WPS 演示</Application>
  <PresentationFormat>On-screen Show (16:9)</PresentationFormat>
  <Paragraphs>564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6" baseType="lpstr">
      <vt:lpstr>Arial</vt:lpstr>
      <vt:lpstr>宋体</vt:lpstr>
      <vt:lpstr>Wingdings</vt:lpstr>
      <vt:lpstr>Noto Sans SC</vt:lpstr>
      <vt:lpstr>苹方-简</vt:lpstr>
      <vt:lpstr>Noto Sans SC</vt:lpstr>
      <vt:lpstr>Noto Sans SC</vt:lpstr>
      <vt:lpstr>Noto Serif SC</vt:lpstr>
      <vt:lpstr>Noto Serif SC</vt:lpstr>
      <vt:lpstr>Noto Serif SC</vt:lpstr>
      <vt:lpstr>IBM Plex Sans</vt:lpstr>
      <vt:lpstr>IBM Plex Sans</vt:lpstr>
      <vt:lpstr>IBM Plex Sans</vt:lpstr>
      <vt:lpstr>Noto Sans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微信用户</cp:lastModifiedBy>
  <cp:revision>8</cp:revision>
  <dcterms:created xsi:type="dcterms:W3CDTF">2026-08-09T03:08:36Z</dcterms:created>
  <dcterms:modified xsi:type="dcterms:W3CDTF">2026-08-09T03:08:36Z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8A3EFF1580D67A31C353776A292B8AB6_42</vt:lpwstr>
  </property>
</Properties>
</file>