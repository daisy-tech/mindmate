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.svg" ContentType="image/svg+xml"/>
  <Override PartName="/ppt/media/image21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.svg" ContentType="image/svg+xml"/>
  <Override PartName="/ppt/media/image41.svg" ContentType="image/svg+xml"/>
  <Override PartName="/ppt/media/image43.svg" ContentType="image/svg+xml"/>
  <Override PartName="/ppt/media/image48.svg" ContentType="image/svg+xml"/>
  <Override PartName="/ppt/media/image50.svg" ContentType="image/svg+xml"/>
  <Override PartName="/ppt/media/image52.svg" ContentType="image/svg+xml"/>
  <Override PartName="/ppt/media/image55.svg" ContentType="image/svg+xml"/>
  <Override PartName="/ppt/media/image57.svg" ContentType="image/svg+xml"/>
  <Override PartName="/ppt/media/image59.svg" ContentType="image/svg+xml"/>
  <Override PartName="/ppt/media/image6.svg" ContentType="image/svg+xml"/>
  <Override PartName="/ppt/media/image61.svg" ContentType="image/svg+xml"/>
  <Override PartName="/ppt/media/image63.svg" ContentType="image/svg+xml"/>
  <Override PartName="/ppt/media/image66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1640" userDrawn="1">
          <p15:clr>
            <a:srgbClr val="747775"/>
          </p15:clr>
        </p15:guide>
        <p15:guide id="2" pos="292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40"/>
        <p:guide pos="292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各位好，今天介绍的项目是“伴学机器人”。我们致力于打造全球首款基于Mind Engine心智引擎的L3级AI伴学机器人，它能真正记住、理解并陪伴孩子成长，为中国儿童提供前所未有的情感陪伴与教育体验。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目前的AI陪伴市场存在一个核心痛点：产品虽多，却难以留住用户。数据显示，AI陪伴产品的3日留存率普遍低于20%，用户与AI建立情感联系的平均时长仅为5-7天，年度留存也远低于行业平均水平。这背后的根本原因在于，现有产品普遍存在记忆断裂、情绪浅层和关系单向三大问题，更像是“高级工具”而非真正的伙伴。市场真正需要的，是能够建立长期、深度情感连接的“关系型陪伴”产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解决方案，就是打造一个真正懂情绪、记得你、始终如一的伙伴。它不是老师、家长或玩具，而是孩子的知心朋友。通过我们独创的三层引擎架构，我们在记忆、情绪和人格三个维度上实现了从L1到L3的跨越。这使得我们的产品能够在情绪树洞、伴学引导、习惯养成和睡前陪伴等多个场景中，为孩子提供深度的陪伴价值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让我们来看几个具体的产品演示。当孩子感到难过时，我们的机器人能感同身受，并主动分享自己的“经历”来拉近与孩子的距离。更重要的是，三天后，机器人还记得上次的对话，并能主动提及，这就是我们的跨会话长期记忆。同时，我们为家长提供一个非监视性的周报，让他们了解孩子的情绪状态，而不会破坏孩子的隐私空间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很多人做AI陪伴，先做软件再套个壳子。我们反过来，先定义什么是好的陪伴，再设计硬件。第一，安全是底线。所有边角都是R10毫米的圆角，外壳用的是婴儿奶瓶级的食品接触材质。第二，我们要做的是伙伴，不是机器。它的头部可以像真的小狗一样360度转向说话人。第三，低屏护眼。我们用了一个小的圆形护眼屏，还可以一键切换到纯语音无屏模式，让孩子专注于对话，而不是盯着屏幕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最终定稿的产品形态与结构设计方案。整体采用了圆润的柯基造型，全圆角无棱角的设计不仅符合儿童的审美偏好，更消除了日常使用中的磕碰隐患。产品尺寸为15×12×10cm，小巧精致，刚好可以放在孩子书桌的一角，不占用学习空间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在人体工学方面，我们将机身设计为15°的倾斜角，这是结合儿童坐姿数据得出的最佳视角，能有效保护孩子的颈椎和视力。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核心交互上，我们实现了360°可旋转头部，当孩子说话时，它会自动转向孩子，这个细节能极大增强拟人陪伴感，让孩子感觉它在认真倾听。同时配备了隐藏式静音移动轮和磁吸充电底座，既保证了互动的趣味性，又兼顾了使用的安全性与便捷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这是我们的硬件内部拆解相关配置，我只讲这些配置能给用户带来什么体验。首先是四麦阵列，可以做到3米远场拾音，即使孩子在房间另一端玩玩具，说话也能被准确识别。然后是环形双扬声器，声音自然不刺耳。电池可以连续使用8小时，待机7天，家长不用每天想着充电。摄像头是隐藏式的，只有家长在手机端远程查看的时候才会激活，最大程度保护孩子的隐私。</a:t>
            </a:r>
            <a:endParaRPr lang="en-US" sz="14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这是我们的硬件内部拆解相关配置，我只讲这些配置能给用户带来什么体验。首先是四麦阵列，可以做到3米远场拾音，即使孩子在房间另一端玩玩具，说话也能被准确识别。然后是环形双扬声器，声音自然不刺耳。电池可以连续使用8小时，待机7天，家长不用每天想着充电。摄像头是隐藏式的，只有家长在手机端远程查看的时候才会激活，最大程度保护孩子的隐私。</a:t>
            </a:r>
            <a:endParaRPr lang="en-US" sz="14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很多人问我，大厂如果做同样的产品怎么办？我的答案是，硬件的体验壁垒，比软件高得多。第一是体验护城河，有硬件的用户，7日留存比纯软件用户高了整整20%。第二是成本护城河，我们的BOM成本比同类竞品低了30%。第三也是最重要的，合规护城河，我们完全符合新规，没有任何监管风险。所以说，硬件不是我们的负担，而是我们最大的竞争优势。</a:t>
            </a:r>
            <a:endParaRPr lang="en-US" sz="14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我们技术壁垒的核心，是自研的Mind Engine心智引擎。它不是简单的对话模型，而是一个专为关系型AI设计的操作系统。通过情绪加权排序的记忆检索、人格约束的记忆调用和创新的反馈闭环机制，我们解决了行业内长期存在的难题。我们的技术方案对标全球顶尖的开源架构，并在此基础上形成了明确的差异化护城河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正处在一个巨大的市场机会中。全球儿童陪伴机器人市场稳步增长，而中国市场的AI渗透率正在快速提升。更重要的是，技术成熟降低了开发成本，消费心智转向“情绪价值”，以及最新的监管政策，都为我们这样的合规儿童陪伴产品创造了前所未有的蓝海。2026年，正是我们抢占用户心智的最佳时机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目前市场上主要有三大阵营，但它们都未能解决“关系维持”这一核心痛点。学习机工具属性太强，角色对话平台面临监管风险，而AI玩具的AI能力又过于初级。我们的定位非常清晰：我们是市场上唯一专注于儿童L3级关系型陪伴的产品，我们的核心是构建关系，而不是堆砌功能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商业模式是清晰的三层收入模型。初期通过免费Web端验证产品价值和留存数据；中期通过硬件销售和订阅服务实现稳定收入；长期则通过内容付费和生态合作，大幅提升用户生命周期价值。我们的用户增长路径将从种子用户开始，通过社区和口碑裂变，逐步拓展到全渠道。基于我们的财务模型，单用户LTV预计可达825元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为未来一年设定了清晰的里程碑。从Alpha阶段的MVP开发，到Beta阶段的内测，再到硬件原型、众筹和最终发售，每一步都有明确的时间节点和可量化的关键指标。我们敢于将7日留存目标设定在40%，远高于行业平均水平，因为我们的核心是提升关系质量，而非简单的功能堆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核心团队在产品和技术方面已经具备了坚实的基础。目前，我们正在积极寻找具备AI产品战略、工程化落地和儿童心理研究背景的核心成员，共同打造这个伟大的产品。我们也非常荣幸能得到来自学术界和产业界资深专家的指导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实现上述里程碑，我们计划进行一轮500-800万元的种子轮融资，出让15-20%的股份。融资金额将主要用于核心团队的搭建、Web端MVP的开发以及早期的用户运营。我们清晰地规划了资金用途，并对下一轮融资有明确的目标，旨在快速推进硬件量产和市场推广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清醒地认识到项目面临的风险。针对技术实现、用户留存、市场竞争、硬件成本和监管变化等潜在挑战，我们都制定了详细的应对策略。例如，我们将通过分阶段迭代来降低技术难度，通过关注“关系质量”而非“打开次数”来提升留存，并通过合规设计来建立先发优势。我们有信心管理好这些风险，确保项目顺利推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想重申我们的愿景。我们不是在做又一个会聊天的AI，而是在创造一个能在时间长河中与孩子建立并维持深厚关系的存在。它是一个真正的伙伴。市场不缺AI，但缺一个能陪伴孩子成长的朋友。我们诚挚地邀请各位投资人加入我们，共同为2亿中国儿童，打造这个真正意义上的AI成长伙伴。谢谢大家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9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9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9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9" Type="http://schemas.openxmlformats.org/officeDocument/2006/relationships/notesSlide" Target="../notesSlides/notesSlide2.xml"/><Relationship Id="rId38" Type="http://schemas.openxmlformats.org/officeDocument/2006/relationships/slideLayout" Target="../slideLayouts/slideLayout12.xml"/><Relationship Id="rId37" Type="http://schemas.openxmlformats.org/officeDocument/2006/relationships/image" Target="../media/image7.png"/><Relationship Id="rId36" Type="http://schemas.openxmlformats.org/officeDocument/2006/relationships/tags" Target="../tags/tag30.xml"/><Relationship Id="rId35" Type="http://schemas.openxmlformats.org/officeDocument/2006/relationships/tags" Target="../tags/tag29.xml"/><Relationship Id="rId34" Type="http://schemas.openxmlformats.org/officeDocument/2006/relationships/tags" Target="../tags/tag28.xml"/><Relationship Id="rId33" Type="http://schemas.openxmlformats.org/officeDocument/2006/relationships/tags" Target="../tags/tag27.xml"/><Relationship Id="rId32" Type="http://schemas.openxmlformats.org/officeDocument/2006/relationships/tags" Target="../tags/tag26.xml"/><Relationship Id="rId31" Type="http://schemas.openxmlformats.org/officeDocument/2006/relationships/image" Target="../media/image6.svg"/><Relationship Id="rId30" Type="http://schemas.openxmlformats.org/officeDocument/2006/relationships/image" Target="../media/image5.png"/><Relationship Id="rId3" Type="http://schemas.openxmlformats.org/officeDocument/2006/relationships/tags" Target="../tags/tag3.xml"/><Relationship Id="rId29" Type="http://schemas.openxmlformats.org/officeDocument/2006/relationships/tags" Target="../tags/tag25.xml"/><Relationship Id="rId28" Type="http://schemas.openxmlformats.org/officeDocument/2006/relationships/tags" Target="../tags/tag24.xml"/><Relationship Id="rId27" Type="http://schemas.openxmlformats.org/officeDocument/2006/relationships/tags" Target="../tags/tag23.xml"/><Relationship Id="rId26" Type="http://schemas.openxmlformats.org/officeDocument/2006/relationships/tags" Target="../tags/tag22.xml"/><Relationship Id="rId25" Type="http://schemas.openxmlformats.org/officeDocument/2006/relationships/image" Target="../media/image4.svg"/><Relationship Id="rId24" Type="http://schemas.openxmlformats.org/officeDocument/2006/relationships/image" Target="../media/image3.png"/><Relationship Id="rId23" Type="http://schemas.openxmlformats.org/officeDocument/2006/relationships/tags" Target="../tags/tag21.xml"/><Relationship Id="rId22" Type="http://schemas.openxmlformats.org/officeDocument/2006/relationships/tags" Target="../tags/tag20.xml"/><Relationship Id="rId21" Type="http://schemas.openxmlformats.org/officeDocument/2006/relationships/tags" Target="../tags/tag19.xml"/><Relationship Id="rId20" Type="http://schemas.openxmlformats.org/officeDocument/2006/relationships/tags" Target="../tags/tag18.xml"/><Relationship Id="rId2" Type="http://schemas.openxmlformats.org/officeDocument/2006/relationships/tags" Target="../tags/tag2.xml"/><Relationship Id="rId19" Type="http://schemas.openxmlformats.org/officeDocument/2006/relationships/image" Target="../media/image2.svg"/><Relationship Id="rId18" Type="http://schemas.openxmlformats.org/officeDocument/2006/relationships/image" Target="../media/image1.png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5.svg"/><Relationship Id="rId7" Type="http://schemas.openxmlformats.org/officeDocument/2006/relationships/image" Target="../media/image14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0" Type="http://schemas.openxmlformats.org/officeDocument/2006/relationships/notesSlide" Target="../notesSlides/notesSlide3.xml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37.svg"/><Relationship Id="rId7" Type="http://schemas.openxmlformats.org/officeDocument/2006/relationships/image" Target="../media/image36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Relationship Id="rId3" Type="http://schemas.openxmlformats.org/officeDocument/2006/relationships/image" Target="../media/image32.png"/><Relationship Id="rId2" Type="http://schemas.openxmlformats.org/officeDocument/2006/relationships/image" Target="../media/image31.svg"/><Relationship Id="rId10" Type="http://schemas.openxmlformats.org/officeDocument/2006/relationships/notesSlide" Target="../notesSlides/notesSlide10.xml"/><Relationship Id="rId1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41.svg"/><Relationship Id="rId3" Type="http://schemas.openxmlformats.org/officeDocument/2006/relationships/image" Target="../media/image40.png"/><Relationship Id="rId2" Type="http://schemas.openxmlformats.org/officeDocument/2006/relationships/image" Target="../media/image39.svg"/><Relationship Id="rId1" Type="http://schemas.openxmlformats.org/officeDocument/2006/relationships/image" Target="../media/image38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46.jpeg"/><Relationship Id="rId2" Type="http://schemas.openxmlformats.org/officeDocument/2006/relationships/image" Target="../media/image45.jpeg"/><Relationship Id="rId1" Type="http://schemas.openxmlformats.org/officeDocument/2006/relationships/image" Target="../media/image44.jpe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33.svg"/><Relationship Id="rId7" Type="http://schemas.openxmlformats.org/officeDocument/2006/relationships/image" Target="../media/image53.png"/><Relationship Id="rId6" Type="http://schemas.openxmlformats.org/officeDocument/2006/relationships/image" Target="../media/image52.svg"/><Relationship Id="rId5" Type="http://schemas.openxmlformats.org/officeDocument/2006/relationships/image" Target="../media/image51.png"/><Relationship Id="rId4" Type="http://schemas.openxmlformats.org/officeDocument/2006/relationships/image" Target="../media/image50.svg"/><Relationship Id="rId3" Type="http://schemas.openxmlformats.org/officeDocument/2006/relationships/image" Target="../media/image49.png"/><Relationship Id="rId2" Type="http://schemas.openxmlformats.org/officeDocument/2006/relationships/image" Target="../media/image48.svg"/><Relationship Id="rId10" Type="http://schemas.openxmlformats.org/officeDocument/2006/relationships/notesSlide" Target="../notesSlides/notesSlide13.xml"/><Relationship Id="rId1" Type="http://schemas.openxmlformats.org/officeDocument/2006/relationships/image" Target="../media/image47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57.svg"/><Relationship Id="rId3" Type="http://schemas.openxmlformats.org/officeDocument/2006/relationships/image" Target="../media/image56.png"/><Relationship Id="rId2" Type="http://schemas.openxmlformats.org/officeDocument/2006/relationships/image" Target="../media/image55.svg"/><Relationship Id="rId1" Type="http://schemas.openxmlformats.org/officeDocument/2006/relationships/image" Target="../media/image54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39.xml"/><Relationship Id="rId8" Type="http://schemas.openxmlformats.org/officeDocument/2006/relationships/tags" Target="../tags/tag38.xml"/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1" Type="http://schemas.openxmlformats.org/officeDocument/2006/relationships/notesSlide" Target="../notesSlides/notesSlide15.xml"/><Relationship Id="rId10" Type="http://schemas.openxmlformats.org/officeDocument/2006/relationships/slideLayout" Target="../slideLayouts/slideLayout12.xml"/><Relationship Id="rId1" Type="http://schemas.openxmlformats.org/officeDocument/2006/relationships/tags" Target="../tags/tag31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64.png"/><Relationship Id="rId8" Type="http://schemas.openxmlformats.org/officeDocument/2006/relationships/image" Target="../media/image63.svg"/><Relationship Id="rId7" Type="http://schemas.openxmlformats.org/officeDocument/2006/relationships/image" Target="../media/image62.png"/><Relationship Id="rId6" Type="http://schemas.openxmlformats.org/officeDocument/2006/relationships/image" Target="../media/image57.svg"/><Relationship Id="rId5" Type="http://schemas.openxmlformats.org/officeDocument/2006/relationships/image" Target="../media/image56.png"/><Relationship Id="rId4" Type="http://schemas.openxmlformats.org/officeDocument/2006/relationships/image" Target="../media/image61.svg"/><Relationship Id="rId3" Type="http://schemas.openxmlformats.org/officeDocument/2006/relationships/image" Target="../media/image60.png"/><Relationship Id="rId2" Type="http://schemas.openxmlformats.org/officeDocument/2006/relationships/image" Target="../media/image59.svg"/><Relationship Id="rId13" Type="http://schemas.openxmlformats.org/officeDocument/2006/relationships/notesSlide" Target="../notesSlides/notesSlide16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66.svg"/><Relationship Id="rId10" Type="http://schemas.openxmlformats.org/officeDocument/2006/relationships/image" Target="../media/image65.png"/><Relationship Id="rId1" Type="http://schemas.openxmlformats.org/officeDocument/2006/relationships/image" Target="../media/image5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2286000"/>
            <a:ext cx="1066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sz="4800" b="1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  <a:t>桌面</a:t>
            </a:r>
            <a:r>
              <a:rPr lang="en-US" sz="4800" b="1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  <a:t>伴学机器人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38100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22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一个“记得你、懂你、始终如一”的成长伙伴，用有温度的AI守护孩子独一无二的童年时光。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5080000"/>
            <a:ext cx="1016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基于Mind Engine 心智引擎打造全球首款L3级AI伴学机器人，具备持续的情感记忆、个性化理解与动态成长能力，真正走进孩子的内心世界。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custDataLst>
              <p:tags r:id="rId1"/>
            </p:custDataLst>
          </p:nvPr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  <a:t>痛点：市场不缺“会聊天的AI”，缺的是“能留得住的陪伴”</a:t>
            </a:r>
            <a:endParaRPr lang="en-US" sz="1100"/>
          </a:p>
        </p:txBody>
      </p:sp>
      <p:grpSp>
        <p:nvGrpSpPr>
          <p:cNvPr id="31" name="组合 30"/>
          <p:cNvGrpSpPr/>
          <p:nvPr>
            <p:custDataLst>
              <p:tags r:id="rId2"/>
            </p:custDataLst>
          </p:nvPr>
        </p:nvGrpSpPr>
        <p:grpSpPr>
          <a:xfrm>
            <a:off x="762000" y="1524000"/>
            <a:ext cx="7143115" cy="4508500"/>
            <a:chOff x="1200" y="2400"/>
            <a:chExt cx="16800" cy="6800"/>
          </a:xfrm>
        </p:grpSpPr>
        <p:sp>
          <p:nvSpPr>
            <p:cNvPr id="3" name="AutoShape 3"/>
            <p:cNvSpPr/>
            <p:nvPr>
              <p:custDataLst>
                <p:tags r:id="rId3"/>
              </p:custDataLst>
            </p:nvPr>
          </p:nvSpPr>
          <p:spPr>
            <a:xfrm>
              <a:off x="1200" y="2400"/>
              <a:ext cx="5200" cy="3200"/>
            </a:xfrm>
            <a:prstGeom prst="roundRect">
              <a:avLst>
                <a:gd name="adj" fmla="val 6250"/>
              </a:avLst>
            </a:prstGeom>
            <a:solidFill>
              <a:srgbClr val="FFFFFF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127000" dist="50800" dir="5400000" algn="tl" rotWithShape="0">
                <a:srgbClr val="000000">
                  <a:alpha val="8000"/>
                </a:srgbClr>
              </a:outerShdw>
            </a:effectLst>
          </p:spPr>
          <p:txBody>
            <a:bodyPr vert="horz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4" name="AutoShape 4"/>
            <p:cNvSpPr/>
            <p:nvPr>
              <p:custDataLst>
                <p:tags r:id="rId4"/>
              </p:custDataLst>
            </p:nvPr>
          </p:nvSpPr>
          <p:spPr>
            <a:xfrm>
              <a:off x="1200" y="2400"/>
              <a:ext cx="5200" cy="120"/>
            </a:xfrm>
            <a:prstGeom prst="roundRect">
              <a:avLst>
                <a:gd name="adj" fmla="val 0"/>
              </a:avLst>
            </a:prstGeom>
            <a:solidFill>
              <a:srgbClr val="FFC107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5" name="AutoShape 5"/>
            <p:cNvSpPr/>
            <p:nvPr>
              <p:custDataLst>
                <p:tags r:id="rId5"/>
              </p:custDataLst>
            </p:nvPr>
          </p:nvSpPr>
          <p:spPr>
            <a:xfrm>
              <a:off x="1500" y="2900"/>
              <a:ext cx="4600" cy="1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>
                <a:lnSpc>
                  <a:spcPct val="125000"/>
                </a:lnSpc>
                <a:defRPr/>
              </a:pPr>
              <a:r>
                <a:rPr lang="en-US" sz="4200" b="1" i="0" u="none" strike="noStrike">
                  <a:solidFill>
                    <a:srgbClr val="FFC107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&lt;20%</a:t>
              </a:r>
              <a:endParaRPr lang="en-US" sz="1100"/>
            </a:p>
          </p:txBody>
        </p:sp>
        <p:sp>
          <p:nvSpPr>
            <p:cNvPr id="6" name="AutoShape 6"/>
            <p:cNvSpPr/>
            <p:nvPr>
              <p:custDataLst>
                <p:tags r:id="rId6"/>
              </p:custDataLst>
            </p:nvPr>
          </p:nvSpPr>
          <p:spPr>
            <a:xfrm>
              <a:off x="1500" y="4300"/>
              <a:ext cx="4600" cy="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>
                <a:lnSpc>
                  <a:spcPct val="117000"/>
                </a:lnSpc>
                <a:defRPr/>
              </a:pPr>
              <a:r>
                <a:rPr lang="en-US" sz="1300" b="0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AI陪伴产品3日留存率，用户尝鲜后极易流失，缺乏持续吸引力。</a:t>
              </a:r>
              <a:endParaRPr lang="en-US" sz="1100"/>
            </a:p>
          </p:txBody>
        </p:sp>
        <p:sp>
          <p:nvSpPr>
            <p:cNvPr id="7" name="AutoShape 7"/>
            <p:cNvSpPr/>
            <p:nvPr>
              <p:custDataLst>
                <p:tags r:id="rId7"/>
              </p:custDataLst>
            </p:nvPr>
          </p:nvSpPr>
          <p:spPr>
            <a:xfrm>
              <a:off x="7000" y="2400"/>
              <a:ext cx="5200" cy="3200"/>
            </a:xfrm>
            <a:prstGeom prst="roundRect">
              <a:avLst>
                <a:gd name="adj" fmla="val 6250"/>
              </a:avLst>
            </a:prstGeom>
            <a:solidFill>
              <a:srgbClr val="FFFFFF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127000" dist="50800" dir="5400000" algn="tl" rotWithShape="0">
                <a:srgbClr val="000000">
                  <a:alpha val="8000"/>
                </a:srgbClr>
              </a:outerShdw>
            </a:effectLst>
          </p:spPr>
          <p:txBody>
            <a:bodyPr vert="horz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8" name="AutoShape 8"/>
            <p:cNvSpPr/>
            <p:nvPr>
              <p:custDataLst>
                <p:tags r:id="rId8"/>
              </p:custDataLst>
            </p:nvPr>
          </p:nvSpPr>
          <p:spPr>
            <a:xfrm>
              <a:off x="7000" y="2400"/>
              <a:ext cx="5200" cy="120"/>
            </a:xfrm>
            <a:prstGeom prst="roundRect">
              <a:avLst>
                <a:gd name="adj" fmla="val 0"/>
              </a:avLst>
            </a:prstGeom>
            <a:solidFill>
              <a:srgbClr val="FFC107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9" name="AutoShape 9"/>
            <p:cNvSpPr/>
            <p:nvPr>
              <p:custDataLst>
                <p:tags r:id="rId9"/>
              </p:custDataLst>
            </p:nvPr>
          </p:nvSpPr>
          <p:spPr>
            <a:xfrm>
              <a:off x="7300" y="2900"/>
              <a:ext cx="4600" cy="1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>
                <a:lnSpc>
                  <a:spcPct val="125000"/>
                </a:lnSpc>
                <a:defRPr/>
              </a:pPr>
              <a:r>
                <a:rPr lang="en-US" sz="4200" b="1" i="0" u="none" strike="noStrike">
                  <a:solidFill>
                    <a:srgbClr val="FFC107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5-7天</a:t>
              </a:r>
              <a:endParaRPr lang="en-US" sz="1100"/>
            </a:p>
          </p:txBody>
        </p:sp>
        <p:sp>
          <p:nvSpPr>
            <p:cNvPr id="10" name="AutoShape 10"/>
            <p:cNvSpPr/>
            <p:nvPr>
              <p:custDataLst>
                <p:tags r:id="rId10"/>
              </p:custDataLst>
            </p:nvPr>
          </p:nvSpPr>
          <p:spPr>
            <a:xfrm>
              <a:off x="7300" y="4300"/>
              <a:ext cx="4600" cy="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>
                <a:lnSpc>
                  <a:spcPct val="117000"/>
                </a:lnSpc>
                <a:defRPr/>
              </a:pPr>
              <a:r>
                <a:rPr lang="en-US" sz="1300" b="0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用户与单个AI角色建立情感联系的平均时长，难以形成长期羁绊。</a:t>
              </a:r>
              <a:endParaRPr lang="en-US" sz="1100"/>
            </a:p>
          </p:txBody>
        </p:sp>
        <p:sp>
          <p:nvSpPr>
            <p:cNvPr id="11" name="AutoShape 11"/>
            <p:cNvSpPr/>
            <p:nvPr>
              <p:custDataLst>
                <p:tags r:id="rId11"/>
              </p:custDataLst>
            </p:nvPr>
          </p:nvSpPr>
          <p:spPr>
            <a:xfrm>
              <a:off x="12800" y="2400"/>
              <a:ext cx="5200" cy="3200"/>
            </a:xfrm>
            <a:prstGeom prst="roundRect">
              <a:avLst>
                <a:gd name="adj" fmla="val 6250"/>
              </a:avLst>
            </a:prstGeom>
            <a:solidFill>
              <a:srgbClr val="FFFFFF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127000" dist="50800" dir="5400000" algn="tl" rotWithShape="0">
                <a:srgbClr val="000000">
                  <a:alpha val="8000"/>
                </a:srgbClr>
              </a:outerShdw>
            </a:effectLst>
          </p:spPr>
          <p:txBody>
            <a:bodyPr vert="horz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12" name="AutoShape 12"/>
            <p:cNvSpPr/>
            <p:nvPr>
              <p:custDataLst>
                <p:tags r:id="rId12"/>
              </p:custDataLst>
            </p:nvPr>
          </p:nvSpPr>
          <p:spPr>
            <a:xfrm>
              <a:off x="12800" y="2400"/>
              <a:ext cx="5200" cy="120"/>
            </a:xfrm>
            <a:prstGeom prst="roundRect">
              <a:avLst>
                <a:gd name="adj" fmla="val 0"/>
              </a:avLst>
            </a:prstGeom>
            <a:solidFill>
              <a:srgbClr val="FFC107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13" name="AutoShape 13"/>
            <p:cNvSpPr/>
            <p:nvPr>
              <p:custDataLst>
                <p:tags r:id="rId13"/>
              </p:custDataLst>
            </p:nvPr>
          </p:nvSpPr>
          <p:spPr>
            <a:xfrm>
              <a:off x="13100" y="2900"/>
              <a:ext cx="4600" cy="1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>
                <a:lnSpc>
                  <a:spcPct val="125000"/>
                </a:lnSpc>
                <a:defRPr/>
              </a:pPr>
              <a:r>
                <a:rPr lang="en-US" sz="4200" b="1" i="0" u="none" strike="noStrike">
                  <a:solidFill>
                    <a:srgbClr val="FFC107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21.1%</a:t>
              </a:r>
              <a:endParaRPr lang="en-US" sz="1100"/>
            </a:p>
          </p:txBody>
        </p:sp>
        <p:sp>
          <p:nvSpPr>
            <p:cNvPr id="14" name="AutoShape 14"/>
            <p:cNvSpPr/>
            <p:nvPr>
              <p:custDataLst>
                <p:tags r:id="rId14"/>
              </p:custDataLst>
            </p:nvPr>
          </p:nvSpPr>
          <p:spPr>
            <a:xfrm>
              <a:off x="13100" y="4300"/>
              <a:ext cx="4600" cy="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>
                <a:lnSpc>
                  <a:spcPct val="117000"/>
                </a:lnSpc>
                <a:defRPr/>
              </a:pPr>
              <a:r>
                <a:rPr lang="en-US" sz="1300" b="0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AI类App年度用户留存，远低于传统App的30.7%，市场表现疲软。</a:t>
              </a:r>
              <a:endParaRPr lang="en-US" sz="1100"/>
            </a:p>
          </p:txBody>
        </p:sp>
        <p:cxnSp>
          <p:nvCxnSpPr>
            <p:cNvPr id="15" name="Connector 15"/>
            <p:cNvCxnSpPr/>
            <p:nvPr>
              <p:custDataLst>
                <p:tags r:id="rId15"/>
              </p:custDataLst>
            </p:nvPr>
          </p:nvCxnSpPr>
          <p:spPr>
            <a:xfrm rot="-4092">
              <a:off x="1200" y="6190"/>
              <a:ext cx="16800" cy="2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0A3D91">
                  <a:alpha val="12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6" name="AutoShape 16"/>
            <p:cNvSpPr/>
            <p:nvPr>
              <p:custDataLst>
                <p:tags r:id="rId16"/>
              </p:custDataLst>
            </p:nvPr>
          </p:nvSpPr>
          <p:spPr>
            <a:xfrm>
              <a:off x="1200" y="6600"/>
              <a:ext cx="5200" cy="2600"/>
            </a:xfrm>
            <a:prstGeom prst="roundRect">
              <a:avLst>
                <a:gd name="adj" fmla="val 7692"/>
              </a:avLst>
            </a:prstGeom>
            <a:solidFill>
              <a:srgbClr val="FFFFFF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101600" dist="38100" dir="5400000" algn="tl" rotWithShape="0">
                <a:srgbClr val="000000">
                  <a:alpha val="6000"/>
                </a:srgbClr>
              </a:outerShdw>
            </a:effectLst>
          </p:spPr>
          <p:txBody>
            <a:bodyPr vert="horz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17" name="Picture 17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600" y="7000"/>
              <a:ext cx="720" cy="720"/>
            </a:xfrm>
            <a:prstGeom prst="rect">
              <a:avLst/>
            </a:prstGeom>
          </p:spPr>
        </p:pic>
        <p:sp>
          <p:nvSpPr>
            <p:cNvPr id="18" name="AutoShape 18"/>
            <p:cNvSpPr/>
            <p:nvPr>
              <p:custDataLst>
                <p:tags r:id="rId20"/>
              </p:custDataLst>
            </p:nvPr>
          </p:nvSpPr>
          <p:spPr>
            <a:xfrm>
              <a:off x="2500" y="7040"/>
              <a:ext cx="3600" cy="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600" b="1" i="0" u="none" strike="noStrike">
                  <a:solidFill>
                    <a:srgbClr val="0A3D91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记忆断裂，缺乏延续性</a:t>
              </a:r>
              <a:endParaRPr lang="en-US" sz="1100"/>
            </a:p>
          </p:txBody>
        </p:sp>
        <p:sp>
          <p:nvSpPr>
            <p:cNvPr id="19" name="AutoShape 19"/>
            <p:cNvSpPr/>
            <p:nvPr>
              <p:custDataLst>
                <p:tags r:id="rId21"/>
              </p:custDataLst>
            </p:nvPr>
          </p:nvSpPr>
          <p:spPr>
            <a:xfrm>
              <a:off x="1600" y="7900"/>
              <a:ext cx="4400" cy="1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17000"/>
                </a:lnSpc>
                <a:defRPr/>
              </a:pPr>
              <a:r>
                <a:rPr lang="en-US" sz="1200" b="0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会话结束即数据清零，用户每次互动都像面对“陌生人”，无法积累共同回忆，情感链接无法沉淀。</a:t>
              </a:r>
              <a:endParaRPr lang="en-US" sz="1100"/>
            </a:p>
          </p:txBody>
        </p:sp>
        <p:sp>
          <p:nvSpPr>
            <p:cNvPr id="20" name="AutoShape 20"/>
            <p:cNvSpPr/>
            <p:nvPr>
              <p:custDataLst>
                <p:tags r:id="rId22"/>
              </p:custDataLst>
            </p:nvPr>
          </p:nvSpPr>
          <p:spPr>
            <a:xfrm>
              <a:off x="7000" y="6600"/>
              <a:ext cx="5200" cy="2600"/>
            </a:xfrm>
            <a:prstGeom prst="roundRect">
              <a:avLst>
                <a:gd name="adj" fmla="val 7692"/>
              </a:avLst>
            </a:prstGeom>
            <a:solidFill>
              <a:srgbClr val="FFFFFF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101600" dist="38100" dir="5400000" algn="tl" rotWithShape="0">
                <a:srgbClr val="000000">
                  <a:alpha val="6000"/>
                </a:srgbClr>
              </a:outerShdw>
            </a:effectLst>
          </p:spPr>
          <p:txBody>
            <a:bodyPr vert="horz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21" name="Picture 21"/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7400" y="7000"/>
              <a:ext cx="720" cy="720"/>
            </a:xfrm>
            <a:prstGeom prst="rect">
              <a:avLst/>
            </a:prstGeom>
          </p:spPr>
        </p:pic>
        <p:sp>
          <p:nvSpPr>
            <p:cNvPr id="22" name="AutoShape 22"/>
            <p:cNvSpPr/>
            <p:nvPr>
              <p:custDataLst>
                <p:tags r:id="rId26"/>
              </p:custDataLst>
            </p:nvPr>
          </p:nvSpPr>
          <p:spPr>
            <a:xfrm>
              <a:off x="8300" y="7040"/>
              <a:ext cx="3600" cy="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600" b="1" i="0" u="none" strike="noStrike">
                  <a:solidFill>
                    <a:srgbClr val="0A3D91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情绪浅层，难共情同频</a:t>
              </a:r>
              <a:endParaRPr lang="en-US" sz="1100"/>
            </a:p>
          </p:txBody>
        </p:sp>
        <p:sp>
          <p:nvSpPr>
            <p:cNvPr id="23" name="AutoShape 23"/>
            <p:cNvSpPr/>
            <p:nvPr>
              <p:custDataLst>
                <p:tags r:id="rId27"/>
              </p:custDataLst>
            </p:nvPr>
          </p:nvSpPr>
          <p:spPr>
            <a:xfrm>
              <a:off x="7400" y="7900"/>
              <a:ext cx="4400" cy="1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17000"/>
                </a:lnSpc>
                <a:defRPr/>
              </a:pPr>
              <a:r>
                <a:rPr lang="en-US" sz="1200" b="0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仅能识别基础的“难过/开心”标签，无法捕捉复杂、微妙的情绪变化，做不到真正的情感共鸣与抚慰。</a:t>
              </a:r>
              <a:endParaRPr lang="en-US" sz="1100"/>
            </a:p>
          </p:txBody>
        </p:sp>
        <p:sp>
          <p:nvSpPr>
            <p:cNvPr id="24" name="AutoShape 24"/>
            <p:cNvSpPr/>
            <p:nvPr>
              <p:custDataLst>
                <p:tags r:id="rId28"/>
              </p:custDataLst>
            </p:nvPr>
          </p:nvSpPr>
          <p:spPr>
            <a:xfrm>
              <a:off x="12800" y="6600"/>
              <a:ext cx="5200" cy="2600"/>
            </a:xfrm>
            <a:prstGeom prst="roundRect">
              <a:avLst>
                <a:gd name="adj" fmla="val 7692"/>
              </a:avLst>
            </a:prstGeom>
            <a:solidFill>
              <a:srgbClr val="FFFFFF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101600" dist="38100" dir="5400000" algn="tl" rotWithShape="0">
                <a:srgbClr val="000000">
                  <a:alpha val="6000"/>
                </a:srgbClr>
              </a:outerShdw>
            </a:effectLst>
          </p:spPr>
          <p:txBody>
            <a:bodyPr vert="horz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25" name="Picture 25"/>
            <p:cNvPicPr>
              <a:picLocks noChangeAspect="1"/>
            </p:cNvPicPr>
            <p:nvPr>
              <p:custDataLst>
                <p:tags r:id="rId29"/>
              </p:custDataLst>
            </p:nvPr>
          </p:nvPicPr>
          <p:blipFill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13200" y="7000"/>
              <a:ext cx="720" cy="720"/>
            </a:xfrm>
            <a:prstGeom prst="rect">
              <a:avLst/>
            </a:prstGeom>
          </p:spPr>
        </p:pic>
        <p:sp>
          <p:nvSpPr>
            <p:cNvPr id="26" name="AutoShape 26"/>
            <p:cNvSpPr/>
            <p:nvPr>
              <p:custDataLst>
                <p:tags r:id="rId32"/>
              </p:custDataLst>
            </p:nvPr>
          </p:nvSpPr>
          <p:spPr>
            <a:xfrm>
              <a:off x="14100" y="7040"/>
              <a:ext cx="3600" cy="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600" b="1" i="0" u="none" strike="noStrike">
                  <a:solidFill>
                    <a:srgbClr val="0A3D91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关系单向，无双向羁绊</a:t>
              </a:r>
              <a:endParaRPr lang="en-US" sz="1100"/>
            </a:p>
          </p:txBody>
        </p:sp>
        <p:sp>
          <p:nvSpPr>
            <p:cNvPr id="27" name="AutoShape 27"/>
            <p:cNvSpPr/>
            <p:nvPr>
              <p:custDataLst>
                <p:tags r:id="rId33"/>
              </p:custDataLst>
            </p:nvPr>
          </p:nvSpPr>
          <p:spPr>
            <a:xfrm>
              <a:off x="13200" y="7900"/>
              <a:ext cx="4400" cy="1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17000"/>
                </a:lnSpc>
                <a:defRPr/>
              </a:pPr>
              <a:r>
                <a:rPr lang="en-US" sz="1200" b="0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AI始终处于“无限包容”的工具角色，从不向用户索取或“需要”用户，无法构建平等、依赖的双向陪伴关系。</a:t>
              </a:r>
              <a:endParaRPr lang="en-US" sz="1100"/>
            </a:p>
          </p:txBody>
        </p:sp>
      </p:grpSp>
      <p:sp>
        <p:nvSpPr>
          <p:cNvPr id="28" name="AutoShape 28"/>
          <p:cNvSpPr/>
          <p:nvPr>
            <p:custDataLst>
              <p:tags r:id="rId34"/>
            </p:custDataLst>
          </p:nvPr>
        </p:nvSpPr>
        <p:spPr>
          <a:xfrm>
            <a:off x="762000" y="6032500"/>
            <a:ext cx="10668000" cy="558800"/>
          </a:xfrm>
          <a:prstGeom prst="roundRect">
            <a:avLst>
              <a:gd name="adj" fmla="val 18181"/>
            </a:avLst>
          </a:prstGeom>
          <a:solidFill>
            <a:srgbClr val="0A3D91">
              <a:alpha val="6000"/>
            </a:srgbClr>
          </a:solidFill>
          <a:ln w="12700" cap="flat" cmpd="sng">
            <a:solidFill>
              <a:srgbClr val="0A3D91">
                <a:alpha val="25000"/>
              </a:srgbClr>
            </a:solidFill>
            <a:prstDash val="solid"/>
            <a:round/>
          </a:ln>
        </p:spPr>
        <p:txBody>
          <a:bodyPr vert="horz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>
            <p:custDataLst>
              <p:tags r:id="rId35"/>
            </p:custDataLst>
          </p:nvPr>
        </p:nvSpPr>
        <p:spPr>
          <a:xfrm>
            <a:off x="762000" y="61214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  <a:t>市场还在做“高级工具”，没人做“关系型陪伴”。</a:t>
            </a:r>
            <a:endParaRPr lang="en-US" sz="1100"/>
          </a:p>
        </p:txBody>
      </p:sp>
      <p:pic>
        <p:nvPicPr>
          <p:cNvPr id="32" name="图片 31" descr="截屏2026-06-28 12.26.16"/>
          <p:cNvPicPr>
            <a:picLocks noChangeAspect="1"/>
          </p:cNvPicPr>
          <p:nvPr>
            <p:custDataLst>
              <p:tags r:id="rId36"/>
            </p:custDataLst>
          </p:nvPr>
        </p:nvPicPr>
        <p:blipFill>
          <a:blip r:embed="rId37"/>
          <a:stretch>
            <a:fillRect/>
          </a:stretch>
        </p:blipFill>
        <p:spPr>
          <a:xfrm>
            <a:off x="8380095" y="1460500"/>
            <a:ext cx="2422525" cy="45059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  <a:t>解决方案：一个“懂情绪、记得你、始终如一”的伙伴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460500"/>
            <a:ext cx="10668000" cy="889000"/>
          </a:xfrm>
          <a:prstGeom prst="roundRect">
            <a:avLst>
              <a:gd name="adj" fmla="val 0"/>
            </a:avLst>
          </a:prstGeom>
          <a:solidFill>
            <a:srgbClr val="0A3D91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460500"/>
            <a:ext cx="76200" cy="889000"/>
          </a:xfrm>
          <a:prstGeom prst="roundRect">
            <a:avLst>
              <a:gd name="adj" fmla="val 0"/>
            </a:avLst>
          </a:prstGeom>
          <a:solidFill>
            <a:srgbClr val="FFC10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79500" y="1524000"/>
            <a:ext cx="1028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面向6-12岁儿童的L3级AI伴学机器人，精准定位“知心伙伴”角色。拒绝冰冷说教，以温暖、幽默的交互方式，成为孩子成长过程中懂他、陪伴他的专属朋友。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857500"/>
            <a:ext cx="3302000" cy="38100"/>
          </a:xfrm>
          <a:prstGeom prst="roundRect">
            <a:avLst>
              <a:gd name="adj" fmla="val 0"/>
            </a:avLst>
          </a:prstGeom>
          <a:solidFill>
            <a:srgbClr val="0A3D9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31115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  <a:t>01 跨会话长期记忆引擎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3683000"/>
            <a:ext cx="330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传统产品仅支持会话级记忆（L1），对话断片失忆；我们实现L3级跨会话长期记忆，叠加情绪权重，能记住孩子的喜好与经历，像真人朋友一样延续话题。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45000" y="2857500"/>
            <a:ext cx="3302000" cy="38100"/>
          </a:xfrm>
          <a:prstGeom prst="roundRect">
            <a:avLst>
              <a:gd name="adj" fmla="val 0"/>
            </a:avLst>
          </a:prstGeom>
          <a:solidFill>
            <a:srgbClr val="0A3D9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445000" y="31115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  <a:t>02 全链路情绪感知引擎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445000" y="3683000"/>
            <a:ext cx="330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传统产品依赖简单关键词识别情绪；我们通过状态追踪、策略响应实现情绪同频，能敏锐捕捉孩子的喜怒哀乐，用共情的语言给予安慰、鼓励或疏导。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128000" y="2857500"/>
            <a:ext cx="3302000" cy="38100"/>
          </a:xfrm>
          <a:prstGeom prst="roundRect">
            <a:avLst>
              <a:gd name="adj" fmla="val 0"/>
            </a:avLst>
          </a:prstGeom>
          <a:solidFill>
            <a:srgbClr val="0A3D9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8128000" y="31115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  <a:t>03 一致性人格约束引擎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128000" y="3683000"/>
            <a:ext cx="330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传统产品仅靠提示词设定松散角色，易OOC；我们通过工程化行为约束，让产品人格始终稳定如一，陪伴风格统一，建立孩子对伙伴的持久信任感。</a:t>
            </a:r>
            <a:endParaRPr lang="en-US" sz="1100"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53975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333500" y="53975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  <a:t>情绪树洞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333500" y="5842000"/>
            <a:ext cx="203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孩子可以毫无顾忌倾诉烦恼，获得耐心倾听与温柔回应。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46500" y="53975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4318000" y="53975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  <a:t>伴学引导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318000" y="5842000"/>
            <a:ext cx="203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在学习中提供启发式提问，不直接给答案，培养自主思考力。</a:t>
            </a:r>
            <a:endParaRPr lang="en-US" sz="1100"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31000" y="5397500"/>
            <a:ext cx="406400" cy="4064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7302500" y="53975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  <a:t>习惯养成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302500" y="5842000"/>
            <a:ext cx="203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通过趣味打卡、正向激励，潜移默化帮助孩子建立良好生活习惯。</a:t>
            </a:r>
            <a:endParaRPr lang="en-US" sz="1100"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271000" y="5397500"/>
            <a:ext cx="406400" cy="4064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9842500" y="53975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  <a:t>睡前陪伴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9842500" y="58420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讲述温馨故事、舒缓助眠内容，用温柔的声音守护孩子安然入睡。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  <a:t>产品演示（Demo）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19200"/>
            <a:ext cx="1016000" cy="50800"/>
          </a:xfrm>
          <a:prstGeom prst="roundRect">
            <a:avLst>
              <a:gd name="adj" fmla="val 0"/>
            </a:avLst>
          </a:prstGeom>
          <a:solidFill>
            <a:srgbClr val="FFC10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429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3429000" cy="50800"/>
          </a:xfrm>
          <a:prstGeom prst="roundRect">
            <a:avLst>
              <a:gd name="adj" fmla="val 0"/>
            </a:avLst>
          </a:prstGeom>
          <a:solidFill>
            <a:srgbClr val="0A3D9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3368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23368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  <a:t>情绪树洞交互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048000"/>
            <a:ext cx="2921000" cy="825500"/>
          </a:xfrm>
          <a:prstGeom prst="roundRect">
            <a:avLst>
              <a:gd name="adj" fmla="val 0"/>
            </a:avLst>
          </a:prstGeom>
          <a:solidFill>
            <a:srgbClr val="FFC107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143000" y="3149600"/>
            <a:ext cx="266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“今天被老师批评了，好难过。感觉全班同学都在看我，心里特别不是滋味。”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4191000"/>
            <a:ext cx="2921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被当众批评确实很难受。我小时候有一次也这样，后来鼓起勇气问老师才解开误会。要不要说说发生了什么？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5715000"/>
            <a:ext cx="3429000" cy="635000"/>
          </a:xfrm>
          <a:prstGeom prst="roundRect">
            <a:avLst>
              <a:gd name="adj" fmla="val 0"/>
            </a:avLst>
          </a:prstGeom>
          <a:solidFill>
            <a:srgbClr val="EBF0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889000" y="5816600"/>
            <a:ext cx="3175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C10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核心亮点：</a:t>
            </a:r>
            <a:r>
              <a:rPr lang="en-US" sz="12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共情式倾听，主动分享“经历”拉近心理距离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381500" y="2032000"/>
            <a:ext cx="3429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4381500" y="2032000"/>
            <a:ext cx="3429000" cy="50800"/>
          </a:xfrm>
          <a:prstGeom prst="roundRect">
            <a:avLst>
              <a:gd name="adj" fmla="val 0"/>
            </a:avLst>
          </a:prstGeom>
          <a:solidFill>
            <a:srgbClr val="0A3D9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5500" y="23368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5143500" y="23368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  <a:t>跨会话长期记忆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635500" y="3048000"/>
            <a:ext cx="2921000" cy="1270000"/>
          </a:xfrm>
          <a:prstGeom prst="roundRect">
            <a:avLst>
              <a:gd name="adj" fmla="val 0"/>
            </a:avLst>
          </a:prstGeom>
          <a:solidFill>
            <a:srgbClr val="FFC107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4762500" y="3149600"/>
            <a:ext cx="2667000" cy="1066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“上次你说数学最后一道大题好难，后来听说你自己查资料搞定了，特别厉害！今天有遇到什么有趣的事，或者需要我帮忙的难题吗？”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635500" y="4572000"/>
            <a:ext cx="292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系统能留存历史对话关键信息，在后续交互中自然提及，构建持续、连贯的伙伴关系，而非一次性对话。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381500" y="5715000"/>
            <a:ext cx="3429000" cy="635000"/>
          </a:xfrm>
          <a:prstGeom prst="roundRect">
            <a:avLst>
              <a:gd name="adj" fmla="val 0"/>
            </a:avLst>
          </a:prstGeom>
          <a:solidFill>
            <a:srgbClr val="EBF0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4508500" y="5816600"/>
            <a:ext cx="3175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C10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核心亮点：</a:t>
            </a:r>
            <a:r>
              <a:rPr lang="en-US" sz="12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记忆关键事件，让AI更有“温度”和连贯性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001000" y="2032000"/>
            <a:ext cx="3429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8001000" y="2032000"/>
            <a:ext cx="3429000" cy="50800"/>
          </a:xfrm>
          <a:prstGeom prst="roundRect">
            <a:avLst>
              <a:gd name="adj" fmla="val 0"/>
            </a:avLst>
          </a:prstGeom>
          <a:solidFill>
            <a:srgbClr val="0A3D9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55000" y="2336800"/>
            <a:ext cx="406400" cy="4064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8763000" y="23368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  <a:t>家长端情绪周报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255000" y="3048000"/>
            <a:ext cx="1371600" cy="1016000"/>
          </a:xfrm>
          <a:prstGeom prst="roundRect">
            <a:avLst>
              <a:gd name="adj" fmla="val 0"/>
            </a:avLst>
          </a:prstGeom>
          <a:solidFill>
            <a:srgbClr val="FFC107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8356600" y="3175000"/>
            <a:ext cx="11684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C107"/>
                </a:solidFill>
                <a:latin typeface="Noto Sans SC"/>
                <a:ea typeface="Noto Sans SC"/>
                <a:cs typeface="Noto Sans SC"/>
                <a:sym typeface="Noto Sans SC"/>
              </a:rPr>
              <a:t>3</a:t>
            </a:r>
            <a:r>
              <a:rPr lang="en-US" sz="13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次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本周开心时刻😊</a:t>
            </a:r>
            <a:endParaRPr lang="en-US" sz="1100" b="0" i="0" u="none" strike="noStrike">
              <a:solidFill>
                <a:srgbClr val="6B728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9804400" y="3048000"/>
            <a:ext cx="1371600" cy="1016000"/>
          </a:xfrm>
          <a:prstGeom prst="roundRect">
            <a:avLst>
              <a:gd name="adj" fmla="val 0"/>
            </a:avLst>
          </a:prstGeom>
          <a:solidFill>
            <a:srgbClr val="FFC107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9906000" y="3175000"/>
            <a:ext cx="11684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C107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r>
              <a:rPr lang="en-US" sz="13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次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沮丧时刻(数学作业)</a:t>
            </a:r>
            <a:endParaRPr lang="en-US" sz="1100" b="0" i="0" u="none" strike="noStrike">
              <a:solidFill>
                <a:srgbClr val="6B728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8255000" y="4445000"/>
            <a:ext cx="292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系统自动脱敏分析情绪状态，生成非监视性周报。本周沮丧情绪已由AI介入疏导，未产生持续负面情绪，无需家长额外干预。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8001000" y="5715000"/>
            <a:ext cx="3429000" cy="635000"/>
          </a:xfrm>
          <a:prstGeom prst="roundRect">
            <a:avLst>
              <a:gd name="adj" fmla="val 0"/>
            </a:avLst>
          </a:prstGeom>
          <a:solidFill>
            <a:srgbClr val="EBF0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8128000" y="5816600"/>
            <a:ext cx="3175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C10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核心亮点：</a:t>
            </a:r>
            <a:r>
              <a:rPr lang="en-US" sz="12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不侵犯隐私，让家长放心、孩子安心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84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400" b="1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  <a:t>硬件设计哲学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95400"/>
            <a:ext cx="1778000" cy="50800"/>
          </a:xfrm>
          <a:prstGeom prst="roundRect">
            <a:avLst>
              <a:gd name="adj" fmla="val 0"/>
            </a:avLst>
          </a:prstGeom>
          <a:solidFill>
            <a:srgbClr val="FFC10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6256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50800" rIns="0" bIns="5080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为陪伴而生的硬件设计，摒弃冰冷的工业感，让每一个结构细节都深度服务于“建立情感连接”的核心目标。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350000" y="2794000"/>
            <a:ext cx="76200" cy="1143000"/>
          </a:xfrm>
          <a:prstGeom prst="roundRect">
            <a:avLst>
              <a:gd name="adj" fmla="val 0"/>
            </a:avLst>
          </a:prstGeom>
          <a:solidFill>
            <a:srgbClr val="0A3D9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6629400" y="2794000"/>
            <a:ext cx="457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  <a:t>01. 安全是陪伴的底线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全R10mm圆角无棱角设计，采用婴儿奶瓶级食品接触材质，隐藏式充电口与移动轮结构，从物理层面杜绝磕碰、夹手与误食风险。</a:t>
            </a:r>
            <a:endParaRPr lang="en-US" sz="13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350000" y="4191000"/>
            <a:ext cx="76200" cy="1143000"/>
          </a:xfrm>
          <a:prstGeom prst="roundRect">
            <a:avLst>
              <a:gd name="adj" fmla="val 0"/>
            </a:avLst>
          </a:prstGeom>
          <a:solidFill>
            <a:srgbClr val="FFC10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6629400" y="4191000"/>
            <a:ext cx="457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  <a:t>02. 像伙伴一样的拟人交互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360°可旋转头部自动转向说话人，圆形情绪表情屏传递细腻情感，自然语音交互逻辑摒弃指令式沟通，让对话如同和真实朋友交流般自然。</a:t>
            </a:r>
            <a:endParaRPr lang="en-US" sz="13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350000" y="5461000"/>
            <a:ext cx="76200" cy="1016000"/>
          </a:xfrm>
          <a:prstGeom prst="roundRect">
            <a:avLst>
              <a:gd name="adj" fmla="val 0"/>
            </a:avLst>
          </a:prstGeom>
          <a:solidFill>
            <a:srgbClr val="0A3D9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629400" y="5461000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  <a:t>03. 克制的低屏护眼设计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选用小尺寸圆形低蓝光无频闪护眼屏，支持一键切换纯语音无屏模式，减少视觉干扰，引导孩子专注于语言交流而非屏幕娱乐。</a:t>
            </a:r>
            <a:endParaRPr lang="en-US" sz="13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2887785"/>
            <a:ext cx="2515780" cy="308121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813" y="2887785"/>
            <a:ext cx="2598404" cy="308121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84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  <a:t>产品形态与结构设计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16000" cy="50800"/>
          </a:xfrm>
          <a:prstGeom prst="roundRect">
            <a:avLst>
              <a:gd name="adj" fmla="val 0"/>
            </a:avLst>
          </a:prstGeom>
          <a:solidFill>
            <a:srgbClr val="FFC10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50800" rIns="0" bIns="5080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人体工学结构，专为儿童桌面场景打造，融合亲和力造型与科学交互体验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 l="6109" r="6109"/>
          <a:stretch>
            <a:fillRect/>
          </a:stretch>
        </p:blipFill>
        <p:spPr>
          <a:xfrm>
            <a:off x="762000" y="2159000"/>
            <a:ext cx="6350000" cy="406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7620000" y="2413000"/>
            <a:ext cx="330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  <a:t>01. 萌趣安全造型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全圆角无棱角设计消除磕碰隐患，15×12×10cm小巧尺寸，完美适配书桌角落，不占用学习空间。</a:t>
            </a:r>
            <a:endParaRPr lang="en-US" sz="1200" b="0" i="0" u="none" strike="noStrike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20000" y="3810000"/>
            <a:ext cx="330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  <a:t>02. 科学视角保护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15°机身倾斜角符合儿童最佳平视视角，有效预防颈椎前倾；哑光表面处理，柔和不刺眼，呵护视力。</a:t>
            </a:r>
            <a:endParaRPr lang="en-US" sz="1200" b="0" i="0" u="none" strike="noStrike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620000" y="5080000"/>
            <a:ext cx="330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  <a:t>03. 拟人交互体验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360°头部自动转向说话人，增强陪伴感；隐藏式静音滚轮安静跟随，磁吸底座一放即充，安全便捷。</a:t>
            </a:r>
            <a:endParaRPr lang="en-US" sz="1200" b="0" i="0" u="none" strike="noStrike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09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核心硬件配置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460500"/>
            <a:ext cx="1524000" cy="76200"/>
          </a:xfrm>
          <a:prstGeom prst="roundRect">
            <a:avLst>
              <a:gd name="adj" fmla="val 0"/>
            </a:avLst>
          </a:prstGeom>
          <a:solidFill>
            <a:srgbClr val="FFC10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63500" rIns="0" bIns="6350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硬核配置，打造流畅自然的交互体验，兼顾性能与安全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 t="17344" b="17344"/>
          <a:stretch>
            <a:fillRect/>
          </a:stretch>
        </p:blipFill>
        <p:spPr>
          <a:xfrm>
            <a:off x="762000" y="2667000"/>
            <a:ext cx="9652000" cy="355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762000"/>
            <a:ext cx="10668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  <a:t>不同表情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1524000" cy="50800"/>
          </a:xfrm>
          <a:prstGeom prst="roundRect">
            <a:avLst>
              <a:gd name="adj" fmla="val 0"/>
            </a:avLst>
          </a:prstGeom>
          <a:solidFill>
            <a:srgbClr val="0A3D9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3D视觉效果，不同表情变化丰富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 t="14269" b="14269"/>
          <a:stretch>
            <a:fillRect/>
          </a:stretch>
        </p:blipFill>
        <p:spPr>
          <a:xfrm>
            <a:off x="677333" y="2540000"/>
            <a:ext cx="10498667" cy="3937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  <a:t>硬件设计构建的3道护城河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19200"/>
            <a:ext cx="1016000" cy="50800"/>
          </a:xfrm>
          <a:prstGeom prst="roundRect">
            <a:avLst>
              <a:gd name="adj" fmla="val 0"/>
            </a:avLst>
          </a:prstGeom>
          <a:solidFill>
            <a:srgbClr val="FFC10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429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3429000" cy="76200"/>
          </a:xfrm>
          <a:prstGeom prst="roundRect">
            <a:avLst>
              <a:gd name="adj" fmla="val 0"/>
            </a:avLst>
          </a:prstGeom>
          <a:solidFill>
            <a:srgbClr val="0A3D9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16000" y="2413000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1549400" y="2413000"/>
            <a:ext cx="2413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  <a:t>体验护城河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4946">
            <a:off x="1016014" y="3168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3429000"/>
            <a:ext cx="2921000" cy="825500"/>
          </a:xfrm>
          <a:prstGeom prst="roundRect">
            <a:avLst>
              <a:gd name="adj" fmla="val 0"/>
            </a:avLst>
          </a:prstGeom>
          <a:solidFill>
            <a:srgbClr val="0A3D91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143000" y="3530600"/>
            <a:ext cx="2667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拟人化硬件设计催生情感依恋，用户7日留存率显著提升20%，建立独特的情感连接壁垒。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4572000"/>
            <a:ext cx="2921000" cy="952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孩子会将柯基机器人视为真实朋友而非冰冷电子产品。这种基于实体硬件的情感纽带，是纯软件类AI产品永远无法复制和替代的核心优势。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5842000"/>
            <a:ext cx="3429000" cy="635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889000" y="5943600"/>
            <a:ext cx="3175000" cy="431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C10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情感连接构建极高用户粘性，形成体验壁垒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381500" y="2032000"/>
            <a:ext cx="3429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4381500" y="2032000"/>
            <a:ext cx="3429000" cy="76200"/>
          </a:xfrm>
          <a:prstGeom prst="roundRect">
            <a:avLst>
              <a:gd name="adj" fmla="val 0"/>
            </a:avLst>
          </a:prstGeom>
          <a:solidFill>
            <a:srgbClr val="0A3D9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635500" y="2413000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7" name="AutoShape 17"/>
          <p:cNvSpPr/>
          <p:nvPr/>
        </p:nvSpPr>
        <p:spPr>
          <a:xfrm>
            <a:off x="5168900" y="2413000"/>
            <a:ext cx="2413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  <a:t>成本护城河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14946">
            <a:off x="4635514" y="3168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4635500" y="3429000"/>
            <a:ext cx="2921000" cy="1397000"/>
          </a:xfrm>
          <a:prstGeom prst="roundRect">
            <a:avLst>
              <a:gd name="adj" fmla="val 0"/>
            </a:avLst>
          </a:prstGeom>
          <a:solidFill>
            <a:srgbClr val="0A3D91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4762500" y="3530600"/>
            <a:ext cx="2667000" cy="1193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采用模块化设计结合通用成熟供应链，BOM成本较同类竞品降低30%，产品综合毛利率可达35%，具备极强的价格竞争与盈利空间。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4635500" y="5080000"/>
            <a:ext cx="2921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摒弃冗余的高端处理器与屏幕配置，硬件方案精准服务于语音对话与陪伴核心功能，极致精简实现高性价比。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4381500" y="5842000"/>
            <a:ext cx="3429000" cy="635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4508500" y="5943600"/>
            <a:ext cx="3175000" cy="431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C10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极致供应链与模块化设计，确立成本领先优势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001000" y="2032000"/>
            <a:ext cx="3429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8001000" y="2032000"/>
            <a:ext cx="3429000" cy="76200"/>
          </a:xfrm>
          <a:prstGeom prst="roundRect">
            <a:avLst>
              <a:gd name="adj" fmla="val 0"/>
            </a:avLst>
          </a:prstGeom>
          <a:solidFill>
            <a:srgbClr val="0A3D9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255000" y="2413000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7" name="AutoShape 27"/>
          <p:cNvSpPr/>
          <p:nvPr/>
        </p:nvSpPr>
        <p:spPr>
          <a:xfrm>
            <a:off x="8788400" y="2413000"/>
            <a:ext cx="2413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  <a:t>合规护城河</a:t>
            </a:r>
            <a:endParaRPr lang="en-US" sz="1100"/>
          </a:p>
        </p:txBody>
      </p:sp>
      <p:cxnSp>
        <p:nvCxnSpPr>
          <p:cNvPr id="28" name="Connector 28"/>
          <p:cNvCxnSpPr/>
          <p:nvPr/>
        </p:nvCxnSpPr>
        <p:spPr>
          <a:xfrm rot="-14946">
            <a:off x="8255014" y="3168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" name="AutoShape 29"/>
          <p:cNvSpPr/>
          <p:nvPr/>
        </p:nvSpPr>
        <p:spPr>
          <a:xfrm>
            <a:off x="8255000" y="3429000"/>
            <a:ext cx="1371600" cy="1016000"/>
          </a:xfrm>
          <a:prstGeom prst="roundRect">
            <a:avLst>
              <a:gd name="adj" fmla="val 0"/>
            </a:avLst>
          </a:prstGeom>
          <a:solidFill>
            <a:srgbClr val="0A3D91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8356600" y="3556000"/>
            <a:ext cx="11684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C107"/>
                </a:solidFill>
                <a:latin typeface="Noto Sans SC"/>
                <a:ea typeface="Noto Sans SC"/>
                <a:cs typeface="Noto Sans SC"/>
                <a:sym typeface="Noto Sans SC"/>
              </a:rPr>
              <a:t>100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%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符合新规标准</a:t>
            </a:r>
            <a:endParaRPr lang="en-US" sz="1200" b="0" i="0" u="none" strike="noStrike">
              <a:solidFill>
                <a:srgbClr val="6B728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1" name="AutoShape 31"/>
          <p:cNvSpPr/>
          <p:nvPr/>
        </p:nvSpPr>
        <p:spPr>
          <a:xfrm>
            <a:off x="9804400" y="3429000"/>
            <a:ext cx="1371600" cy="1016000"/>
          </a:xfrm>
          <a:prstGeom prst="roundRect">
            <a:avLst>
              <a:gd name="adj" fmla="val 0"/>
            </a:avLst>
          </a:prstGeom>
          <a:solidFill>
            <a:srgbClr val="0A3D91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9906000" y="3556000"/>
            <a:ext cx="11684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C107"/>
                </a:solidFill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风险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无监管下架隐患</a:t>
            </a:r>
            <a:endParaRPr lang="en-US" sz="1200" b="0" i="0" u="none" strike="noStrike">
              <a:solidFill>
                <a:srgbClr val="6B728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3" name="AutoShape 33"/>
          <p:cNvSpPr/>
          <p:nvPr/>
        </p:nvSpPr>
        <p:spPr>
          <a:xfrm>
            <a:off x="8255000" y="4699000"/>
            <a:ext cx="2921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从产品立项之初即严格对标2026年7月儿童智能产品新规设计。相比现有存量竞品面临的整改下架风险，我们拥有绝对的先发合规优势与市场安全感。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8001000" y="5842000"/>
            <a:ext cx="3429000" cy="635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5" name="AutoShape 35"/>
          <p:cNvSpPr/>
          <p:nvPr/>
        </p:nvSpPr>
        <p:spPr>
          <a:xfrm>
            <a:off x="8128000" y="5943600"/>
            <a:ext cx="3175000" cy="431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C10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先发合规布局，规避监管风险，锁定市场先机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4F6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  <a:t>技术壁垒：Mind Engine 心智引擎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FC107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651000"/>
            <a:ext cx="10160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FFC107"/>
                </a:solidFill>
                <a:latin typeface="Noto Sans SC"/>
                <a:ea typeface="Noto Sans SC"/>
                <a:cs typeface="Noto Sans SC"/>
                <a:sym typeface="Noto Sans SC"/>
              </a:rPr>
              <a:t>什么是 Mind Engine？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它是由长期记忆系统、情感感知引擎、人格控制模型构成的AI心智架构，绝非简单的“对话引擎”升级版，而是专为关系型AI打造的底层操作系统，从根本上重塑人机交互的逻辑。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3175000"/>
            <a:ext cx="3429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3175000"/>
            <a:ext cx="3429000" cy="50800"/>
          </a:xfrm>
          <a:prstGeom prst="roundRect">
            <a:avLst>
              <a:gd name="adj" fmla="val 0"/>
            </a:avLst>
          </a:prstGeom>
          <a:solidFill>
            <a:srgbClr val="FFC10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33655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97000" y="33274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  <a:t>记忆检索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14323">
            <a:off x="952513" y="3867150"/>
            <a:ext cx="3048026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952500" y="4000500"/>
            <a:ext cx="304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行业现状：仅基于语义相关性进行匹配，缺乏情感与场景权重。</a:t>
            </a:r>
            <a:br>
              <a:rPr lang="en-US" sz="12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1" i="0" u="none" strike="noStrike">
                <a:solidFill>
                  <a:srgbClr val="FFC107"/>
                </a:solidFill>
                <a:latin typeface="Noto Sans SC"/>
                <a:ea typeface="Noto Sans SC"/>
                <a:cs typeface="Noto Sans SC"/>
                <a:sym typeface="Noto Sans SC"/>
              </a:rPr>
              <a:t>Mind Engine：情绪加权排序，优先唤醒高情感关联的记忆片段。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381500" y="3175000"/>
            <a:ext cx="3429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381500" y="3175000"/>
            <a:ext cx="3429000" cy="50800"/>
          </a:xfrm>
          <a:prstGeom prst="roundRect">
            <a:avLst>
              <a:gd name="adj" fmla="val 0"/>
            </a:avLst>
          </a:prstGeom>
          <a:solidFill>
            <a:srgbClr val="FFC10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0" y="33655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5016500" y="33274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  <a:t>记忆调用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14323">
            <a:off x="4572013" y="3867150"/>
            <a:ext cx="3048026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4572000" y="4000500"/>
            <a:ext cx="304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行业现状：依赖Agent自主行为或死板规则引擎，容易出现逻辑混乱。</a:t>
            </a:r>
            <a:br>
              <a:rPr lang="en-US" sz="12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1" i="0" u="none" strike="noStrike">
                <a:solidFill>
                  <a:srgbClr val="FFC107"/>
                </a:solidFill>
                <a:latin typeface="Noto Sans SC"/>
                <a:ea typeface="Noto Sans SC"/>
                <a:cs typeface="Noto Sans SC"/>
                <a:sym typeface="Noto Sans SC"/>
              </a:rPr>
              <a:t>Mind Engine：人格约束过滤+保守策略，确保输出符合角色设定。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001000" y="3175000"/>
            <a:ext cx="3429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8001000" y="3175000"/>
            <a:ext cx="3429000" cy="50800"/>
          </a:xfrm>
          <a:prstGeom prst="roundRect">
            <a:avLst>
              <a:gd name="adj" fmla="val 0"/>
            </a:avLst>
          </a:prstGeom>
          <a:solidFill>
            <a:srgbClr val="FFC10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91500" y="33655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8636000" y="33274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  <a:t>反馈闭环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14323">
            <a:off x="8191513" y="3867150"/>
            <a:ext cx="3048026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8191500" y="4000500"/>
            <a:ext cx="304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行业现状：缺少有效的记忆反馈机制，无法从历史交互中迭代优化。</a:t>
            </a:r>
            <a:br>
              <a:rPr lang="en-US" sz="12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1" i="0" u="none" strike="noStrike">
                <a:solidFill>
                  <a:srgbClr val="FFC107"/>
                </a:solidFill>
                <a:latin typeface="Noto Sans SC"/>
                <a:ea typeface="Noto Sans SC"/>
                <a:cs typeface="Noto Sans SC"/>
                <a:sym typeface="Noto Sans SC"/>
              </a:rPr>
              <a:t>Mind Engine：调用后果→敏感标记→策略调整，形成完整的自进化闭环。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62000" y="5461000"/>
            <a:ext cx="10668000" cy="1016000"/>
          </a:xfrm>
          <a:prstGeom prst="roundRect">
            <a:avLst>
              <a:gd name="adj" fmla="val 0"/>
            </a:avLst>
          </a:prstGeom>
          <a:solidFill>
            <a:srgbClr val="FFC107">
              <a:alpha val="15000"/>
            </a:srgbClr>
          </a:solidFill>
          <a:ln w="12700" cap="flat" cmpd="sng">
            <a:solidFill>
              <a:srgbClr val="FFC107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5651500"/>
            <a:ext cx="406400" cy="4064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1651000" y="5588000"/>
            <a:ext cx="952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  <a:t>技术验证与护城河：</a:t>
            </a:r>
            <a:r>
              <a:rPr lang="en-US" sz="13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系统架构已对标 Mem0、Letta、OpenClaw、SCM 等全球顶尖开源方案，在情感融入与记忆权重分配上实现关键突破，构建了难以复制的差异化技术壁垒。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  <a:t>市场机会：百亿级赛道，“窗口期+监管红利”双重共振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2705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76200" cy="1651000"/>
          </a:xfrm>
          <a:prstGeom prst="roundRect">
            <a:avLst>
              <a:gd name="adj" fmla="val 0"/>
            </a:avLst>
          </a:prstGeom>
          <a:solidFill>
            <a:srgbClr val="FFC10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651000"/>
            <a:ext cx="476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  <a:t>全球儿童陪伴机器人市场持续扩容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9167">
            <a:off x="1016008" y="2152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16000" y="22860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C107"/>
                </a:solidFill>
                <a:latin typeface="Noto Sans SC"/>
                <a:ea typeface="Noto Sans SC"/>
                <a:cs typeface="Noto Sans SC"/>
                <a:sym typeface="Noto Sans SC"/>
              </a:rPr>
              <a:t>6.4%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2025-2032年复合年增长率(CAGR)</a:t>
            </a:r>
            <a:endParaRPr lang="en-US" sz="12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8" name="Connector 8"/>
          <p:cNvCxnSpPr/>
          <p:nvPr/>
        </p:nvCxnSpPr>
        <p:spPr>
          <a:xfrm rot="5331254">
            <a:off x="3111500" y="2660713"/>
            <a:ext cx="63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3556000" y="2286000"/>
            <a:ext cx="2349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  <a:t>11.27→17.38亿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市场规模从2025年至2032年稳步攀升</a:t>
            </a:r>
            <a:endParaRPr lang="en-US" sz="12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286500" y="1524000"/>
            <a:ext cx="52705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286500" y="1524000"/>
            <a:ext cx="76200" cy="1651000"/>
          </a:xfrm>
          <a:prstGeom prst="roundRect">
            <a:avLst>
              <a:gd name="adj" fmla="val 0"/>
            </a:avLst>
          </a:prstGeom>
          <a:solidFill>
            <a:srgbClr val="FFC10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540500" y="1651000"/>
            <a:ext cx="476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  <a:t>中国AI陪伴机器人消费渗透率爆发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9167">
            <a:off x="6540508" y="2152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6540500" y="22860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C107"/>
                </a:solidFill>
                <a:latin typeface="Noto Sans SC"/>
                <a:ea typeface="Noto Sans SC"/>
                <a:cs typeface="Noto Sans SC"/>
                <a:sym typeface="Noto Sans SC"/>
              </a:rPr>
              <a:t>35.07%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2026年AI陪伴机器人消费占比</a:t>
            </a:r>
            <a:endParaRPr lang="en-US" sz="12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15" name="Connector 15"/>
          <p:cNvCxnSpPr/>
          <p:nvPr/>
        </p:nvCxnSpPr>
        <p:spPr>
          <a:xfrm rot="5331254">
            <a:off x="8636000" y="2660713"/>
            <a:ext cx="63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9080500" y="2286000"/>
            <a:ext cx="2349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  <a:t>TOP 2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已跃升为AI玩具市场第二大核心品类</a:t>
            </a:r>
            <a:endParaRPr lang="en-US" sz="12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762000" y="3556000"/>
            <a:ext cx="5270500" cy="1143000"/>
          </a:xfrm>
          <a:prstGeom prst="roundRect">
            <a:avLst>
              <a:gd name="adj" fmla="val 0"/>
            </a:avLst>
          </a:prstGeom>
          <a:solidFill>
            <a:srgbClr val="0A3D91">
              <a:alpha val="5000"/>
            </a:srgbClr>
          </a:solidFill>
          <a:ln w="12700" cap="flat" cmpd="sng">
            <a:solidFill>
              <a:srgbClr val="0A3D91">
                <a:alpha val="1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952500" y="3683000"/>
            <a:ext cx="2349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FFC107"/>
                </a:solidFill>
                <a:latin typeface="Noto Sans SC"/>
                <a:ea typeface="Noto Sans SC"/>
                <a:cs typeface="Noto Sans SC"/>
                <a:sym typeface="Noto Sans SC"/>
              </a:rPr>
              <a:t>2.14亿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  <a:t>中国0-14岁儿童人口基数</a:t>
            </a:r>
            <a:endParaRPr lang="en-US" sz="1400" b="0" i="0" u="none" strike="noStrike">
              <a:solidFill>
                <a:srgbClr val="0A3D9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19" name="Connector 19"/>
          <p:cNvCxnSpPr/>
          <p:nvPr/>
        </p:nvCxnSpPr>
        <p:spPr>
          <a:xfrm rot="5342709">
            <a:off x="3009900" y="4121203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A3D91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3556000" y="3683000"/>
            <a:ext cx="2349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FFC107"/>
                </a:solidFill>
                <a:latin typeface="Noto Sans SC"/>
                <a:ea typeface="Noto Sans SC"/>
                <a:cs typeface="Noto Sans SC"/>
                <a:sym typeface="Noto Sans SC"/>
              </a:rPr>
              <a:t>1.3亿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核心家庭用户规模支撑市场需求</a:t>
            </a:r>
            <a:endParaRPr lang="en-US" sz="1400" b="0" i="0" u="none" strike="noStrike">
              <a:solidFill>
                <a:srgbClr val="0A3D9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6286500" y="3556000"/>
            <a:ext cx="5270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  <a:t>行业爆发的三大核心驱动力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8283">
            <a:off x="6286508" y="3994150"/>
            <a:ext cx="5270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FC10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23" name="AutoShape 23"/>
          <p:cNvSpPr/>
          <p:nvPr/>
        </p:nvSpPr>
        <p:spPr>
          <a:xfrm>
            <a:off x="6286500" y="4191000"/>
            <a:ext cx="16764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13500" y="4318000"/>
            <a:ext cx="304800" cy="3048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6794500" y="4292600"/>
            <a:ext cx="1143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技术成熟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413500" y="4762500"/>
            <a:ext cx="14224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开源大模型普及，AI能力接入成本大幅下降90%，创业门槛显著降低。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077200" y="4191000"/>
            <a:ext cx="16764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04200" y="4318000"/>
            <a:ext cx="304800" cy="3048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8585200" y="4292600"/>
            <a:ext cx="1143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  <a:t>心智转向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8204200" y="4762500"/>
            <a:ext cx="14224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近六成青年家长愿为“情绪价值”买单，产品价值从功能转向情感陪伴。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9867900" y="4191000"/>
            <a:ext cx="16764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94900" y="4318000"/>
            <a:ext cx="304800" cy="304800"/>
          </a:xfrm>
          <a:prstGeom prst="rect">
            <a:avLst/>
          </a:prstGeom>
        </p:spPr>
      </p:pic>
      <p:sp>
        <p:nvSpPr>
          <p:cNvPr id="33" name="AutoShape 33"/>
          <p:cNvSpPr/>
          <p:nvPr/>
        </p:nvSpPr>
        <p:spPr>
          <a:xfrm>
            <a:off x="10375900" y="4292600"/>
            <a:ext cx="1143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  <a:t>监管利好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9994900" y="4762500"/>
            <a:ext cx="14224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2026年7月新规严控成人向内容，合规儿童陪伴产品迎来结构性蓝海。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762000" y="5842000"/>
            <a:ext cx="10795000" cy="711200"/>
          </a:xfrm>
          <a:prstGeom prst="roundRect">
            <a:avLst>
              <a:gd name="adj" fmla="val 0"/>
            </a:avLst>
          </a:prstGeom>
          <a:solidFill>
            <a:srgbClr val="0A3D91">
              <a:alpha val="8000"/>
            </a:srgbClr>
          </a:solidFill>
          <a:ln w="12700" cap="flat" cmpd="sng">
            <a:solidFill>
              <a:srgbClr val="0A3D91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6" name="AutoShape 36"/>
          <p:cNvSpPr/>
          <p:nvPr/>
        </p:nvSpPr>
        <p:spPr>
          <a:xfrm>
            <a:off x="952500" y="5943600"/>
            <a:ext cx="1041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C10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核心结论：</a:t>
            </a:r>
            <a:r>
              <a:rPr lang="en-US" sz="1500" b="0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  <a:t>2026年是创业公司抢占儿童陪伴心智的最佳时点，窗口期与监管红利形成完美共振。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  <a:t>竞争分析：三大阵营均未解决“关系维持”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3271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A3D91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 t="3846" b="3846"/>
          <a:stretch>
            <a:fillRect/>
          </a:stretch>
        </p:blipFill>
        <p:spPr>
          <a:xfrm>
            <a:off x="762000" y="1778000"/>
            <a:ext cx="3302000" cy="203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762000" y="4064000"/>
            <a:ext cx="3302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889000" y="419100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  <a:t>学习机阵营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代表：科大讯飞、作业帮 | 核心短板：强工具导向，仅聚焦知识灌输，缺乏深层情感陪伴。</a:t>
            </a:r>
            <a:endParaRPr lang="en-US" sz="12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7" name="Connector 7"/>
          <p:cNvCxnSpPr/>
          <p:nvPr/>
        </p:nvCxnSpPr>
        <p:spPr>
          <a:xfrm rot="5387722">
            <a:off x="2540000" y="3549661"/>
            <a:ext cx="355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A3D91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rcRect l="7343" r="7343"/>
          <a:stretch>
            <a:fillRect/>
          </a:stretch>
        </p:blipFill>
        <p:spPr>
          <a:xfrm>
            <a:off x="4572000" y="1778000"/>
            <a:ext cx="3302000" cy="203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4572000" y="4064000"/>
            <a:ext cx="3302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699000" y="419100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  <a:t>角色对话平台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代表：Character.AI、Replika | 核心短板：内容偏成人化，留存低，存在儿童监管风险。</a:t>
            </a:r>
            <a:endParaRPr lang="en-US" sz="12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11" name="Connector 11"/>
          <p:cNvCxnSpPr/>
          <p:nvPr/>
        </p:nvCxnSpPr>
        <p:spPr>
          <a:xfrm rot="5387722">
            <a:off x="6350000" y="3549661"/>
            <a:ext cx="355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A3D91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Picture 12"/>
          <p:cNvPicPr>
            <a:picLocks noChangeAspect="1"/>
          </p:cNvPicPr>
          <p:nvPr/>
        </p:nvPicPr>
        <p:blipFill>
          <a:blip r:embed="rId3"/>
          <a:srcRect t="4336" b="4336"/>
          <a:stretch>
            <a:fillRect/>
          </a:stretch>
        </p:blipFill>
        <p:spPr>
          <a:xfrm>
            <a:off x="8382000" y="1778000"/>
            <a:ext cx="3302000" cy="203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3" name="AutoShape 13"/>
          <p:cNvSpPr/>
          <p:nvPr/>
        </p:nvSpPr>
        <p:spPr>
          <a:xfrm>
            <a:off x="8382000" y="4064000"/>
            <a:ext cx="3302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8509000" y="419100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  <a:t>AI玩具阵营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代表：BubblePal、噜咔博士 | 核心短板：AI能力初级，交互呆板，“有身体无灵魂”。</a:t>
            </a:r>
            <a:endParaRPr lang="en-US" sz="12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762000" y="5588000"/>
            <a:ext cx="10922000" cy="889000"/>
          </a:xfrm>
          <a:prstGeom prst="roundRect">
            <a:avLst>
              <a:gd name="adj" fmla="val 0"/>
            </a:avLst>
          </a:prstGeom>
          <a:solidFill>
            <a:srgbClr val="0A3D91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762000" y="5588000"/>
            <a:ext cx="50800" cy="889000"/>
          </a:xfrm>
          <a:prstGeom prst="roundRect">
            <a:avLst>
              <a:gd name="adj" fmla="val 0"/>
            </a:avLst>
          </a:prstGeom>
          <a:solidFill>
            <a:srgbClr val="FFC10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1016000" y="56896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  <a:t>唯一专注儿童L3级关系型陪伴的产品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填补市场空白，深耕儿童心理成长与情感联结，构建真实、持续的AI伙伴关系。</a:t>
            </a:r>
            <a:endParaRPr lang="en-US" sz="1200" b="0" i="0" u="none" strike="noStrike">
              <a:solidFill>
                <a:srgbClr val="37415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18" name="Connector 18"/>
          <p:cNvCxnSpPr/>
          <p:nvPr/>
        </p:nvCxnSpPr>
        <p:spPr>
          <a:xfrm rot="5331254">
            <a:off x="5905500" y="6026213"/>
            <a:ext cx="63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A3D91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6477000" y="5715000"/>
            <a:ext cx="228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  <a:t>拒绝功能堆砌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核心是“关系构建”，而非简单的功能叠加。</a:t>
            </a:r>
            <a:endParaRPr lang="en-US" sz="11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20" name="Connector 20"/>
          <p:cNvCxnSpPr/>
          <p:nvPr/>
        </p:nvCxnSpPr>
        <p:spPr>
          <a:xfrm rot="5331254">
            <a:off x="8699500" y="6026213"/>
            <a:ext cx="63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A3D91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9271000" y="5715000"/>
            <a:ext cx="241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  <a:t>情感优先驱动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以无屏/低屏交互，实现深层情感陪伴体验。</a:t>
            </a:r>
            <a:endParaRPr lang="en-US" sz="11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  <a:t>商业模式：硬件+订阅+生态，三层收入模型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34290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0800" cy="2159000"/>
          </a:xfrm>
          <a:prstGeom prst="roundRect">
            <a:avLst>
              <a:gd name="adj" fmla="val 0"/>
            </a:avLst>
          </a:prstGeom>
          <a:solidFill>
            <a:srgbClr val="FFC10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7145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  <a:t>01 启动期：MVP验证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14946">
            <a:off x="1016014" y="2216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EE0E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16000" y="2413000"/>
            <a:ext cx="2921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通过免费Web端产品切入市场，低成本验证核心功能与用户留存数据，打磨产品体验，积累首批核心用户画像，为后续硬件发布奠定基础。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381500" y="1524000"/>
            <a:ext cx="34290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4381500" y="1524000"/>
            <a:ext cx="50800" cy="2159000"/>
          </a:xfrm>
          <a:prstGeom prst="roundRect">
            <a:avLst>
              <a:gd name="adj" fmla="val 0"/>
            </a:avLst>
          </a:prstGeom>
          <a:solidFill>
            <a:srgbClr val="FFC107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635500" y="17145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  <a:t>02 成长期：硬件+订阅双轮驱动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14946">
            <a:off x="4635514" y="2216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EE0E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4635500" y="2413000"/>
            <a:ext cx="2921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硬件销售毛利率约30%，叠加20-30元/月订阅服务；目标首年出货10万台，付费转化率达30%，构建稳定的基础现金流与用户基数。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001000" y="1524000"/>
            <a:ext cx="34290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8001000" y="1524000"/>
            <a:ext cx="50800" cy="2159000"/>
          </a:xfrm>
          <a:prstGeom prst="roundRect">
            <a:avLst>
              <a:gd name="adj" fmla="val 0"/>
            </a:avLst>
          </a:prstGeom>
          <a:solidFill>
            <a:srgbClr val="FFC107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255000" y="17145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  <a:t>03 成熟期：生态价值延伸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14946">
            <a:off x="8255014" y="2216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EE0E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8255000" y="2413000"/>
            <a:ext cx="2921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拓展内容付费、IP衍生品及第三方服务分成，深挖用户全生命周期价值，目标将用户LTV提升3倍，实现商业模式的可持续闭环。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4092">
            <a:off x="762004" y="4057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EE0E3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762000" y="4445000"/>
            <a:ext cx="5334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952500" y="4572000"/>
            <a:ext cx="508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  <a:t>用户全链路增长路径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8814">
            <a:off x="952508" y="5010150"/>
            <a:ext cx="495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EE0E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952500" y="5207000"/>
            <a:ext cx="1143000" cy="889000"/>
          </a:xfrm>
          <a:prstGeom prst="roundRect">
            <a:avLst>
              <a:gd name="adj" fmla="val 0"/>
            </a:avLst>
          </a:prstGeom>
          <a:solidFill>
            <a:srgbClr val="FFC107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5270500"/>
            <a:ext cx="254000" cy="2540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1333500" y="52705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  <a:t>种子用户</a:t>
            </a:r>
            <a:br>
              <a:rPr lang="en-US" sz="1200" b="1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1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  <a:t>(内测家庭)</a:t>
            </a:r>
            <a:endParaRPr lang="en-US" sz="1100"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59000" y="5549900"/>
            <a:ext cx="203200" cy="2032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2413000" y="5207000"/>
            <a:ext cx="1143000" cy="889000"/>
          </a:xfrm>
          <a:prstGeom prst="roundRect">
            <a:avLst>
              <a:gd name="adj" fmla="val 0"/>
            </a:avLst>
          </a:prstGeom>
          <a:solidFill>
            <a:srgbClr val="FFC107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76500" y="5270500"/>
            <a:ext cx="254000" cy="2540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2794000" y="52705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  <a:t>KOL引爆</a:t>
            </a:r>
            <a:br>
              <a:rPr lang="en-US" sz="1200" b="1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1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  <a:t>(亲子社区)</a:t>
            </a:r>
            <a:endParaRPr lang="en-US" sz="1100"/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19500" y="5549900"/>
            <a:ext cx="203200" cy="2032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3873500" y="5207000"/>
            <a:ext cx="1206500" cy="889000"/>
          </a:xfrm>
          <a:prstGeom prst="roundRect">
            <a:avLst>
              <a:gd name="adj" fmla="val 0"/>
            </a:avLst>
          </a:prstGeom>
          <a:solidFill>
            <a:srgbClr val="FFC107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937000" y="5270500"/>
            <a:ext cx="254000" cy="2540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4254500" y="5270500"/>
            <a:ext cx="825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  <a:t>裂变分享</a:t>
            </a:r>
            <a:br>
              <a:rPr lang="en-US" sz="1200" b="1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1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  <a:t>(全渠道拓展)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6477000" y="4445000"/>
            <a:ext cx="5207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34"/>
          <p:cNvSpPr/>
          <p:nvPr/>
        </p:nvSpPr>
        <p:spPr>
          <a:xfrm>
            <a:off x="6667500" y="45720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  <a:t>关键财务模型假设</a:t>
            </a:r>
            <a:endParaRPr lang="en-US" sz="1100"/>
          </a:p>
        </p:txBody>
      </p:sp>
      <p:cxnSp>
        <p:nvCxnSpPr>
          <p:cNvPr id="35" name="Connector 35"/>
          <p:cNvCxnSpPr/>
          <p:nvPr/>
        </p:nvCxnSpPr>
        <p:spPr>
          <a:xfrm rot="-9046">
            <a:off x="6667508" y="50101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EE0E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6" name="AutoShape 36"/>
          <p:cNvSpPr/>
          <p:nvPr/>
        </p:nvSpPr>
        <p:spPr>
          <a:xfrm>
            <a:off x="6667500" y="5207000"/>
            <a:ext cx="1524000" cy="8890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7" name="AutoShape 37"/>
          <p:cNvSpPr/>
          <p:nvPr/>
        </p:nvSpPr>
        <p:spPr>
          <a:xfrm>
            <a:off x="6731000" y="5270500"/>
            <a:ext cx="139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硬件单价区间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800" b="1" i="0" u="none" strike="noStrike">
                <a:solidFill>
                  <a:srgbClr val="FFC107"/>
                </a:solidFill>
                <a:latin typeface="Noto Sans SC"/>
                <a:ea typeface="Noto Sans SC"/>
                <a:cs typeface="Noto Sans SC"/>
                <a:sym typeface="Noto Sans SC"/>
              </a:rPr>
              <a:t>¥599-799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8255000" y="5207000"/>
            <a:ext cx="1524000" cy="8890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9" name="AutoShape 39"/>
          <p:cNvSpPr/>
          <p:nvPr/>
        </p:nvSpPr>
        <p:spPr>
          <a:xfrm>
            <a:off x="8318500" y="5270500"/>
            <a:ext cx="139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订阅服务年费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800" b="1" i="0" u="none" strike="noStrike">
                <a:solidFill>
                  <a:srgbClr val="FFC107"/>
                </a:solidFill>
                <a:latin typeface="Noto Sans SC"/>
                <a:ea typeface="Noto Sans SC"/>
                <a:cs typeface="Noto Sans SC"/>
                <a:sym typeface="Noto Sans SC"/>
              </a:rPr>
              <a:t>¥240-360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9842500" y="5207000"/>
            <a:ext cx="1524000" cy="889000"/>
          </a:xfrm>
          <a:prstGeom prst="roundRect">
            <a:avLst>
              <a:gd name="adj" fmla="val 0"/>
            </a:avLst>
          </a:prstGeom>
          <a:solidFill>
            <a:srgbClr val="FFC107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41" name="AutoShape 41"/>
          <p:cNvSpPr/>
          <p:nvPr/>
        </p:nvSpPr>
        <p:spPr>
          <a:xfrm>
            <a:off x="9906000" y="5270500"/>
            <a:ext cx="139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单用户LTV预估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800" b="1" i="0" u="none" strike="noStrike">
                <a:solidFill>
                  <a:srgbClr val="FFC107"/>
                </a:solidFill>
                <a:latin typeface="Noto Sans SC"/>
                <a:ea typeface="Noto Sans SC"/>
                <a:cs typeface="Noto Sans SC"/>
                <a:sym typeface="Noto Sans SC"/>
              </a:rPr>
              <a:t>≈¥825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  <a:t>里程碑与留存目标：用数据说话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2032000" cy="2286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2032000" cy="50800"/>
          </a:xfrm>
          <a:prstGeom prst="roundRect">
            <a:avLst>
              <a:gd name="adj" fmla="val 0"/>
            </a:avLst>
          </a:prstGeom>
          <a:solidFill>
            <a:srgbClr val="0A3D9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889000" y="18415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  <a:t>01 Alpha阶段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89000" y="2349500"/>
            <a:ext cx="177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周期：0-3个月 | Web端MVP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24554">
            <a:off x="889023" y="2787650"/>
            <a:ext cx="177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889000" y="2921000"/>
            <a:ext cx="177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核心指标聚焦跨会话记忆召回率≥70%，用户净推荐值NPS≥50，夯实产品基础体验。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048000" y="1651000"/>
            <a:ext cx="2032000" cy="2286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3048000" y="1651000"/>
            <a:ext cx="2032000" cy="50800"/>
          </a:xfrm>
          <a:prstGeom prst="roundRect">
            <a:avLst>
              <a:gd name="adj" fmla="val 0"/>
            </a:avLst>
          </a:prstGeom>
          <a:solidFill>
            <a:srgbClr val="0A3D9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3175000" y="18415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  <a:t>02 Beta内测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175000" y="2349500"/>
            <a:ext cx="177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周期：4-6个月 | 200+家庭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24554">
            <a:off x="3175023" y="2787650"/>
            <a:ext cx="177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3175000" y="2921000"/>
            <a:ext cx="177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小范围封闭内测，重点验证产品核心价值，核心目标为用户7日留存率</a:t>
            </a:r>
            <a:r>
              <a:rPr lang="en-US" sz="1200" b="1" i="0" u="none" strike="noStrike">
                <a:solidFill>
                  <a:srgbClr val="FFC107"/>
                </a:solidFill>
                <a:latin typeface="Noto Sans SC"/>
                <a:ea typeface="Noto Sans SC"/>
                <a:cs typeface="Noto Sans SC"/>
                <a:sym typeface="Noto Sans SC"/>
              </a:rPr>
              <a:t>≥40%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334000" y="1651000"/>
            <a:ext cx="2032000" cy="2286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5334000" y="1651000"/>
            <a:ext cx="2032000" cy="50800"/>
          </a:xfrm>
          <a:prstGeom prst="roundRect">
            <a:avLst>
              <a:gd name="adj" fmla="val 0"/>
            </a:avLst>
          </a:prstGeom>
          <a:solidFill>
            <a:srgbClr val="0A3D9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5461000" y="18415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  <a:t>03 硬件原型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5461000" y="2349500"/>
            <a:ext cx="177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周期：6-8个月 | 产研定型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24554">
            <a:off x="5461023" y="2787650"/>
            <a:ext cx="177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5461000" y="2921000"/>
            <a:ext cx="177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完成工业设计定稿与供应链对接，输出可量产的硬件原型机，打通软硬结合全链路。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620000" y="1651000"/>
            <a:ext cx="2032000" cy="2286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7620000" y="1651000"/>
            <a:ext cx="2032000" cy="50800"/>
          </a:xfrm>
          <a:prstGeom prst="roundRect">
            <a:avLst>
              <a:gd name="adj" fmla="val 0"/>
            </a:avLst>
          </a:prstGeom>
          <a:solidFill>
            <a:srgbClr val="0A3D9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7747000" y="18415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  <a:t>04 众筹预售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747000" y="2349500"/>
            <a:ext cx="177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周期：9-10个月 | 市场预热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-24554">
            <a:off x="7747023" y="2787650"/>
            <a:ext cx="177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7747000" y="2921000"/>
            <a:ext cx="177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在主流众筹平台开启产品预售，验证市场接受度，目标众筹金额</a:t>
            </a:r>
            <a:r>
              <a:rPr lang="en-US" sz="1200" b="1" i="0" u="none" strike="noStrike">
                <a:solidFill>
                  <a:srgbClr val="FFC107"/>
                </a:solidFill>
                <a:latin typeface="Noto Sans SC"/>
                <a:ea typeface="Noto Sans SC"/>
                <a:cs typeface="Noto Sans SC"/>
                <a:sym typeface="Noto Sans SC"/>
              </a:rPr>
              <a:t>≥100万元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9779000" y="1651000"/>
            <a:ext cx="2032000" cy="2286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9779000" y="1651000"/>
            <a:ext cx="2032000" cy="50800"/>
          </a:xfrm>
          <a:prstGeom prst="roundRect">
            <a:avLst>
              <a:gd name="adj" fmla="val 0"/>
            </a:avLst>
          </a:prstGeom>
          <a:solidFill>
            <a:srgbClr val="0A3D9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9906000" y="18415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  <a:t>05 正式发售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9906000" y="2349500"/>
            <a:ext cx="177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周期：10-12个月 | 规模化</a:t>
            </a:r>
            <a:endParaRPr lang="en-US" sz="1100"/>
          </a:p>
        </p:txBody>
      </p:sp>
      <p:cxnSp>
        <p:nvCxnSpPr>
          <p:cNvPr id="31" name="Connector 31"/>
          <p:cNvCxnSpPr/>
          <p:nvPr/>
        </p:nvCxnSpPr>
        <p:spPr>
          <a:xfrm rot="-24554">
            <a:off x="9906023" y="2787650"/>
            <a:ext cx="177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2" name="AutoShape 32"/>
          <p:cNvSpPr/>
          <p:nvPr/>
        </p:nvSpPr>
        <p:spPr>
          <a:xfrm>
            <a:off x="9906000" y="2921000"/>
            <a:ext cx="177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实现产品规模化量产与全渠道销售布局，达成首年累计销量</a:t>
            </a:r>
            <a:r>
              <a:rPr lang="en-US" sz="1200" b="1" i="0" u="none" strike="noStrike">
                <a:solidFill>
                  <a:srgbClr val="FFC107"/>
                </a:solidFill>
                <a:latin typeface="Noto Sans SC"/>
                <a:ea typeface="Noto Sans SC"/>
                <a:cs typeface="Noto Sans SC"/>
                <a:sym typeface="Noto Sans SC"/>
              </a:rPr>
              <a:t>≥10万台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的市场目标。</a:t>
            </a:r>
            <a:endParaRPr lang="en-US" sz="1100"/>
          </a:p>
        </p:txBody>
      </p:sp>
      <p:cxnSp>
        <p:nvCxnSpPr>
          <p:cNvPr id="33" name="Connector 33"/>
          <p:cNvCxnSpPr/>
          <p:nvPr/>
        </p:nvCxnSpPr>
        <p:spPr>
          <a:xfrm rot="-4092">
            <a:off x="762004" y="4438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" name="AutoShape 34"/>
          <p:cNvSpPr/>
          <p:nvPr/>
        </p:nvSpPr>
        <p:spPr>
          <a:xfrm>
            <a:off x="762000" y="4699000"/>
            <a:ext cx="5207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4889500"/>
            <a:ext cx="355600" cy="355600"/>
          </a:xfrm>
          <a:prstGeom prst="rect">
            <a:avLst/>
          </a:prstGeom>
        </p:spPr>
      </p:pic>
      <p:sp>
        <p:nvSpPr>
          <p:cNvPr id="36" name="AutoShape 36"/>
          <p:cNvSpPr/>
          <p:nvPr/>
        </p:nvSpPr>
        <p:spPr>
          <a:xfrm>
            <a:off x="1460500" y="4851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  <a:t>聚焦“关系质量”，而非单纯“对话时长”</a:t>
            </a:r>
            <a:endParaRPr lang="en-US" sz="1100"/>
          </a:p>
        </p:txBody>
      </p:sp>
      <p:cxnSp>
        <p:nvCxnSpPr>
          <p:cNvPr id="37" name="Connector 37"/>
          <p:cNvCxnSpPr/>
          <p:nvPr/>
        </p:nvCxnSpPr>
        <p:spPr>
          <a:xfrm rot="-9046">
            <a:off x="952508" y="53911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FC10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38" name="AutoShape 38"/>
          <p:cNvSpPr/>
          <p:nvPr/>
        </p:nvSpPr>
        <p:spPr>
          <a:xfrm>
            <a:off x="952500" y="55245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行业普遍痛点是用户留存低、粘性弱，我们跳出“功能比拼”的误区，将核心指标锚定在用户与产品的情感联结深度上，以高质量的关系体验驱动长效留存。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6223000" y="4699000"/>
            <a:ext cx="5207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40" name="Picture 4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13500" y="4889500"/>
            <a:ext cx="355600" cy="355600"/>
          </a:xfrm>
          <a:prstGeom prst="rect">
            <a:avLst/>
          </a:prstGeom>
        </p:spPr>
      </p:pic>
      <p:sp>
        <p:nvSpPr>
          <p:cNvPr id="41" name="AutoShape 41"/>
          <p:cNvSpPr/>
          <p:nvPr/>
        </p:nvSpPr>
        <p:spPr>
          <a:xfrm>
            <a:off x="6921500" y="4851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  <a:t>对标验证：Character.AI 留存约 40%</a:t>
            </a:r>
            <a:endParaRPr lang="en-US" sz="1100"/>
          </a:p>
        </p:txBody>
      </p:sp>
      <p:cxnSp>
        <p:nvCxnSpPr>
          <p:cNvPr id="42" name="Connector 42"/>
          <p:cNvCxnSpPr/>
          <p:nvPr/>
        </p:nvCxnSpPr>
        <p:spPr>
          <a:xfrm rot="-9046">
            <a:off x="6413508" y="53911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FC10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3" name="AutoShape 43"/>
          <p:cNvSpPr/>
          <p:nvPr/>
        </p:nvSpPr>
        <p:spPr>
          <a:xfrm>
            <a:off x="6413500" y="55245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Character.AI 作为成人向、无监管限制的对话产品，7日留存约为40%。我们面向家庭场景，以安全、有价值的互动为核心，具备实现同等甚至更高留存的潜力。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  <a:t>团队：核心能力补齐中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263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A3D91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" name="Connector 16"/>
          <p:cNvCxnSpPr/>
          <p:nvPr/>
        </p:nvCxnSpPr>
        <p:spPr>
          <a:xfrm rot="5390035">
            <a:off x="-1555750" y="3599824"/>
            <a:ext cx="438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A3D91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889000" y="1415415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  <a:t>关键角色招募计划</a:t>
            </a:r>
            <a:endParaRPr lang="en-US" sz="1100"/>
          </a:p>
        </p:txBody>
      </p:sp>
      <p:graphicFrame>
        <p:nvGraphicFramePr>
          <p:cNvPr id="18" name="Table 18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889000" y="2050415"/>
          <a:ext cx="7383780" cy="39497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782445"/>
                <a:gridCol w="3564255"/>
                <a:gridCol w="2037080"/>
              </a:tblGrid>
              <a:tr h="53086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0A3D9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核心角色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3D91">
                        <a:alpha val="8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0A3D9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关键能力要求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3D91">
                        <a:alpha val="8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0A3D9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状态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3D91">
                        <a:alpha val="8000"/>
                      </a:srgbClr>
                    </a:solidFill>
                  </a:tcPr>
                </a:tc>
              </a:tr>
              <a:tr h="1087755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CEO/</a:t>
                      </a:r>
                      <a:r>
                        <a:rPr lang="zh-CN" altLang="en-US" sz="1300" b="1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产品</a:t>
                      </a:r>
                      <a:r>
                        <a:rPr lang="zh-CN" altLang="en-US" sz="1300" b="1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负责人</a:t>
                      </a:r>
                      <a:endParaRPr lang="zh-CN" altLang="en-US" sz="1300" b="1" i="0" u="none" strike="noStrike">
                        <a:solidFill>
                          <a:srgbClr val="374151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endParaRPr>
                    </a:p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丁xx</a:t>
                      </a:r>
                      <a:endParaRPr lang="en-US" sz="1300" b="1" i="0" u="none" strike="noStrike">
                        <a:solidFill>
                          <a:srgbClr val="374151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A3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17000"/>
                        </a:lnSpc>
                        <a:defRPr/>
                      </a:pPr>
                      <a:r>
                        <a:rPr lang="zh-CN" altLang="en-US" sz="1200">
                          <a:sym typeface="+mn-ea"/>
                        </a:rPr>
                        <a:t>小度教育业务负责人</a:t>
                      </a:r>
                      <a:r>
                        <a:rPr lang="en-US" altLang="zh-CN" sz="1200">
                          <a:sym typeface="+mn-ea"/>
                        </a:rPr>
                        <a:t>&amp;</a:t>
                      </a:r>
                      <a:r>
                        <a:rPr lang="zh-CN" altLang="en-US" sz="1200">
                          <a:sym typeface="+mn-ea"/>
                        </a:rPr>
                        <a:t>副总经理</a:t>
                      </a:r>
                      <a:r>
                        <a:rPr lang="en-US" altLang="zh-CN" sz="1200">
                          <a:sym typeface="+mn-ea"/>
                        </a:rPr>
                        <a:t>，</a:t>
                      </a:r>
                      <a:r>
                        <a:rPr lang="zh-CN" altLang="en-US" sz="1200">
                          <a:sym typeface="+mn-ea"/>
                        </a:rPr>
                        <a:t>主导了小度电教相关硬件产品研发</a:t>
                      </a:r>
                      <a:r>
                        <a:rPr lang="en-US" altLang="zh-CN" sz="1200">
                          <a:sym typeface="+mn-ea"/>
                        </a:rPr>
                        <a:t>，</a:t>
                      </a:r>
                      <a:r>
                        <a:rPr lang="zh-CN" altLang="en-US" sz="1200">
                          <a:sym typeface="+mn-ea"/>
                        </a:rPr>
                        <a:t>包括学习机</a:t>
                      </a:r>
                      <a:r>
                        <a:rPr lang="en-US" altLang="zh-CN" sz="1200">
                          <a:sym typeface="+mn-ea"/>
                        </a:rPr>
                        <a:t>、</a:t>
                      </a:r>
                      <a:r>
                        <a:rPr lang="zh-CN" altLang="en-US" sz="1200">
                          <a:sym typeface="+mn-ea"/>
                        </a:rPr>
                        <a:t>学习平板</a:t>
                      </a:r>
                      <a:r>
                        <a:rPr lang="en-US" altLang="zh-CN" sz="1200">
                          <a:sym typeface="+mn-ea"/>
                        </a:rPr>
                        <a:t>、</a:t>
                      </a:r>
                      <a:r>
                        <a:rPr lang="zh-CN" altLang="en-US" sz="1200">
                          <a:sym typeface="+mn-ea"/>
                        </a:rPr>
                        <a:t>词典笔</a:t>
                      </a:r>
                      <a:r>
                        <a:rPr lang="en-US" altLang="zh-CN" sz="1200">
                          <a:sym typeface="+mn-ea"/>
                        </a:rPr>
                        <a:t>、AI</a:t>
                      </a:r>
                      <a:r>
                        <a:rPr lang="zh-CN" altLang="en-US" sz="1200">
                          <a:sym typeface="+mn-ea"/>
                        </a:rPr>
                        <a:t>故事机等</a:t>
                      </a:r>
                      <a:r>
                        <a:rPr lang="en-US" altLang="zh-CN" sz="1200">
                          <a:sym typeface="+mn-ea"/>
                        </a:rPr>
                        <a:t>，</a:t>
                      </a:r>
                      <a:r>
                        <a:rPr lang="zh-CN" altLang="en-US" sz="1200">
                          <a:sym typeface="+mn-ea"/>
                        </a:rPr>
                        <a:t>有</a:t>
                      </a:r>
                      <a:r>
                        <a:rPr lang="en-US" altLang="zh-CN" sz="1200">
                          <a:sym typeface="+mn-ea"/>
                        </a:rPr>
                        <a:t>10</a:t>
                      </a:r>
                      <a:r>
                        <a:rPr lang="zh-CN" altLang="en-US" sz="1200">
                          <a:sym typeface="+mn-ea"/>
                        </a:rPr>
                        <a:t>余年的智能硬件行业经验</a:t>
                      </a:r>
                      <a:r>
                        <a:rPr lang="en-US" altLang="zh-CN" sz="1200">
                          <a:sym typeface="+mn-ea"/>
                        </a:rPr>
                        <a:t>，</a:t>
                      </a:r>
                      <a:r>
                        <a:rPr lang="zh-CN" altLang="en-US" sz="1200">
                          <a:sym typeface="+mn-ea"/>
                        </a:rPr>
                        <a:t>所负责的业务巅峰营收</a:t>
                      </a:r>
                      <a:r>
                        <a:rPr lang="en-US" altLang="zh-CN" sz="1200">
                          <a:sym typeface="+mn-ea"/>
                        </a:rPr>
                        <a:t>15</a:t>
                      </a:r>
                      <a:r>
                        <a:rPr lang="zh-CN" altLang="en-US" sz="1200">
                          <a:sym typeface="+mn-ea"/>
                        </a:rPr>
                        <a:t>亿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A3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200" b="1" i="0" u="none" strike="noStrike">
                          <a:solidFill>
                            <a:srgbClr val="FFC10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已</a:t>
                      </a:r>
                      <a:r>
                        <a:rPr lang="zh-CN" altLang="en-US" sz="1200" b="1" i="0" u="none" strike="noStrike">
                          <a:solidFill>
                            <a:srgbClr val="FFC10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加入</a:t>
                      </a:r>
                      <a:endParaRPr lang="zh-CN" altLang="en-US" sz="1200" b="1" i="0" u="none" strike="noStrike">
                        <a:solidFill>
                          <a:srgbClr val="FFC107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A3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6708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技术负责人</a:t>
                      </a:r>
                      <a:endParaRPr lang="en-US" sz="1300" b="1" i="0" u="none" strike="noStrike">
                        <a:solidFill>
                          <a:srgbClr val="374151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endParaRPr>
                    </a:p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100"/>
                        <a:t>陶</a:t>
                      </a:r>
                      <a:r>
                        <a:rPr lang="en-US" altLang="zh-CN" sz="1100"/>
                        <a:t>xx</a:t>
                      </a:r>
                      <a:endParaRPr lang="en-US" altLang="zh-CN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A3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3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8000"/>
                        </a:lnSpc>
                        <a:defRPr/>
                      </a:pPr>
                      <a:r>
                        <a:rPr lang="zh-CN" altLang="en-US" sz="12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蔚来汽车自动驾驶</a:t>
                      </a:r>
                      <a:r>
                        <a:rPr lang="en-US" altLang="zh-CN" sz="12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AI Infra</a:t>
                      </a:r>
                      <a:r>
                        <a:rPr lang="zh-CN" altLang="en-US" sz="12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技术负责人</a:t>
                      </a:r>
                      <a:endParaRPr lang="en-US" sz="1200" b="0" i="0" u="none" strike="noStrike">
                        <a:solidFill>
                          <a:srgbClr val="4B5563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endParaRPr>
                    </a:p>
                    <a:p>
                      <a:pPr marL="0" indent="0" algn="ctr">
                        <a:lnSpc>
                          <a:spcPct val="108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负责AI架构设计、Mind Engine工程化落地及技术团队管理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A3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3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100"/>
                        <a:t>已</a:t>
                      </a:r>
                      <a:r>
                        <a:rPr lang="zh-CN" altLang="en-US" sz="1100"/>
                        <a:t>加入</a:t>
                      </a:r>
                      <a:endParaRPr lang="zh-CN" alt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A3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3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67715">
                <a:tc>
                  <a:txBody>
                    <a:bodyPr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硬件负责人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A3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3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08000"/>
                        </a:lnSpc>
                        <a:defRPr/>
                      </a:pPr>
                      <a:r>
                        <a:rPr lang="zh-CN" altLang="en-US" sz="12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华为</a:t>
                      </a:r>
                      <a:r>
                        <a:rPr lang="en-US" altLang="zh-CN" sz="12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xxx</a:t>
                      </a:r>
                      <a:endParaRPr lang="en-US" sz="1200" b="0" i="0" u="none" strike="noStrike">
                        <a:solidFill>
                          <a:srgbClr val="4B5563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endParaRPr>
                    </a:p>
                    <a:p>
                      <a:pPr marL="0" indent="0" algn="ctr">
                        <a:lnSpc>
                          <a:spcPct val="108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统筹供应链管理、硬件工业设计与量产交付全流程把控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A3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3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100"/>
                        <a:t>后期加入</a:t>
                      </a:r>
                      <a:endParaRPr lang="zh-CN" alt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A3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3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67715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300" b="1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销售负责人</a:t>
                      </a:r>
                      <a:endParaRPr lang="zh-CN" altLang="en-US" sz="1300" b="1" i="0" u="none" strike="noStrike">
                        <a:solidFill>
                          <a:srgbClr val="374151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A3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3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8000"/>
                        </a:lnSpc>
                        <a:defRPr/>
                      </a:pPr>
                      <a:endParaRPr lang="en-US" sz="1200" b="0" i="0" u="none" strike="noStrike">
                        <a:solidFill>
                          <a:srgbClr val="4B5563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endParaRPr>
                    </a:p>
                    <a:p>
                      <a:pPr marL="0" indent="0" algn="ctr">
                        <a:lnSpc>
                          <a:spcPct val="108000"/>
                        </a:lnSpc>
                        <a:defRPr/>
                      </a:pPr>
                      <a:r>
                        <a:rPr lang="zh-CN" altLang="en-US" sz="12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小度教育兴趣电商</a:t>
                      </a:r>
                      <a:r>
                        <a:rPr lang="zh-CN" altLang="en-US" sz="12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销售负责人</a:t>
                      </a:r>
                      <a:endParaRPr lang="zh-CN" altLang="en-US" sz="1200" b="0" i="0" u="none" strike="noStrike">
                        <a:solidFill>
                          <a:srgbClr val="4B5563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A3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3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100"/>
                        <a:t>后期加入</a:t>
                      </a:r>
                      <a:endParaRPr lang="zh-CN" alt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A3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3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0" name="AutoShape 20"/>
          <p:cNvSpPr/>
          <p:nvPr/>
        </p:nvSpPr>
        <p:spPr>
          <a:xfrm>
            <a:off x="9017000" y="1778000"/>
            <a:ext cx="2730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  <a:t>顶级顾问资源支持</a:t>
            </a:r>
            <a:endParaRPr lang="en-US" sz="1100"/>
          </a:p>
        </p:txBody>
      </p:sp>
      <p:sp>
        <p:nvSpPr>
          <p:cNvPr id="21" name="AutoShape 21"/>
          <p:cNvSpPr/>
          <p:nvPr>
            <p:custDataLst>
              <p:tags r:id="rId2"/>
            </p:custDataLst>
          </p:nvPr>
        </p:nvSpPr>
        <p:spPr>
          <a:xfrm>
            <a:off x="9017000" y="2540000"/>
            <a:ext cx="27305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A3D91">
                <a:alpha val="1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>
            <p:custDataLst>
              <p:tags r:id="rId3"/>
            </p:custDataLst>
          </p:nvPr>
        </p:nvSpPr>
        <p:spPr>
          <a:xfrm>
            <a:off x="9525000" y="2667000"/>
            <a:ext cx="2095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  <a:t>学术顾问：儿童心理专家</a:t>
            </a:r>
            <a:endParaRPr lang="en-US" sz="1100"/>
          </a:p>
        </p:txBody>
      </p:sp>
      <p:cxnSp>
        <p:nvCxnSpPr>
          <p:cNvPr id="24" name="Connector 24"/>
          <p:cNvCxnSpPr/>
          <p:nvPr>
            <p:custDataLst>
              <p:tags r:id="rId4"/>
            </p:custDataLst>
          </p:nvPr>
        </p:nvCxnSpPr>
        <p:spPr>
          <a:xfrm rot="-17629">
            <a:off x="9144016" y="3105150"/>
            <a:ext cx="2476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A3D91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>
            <p:custDataLst>
              <p:tags r:id="rId5"/>
            </p:custDataLst>
          </p:nvPr>
        </p:nvSpPr>
        <p:spPr>
          <a:xfrm>
            <a:off x="9144000" y="3238500"/>
            <a:ext cx="2476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特聘知名高校发展与教育心理学教授，为产品的儿童心理适配、内容设计提供专业学术指导与理论支撑。</a:t>
            </a:r>
            <a:endParaRPr lang="en-US" sz="1100"/>
          </a:p>
        </p:txBody>
      </p:sp>
      <p:sp>
        <p:nvSpPr>
          <p:cNvPr id="26" name="AutoShape 26"/>
          <p:cNvSpPr/>
          <p:nvPr>
            <p:custDataLst>
              <p:tags r:id="rId6"/>
            </p:custDataLst>
          </p:nvPr>
        </p:nvSpPr>
        <p:spPr>
          <a:xfrm>
            <a:off x="9017000" y="4445000"/>
            <a:ext cx="27305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A3D91">
                <a:alpha val="1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>
            <p:custDataLst>
              <p:tags r:id="rId7"/>
            </p:custDataLst>
          </p:nvPr>
        </p:nvSpPr>
        <p:spPr>
          <a:xfrm>
            <a:off x="9525000" y="4572000"/>
            <a:ext cx="2095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  <a:t>产业顾问：硬件/供应链专家</a:t>
            </a:r>
            <a:endParaRPr lang="en-US" sz="1100"/>
          </a:p>
        </p:txBody>
      </p:sp>
      <p:cxnSp>
        <p:nvCxnSpPr>
          <p:cNvPr id="29" name="Connector 29"/>
          <p:cNvCxnSpPr/>
          <p:nvPr>
            <p:custDataLst>
              <p:tags r:id="rId8"/>
            </p:custDataLst>
          </p:nvPr>
        </p:nvCxnSpPr>
        <p:spPr>
          <a:xfrm rot="-17629">
            <a:off x="9144016" y="5010150"/>
            <a:ext cx="2476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A3D91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" name="AutoShape 30"/>
          <p:cNvSpPr/>
          <p:nvPr>
            <p:custDataLst>
              <p:tags r:id="rId9"/>
            </p:custDataLst>
          </p:nvPr>
        </p:nvSpPr>
        <p:spPr>
          <a:xfrm>
            <a:off x="9144000" y="5143500"/>
            <a:ext cx="2476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邀请前头部硬件大厂高管担任顾问，在供应链整合、工业设计及生产制造环节提供实战经验与行业资源对接。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  <a:t>融资需求与用途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FFC107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24765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2476500" cy="50800"/>
          </a:xfrm>
          <a:prstGeom prst="roundRect">
            <a:avLst>
              <a:gd name="adj" fmla="val 0"/>
            </a:avLst>
          </a:prstGeom>
          <a:solidFill>
            <a:srgbClr val="FFC10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1841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97000" y="1841500"/>
            <a:ext cx="1714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  <a:t>融资轮次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2413000"/>
            <a:ext cx="2095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400" b="1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  <a:t>天使</a:t>
            </a:r>
            <a:r>
              <a:rPr lang="en-US" sz="2400" b="1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  <a:t>轮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492500" y="1651000"/>
            <a:ext cx="24765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3492500" y="1651000"/>
            <a:ext cx="2476500" cy="50800"/>
          </a:xfrm>
          <a:prstGeom prst="roundRect">
            <a:avLst>
              <a:gd name="adj" fmla="val 0"/>
            </a:avLst>
          </a:prstGeom>
          <a:solidFill>
            <a:srgbClr val="FFC10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83000" y="18415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127500" y="1841500"/>
            <a:ext cx="1714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  <a:t>融资金额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683000" y="2413000"/>
            <a:ext cx="2095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  <a:t>2000万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223000" y="1651000"/>
            <a:ext cx="24765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223000" y="1651000"/>
            <a:ext cx="2476500" cy="50800"/>
          </a:xfrm>
          <a:prstGeom prst="roundRect">
            <a:avLst>
              <a:gd name="adj" fmla="val 0"/>
            </a:avLst>
          </a:prstGeom>
          <a:solidFill>
            <a:srgbClr val="FFC10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13500" y="18415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858000" y="1841500"/>
            <a:ext cx="1714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  <a:t>投后估值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413500" y="2413000"/>
            <a:ext cx="2095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lvl="0" algn="l">
              <a:lnSpc>
                <a:spcPct val="125000"/>
              </a:lnSpc>
              <a:buSzTx/>
              <a:defRPr/>
            </a:pPr>
            <a:r>
              <a:rPr lang="en-US" sz="2200" b="1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+mn-ea"/>
              </a:rPr>
              <a:t>2</a:t>
            </a:r>
            <a:r>
              <a:rPr lang="en-US" sz="2200" b="1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+mn-ea"/>
              </a:rPr>
              <a:t>亿</a:t>
            </a:r>
            <a:endParaRPr lang="en-US" sz="2200" b="1">
              <a:solidFill>
                <a:srgbClr val="0A3D91"/>
              </a:solidFill>
              <a:latin typeface="Noto Sans SC"/>
              <a:ea typeface="Noto Sans SC"/>
              <a:cs typeface="Noto Sans SC"/>
              <a:sym typeface="+mn-ea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8953500" y="1651000"/>
            <a:ext cx="24765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8953500" y="1651000"/>
            <a:ext cx="2476500" cy="50800"/>
          </a:xfrm>
          <a:prstGeom prst="roundRect">
            <a:avLst>
              <a:gd name="adj" fmla="val 0"/>
            </a:avLst>
          </a:prstGeom>
          <a:solidFill>
            <a:srgbClr val="FFC10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44000" y="18415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9588500" y="1841500"/>
            <a:ext cx="1714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  <a:t>出让股份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144000" y="2413000"/>
            <a:ext cx="2095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  <a:t>15-20%</a:t>
            </a:r>
            <a:endParaRPr lang="en-US" sz="1100"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3556000"/>
            <a:ext cx="4826000" cy="1905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25" name="AutoShape 25"/>
          <p:cNvSpPr/>
          <p:nvPr/>
        </p:nvSpPr>
        <p:spPr>
          <a:xfrm>
            <a:off x="6223000" y="3556000"/>
            <a:ext cx="5207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6350000" y="3683000"/>
            <a:ext cx="4953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  <a:t>资金重点投向核心能力建设：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37.5%用于组建5-8人的核心技术与产品团队，夯实人才基础；25%投入Web端MVP开发，确保3个月内完成产品闭环；剩余资金合理分配于早期用户运营、硬件原型验证及法务行政等必要开支，保障项目全链路有序推进。</a:t>
            </a:r>
            <a:endParaRPr lang="en-US" sz="13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762000" y="5715000"/>
            <a:ext cx="10668000" cy="825500"/>
          </a:xfrm>
          <a:prstGeom prst="roundRect">
            <a:avLst>
              <a:gd name="adj" fmla="val 0"/>
            </a:avLst>
          </a:prstGeom>
          <a:solidFill>
            <a:srgbClr val="0A3D91">
              <a:alpha val="6000"/>
            </a:srgbClr>
          </a:solidFill>
          <a:ln w="12700" cap="flat" cmpd="sng">
            <a:solidFill>
              <a:srgbClr val="0A3D91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52500" y="5880100"/>
            <a:ext cx="406400" cy="4064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1651000" y="5842000"/>
            <a:ext cx="9525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  <a:t>下一轮规划：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启动Pre-A轮融资，目标金额1500-2000万元，预计投后估值1-1.5亿元，资金将专项用于硬件量产落地与全渠道市场推广，快速占领市场份额。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  <a:t>风险与应对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390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762000" y="1778000"/>
            <a:ext cx="10668000" cy="8382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76200" cy="838200"/>
          </a:xfrm>
          <a:prstGeom prst="roundRect">
            <a:avLst>
              <a:gd name="adj" fmla="val 0"/>
            </a:avLst>
          </a:prstGeom>
          <a:solidFill>
            <a:srgbClr val="FFC10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879600"/>
            <a:ext cx="355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  <a:t>技术实现难度高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826000" y="1841500"/>
            <a:ext cx="6350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采取分阶段迭代策略，Alpha版本聚焦记忆与情绪基础能力的落地，人格塑造功能随用户反馈逐步增强，降低初期研发复杂度与试错成本。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2819400"/>
            <a:ext cx="10668000" cy="8382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762000" y="2819400"/>
            <a:ext cx="76200" cy="838200"/>
          </a:xfrm>
          <a:prstGeom prst="roundRect">
            <a:avLst>
              <a:gd name="adj" fmla="val 0"/>
            </a:avLst>
          </a:prstGeom>
          <a:solidFill>
            <a:srgbClr val="FFC10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016000" y="2921000"/>
            <a:ext cx="355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  <a:t>用户留存不达预期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826000" y="2882900"/>
            <a:ext cx="6350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将核心指标从单纯的“打开次数”转向衡量用户与产品的“关系质量”，通过持续收集交互反馈快速迭代功能，深化情感连接以提升长期留存率。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3860800"/>
            <a:ext cx="10668000" cy="8382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762000" y="3860800"/>
            <a:ext cx="76200" cy="838200"/>
          </a:xfrm>
          <a:prstGeom prst="roundRect">
            <a:avLst>
              <a:gd name="adj" fmla="val 0"/>
            </a:avLst>
          </a:prstGeom>
          <a:solidFill>
            <a:srgbClr val="FFC10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1016000" y="3962400"/>
            <a:ext cx="355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  <a:t>大厂入局挤压市场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826000" y="3924300"/>
            <a:ext cx="6350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大厂优势集中在工具属性，而我们深耕情感交互领域；以用户情感数据飞轮构建先发壁垒，形成差异化竞争优势，规避同质化价格与功能战。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851400"/>
            <a:ext cx="5270500" cy="12192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762000" y="4851400"/>
            <a:ext cx="76200" cy="1219200"/>
          </a:xfrm>
          <a:prstGeom prst="roundRect">
            <a:avLst>
              <a:gd name="adj" fmla="val 0"/>
            </a:avLst>
          </a:prstGeom>
          <a:solidFill>
            <a:srgbClr val="FFC10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1016000" y="4953000"/>
            <a:ext cx="476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  <a:t>硬件成本失控风险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坚持“先Web后硬件”的路径，用数据验证需求后再投入硬件研发；采用轻量级芯片方案控制BOM成本，避免盲目投入带来的资源浪费。</a:t>
            </a:r>
            <a:endParaRPr lang="en-US" sz="13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159500" y="4851400"/>
            <a:ext cx="5270500" cy="12192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159500" y="4851400"/>
            <a:ext cx="76200" cy="1219200"/>
          </a:xfrm>
          <a:prstGeom prst="roundRect">
            <a:avLst>
              <a:gd name="adj" fmla="val 0"/>
            </a:avLst>
          </a:prstGeom>
          <a:solidFill>
            <a:srgbClr val="FFC10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413500" y="4953000"/>
            <a:ext cx="476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A3D91"/>
                </a:solidFill>
                <a:latin typeface="Noto Sans SC"/>
                <a:ea typeface="Noto Sans SC"/>
                <a:cs typeface="Noto Sans SC"/>
                <a:sym typeface="Noto Sans SC"/>
              </a:rPr>
              <a:t>行业监管政策变化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已前瞻性按新规设计“单向守护”数据使用模式，确保用户隐私安全与合规；提前完成合规架构搭建，建立行业合规先发优势，规避政策风险。</a:t>
            </a:r>
            <a:endParaRPr lang="en-US" sz="13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81000" y="2032000"/>
            <a:ext cx="1143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3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我们不是在做一个“会聊天的AI”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3429000"/>
            <a:ext cx="1066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我们是在做一个能在时间中维持关系的存在。它不是工具，不是玩具，不是老师，</a:t>
            </a:r>
            <a:br>
              <a:rPr lang="en-US" sz="20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20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而是一个记得你、理解你、始终如一的伙伴。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35000" y="5207000"/>
            <a:ext cx="1092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800" b="1" i="0" u="none" strike="noStrike">
                <a:solidFill>
                  <a:srgbClr val="FFC107"/>
                </a:solidFill>
                <a:latin typeface="Noto Sans SC"/>
                <a:ea typeface="Noto Sans SC"/>
                <a:cs typeface="Noto Sans SC"/>
                <a:sym typeface="Noto Sans SC"/>
              </a:rPr>
              <a:t>行动号召：</a:t>
            </a:r>
            <a:r>
              <a:rPr lang="en-US" sz="16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让我们一起，为2亿中国儿童，打造第一个真正意义上的AI成长伙伴。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6096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[创始人姓名] | [邮箱] | [微信] 期待与您携手同行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540,&quot;left&quot;:60,&quot;top&quot;:0,&quot;width&quot;:840.0006125795666}"/>
</p:tagLst>
</file>

<file path=ppt/tags/tag2.xml><?xml version="1.0" encoding="utf-8"?>
<p:tagLst xmlns:p="http://schemas.openxmlformats.org/presentationml/2006/main">
  <p:tag name="KSO_WM_DIAGRAM_VIRTUALLY_FRAME" val="{&quot;height&quot;:540,&quot;left&quot;:60,&quot;top&quot;:0,&quot;width&quot;:840.0006125795666}"/>
</p:tagLst>
</file>

<file path=ppt/tags/tag3.xml><?xml version="1.0" encoding="utf-8"?>
<p:tagLst xmlns:p="http://schemas.openxmlformats.org/presentationml/2006/main">
  <p:tag name="KSO_WM_DIAGRAM_VIRTUALLY_FRAME" val="{&quot;height&quot;:540,&quot;left&quot;:60,&quot;top&quot;:0,&quot;width&quot;:840.0006125795666}"/>
</p:tagLst>
</file>

<file path=ppt/tags/tag4.xml><?xml version="1.0" encoding="utf-8"?>
<p:tagLst xmlns:p="http://schemas.openxmlformats.org/presentationml/2006/main">
  <p:tag name="KSO_WM_DIAGRAM_VIRTUALLY_FRAME" val="{&quot;height&quot;:540,&quot;left&quot;:60,&quot;top&quot;:0,&quot;width&quot;:840.0006125795666}"/>
</p:tagLst>
</file>

<file path=ppt/tags/tag5.xml><?xml version="1.0" encoding="utf-8"?>
<p:tagLst xmlns:p="http://schemas.openxmlformats.org/presentationml/2006/main">
  <p:tag name="KSO_WM_DIAGRAM_VIRTUALLY_FRAME" val="{&quot;height&quot;:540,&quot;left&quot;:60,&quot;top&quot;:0,&quot;width&quot;:840.0006125795666}"/>
</p:tagLst>
</file>

<file path=ppt/tags/tag6.xml><?xml version="1.0" encoding="utf-8"?>
<p:tagLst xmlns:p="http://schemas.openxmlformats.org/presentationml/2006/main">
  <p:tag name="KSO_WM_DIAGRAM_VIRTUALLY_FRAME" val="{&quot;height&quot;:540,&quot;left&quot;:60,&quot;top&quot;:0,&quot;width&quot;:840.0006125795666}"/>
</p:tagLst>
</file>

<file path=ppt/tags/tag7.xml><?xml version="1.0" encoding="utf-8"?>
<p:tagLst xmlns:p="http://schemas.openxmlformats.org/presentationml/2006/main">
  <p:tag name="KSO_WM_DIAGRAM_VIRTUALLY_FRAME" val="{&quot;height&quot;:540,&quot;left&quot;:60,&quot;top&quot;:0,&quot;width&quot;:840.0006125795666}"/>
</p:tagLst>
</file>

<file path=ppt/tags/tag8.xml><?xml version="1.0" encoding="utf-8"?>
<p:tagLst xmlns:p="http://schemas.openxmlformats.org/presentationml/2006/main">
  <p:tag name="KSO_WM_DIAGRAM_VIRTUALLY_FRAME" val="{&quot;height&quot;:540,&quot;left&quot;:60,&quot;top&quot;:0,&quot;width&quot;:840.0006125795666}"/>
</p:tagLst>
</file>

<file path=ppt/tags/tag9.xml><?xml version="1.0" encoding="utf-8"?>
<p:tagLst xmlns:p="http://schemas.openxmlformats.org/presentationml/2006/main">
  <p:tag name="KSO_WM_DIAGRAM_VIRTUALLY_FRAME" val="{&quot;height&quot;:540,&quot;left&quot;:60,&quot;top&quot;:0,&quot;width&quot;:840.0006125795666}"/>
</p:tagLst>
</file>

<file path=ppt/tags/tag10.xml><?xml version="1.0" encoding="utf-8"?>
<p:tagLst xmlns:p="http://schemas.openxmlformats.org/presentationml/2006/main">
  <p:tag name="KSO_WM_DIAGRAM_VIRTUALLY_FRAME" val="{&quot;height&quot;:540,&quot;left&quot;:60,&quot;top&quot;:0,&quot;width&quot;:840.0006125795666}"/>
</p:tagLst>
</file>

<file path=ppt/tags/tag11.xml><?xml version="1.0" encoding="utf-8"?>
<p:tagLst xmlns:p="http://schemas.openxmlformats.org/presentationml/2006/main">
  <p:tag name="KSO_WM_DIAGRAM_VIRTUALLY_FRAME" val="{&quot;height&quot;:540,&quot;left&quot;:60,&quot;top&quot;:0,&quot;width&quot;:840.0006125795666}"/>
</p:tagLst>
</file>

<file path=ppt/tags/tag12.xml><?xml version="1.0" encoding="utf-8"?>
<p:tagLst xmlns:p="http://schemas.openxmlformats.org/presentationml/2006/main">
  <p:tag name="KSO_WM_DIAGRAM_VIRTUALLY_FRAME" val="{&quot;height&quot;:540,&quot;left&quot;:60,&quot;top&quot;:0,&quot;width&quot;:840.0006125795666}"/>
</p:tagLst>
</file>

<file path=ppt/tags/tag13.xml><?xml version="1.0" encoding="utf-8"?>
<p:tagLst xmlns:p="http://schemas.openxmlformats.org/presentationml/2006/main">
  <p:tag name="KSO_WM_DIAGRAM_VIRTUALLY_FRAME" val="{&quot;height&quot;:540,&quot;left&quot;:60,&quot;top&quot;:0,&quot;width&quot;:840.0006125795666}"/>
</p:tagLst>
</file>

<file path=ppt/tags/tag14.xml><?xml version="1.0" encoding="utf-8"?>
<p:tagLst xmlns:p="http://schemas.openxmlformats.org/presentationml/2006/main">
  <p:tag name="KSO_WM_DIAGRAM_VIRTUALLY_FRAME" val="{&quot;height&quot;:540,&quot;left&quot;:60,&quot;top&quot;:0,&quot;width&quot;:840.0006125795666}"/>
</p:tagLst>
</file>

<file path=ppt/tags/tag15.xml><?xml version="1.0" encoding="utf-8"?>
<p:tagLst xmlns:p="http://schemas.openxmlformats.org/presentationml/2006/main">
  <p:tag name="KSO_WM_DIAGRAM_VIRTUALLY_FRAME" val="{&quot;height&quot;:540,&quot;left&quot;:60,&quot;top&quot;:0,&quot;width&quot;:840.0006125795666}"/>
</p:tagLst>
</file>

<file path=ppt/tags/tag16.xml><?xml version="1.0" encoding="utf-8"?>
<p:tagLst xmlns:p="http://schemas.openxmlformats.org/presentationml/2006/main">
  <p:tag name="KSO_WM_DIAGRAM_VIRTUALLY_FRAME" val="{&quot;height&quot;:540,&quot;left&quot;:60,&quot;top&quot;:0,&quot;width&quot;:840.0006125795666}"/>
</p:tagLst>
</file>

<file path=ppt/tags/tag17.xml><?xml version="1.0" encoding="utf-8"?>
<p:tagLst xmlns:p="http://schemas.openxmlformats.org/presentationml/2006/main">
  <p:tag name="KSO_WM_DIAGRAM_VIRTUALLY_FRAME" val="{&quot;height&quot;:540,&quot;left&quot;:60,&quot;top&quot;:0,&quot;width&quot;:840.0006125795666}"/>
</p:tagLst>
</file>

<file path=ppt/tags/tag18.xml><?xml version="1.0" encoding="utf-8"?>
<p:tagLst xmlns:p="http://schemas.openxmlformats.org/presentationml/2006/main">
  <p:tag name="KSO_WM_DIAGRAM_VIRTUALLY_FRAME" val="{&quot;height&quot;:540,&quot;left&quot;:60,&quot;top&quot;:0,&quot;width&quot;:840.0006125795666}"/>
</p:tagLst>
</file>

<file path=ppt/tags/tag19.xml><?xml version="1.0" encoding="utf-8"?>
<p:tagLst xmlns:p="http://schemas.openxmlformats.org/presentationml/2006/main">
  <p:tag name="KSO_WM_DIAGRAM_VIRTUALLY_FRAME" val="{&quot;height&quot;:540,&quot;left&quot;:60,&quot;top&quot;:0,&quot;width&quot;:840.0006125795666}"/>
</p:tagLst>
</file>

<file path=ppt/tags/tag20.xml><?xml version="1.0" encoding="utf-8"?>
<p:tagLst xmlns:p="http://schemas.openxmlformats.org/presentationml/2006/main">
  <p:tag name="KSO_WM_DIAGRAM_VIRTUALLY_FRAME" val="{&quot;height&quot;:540,&quot;left&quot;:60,&quot;top&quot;:0,&quot;width&quot;:840.0006125795666}"/>
</p:tagLst>
</file>

<file path=ppt/tags/tag21.xml><?xml version="1.0" encoding="utf-8"?>
<p:tagLst xmlns:p="http://schemas.openxmlformats.org/presentationml/2006/main">
  <p:tag name="KSO_WM_DIAGRAM_VIRTUALLY_FRAME" val="{&quot;height&quot;:540,&quot;left&quot;:60,&quot;top&quot;:0,&quot;width&quot;:840.0006125795666}"/>
</p:tagLst>
</file>

<file path=ppt/tags/tag22.xml><?xml version="1.0" encoding="utf-8"?>
<p:tagLst xmlns:p="http://schemas.openxmlformats.org/presentationml/2006/main">
  <p:tag name="KSO_WM_DIAGRAM_VIRTUALLY_FRAME" val="{&quot;height&quot;:540,&quot;left&quot;:60,&quot;top&quot;:0,&quot;width&quot;:840.0006125795666}"/>
</p:tagLst>
</file>

<file path=ppt/tags/tag23.xml><?xml version="1.0" encoding="utf-8"?>
<p:tagLst xmlns:p="http://schemas.openxmlformats.org/presentationml/2006/main">
  <p:tag name="KSO_WM_DIAGRAM_VIRTUALLY_FRAME" val="{&quot;height&quot;:540,&quot;left&quot;:60,&quot;top&quot;:0,&quot;width&quot;:840.0006125795666}"/>
</p:tagLst>
</file>

<file path=ppt/tags/tag24.xml><?xml version="1.0" encoding="utf-8"?>
<p:tagLst xmlns:p="http://schemas.openxmlformats.org/presentationml/2006/main">
  <p:tag name="KSO_WM_DIAGRAM_VIRTUALLY_FRAME" val="{&quot;height&quot;:540,&quot;left&quot;:60,&quot;top&quot;:0,&quot;width&quot;:840.0006125795666}"/>
</p:tagLst>
</file>

<file path=ppt/tags/tag25.xml><?xml version="1.0" encoding="utf-8"?>
<p:tagLst xmlns:p="http://schemas.openxmlformats.org/presentationml/2006/main">
  <p:tag name="KSO_WM_DIAGRAM_VIRTUALLY_FRAME" val="{&quot;height&quot;:540,&quot;left&quot;:60,&quot;top&quot;:0,&quot;width&quot;:840.0006125795666}"/>
</p:tagLst>
</file>

<file path=ppt/tags/tag26.xml><?xml version="1.0" encoding="utf-8"?>
<p:tagLst xmlns:p="http://schemas.openxmlformats.org/presentationml/2006/main">
  <p:tag name="KSO_WM_DIAGRAM_VIRTUALLY_FRAME" val="{&quot;height&quot;:540,&quot;left&quot;:60,&quot;top&quot;:0,&quot;width&quot;:840.0006125795666}"/>
</p:tagLst>
</file>

<file path=ppt/tags/tag27.xml><?xml version="1.0" encoding="utf-8"?>
<p:tagLst xmlns:p="http://schemas.openxmlformats.org/presentationml/2006/main">
  <p:tag name="KSO_WM_DIAGRAM_VIRTUALLY_FRAME" val="{&quot;height&quot;:540,&quot;left&quot;:60,&quot;top&quot;:0,&quot;width&quot;:840.0006125795666}"/>
</p:tagLst>
</file>

<file path=ppt/tags/tag28.xml><?xml version="1.0" encoding="utf-8"?>
<p:tagLst xmlns:p="http://schemas.openxmlformats.org/presentationml/2006/main">
  <p:tag name="KSO_WM_DIAGRAM_VIRTUALLY_FRAME" val="{&quot;height&quot;:540,&quot;left&quot;:60,&quot;top&quot;:0,&quot;width&quot;:840.0006125795666}"/>
</p:tagLst>
</file>

<file path=ppt/tags/tag29.xml><?xml version="1.0" encoding="utf-8"?>
<p:tagLst xmlns:p="http://schemas.openxmlformats.org/presentationml/2006/main">
  <p:tag name="KSO_WM_DIAGRAM_VIRTUALLY_FRAME" val="{&quot;height&quot;:540,&quot;left&quot;:60,&quot;top&quot;:0,&quot;width&quot;:840.0006125795666}"/>
</p:tagLst>
</file>

<file path=ppt/tags/tag30.xml><?xml version="1.0" encoding="utf-8"?>
<p:tagLst xmlns:p="http://schemas.openxmlformats.org/presentationml/2006/main">
  <p:tag name="KSO_WM_DIAGRAM_VIRTUALLY_FRAME" val="{&quot;height&quot;:540,&quot;left&quot;:60,&quot;top&quot;:0,&quot;width&quot;:840.0006125795666}"/>
</p:tagLst>
</file>

<file path=ppt/tags/tag31.xml><?xml version="1.0" encoding="utf-8"?>
<p:tagLst xmlns:p="http://schemas.openxmlformats.org/presentationml/2006/main">
  <p:tag name="TABLE_ENDDRAG_ORIGIN_RECT" val="581*362"/>
  <p:tag name="TABLE_ENDDRAG_RECT" val="70*161*581*362"/>
</p:tagLst>
</file>

<file path=ppt/tags/tag32.xml><?xml version="1.0" encoding="utf-8"?>
<p:tagLst xmlns:p="http://schemas.openxmlformats.org/presentationml/2006/main">
  <p:tag name="KSO_WM_DIAGRAM_VIRTUALLY_FRAME" val="{&quot;height&quot;:293.55,&quot;left&quot;:60,&quot;top&quot;:181.45,&quot;width&quot;:865}"/>
</p:tagLst>
</file>

<file path=ppt/tags/tag33.xml><?xml version="1.0" encoding="utf-8"?>
<p:tagLst xmlns:p="http://schemas.openxmlformats.org/presentationml/2006/main">
  <p:tag name="KSO_WM_DIAGRAM_VIRTUALLY_FRAME" val="{&quot;height&quot;:293.55,&quot;left&quot;:60,&quot;top&quot;:181.45,&quot;width&quot;:865}"/>
</p:tagLst>
</file>

<file path=ppt/tags/tag34.xml><?xml version="1.0" encoding="utf-8"?>
<p:tagLst xmlns:p="http://schemas.openxmlformats.org/presentationml/2006/main">
  <p:tag name="KSO_WM_DIAGRAM_VIRTUALLY_FRAME" val="{&quot;height&quot;:293.55,&quot;left&quot;:60,&quot;top&quot;:181.45,&quot;width&quot;:865}"/>
</p:tagLst>
</file>

<file path=ppt/tags/tag35.xml><?xml version="1.0" encoding="utf-8"?>
<p:tagLst xmlns:p="http://schemas.openxmlformats.org/presentationml/2006/main">
  <p:tag name="KSO_WM_DIAGRAM_VIRTUALLY_FRAME" val="{&quot;height&quot;:293.55,&quot;left&quot;:60,&quot;top&quot;:181.45,&quot;width&quot;:865}"/>
</p:tagLst>
</file>

<file path=ppt/tags/tag36.xml><?xml version="1.0" encoding="utf-8"?>
<p:tagLst xmlns:p="http://schemas.openxmlformats.org/presentationml/2006/main">
  <p:tag name="KSO_WM_DIAGRAM_VIRTUALLY_FRAME" val="{&quot;height&quot;:293.55,&quot;left&quot;:60,&quot;top&quot;:181.45,&quot;width&quot;:865}"/>
</p:tagLst>
</file>

<file path=ppt/tags/tag37.xml><?xml version="1.0" encoding="utf-8"?>
<p:tagLst xmlns:p="http://schemas.openxmlformats.org/presentationml/2006/main">
  <p:tag name="KSO_WM_DIAGRAM_VIRTUALLY_FRAME" val="{&quot;height&quot;:293.55,&quot;left&quot;:60,&quot;top&quot;:181.45,&quot;width&quot;:865}"/>
</p:tagLst>
</file>

<file path=ppt/tags/tag38.xml><?xml version="1.0" encoding="utf-8"?>
<p:tagLst xmlns:p="http://schemas.openxmlformats.org/presentationml/2006/main">
  <p:tag name="KSO_WM_DIAGRAM_VIRTUALLY_FRAME" val="{&quot;height&quot;:293.55,&quot;left&quot;:60,&quot;top&quot;:181.45,&quot;width&quot;:865}"/>
</p:tagLst>
</file>

<file path=ppt/tags/tag39.xml><?xml version="1.0" encoding="utf-8"?>
<p:tagLst xmlns:p="http://schemas.openxmlformats.org/presentationml/2006/main">
  <p:tag name="KSO_WM_DIAGRAM_VIRTUALLY_FRAME" val="{&quot;height&quot;:293.55,&quot;left&quot;:60,&quot;top&quot;:181.45,&quot;width&quot;:865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5232</Words>
  <Application>WPS 演示</Application>
  <PresentationFormat/>
  <Paragraphs>407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35" baseType="lpstr">
      <vt:lpstr>Arial</vt:lpstr>
      <vt:lpstr>宋体</vt:lpstr>
      <vt:lpstr>Wingdings</vt:lpstr>
      <vt:lpstr>Arial</vt:lpstr>
      <vt:lpstr>Noto Sans SC</vt:lpstr>
      <vt:lpstr>Thonburi</vt:lpstr>
      <vt:lpstr>Songti SC</vt:lpstr>
      <vt:lpstr>宋体</vt:lpstr>
      <vt:lpstr>汉仪书宋二KW</vt:lpstr>
      <vt:lpstr>微软雅黑</vt:lpstr>
      <vt:lpstr>汉仪旗黑</vt:lpstr>
      <vt:lpstr>Arial Unicode MS</vt:lpstr>
      <vt:lpstr>Noto Sans SC</vt:lpstr>
      <vt:lpstr>苹方-简</vt:lpstr>
      <vt:lpstr>Apple Color Emoji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微信用户</cp:lastModifiedBy>
  <cp:revision>6</cp:revision>
  <dcterms:created xsi:type="dcterms:W3CDTF">2026-06-28T06:31:49Z</dcterms:created>
  <dcterms:modified xsi:type="dcterms:W3CDTF">2026-06-28T06:31:49Z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{"Label":"1","ContentProducer":"001191110102MACQD9K64010000","ProduceID":"7653571391648566200","ReservedCode1":"","ContentPropagator":"","PropagateID":"","ReservedCode2":""}</vt:lpwstr>
  </property>
  <property fmtid="{D5CDD505-2E9C-101B-9397-08002B2CF9AE}" pid="3" name="KSOProductBuildVer">
    <vt:lpwstr>2052-12.1.25895.25895</vt:lpwstr>
  </property>
  <property fmtid="{D5CDD505-2E9C-101B-9397-08002B2CF9AE}" pid="4" name="ICV">
    <vt:lpwstr>F71BABDC19FA7B19BEA1406AEF4C9EF0_42</vt:lpwstr>
  </property>
</Properties>
</file>