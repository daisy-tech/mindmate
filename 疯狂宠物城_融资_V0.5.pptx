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58" r:id="rId6"/>
    <p:sldId id="260" r:id="rId7"/>
    <p:sldId id="271" r:id="rId8"/>
    <p:sldId id="275" r:id="rId9"/>
    <p:sldId id="262" r:id="rId10"/>
    <p:sldId id="264" r:id="rId11"/>
    <p:sldId id="277" r:id="rId12"/>
    <p:sldId id="265" r:id="rId13"/>
    <p:sldId id="266" r:id="rId14"/>
    <p:sldId id="267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4288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239805" y="0"/>
            <a:ext cx="7048195" cy="10287000"/>
          </a:xfrm>
          <a:prstGeom prst="rect">
            <a:avLst/>
          </a:prstGeom>
          <a:solidFill>
            <a:srgbClr val="EDED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4e954339e028d100677b67e529cb06d3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38098" y="5848502"/>
            <a:ext cx="8572500" cy="9144"/>
          </a:xfrm>
          <a:prstGeom prst="rect">
            <a:avLst/>
          </a:prstGeom>
        </p:spPr>
      </p:pic>
      <p:pic>
        <p:nvPicPr>
          <p:cNvPr id="6" name="Image 2" descr="gen-dedup-2a2a78d286d8638e7da3303339b0579c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>
            <a:fillRect/>
          </a:stretch>
        </p:blipFill>
        <p:spPr>
          <a:xfrm>
            <a:off x="1238098" y="8572500"/>
            <a:ext cx="8572500" cy="9144"/>
          </a:xfrm>
          <a:prstGeom prst="rect">
            <a:avLst/>
          </a:prstGeom>
        </p:spPr>
      </p:pic>
      <p:pic>
        <p:nvPicPr>
          <p:cNvPr id="7" name="Image 3" descr="gen-dedup-292c198aa7f5b9dbeebc2add1bd9d48a.png"/>
          <p:cNvPicPr>
            <a:picLocks noChangeAspect="1"/>
          </p:cNvPicPr>
          <p:nvPr/>
        </p:nvPicPr>
        <p:blipFill>
          <a:blip r:embed="rId4"/>
          <a:srcRect t="-2083" b="-2083"/>
          <a:stretch>
            <a:fillRect/>
          </a:stretch>
        </p:blipFill>
        <p:spPr>
          <a:xfrm>
            <a:off x="11239805" y="0"/>
            <a:ext cx="9144" cy="10287000"/>
          </a:xfrm>
          <a:prstGeom prst="rect">
            <a:avLst/>
          </a:prstGeom>
        </p:spPr>
      </p:pic>
      <p:pic>
        <p:nvPicPr>
          <p:cNvPr id="17" name="Image 8" descr="gen-dedup-44e588de7fa6c03f7f513974a6fe718a.png"/>
          <p:cNvPicPr>
            <a:picLocks noChangeAspect="1"/>
          </p:cNvPicPr>
          <p:nvPr/>
        </p:nvPicPr>
        <p:blipFill>
          <a:blip r:embed="rId5"/>
          <a:srcRect l="-429" r="-429"/>
          <a:stretch>
            <a:fillRect/>
          </a:stretch>
        </p:blipFill>
        <p:spPr>
          <a:xfrm>
            <a:off x="1238098" y="1429207"/>
            <a:ext cx="609905" cy="28346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238098" y="1714500"/>
            <a:ext cx="85725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疯狂宠物城 · AI 陪伴平台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238098" y="2495398"/>
            <a:ext cx="9144000" cy="1905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疯狂宠物城：让AI角色</a:t>
            </a:r>
            <a:endParaRPr lang="en-US" sz="4500" dirty="0"/>
          </a:p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真正生活在世界里的陪伴平台</a:t>
            </a:r>
            <a:endParaRPr lang="en-US" sz="4500" dirty="0"/>
          </a:p>
        </p:txBody>
      </p:sp>
      <p:sp>
        <p:nvSpPr>
          <p:cNvPr id="21" name="Text 10"/>
          <p:cNvSpPr txBox="1"/>
          <p:nvPr/>
        </p:nvSpPr>
        <p:spPr>
          <a:xfrm>
            <a:off x="1238098" y="4608576"/>
            <a:ext cx="8382305" cy="8019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用虚拟世界、关系智能与现实硬件入口，做新</a:t>
            </a:r>
            <a:endParaRPr lang="en-US" sz="1950" dirty="0"/>
          </a:p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一代AI陪伴产品</a:t>
            </a:r>
            <a:endParaRPr lang="en-US" sz="1950" dirty="0"/>
          </a:p>
        </p:txBody>
      </p:sp>
      <p:sp>
        <p:nvSpPr>
          <p:cNvPr id="22" name="Text 11"/>
          <p:cNvSpPr txBox="1"/>
          <p:nvPr/>
        </p:nvSpPr>
        <p:spPr>
          <a:xfrm>
            <a:off x="1238098" y="6229807"/>
            <a:ext cx="181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125" dirty="0"/>
          </a:p>
        </p:txBody>
      </p:sp>
      <p:sp>
        <p:nvSpPr>
          <p:cNvPr id="23" name="Text 12"/>
          <p:cNvSpPr txBox="1"/>
          <p:nvPr/>
        </p:nvSpPr>
        <p:spPr>
          <a:xfrm>
            <a:off x="1657807" y="6229807"/>
            <a:ext cx="5247693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65"/>
              </a:lnSpc>
              <a:buNone/>
            </a:pPr>
            <a:r>
              <a:rPr lang="en-US" sz="1575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打造持续存在、持续行动、持续关系的AI角色世界</a:t>
            </a:r>
            <a:endParaRPr lang="en-US" sz="1575" dirty="0"/>
          </a:p>
        </p:txBody>
      </p:sp>
      <p:sp>
        <p:nvSpPr>
          <p:cNvPr id="24" name="Text 13"/>
          <p:cNvSpPr txBox="1"/>
          <p:nvPr/>
        </p:nvSpPr>
        <p:spPr>
          <a:xfrm>
            <a:off x="1238098" y="6915607"/>
            <a:ext cx="181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125" dirty="0"/>
          </a:p>
        </p:txBody>
      </p:sp>
      <p:sp>
        <p:nvSpPr>
          <p:cNvPr id="25" name="Text 14"/>
          <p:cNvSpPr txBox="1"/>
          <p:nvPr/>
        </p:nvSpPr>
        <p:spPr>
          <a:xfrm>
            <a:off x="1657807" y="6915607"/>
            <a:ext cx="5247693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65"/>
              </a:lnSpc>
              <a:buNone/>
            </a:pPr>
            <a:r>
              <a:rPr lang="en-US" sz="1575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核心形态 = 虚拟AI角色 + 长期关系系统 + 现实硬件入口</a:t>
            </a:r>
            <a:endParaRPr lang="en-US" sz="1575" dirty="0"/>
          </a:p>
        </p:txBody>
      </p:sp>
      <p:sp>
        <p:nvSpPr>
          <p:cNvPr id="26" name="Text 15"/>
          <p:cNvSpPr txBox="1"/>
          <p:nvPr/>
        </p:nvSpPr>
        <p:spPr>
          <a:xfrm>
            <a:off x="1238098" y="7601407"/>
            <a:ext cx="18105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125" dirty="0"/>
          </a:p>
        </p:txBody>
      </p:sp>
      <p:sp>
        <p:nvSpPr>
          <p:cNvPr id="27" name="Text 16"/>
          <p:cNvSpPr txBox="1"/>
          <p:nvPr/>
        </p:nvSpPr>
        <p:spPr>
          <a:xfrm>
            <a:off x="1657807" y="7601407"/>
            <a:ext cx="5247693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65"/>
              </a:lnSpc>
              <a:buNone/>
            </a:pPr>
            <a:r>
              <a:rPr lang="en-US" sz="1575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商业目标是数字世界与实体终端协同的长期陪伴平台</a:t>
            </a:r>
            <a:endParaRPr lang="en-US" sz="1575" dirty="0"/>
          </a:p>
        </p:txBody>
      </p:sp>
      <p:sp>
        <p:nvSpPr>
          <p:cNvPr id="28" name="Text 17"/>
          <p:cNvSpPr txBox="1"/>
          <p:nvPr/>
        </p:nvSpPr>
        <p:spPr>
          <a:xfrm>
            <a:off x="1238098" y="8858707"/>
            <a:ext cx="8572500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虚拟AI角色 · 长期关系系统 · 现实硬件入口</a:t>
            </a:r>
            <a:endParaRPr lang="en-US" sz="1200" dirty="0"/>
          </a:p>
        </p:txBody>
      </p:sp>
      <p:sp>
        <p:nvSpPr>
          <p:cNvPr id="40" name="TextBox 40"/>
          <p:cNvSpPr txBox="1"/>
          <p:nvPr/>
        </p:nvSpPr>
        <p:spPr>
          <a:xfrm>
            <a:off x="13330238" y="2286000"/>
            <a:ext cx="2857500" cy="714375"/>
          </a:xfrm>
        </p:spPr>
        <p:txBody>
          <a:bodyPr wrap="square" rtlCol="0"/>
          <a:lstStyle/>
          <a:p>
            <a:pPr algn="ctr"/>
            <a:r>
              <a:rPr sz="1500" b="1">
                <a:solidFill>
                  <a:srgbClr val="16181D"/>
                </a:solidFill>
              </a:rPr>
              <a:t>虚拟世界</a:t>
            </a:r>
            <a:endParaRPr sz="1500" b="1">
              <a:solidFill>
                <a:srgbClr val="16181D"/>
              </a:solidFill>
            </a:endParaRPr>
          </a:p>
          <a:p>
            <a:pPr algn="ctr"/>
            <a:r>
              <a:rPr sz="1000">
                <a:solidFill>
                  <a:srgbClr val="5C5C52"/>
                </a:solidFill>
              </a:rPr>
              <a:t>持续运行的世界</a:t>
            </a:r>
            <a:endParaRPr sz="1000">
              <a:solidFill>
                <a:srgbClr val="5C5C52"/>
              </a:solidFill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644313" y="7829550"/>
            <a:ext cx="2571750" cy="714375"/>
          </a:xfrm>
        </p:spPr>
        <p:txBody>
          <a:bodyPr wrap="square" rtlCol="0"/>
          <a:lstStyle/>
          <a:p>
            <a:pPr algn="ctr"/>
            <a:r>
              <a:rPr sz="1500" b="1">
                <a:solidFill>
                  <a:srgbClr val="16181D"/>
                </a:solidFill>
              </a:rPr>
              <a:t>关系智能</a:t>
            </a:r>
            <a:endParaRPr sz="1500" b="1">
              <a:solidFill>
                <a:srgbClr val="16181D"/>
              </a:solidFill>
            </a:endParaRPr>
          </a:p>
          <a:p>
            <a:pPr algn="ctr"/>
            <a:r>
              <a:rPr sz="1000">
                <a:solidFill>
                  <a:srgbClr val="5C5C52"/>
                </a:solidFill>
              </a:rPr>
              <a:t>记忆·情绪·人格</a:t>
            </a:r>
            <a:endParaRPr sz="1000">
              <a:solidFill>
                <a:srgbClr val="5C5C52"/>
              </a:solidFill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5301913" y="7829550"/>
            <a:ext cx="2571750" cy="714375"/>
          </a:xfrm>
        </p:spPr>
        <p:txBody>
          <a:bodyPr wrap="square" rtlCol="0"/>
          <a:lstStyle/>
          <a:p>
            <a:pPr algn="ctr"/>
            <a:r>
              <a:rPr sz="1500" b="1">
                <a:solidFill>
                  <a:srgbClr val="16181D"/>
                </a:solidFill>
              </a:rPr>
              <a:t>硬件入口</a:t>
            </a:r>
            <a:endParaRPr sz="1500" b="1">
              <a:solidFill>
                <a:srgbClr val="16181D"/>
              </a:solidFill>
            </a:endParaRPr>
          </a:p>
          <a:p>
            <a:pPr algn="ctr"/>
            <a:r>
              <a:rPr sz="1000">
                <a:solidFill>
                  <a:srgbClr val="5C5C52"/>
                </a:solidFill>
              </a:rPr>
              <a:t>吧唧·桌面实体</a:t>
            </a:r>
            <a:endParaRPr sz="1000">
              <a:solidFill>
                <a:srgbClr val="5C5C52"/>
              </a:solidFill>
            </a:endParaRPr>
          </a:p>
        </p:txBody>
      </p:sp>
      <p:sp>
        <p:nvSpPr>
          <p:cNvPr id="43" name="Shape 43"/>
          <p:cNvSpPr/>
          <p:nvPr/>
        </p:nvSpPr>
        <p:spPr>
          <a:xfrm>
            <a:off x="12472988" y="3143250"/>
            <a:ext cx="4572000" cy="4572000"/>
          </a:xfrm>
          <a:prstGeom prst="ellipse">
            <a:avLst/>
          </a:prstGeom>
          <a:solidFill>
            <a:srgbClr val="E8C9A3"/>
          </a:solidFill>
        </p:spPr>
        <p:txBody>
          <a:bodyPr wrap="square" rtlCol="0"/>
          <a:lstStyle/>
          <a:p/>
        </p:txBody>
      </p:sp>
      <p:sp>
        <p:nvSpPr>
          <p:cNvPr id="47" name="Shape 47"/>
          <p:cNvSpPr/>
          <p:nvPr/>
        </p:nvSpPr>
        <p:spPr>
          <a:xfrm>
            <a:off x="13015913" y="3686175"/>
            <a:ext cx="3486150" cy="3486150"/>
          </a:xfrm>
          <a:prstGeom prst="ellipse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  <p:sp>
        <p:nvSpPr>
          <p:cNvPr id="48" name="Shape 48"/>
          <p:cNvSpPr/>
          <p:nvPr/>
        </p:nvSpPr>
        <p:spPr>
          <a:xfrm>
            <a:off x="13330238" y="4000500"/>
            <a:ext cx="2857500" cy="2857500"/>
          </a:xfrm>
          <a:prstGeom prst="ellipse">
            <a:avLst/>
          </a:prstGeom>
          <a:solidFill>
            <a:srgbClr val="5A6470"/>
          </a:solidFill>
        </p:spPr>
        <p:txBody>
          <a:bodyPr wrap="square" rtlCol="0"/>
          <a:lstStyle/>
          <a:p>
            <a:pPr algn="ctr"/>
          </a:p>
          <a:p>
            <a:pPr algn="ctr"/>
          </a:p>
          <a:p>
            <a:pPr algn="ctr"/>
          </a:p>
          <a:p>
            <a:pPr algn="ctr"/>
            <a:r>
              <a:rPr sz="2200" b="1">
                <a:solidFill>
                  <a:srgbClr val="FFFFFF"/>
                </a:solidFill>
              </a:rPr>
              <a:t>Agent角色</a:t>
            </a:r>
            <a:endParaRPr sz="2200" b="1">
              <a:solidFill>
                <a:srgbClr val="FFFFFF"/>
              </a:solidFill>
            </a:endParaRPr>
          </a:p>
          <a:p>
            <a:pPr algn="ctr"/>
          </a:p>
          <a:p>
            <a:pPr algn="ctr"/>
            <a:r>
              <a:rPr sz="1100">
                <a:solidFill>
                  <a:srgbClr val="DCDCD4"/>
                </a:solidFill>
              </a:rPr>
              <a:t>持续存在 · 持续行动</a:t>
            </a:r>
            <a:endParaRPr sz="1100">
              <a:solidFill>
                <a:srgbClr val="DCDCD4"/>
              </a:solidFill>
            </a:endParaRPr>
          </a:p>
        </p:txBody>
      </p:sp>
      <p:sp>
        <p:nvSpPr>
          <p:cNvPr id="49" name="Shape 49"/>
          <p:cNvSpPr/>
          <p:nvPr/>
        </p:nvSpPr>
        <p:spPr>
          <a:xfrm>
            <a:off x="14730413" y="3143250"/>
            <a:ext cx="57150" cy="857250"/>
          </a:xfrm>
          <a:prstGeom prst="rect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  <p:sp>
        <p:nvSpPr>
          <p:cNvPr id="50" name="Shape 50"/>
          <p:cNvSpPr/>
          <p:nvPr/>
        </p:nvSpPr>
        <p:spPr>
          <a:xfrm rot="-3600000">
            <a:off x="14730413" y="6429375"/>
            <a:ext cx="57150" cy="857250"/>
          </a:xfrm>
          <a:prstGeom prst="rect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  <p:sp>
        <p:nvSpPr>
          <p:cNvPr id="51" name="Shape 51"/>
          <p:cNvSpPr/>
          <p:nvPr/>
        </p:nvSpPr>
        <p:spPr>
          <a:xfrm rot="3600000">
            <a:off x="14730413" y="6429375"/>
            <a:ext cx="57150" cy="857250"/>
          </a:xfrm>
          <a:prstGeom prst="rect">
            <a:avLst/>
          </a:prstGeom>
          <a:solidFill>
            <a:srgbClr val="EDEDE7"/>
          </a:solidFill>
        </p:spPr>
        <p:txBody>
          <a:bodyPr wrap="square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AI陪伴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不等于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对话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智能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不是在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做"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长期关系型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陪伴"。</a:t>
            </a:r>
            <a:endParaRPr lang="en-US" sz="1725" dirty="0"/>
          </a:p>
        </p:txBody>
      </p:sp>
      <p:pic>
        <p:nvPicPr>
          <p:cNvPr id="55" name="Picture 55"/>
          <p:cNvPicPr/>
          <p:nvPr/>
        </p:nvPicPr>
        <p:blipFill>
          <a:blip r:embed="rId3"/>
          <a:stretch>
            <a:fillRect/>
          </a:stretch>
        </p:blipFill>
        <p:spPr>
          <a:xfrm>
            <a:off x="1238250" y="2800985"/>
            <a:ext cx="7651750" cy="4292600"/>
          </a:xfrm>
          <a:prstGeom prst="rect">
            <a:avLst/>
          </a:prstGeom>
        </p:spPr>
      </p:pic>
      <p:grpSp>
        <p:nvGrpSpPr>
          <p:cNvPr id="76" name="组合 75"/>
          <p:cNvGrpSpPr/>
          <p:nvPr/>
        </p:nvGrpSpPr>
        <p:grpSpPr>
          <a:xfrm>
            <a:off x="9444355" y="2799715"/>
            <a:ext cx="7970520" cy="3435985"/>
            <a:chOff x="14433" y="4411"/>
            <a:chExt cx="11399" cy="5679"/>
          </a:xfrm>
        </p:grpSpPr>
        <p:sp>
          <p:nvSpPr>
            <p:cNvPr id="5" name="AutoShape 4"/>
            <p:cNvSpPr/>
            <p:nvPr/>
          </p:nvSpPr>
          <p:spPr>
            <a:xfrm>
              <a:off x="14433" y="4411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6" name="AutoShape 5"/>
            <p:cNvSpPr/>
            <p:nvPr/>
          </p:nvSpPr>
          <p:spPr>
            <a:xfrm>
              <a:off x="14433" y="4411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7" name="AutoShape 6"/>
            <p:cNvSpPr/>
            <p:nvPr/>
          </p:nvSpPr>
          <p:spPr>
            <a:xfrm>
              <a:off x="14732" y="4598"/>
              <a:ext cx="4721" cy="103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&lt;20%</a:t>
              </a:r>
              <a:endParaRPr lang="en-US" sz="3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" name="AutoShape 7"/>
            <p:cNvSpPr/>
            <p:nvPr/>
          </p:nvSpPr>
          <p:spPr>
            <a:xfrm>
              <a:off x="14733" y="5669"/>
              <a:ext cx="4720" cy="52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三日留存率</a:t>
              </a:r>
              <a:endPara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9" name="AutoShape 8"/>
            <p:cNvSpPr/>
            <p:nvPr/>
          </p:nvSpPr>
          <p:spPr>
            <a:xfrm>
              <a:off x="14733" y="6229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当前AI陪伴市场看似繁荣,但用户平均与单个AI角色建立联系的时长仅为5-7天,三日留存率普遍跌破20%。</a:t>
              </a:r>
              <a:endPara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0" name="AutoShape 9"/>
            <p:cNvSpPr/>
            <p:nvPr/>
          </p:nvSpPr>
          <p:spPr>
            <a:xfrm>
              <a:off x="20511" y="4414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11" name="AutoShape 10"/>
            <p:cNvSpPr/>
            <p:nvPr/>
          </p:nvSpPr>
          <p:spPr>
            <a:xfrm>
              <a:off x="20511" y="4414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12" name="AutoShape 11"/>
            <p:cNvSpPr/>
            <p:nvPr/>
          </p:nvSpPr>
          <p:spPr>
            <a:xfrm>
              <a:off x="20811" y="4601"/>
              <a:ext cx="4721" cy="123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5-7天</a:t>
              </a:r>
              <a:endParaRPr lang="en-US" sz="3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3" name="AutoShape 12"/>
            <p:cNvSpPr/>
            <p:nvPr/>
          </p:nvSpPr>
          <p:spPr>
            <a:xfrm>
              <a:off x="20811" y="5638"/>
              <a:ext cx="4720" cy="52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平均关系时长</a:t>
              </a:r>
              <a:endPara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4" name="AutoShape 13"/>
            <p:cNvSpPr/>
            <p:nvPr/>
          </p:nvSpPr>
          <p:spPr>
            <a:xfrm>
              <a:off x="20811" y="6198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产品普遍困于"高级工具"定位,内核是任务驱动而非关系驱动。用户需要的是能记住、在乎并共同成长的伙伴。</a:t>
              </a:r>
              <a:endPara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5" name="AutoShape 14"/>
            <p:cNvSpPr/>
            <p:nvPr/>
          </p:nvSpPr>
          <p:spPr>
            <a:xfrm>
              <a:off x="14433" y="7585"/>
              <a:ext cx="11399" cy="241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16" name="AutoShape 15"/>
            <p:cNvSpPr/>
            <p:nvPr/>
          </p:nvSpPr>
          <p:spPr>
            <a:xfrm>
              <a:off x="14433" y="7585"/>
              <a:ext cx="11399" cy="12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600"/>
            </a:p>
          </p:txBody>
        </p:sp>
        <p:sp>
          <p:nvSpPr>
            <p:cNvPr id="17" name="AutoShape 16"/>
            <p:cNvSpPr/>
            <p:nvPr/>
          </p:nvSpPr>
          <p:spPr>
            <a:xfrm>
              <a:off x="14733" y="7772"/>
              <a:ext cx="10113" cy="966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三大缺失</a:t>
              </a:r>
              <a:endParaRPr lang="en-US" sz="3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8" name="AutoShape 17"/>
            <p:cNvSpPr/>
            <p:nvPr/>
          </p:nvSpPr>
          <p:spPr>
            <a:xfrm>
              <a:off x="14733" y="8805"/>
              <a:ext cx="10113" cy="4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记忆·情感·</a:t>
              </a:r>
              <a:r>
                <a:rPr lang="zh-CN" altLang="en-US" sz="16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性格</a:t>
              </a:r>
              <a:endParaRPr lang="zh-CN" alt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9" name="AutoShape 18"/>
            <p:cNvSpPr/>
            <p:nvPr/>
          </p:nvSpPr>
          <p:spPr>
            <a:xfrm>
              <a:off x="14733" y="9365"/>
              <a:ext cx="10113" cy="725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对话局限于单次会话,无法跨时间延续;仅能通过关键词识别情感,无法做到同频;AI被设计成完美客体,关系退化为服务。</a:t>
              </a:r>
              <a:endPara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886460" y="7603490"/>
            <a:ext cx="16723360" cy="2583815"/>
            <a:chOff x="1200" y="2800"/>
            <a:chExt cx="17660" cy="6228"/>
          </a:xfrm>
        </p:grpSpPr>
        <p:sp>
          <p:nvSpPr>
            <p:cNvPr id="21" name="AutoShape 4"/>
            <p:cNvSpPr/>
            <p:nvPr/>
          </p:nvSpPr>
          <p:spPr>
            <a:xfrm>
              <a:off x="12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2" name="AutoShape 5"/>
            <p:cNvSpPr/>
            <p:nvPr/>
          </p:nvSpPr>
          <p:spPr>
            <a:xfrm>
              <a:off x="12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3" name="AutoShape 6"/>
            <p:cNvSpPr/>
            <p:nvPr/>
          </p:nvSpPr>
          <p:spPr>
            <a:xfrm>
              <a:off x="12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L0</a:t>
              </a:r>
              <a:endParaRPr lang="en-US" sz="1100"/>
            </a:p>
          </p:txBody>
        </p:sp>
        <p:sp>
          <p:nvSpPr>
            <p:cNvPr id="24" name="AutoShape 7"/>
            <p:cNvSpPr/>
            <p:nvPr/>
          </p:nvSpPr>
          <p:spPr>
            <a:xfrm>
              <a:off x="12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工具型对话</a:t>
              </a:r>
              <a:endParaRPr lang="en-US" sz="1100"/>
            </a:p>
          </p:txBody>
        </p:sp>
        <p:sp>
          <p:nvSpPr>
            <p:cNvPr id="25" name="AutoShape 8"/>
            <p:cNvSpPr/>
            <p:nvPr/>
          </p:nvSpPr>
          <p:spPr>
            <a:xfrm>
              <a:off x="12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无陪伴</a:t>
              </a:r>
              <a:endParaRPr lang="en-US" sz="1100"/>
            </a:p>
          </p:txBody>
        </p:sp>
        <p:cxnSp>
          <p:nvCxnSpPr>
            <p:cNvPr id="27" name="Connector 9"/>
            <p:cNvCxnSpPr/>
            <p:nvPr/>
          </p:nvCxnSpPr>
          <p:spPr>
            <a:xfrm rot="-25277">
              <a:off x="15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AutoShape 10"/>
            <p:cNvSpPr/>
            <p:nvPr/>
          </p:nvSpPr>
          <p:spPr>
            <a:xfrm>
              <a:off x="13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纯粹的信息处理工具,任务驱动,无记忆,无个性,无情感。</a:t>
              </a:r>
              <a:endParaRPr lang="en-US" sz="1100"/>
            </a:p>
          </p:txBody>
        </p:sp>
        <p:sp>
          <p:nvSpPr>
            <p:cNvPr id="29" name="AutoShape 11"/>
            <p:cNvSpPr/>
            <p:nvPr/>
          </p:nvSpPr>
          <p:spPr>
            <a:xfrm>
              <a:off x="1360" y="6900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30" name="AutoShape 12"/>
            <p:cNvSpPr/>
            <p:nvPr/>
          </p:nvSpPr>
          <p:spPr>
            <a:xfrm>
              <a:off x="1360" y="7340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基础版ChatGPT、传统客服机器人。</a:t>
              </a:r>
              <a:endParaRPr lang="en-US" sz="1100"/>
            </a:p>
          </p:txBody>
        </p:sp>
        <p:sp>
          <p:nvSpPr>
            <p:cNvPr id="31" name="AutoShape 13"/>
            <p:cNvSpPr/>
            <p:nvPr/>
          </p:nvSpPr>
          <p:spPr>
            <a:xfrm>
              <a:off x="48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2" name="AutoShape 14"/>
            <p:cNvSpPr/>
            <p:nvPr/>
          </p:nvSpPr>
          <p:spPr>
            <a:xfrm>
              <a:off x="48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3" name="AutoShape 15"/>
            <p:cNvSpPr/>
            <p:nvPr/>
          </p:nvSpPr>
          <p:spPr>
            <a:xfrm>
              <a:off x="48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L1</a:t>
              </a:r>
              <a:endParaRPr lang="en-US" sz="1100"/>
            </a:p>
          </p:txBody>
        </p:sp>
        <p:sp>
          <p:nvSpPr>
            <p:cNvPr id="34" name="AutoShape 16"/>
            <p:cNvSpPr/>
            <p:nvPr/>
          </p:nvSpPr>
          <p:spPr>
            <a:xfrm>
              <a:off x="48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单次会话陪伴</a:t>
              </a:r>
              <a:endParaRPr lang="en-US" sz="1100"/>
            </a:p>
          </p:txBody>
        </p:sp>
        <p:sp>
          <p:nvSpPr>
            <p:cNvPr id="35" name="AutoShape 17"/>
            <p:cNvSpPr/>
            <p:nvPr/>
          </p:nvSpPr>
          <p:spPr>
            <a:xfrm>
              <a:off x="48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会话级共情</a:t>
              </a:r>
              <a:endParaRPr lang="en-US" sz="1100"/>
            </a:p>
          </p:txBody>
        </p:sp>
        <p:cxnSp>
          <p:nvCxnSpPr>
            <p:cNvPr id="36" name="Connector 18"/>
            <p:cNvCxnSpPr/>
            <p:nvPr/>
          </p:nvCxnSpPr>
          <p:spPr>
            <a:xfrm rot="-25277">
              <a:off x="51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" name="AutoShape 19"/>
            <p:cNvSpPr/>
            <p:nvPr/>
          </p:nvSpPr>
          <p:spPr>
            <a:xfrm>
              <a:off x="49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能在单次对话中营造"被陪伴"感,但关系无法跨会话延续,存在"金鱼记忆"。</a:t>
              </a:r>
              <a:endParaRPr lang="en-US" sz="1100"/>
            </a:p>
          </p:txBody>
        </p:sp>
        <p:sp>
          <p:nvSpPr>
            <p:cNvPr id="38" name="AutoShape 20"/>
            <p:cNvSpPr/>
            <p:nvPr/>
          </p:nvSpPr>
          <p:spPr>
            <a:xfrm>
              <a:off x="4960" y="6900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39" name="AutoShape 21"/>
            <p:cNvSpPr/>
            <p:nvPr/>
          </p:nvSpPr>
          <p:spPr>
            <a:xfrm>
              <a:off x="4960" y="7340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初代Inflection Pi、主流智能音箱的基础闲聊模式。</a:t>
              </a:r>
              <a:endParaRPr lang="en-US" sz="1100"/>
            </a:p>
          </p:txBody>
        </p:sp>
        <p:sp>
          <p:nvSpPr>
            <p:cNvPr id="40" name="AutoShape 22"/>
            <p:cNvSpPr/>
            <p:nvPr/>
          </p:nvSpPr>
          <p:spPr>
            <a:xfrm>
              <a:off x="84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1" name="AutoShape 23"/>
            <p:cNvSpPr/>
            <p:nvPr/>
          </p:nvSpPr>
          <p:spPr>
            <a:xfrm>
              <a:off x="84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2" name="AutoShape 24"/>
            <p:cNvSpPr/>
            <p:nvPr/>
          </p:nvSpPr>
          <p:spPr>
            <a:xfrm>
              <a:off x="84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L2</a:t>
              </a:r>
              <a:endParaRPr lang="en-US" sz="1100"/>
            </a:p>
          </p:txBody>
        </p:sp>
        <p:sp>
          <p:nvSpPr>
            <p:cNvPr id="43" name="AutoShape 25"/>
            <p:cNvSpPr/>
            <p:nvPr/>
          </p:nvSpPr>
          <p:spPr>
            <a:xfrm>
              <a:off x="84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角色扮演陪伴</a:t>
              </a:r>
              <a:endParaRPr lang="en-US" sz="1100"/>
            </a:p>
          </p:txBody>
        </p:sp>
        <p:sp>
          <p:nvSpPr>
            <p:cNvPr id="44" name="AutoShape 26"/>
            <p:cNvSpPr/>
            <p:nvPr/>
          </p:nvSpPr>
          <p:spPr>
            <a:xfrm>
              <a:off x="84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剧本式关系</a:t>
              </a:r>
              <a:endParaRPr lang="en-US" sz="1100"/>
            </a:p>
          </p:txBody>
        </p:sp>
        <p:cxnSp>
          <p:nvCxnSpPr>
            <p:cNvPr id="48" name="Connector 27"/>
            <p:cNvCxnSpPr/>
            <p:nvPr/>
          </p:nvCxnSpPr>
          <p:spPr>
            <a:xfrm rot="-25277">
              <a:off x="87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AutoShape 28"/>
            <p:cNvSpPr/>
            <p:nvPr/>
          </p:nvSpPr>
          <p:spPr>
            <a:xfrm>
              <a:off x="85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能稳定扮演预设角色,在固定剧本框架内形成看似连续的关系,但超出记忆窗口则人设易崩塌。</a:t>
              </a:r>
              <a:endParaRPr lang="en-US" sz="1100"/>
            </a:p>
          </p:txBody>
        </p:sp>
        <p:sp>
          <p:nvSpPr>
            <p:cNvPr id="50" name="AutoShape 29"/>
            <p:cNvSpPr/>
            <p:nvPr/>
          </p:nvSpPr>
          <p:spPr>
            <a:xfrm>
              <a:off x="8560" y="7569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51" name="AutoShape 30"/>
            <p:cNvSpPr/>
            <p:nvPr/>
          </p:nvSpPr>
          <p:spPr>
            <a:xfrm>
              <a:off x="8560" y="7928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Character.AI、星野、Talkie等。</a:t>
              </a:r>
              <a:endParaRPr lang="en-US" sz="1100"/>
            </a:p>
          </p:txBody>
        </p:sp>
        <p:sp>
          <p:nvSpPr>
            <p:cNvPr id="52" name="AutoShape 31"/>
            <p:cNvSpPr/>
            <p:nvPr/>
          </p:nvSpPr>
          <p:spPr>
            <a:xfrm>
              <a:off x="120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4" name="AutoShape 32"/>
            <p:cNvSpPr/>
            <p:nvPr/>
          </p:nvSpPr>
          <p:spPr>
            <a:xfrm>
              <a:off x="120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6" name="AutoShape 33"/>
            <p:cNvSpPr/>
            <p:nvPr/>
          </p:nvSpPr>
          <p:spPr>
            <a:xfrm>
              <a:off x="120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L3</a:t>
              </a:r>
              <a:endParaRPr lang="en-US" sz="1100"/>
            </a:p>
          </p:txBody>
        </p:sp>
        <p:sp>
          <p:nvSpPr>
            <p:cNvPr id="57" name="AutoShape 34"/>
            <p:cNvSpPr/>
            <p:nvPr/>
          </p:nvSpPr>
          <p:spPr>
            <a:xfrm>
              <a:off x="120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个性化陪伴</a:t>
              </a:r>
              <a:endParaRPr lang="en-US" sz="1100"/>
            </a:p>
          </p:txBody>
        </p:sp>
        <p:sp>
          <p:nvSpPr>
            <p:cNvPr id="58" name="AutoShape 35"/>
            <p:cNvSpPr/>
            <p:nvPr/>
          </p:nvSpPr>
          <p:spPr>
            <a:xfrm>
              <a:off x="120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长期适应型</a:t>
              </a:r>
              <a:endParaRPr lang="en-US" sz="1100"/>
            </a:p>
          </p:txBody>
        </p:sp>
        <p:cxnSp>
          <p:nvCxnSpPr>
            <p:cNvPr id="59" name="Connector 36"/>
            <p:cNvCxnSpPr/>
            <p:nvPr/>
          </p:nvCxnSpPr>
          <p:spPr>
            <a:xfrm rot="-25277">
              <a:off x="123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AutoShape 37"/>
            <p:cNvSpPr/>
            <p:nvPr/>
          </p:nvSpPr>
          <p:spPr>
            <a:xfrm>
              <a:off x="121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开始展现对特定个体的了解与关怀,关系跨时间延续并深化,拥有长期记忆系统。</a:t>
              </a:r>
              <a:endParaRPr lang="en-US" sz="1100"/>
            </a:p>
          </p:txBody>
        </p:sp>
        <p:sp>
          <p:nvSpPr>
            <p:cNvPr id="61" name="AutoShape 38"/>
            <p:cNvSpPr/>
            <p:nvPr/>
          </p:nvSpPr>
          <p:spPr>
            <a:xfrm>
              <a:off x="12160" y="7052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62" name="AutoShape 39"/>
            <p:cNvSpPr/>
            <p:nvPr/>
          </p:nvSpPr>
          <p:spPr>
            <a:xfrm>
              <a:off x="12160" y="7492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深度长期训练的Replika(Pro)、部分实验性原型。</a:t>
              </a:r>
              <a:endParaRPr lang="en-US" sz="1100"/>
            </a:p>
          </p:txBody>
        </p:sp>
        <p:sp>
          <p:nvSpPr>
            <p:cNvPr id="63" name="AutoShape 40"/>
            <p:cNvSpPr/>
            <p:nvPr/>
          </p:nvSpPr>
          <p:spPr>
            <a:xfrm>
              <a:off x="15500" y="2800"/>
              <a:ext cx="336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6000"/>
              </a:srgbClr>
            </a:solidFill>
            <a:ln cap="flat" cmpd="sng">
              <a:solidFill>
                <a:srgbClr val="E65F00">
                  <a:alpha val="6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4" name="AutoShape 41"/>
            <p:cNvSpPr/>
            <p:nvPr/>
          </p:nvSpPr>
          <p:spPr>
            <a:xfrm>
              <a:off x="15500" y="2800"/>
              <a:ext cx="80" cy="58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5" name="AutoShape 42"/>
            <p:cNvSpPr/>
            <p:nvPr/>
          </p:nvSpPr>
          <p:spPr>
            <a:xfrm>
              <a:off x="15500" y="2800"/>
              <a:ext cx="336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4400" b="1" i="0" u="none" strike="noStrike" spc="2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L4</a:t>
              </a:r>
              <a:endParaRPr lang="en-US" sz="1100"/>
            </a:p>
          </p:txBody>
        </p:sp>
        <p:sp>
          <p:nvSpPr>
            <p:cNvPr id="66" name="AutoShape 43"/>
            <p:cNvSpPr/>
            <p:nvPr/>
          </p:nvSpPr>
          <p:spPr>
            <a:xfrm>
              <a:off x="15500" y="4200"/>
              <a:ext cx="336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共生型陪伴</a:t>
              </a:r>
              <a:endParaRPr lang="en-US" sz="1100"/>
            </a:p>
          </p:txBody>
        </p:sp>
        <p:sp>
          <p:nvSpPr>
            <p:cNvPr id="67" name="AutoShape 44"/>
            <p:cNvSpPr/>
            <p:nvPr/>
          </p:nvSpPr>
          <p:spPr>
            <a:xfrm>
              <a:off x="15500" y="4800"/>
              <a:ext cx="336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1" i="0" u="none" strike="noStrike" spc="1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双向成长型</a:t>
              </a:r>
              <a:endParaRPr lang="en-US" sz="1100"/>
            </a:p>
          </p:txBody>
        </p:sp>
        <p:cxnSp>
          <p:nvCxnSpPr>
            <p:cNvPr id="68" name="Connector 45"/>
            <p:cNvCxnSpPr/>
            <p:nvPr/>
          </p:nvCxnSpPr>
          <p:spPr>
            <a:xfrm rot="-25277">
              <a:off x="15820" y="5390"/>
              <a:ext cx="2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6A00">
                  <a:alpha val="1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AutoShape 46"/>
            <p:cNvSpPr/>
            <p:nvPr/>
          </p:nvSpPr>
          <p:spPr>
            <a:xfrm>
              <a:off x="15660" y="5460"/>
              <a:ext cx="304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成为独立的"他者",与用户形成双向陪伴、相互需要和共同成长,能坦诚自身局限。</a:t>
              </a:r>
              <a:endParaRPr lang="en-US" sz="1100"/>
            </a:p>
          </p:txBody>
        </p:sp>
        <p:sp>
          <p:nvSpPr>
            <p:cNvPr id="70" name="AutoShape 47"/>
            <p:cNvSpPr/>
            <p:nvPr/>
          </p:nvSpPr>
          <p:spPr>
            <a:xfrm>
              <a:off x="15660" y="6900"/>
              <a:ext cx="3040" cy="3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现状</a:t>
              </a:r>
              <a:endParaRPr lang="en-US" sz="1100"/>
            </a:p>
          </p:txBody>
        </p:sp>
        <p:sp>
          <p:nvSpPr>
            <p:cNvPr id="71" name="AutoShape 48"/>
            <p:cNvSpPr/>
            <p:nvPr/>
          </p:nvSpPr>
          <p:spPr>
            <a:xfrm>
              <a:off x="15660" y="7340"/>
              <a:ext cx="304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终极理想,尚无商业产品达到。</a:t>
              </a:r>
              <a:endParaRPr lang="en-US" sz="1100"/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9184005" y="6331585"/>
            <a:ext cx="8358505" cy="762000"/>
            <a:chOff x="1200" y="9000"/>
            <a:chExt cx="16800" cy="1200"/>
          </a:xfrm>
        </p:grpSpPr>
        <p:sp>
          <p:nvSpPr>
            <p:cNvPr id="73" name="AutoShape 49"/>
            <p:cNvSpPr/>
            <p:nvPr/>
          </p:nvSpPr>
          <p:spPr>
            <a:xfrm>
              <a:off x="1200" y="9000"/>
              <a:ext cx="16800" cy="12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FF6A00">
                    <a:alpha val="10000"/>
                  </a:srgbClr>
                </a:gs>
                <a:gs pos="100000">
                  <a:srgbClr val="FF6A00">
                    <a:alpha val="2000"/>
                  </a:srgbClr>
                </a:gs>
              </a:gsLst>
              <a:lin ang="0"/>
            </a:gradFill>
            <a:ln cap="flat" cmpd="sng">
              <a:gradFill rotWithShape="1">
                <a:gsLst>
                  <a:gs pos="0">
                    <a:srgbClr val="E65F00">
                      <a:alpha val="10000"/>
                    </a:srgbClr>
                  </a:gs>
                  <a:gs pos="100000">
                    <a:srgbClr val="E65F00">
                      <a:alpha val="2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4" name="AutoShape 50"/>
            <p:cNvSpPr/>
            <p:nvPr/>
          </p:nvSpPr>
          <p:spPr>
            <a:xfrm>
              <a:off x="1200" y="9000"/>
              <a:ext cx="8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5" name="AutoShape 51"/>
            <p:cNvSpPr/>
            <p:nvPr/>
          </p:nvSpPr>
          <p:spPr>
            <a:xfrm>
              <a:off x="1640" y="9000"/>
              <a:ext cx="16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9000"/>
                </a:lnSpc>
                <a:defRPr/>
              </a:pP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当前市场主力军在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L2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层级激烈搏杀,少数先锋开始探索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L3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,而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L4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则是值得奔赴的"北极星"。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5" name="Image 2" descr="gen-dedup-f70524bbc0962bb78a1f6f13a19f2a13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460170" y="7376947"/>
            <a:ext cx="6953098" cy="9144"/>
          </a:xfrm>
          <a:prstGeom prst="rect">
            <a:avLst/>
          </a:prstGeom>
        </p:spPr>
      </p:pic>
      <p:pic>
        <p:nvPicPr>
          <p:cNvPr id="6" name="Image 3" descr="gen-dedup-f70524bbc0962bb78a1f6f13a19f2a13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458265" y="8519008"/>
            <a:ext cx="6953098" cy="9144"/>
          </a:xfrm>
          <a:prstGeom prst="rect">
            <a:avLst/>
          </a:prstGeom>
        </p:spPr>
      </p:pic>
      <p:pic>
        <p:nvPicPr>
          <p:cNvPr id="7" name="Image 4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9258300"/>
            <a:ext cx="15811805" cy="9144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1125" dirty="0"/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我们在做的不是聊天机器人，而是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着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的A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gent角色</a:t>
            </a:r>
            <a:endParaRPr lang="en-US" sz="3450" dirty="0"/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在虚拟与现实世界之间共生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持续存在、持续行动、持续记忆，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用户建立可延续关系</a:t>
            </a:r>
            <a:endParaRPr lang="en-US" sz="1725" dirty="0"/>
          </a:p>
        </p:txBody>
      </p:sp>
      <p:sp>
        <p:nvSpPr>
          <p:cNvPr id="33" name="Text 18"/>
          <p:cNvSpPr txBox="1"/>
          <p:nvPr/>
        </p:nvSpPr>
        <p:spPr>
          <a:xfrm>
            <a:off x="1457630" y="6918096"/>
            <a:ext cx="69540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342900" indent="-342900" algn="l">
              <a:buFont typeface="Wingdings" panose="05000000000000000000" charset="0"/>
              <a:buChar char=""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Agent角色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不会随着对话框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关闭而消失</a:t>
            </a:r>
            <a:endParaRPr lang="en-US" sz="2025" dirty="0"/>
          </a:p>
        </p:txBody>
      </p:sp>
      <p:sp>
        <p:nvSpPr>
          <p:cNvPr id="34" name="Text 19"/>
          <p:cNvSpPr txBox="1"/>
          <p:nvPr/>
        </p:nvSpPr>
        <p:spPr>
          <a:xfrm>
            <a:off x="1457630" y="7398156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角色存在于一个持续运行的虚拟世界中，用户离开时它依然在世界里生活。</a:t>
            </a:r>
            <a:endParaRPr lang="en-US" sz="1425" dirty="0"/>
          </a:p>
        </p:txBody>
      </p:sp>
      <p:sp>
        <p:nvSpPr>
          <p:cNvPr id="36" name="Text 21"/>
          <p:cNvSpPr txBox="1"/>
          <p:nvPr/>
        </p:nvSpPr>
        <p:spPr>
          <a:xfrm>
            <a:off x="1460170" y="8034401"/>
            <a:ext cx="69540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342900" indent="-342900" algn="l">
              <a:buFont typeface="Wingdings" panose="05000000000000000000" charset="0"/>
              <a:buChar char=""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关系是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rPr>
              <a:t>在虚拟与现实中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不断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累积出来的</a:t>
            </a:r>
            <a:endParaRPr lang="en-US" sz="2025" dirty="0"/>
          </a:p>
        </p:txBody>
      </p:sp>
      <p:sp>
        <p:nvSpPr>
          <p:cNvPr id="37" name="Text 22"/>
          <p:cNvSpPr txBox="1"/>
          <p:nvPr/>
        </p:nvSpPr>
        <p:spPr>
          <a:xfrm>
            <a:off x="1460170" y="851354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关系通过互动、承诺、事件与共同经历持续累积，而非每次重新开始。</a:t>
            </a:r>
            <a:endParaRPr lang="en-US" sz="1425" dirty="0"/>
          </a:p>
        </p:txBody>
      </p:sp>
      <p:sp>
        <p:nvSpPr>
          <p:cNvPr id="39" name="Text 24"/>
          <p:cNvSpPr txBox="1"/>
          <p:nvPr/>
        </p:nvSpPr>
        <p:spPr>
          <a:xfrm>
            <a:off x="1458265" y="9176461"/>
            <a:ext cx="69540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342900" indent="-342900" algn="l">
              <a:buFont typeface="Wingdings" panose="05000000000000000000" charset="0"/>
              <a:buChar char=""/>
            </a:pP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真实存在的个体</a:t>
            </a: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」，</a:t>
            </a:r>
            <a:r>
              <a:rPr lang="zh-CN" alt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而不是拟人的</a:t>
            </a:r>
            <a:r>
              <a:rPr lang="en-US" altLang="zh-CN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endParaRPr lang="en-US" altLang="zh-CN" sz="2025" dirty="0">
              <a:solidFill>
                <a:srgbClr val="16181D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0" name="Text 25"/>
          <p:cNvSpPr txBox="1"/>
          <p:nvPr/>
        </p:nvSpPr>
        <p:spPr>
          <a:xfrm>
            <a:off x="1458265" y="9655607"/>
            <a:ext cx="6954012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核心不是生成更像人的回复，而是让角色在世界中真正具备存在感。</a:t>
            </a:r>
            <a:endParaRPr lang="en-US" sz="1425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845" y="2800985"/>
            <a:ext cx="7637145" cy="35509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8315" y="2613660"/>
            <a:ext cx="8397875" cy="509016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7935" y="7787640"/>
            <a:ext cx="1558925" cy="2173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76198" y="9923780"/>
            <a:ext cx="15811805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238098" y="3105302"/>
            <a:ext cx="8287207" cy="780898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1543507" y="3314700"/>
            <a:ext cx="4953305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关系应用层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1543507" y="3600907"/>
            <a:ext cx="7239305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虚拟世界角色 · 电子吧唧 · 桌面宠物机器人</a:t>
            </a:r>
            <a:endParaRPr lang="en-US" sz="1125" dirty="0"/>
          </a:p>
        </p:txBody>
      </p:sp>
      <p:pic>
        <p:nvPicPr>
          <p:cNvPr id="10" name="Image 3" descr="gen-dedup-becd15c398d5e8733cfc52c845a7fc6b.png"/>
          <p:cNvPicPr>
            <a:picLocks noChangeAspect="1"/>
          </p:cNvPicPr>
          <p:nvPr/>
        </p:nvPicPr>
        <p:blipFill>
          <a:blip r:embed="rId4"/>
          <a:srcRect t="-2116" b="-2116"/>
          <a:stretch>
            <a:fillRect/>
          </a:stretch>
        </p:blipFill>
        <p:spPr>
          <a:xfrm>
            <a:off x="5352898" y="3886200"/>
            <a:ext cx="9144" cy="2478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238098" y="4134002"/>
            <a:ext cx="828720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12" name="Image 4" descr="gen-dedup-f6672c46f9d2a2cc4c717888c106494c.png"/>
          <p:cNvPicPr>
            <a:picLocks noChangeAspect="1"/>
          </p:cNvPicPr>
          <p:nvPr/>
        </p:nvPicPr>
        <p:blipFill>
          <a:blip r:embed="rId5"/>
          <a:srcRect l="-400" r="-400"/>
          <a:stretch>
            <a:fillRect/>
          </a:stretch>
        </p:blipFill>
        <p:spPr>
          <a:xfrm>
            <a:off x="1238098" y="4134002"/>
            <a:ext cx="38405" cy="9144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543507" y="4343400"/>
            <a:ext cx="285750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长期记忆系统</a:t>
            </a:r>
            <a:endParaRPr lang="en-US" sz="1725" dirty="0"/>
          </a:p>
        </p:txBody>
      </p:sp>
      <p:sp>
        <p:nvSpPr>
          <p:cNvPr id="14" name="Text 7"/>
          <p:cNvSpPr txBox="1"/>
          <p:nvPr/>
        </p:nvSpPr>
        <p:spPr>
          <a:xfrm>
            <a:off x="1543507" y="4667098"/>
            <a:ext cx="57150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跨天、跨场景保留用户偏好、事件与关系节点</a:t>
            </a:r>
            <a:endParaRPr lang="en-US" sz="1125" dirty="0"/>
          </a:p>
        </p:txBody>
      </p:sp>
      <p:sp>
        <p:nvSpPr>
          <p:cNvPr id="15" name="Text 8"/>
          <p:cNvSpPr txBox="1"/>
          <p:nvPr/>
        </p:nvSpPr>
        <p:spPr>
          <a:xfrm>
            <a:off x="8667598" y="4438498"/>
            <a:ext cx="5532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3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L3</a:t>
            </a:r>
            <a:endParaRPr lang="en-US" sz="1125" dirty="0"/>
          </a:p>
        </p:txBody>
      </p:sp>
      <p:sp>
        <p:nvSpPr>
          <p:cNvPr id="16" name="Shape 9"/>
          <p:cNvSpPr/>
          <p:nvPr/>
        </p:nvSpPr>
        <p:spPr>
          <a:xfrm>
            <a:off x="1238098" y="5162702"/>
            <a:ext cx="828720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17" name="Image 5" descr="gen-dedup-f6672c46f9d2a2cc4c717888c106494c.png"/>
          <p:cNvPicPr>
            <a:picLocks noChangeAspect="1"/>
          </p:cNvPicPr>
          <p:nvPr/>
        </p:nvPicPr>
        <p:blipFill>
          <a:blip r:embed="rId5"/>
          <a:srcRect l="-400" r="-400"/>
          <a:stretch>
            <a:fillRect/>
          </a:stretch>
        </p:blipFill>
        <p:spPr>
          <a:xfrm>
            <a:off x="1238098" y="5162702"/>
            <a:ext cx="38405" cy="9144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543507" y="5372100"/>
            <a:ext cx="285750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情绪感知引擎</a:t>
            </a:r>
            <a:endParaRPr lang="en-US" sz="1725" dirty="0"/>
          </a:p>
        </p:txBody>
      </p:sp>
      <p:sp>
        <p:nvSpPr>
          <p:cNvPr id="19" name="Text 11"/>
          <p:cNvSpPr txBox="1"/>
          <p:nvPr/>
        </p:nvSpPr>
        <p:spPr>
          <a:xfrm>
            <a:off x="1543507" y="5695798"/>
            <a:ext cx="57150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识别并跟踪用户长期情绪状态，而非只做单轮判断</a:t>
            </a:r>
            <a:endParaRPr lang="en-US" sz="1125" dirty="0"/>
          </a:p>
        </p:txBody>
      </p:sp>
      <p:sp>
        <p:nvSpPr>
          <p:cNvPr id="20" name="Text 12"/>
          <p:cNvSpPr txBox="1"/>
          <p:nvPr/>
        </p:nvSpPr>
        <p:spPr>
          <a:xfrm>
            <a:off x="8667598" y="5467198"/>
            <a:ext cx="5532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3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L2</a:t>
            </a:r>
            <a:endParaRPr lang="en-US" sz="1125" dirty="0"/>
          </a:p>
        </p:txBody>
      </p:sp>
      <p:sp>
        <p:nvSpPr>
          <p:cNvPr id="21" name="Shape 13"/>
          <p:cNvSpPr/>
          <p:nvPr/>
        </p:nvSpPr>
        <p:spPr>
          <a:xfrm>
            <a:off x="1238098" y="6191402"/>
            <a:ext cx="828720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pic>
        <p:nvPicPr>
          <p:cNvPr id="22" name="Image 6" descr="gen-dedup-f6672c46f9d2a2cc4c717888c106494c.png"/>
          <p:cNvPicPr>
            <a:picLocks noChangeAspect="1"/>
          </p:cNvPicPr>
          <p:nvPr/>
        </p:nvPicPr>
        <p:blipFill>
          <a:blip r:embed="rId5"/>
          <a:srcRect l="-400" r="-400"/>
          <a:stretch>
            <a:fillRect/>
          </a:stretch>
        </p:blipFill>
        <p:spPr>
          <a:xfrm>
            <a:off x="1238098" y="6191402"/>
            <a:ext cx="38405" cy="9144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543507" y="6400800"/>
            <a:ext cx="2857500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人格一致性模型</a:t>
            </a:r>
            <a:endParaRPr lang="en-US" sz="1725" dirty="0"/>
          </a:p>
        </p:txBody>
      </p:sp>
      <p:sp>
        <p:nvSpPr>
          <p:cNvPr id="24" name="Text 15"/>
          <p:cNvSpPr txBox="1"/>
          <p:nvPr/>
        </p:nvSpPr>
        <p:spPr>
          <a:xfrm>
            <a:off x="1543507" y="6724498"/>
            <a:ext cx="57150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确保角色身份、风格与边界长期稳定</a:t>
            </a:r>
            <a:endParaRPr lang="en-US" sz="1125" dirty="0"/>
          </a:p>
        </p:txBody>
      </p:sp>
      <p:sp>
        <p:nvSpPr>
          <p:cNvPr id="25" name="Text 16"/>
          <p:cNvSpPr txBox="1"/>
          <p:nvPr/>
        </p:nvSpPr>
        <p:spPr>
          <a:xfrm>
            <a:off x="8667598" y="6495898"/>
            <a:ext cx="55321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35" dirty="0">
                <a:solidFill>
                  <a:srgbClr val="9A9A8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L1</a:t>
            </a:r>
            <a:endParaRPr lang="en-US" sz="1125" dirty="0"/>
          </a:p>
        </p:txBody>
      </p:sp>
      <p:pic>
        <p:nvPicPr>
          <p:cNvPr id="26" name="Image 7" descr="gen-dedup-93a718a0d9d7ada48edf1e84d7128d48.png"/>
          <p:cNvPicPr>
            <a:picLocks noChangeAspect="1"/>
          </p:cNvPicPr>
          <p:nvPr/>
        </p:nvPicPr>
        <p:blipFill>
          <a:blip r:embed="rId6"/>
          <a:srcRect t="-2116" b="-2116"/>
          <a:stretch>
            <a:fillRect/>
          </a:stretch>
        </p:blipFill>
        <p:spPr>
          <a:xfrm>
            <a:off x="5352898" y="7105802"/>
            <a:ext cx="9144" cy="247802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238098" y="7353605"/>
            <a:ext cx="8287207" cy="780898"/>
          </a:xfrm>
          <a:prstGeom prst="rect">
            <a:avLst/>
          </a:prstGeom>
          <a:solidFill>
            <a:srgbClr val="F1F1EB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1543507" y="7563002"/>
            <a:ext cx="4953305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基础模型层</a:t>
            </a:r>
            <a:endParaRPr lang="en-US" sz="1800" dirty="0"/>
          </a:p>
        </p:txBody>
      </p:sp>
      <p:sp>
        <p:nvSpPr>
          <p:cNvPr id="29" name="Text 19"/>
          <p:cNvSpPr txBox="1"/>
          <p:nvPr/>
        </p:nvSpPr>
        <p:spPr>
          <a:xfrm>
            <a:off x="1543507" y="7848295"/>
            <a:ext cx="7239305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 · 多模态 · 推理能力（可替换、非壁垒所在）</a:t>
            </a:r>
            <a:endParaRPr lang="en-US" sz="1125" dirty="0"/>
          </a:p>
        </p:txBody>
      </p:sp>
      <p:sp>
        <p:nvSpPr>
          <p:cNvPr id="30" name="Text 20"/>
          <p:cNvSpPr txBox="1"/>
          <p:nvPr/>
        </p:nvSpPr>
        <p:spPr>
          <a:xfrm>
            <a:off x="1238098" y="8419795"/>
            <a:ext cx="8287207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壁垒位于 L1–L3 关系能力层，而非可替换的基础模型</a:t>
            </a:r>
            <a:endParaRPr lang="en-US" sz="1125" dirty="0"/>
          </a:p>
        </p:txBody>
      </p:sp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Mind Engine：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从任务智能到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关系智能</a:t>
            </a:r>
            <a:endParaRPr lang="en-US" sz="3450" dirty="0"/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长期记忆、情绪感知、人格一致性，让AI从任务智能升级为关系智能</a:t>
            </a:r>
            <a:endParaRPr lang="en-US" sz="1725" dirty="0"/>
          </a:p>
        </p:txBody>
      </p:sp>
      <p:grpSp>
        <p:nvGrpSpPr>
          <p:cNvPr id="77" name="组合 76"/>
          <p:cNvGrpSpPr/>
          <p:nvPr/>
        </p:nvGrpSpPr>
        <p:grpSpPr>
          <a:xfrm>
            <a:off x="10095230" y="3100070"/>
            <a:ext cx="7396480" cy="4796790"/>
            <a:chOff x="1200" y="800"/>
            <a:chExt cx="17200" cy="8400"/>
          </a:xfrm>
        </p:grpSpPr>
        <p:sp>
          <p:nvSpPr>
            <p:cNvPr id="78" name="AutoShape 2"/>
            <p:cNvSpPr/>
            <p:nvPr/>
          </p:nvSpPr>
          <p:spPr>
            <a:xfrm>
              <a:off x="1200" y="800"/>
              <a:ext cx="16800" cy="10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3200" b="1" i="0" u="none" strike="noStrike" spc="10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 vs. 关系智能</a:t>
              </a:r>
              <a:endParaRPr lang="en-US" sz="1100"/>
            </a:p>
          </p:txBody>
        </p:sp>
        <p:sp>
          <p:nvSpPr>
            <p:cNvPr id="79" name="AutoShape 3"/>
            <p:cNvSpPr/>
            <p:nvPr/>
          </p:nvSpPr>
          <p:spPr>
            <a:xfrm>
              <a:off x="1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</a:t>
              </a:r>
              <a:endParaRPr lang="en-US" sz="1100"/>
            </a:p>
          </p:txBody>
        </p:sp>
        <p:sp>
          <p:nvSpPr>
            <p:cNvPr id="80" name="AutoShape 4"/>
            <p:cNvSpPr/>
            <p:nvPr/>
          </p:nvSpPr>
          <p:spPr>
            <a:xfrm>
              <a:off x="1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Task Intelligence</a:t>
              </a:r>
              <a:endParaRPr lang="en-US" sz="1100"/>
            </a:p>
          </p:txBody>
        </p:sp>
        <p:sp>
          <p:nvSpPr>
            <p:cNvPr id="81" name="AutoShape 5"/>
            <p:cNvSpPr/>
            <p:nvPr/>
          </p:nvSpPr>
          <p:spPr>
            <a:xfrm>
              <a:off x="1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2" name="AutoShape 6"/>
            <p:cNvSpPr/>
            <p:nvPr/>
          </p:nvSpPr>
          <p:spPr>
            <a:xfrm>
              <a:off x="1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效率与执行</a:t>
              </a:r>
              <a:endParaRPr lang="en-US" sz="1100"/>
            </a:p>
          </p:txBody>
        </p:sp>
        <p:cxnSp>
          <p:nvCxnSpPr>
            <p:cNvPr id="83" name="Connector 7"/>
            <p:cNvCxnSpPr/>
            <p:nvPr/>
          </p:nvCxnSpPr>
          <p:spPr>
            <a:xfrm rot="-8594">
              <a:off x="1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" name="AutoShape 8"/>
            <p:cNvSpPr/>
            <p:nvPr/>
          </p:nvSpPr>
          <p:spPr>
            <a:xfrm>
              <a:off x="1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85" name="AutoShape 9"/>
            <p:cNvSpPr/>
            <p:nvPr/>
          </p:nvSpPr>
          <p:spPr>
            <a:xfrm>
              <a:off x="3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完成任务,提升效率</a:t>
              </a:r>
              <a:endParaRPr lang="en-US" sz="1100"/>
            </a:p>
          </p:txBody>
        </p:sp>
        <p:sp>
          <p:nvSpPr>
            <p:cNvPr id="86" name="AutoShape 10"/>
            <p:cNvSpPr/>
            <p:nvPr/>
          </p:nvSpPr>
          <p:spPr>
            <a:xfrm>
              <a:off x="1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87" name="AutoShape 11"/>
            <p:cNvSpPr/>
            <p:nvPr/>
          </p:nvSpPr>
          <p:spPr>
            <a:xfrm>
              <a:off x="3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事(Task/Process)</a:t>
              </a:r>
              <a:endParaRPr lang="en-US" sz="1100"/>
            </a:p>
          </p:txBody>
        </p:sp>
        <p:sp>
          <p:nvSpPr>
            <p:cNvPr id="88" name="AutoShape 12"/>
            <p:cNvSpPr/>
            <p:nvPr/>
          </p:nvSpPr>
          <p:spPr>
            <a:xfrm>
              <a:off x="1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89" name="AutoShape 13"/>
            <p:cNvSpPr/>
            <p:nvPr/>
          </p:nvSpPr>
          <p:spPr>
            <a:xfrm>
              <a:off x="3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任务完成度、执行效率、ROI</a:t>
              </a:r>
              <a:endParaRPr lang="en-US" sz="1100"/>
            </a:p>
          </p:txBody>
        </p:sp>
        <p:sp>
          <p:nvSpPr>
            <p:cNvPr id="90" name="AutoShape 14"/>
            <p:cNvSpPr/>
            <p:nvPr/>
          </p:nvSpPr>
          <p:spPr>
            <a:xfrm>
              <a:off x="1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91" name="AutoShape 15"/>
            <p:cNvSpPr/>
            <p:nvPr/>
          </p:nvSpPr>
          <p:spPr>
            <a:xfrm>
              <a:off x="3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规划、分解、推理、工具调用</a:t>
              </a:r>
              <a:endParaRPr lang="en-US" sz="1100"/>
            </a:p>
          </p:txBody>
        </p:sp>
        <p:sp>
          <p:nvSpPr>
            <p:cNvPr id="92" name="AutoShape 16"/>
            <p:cNvSpPr/>
            <p:nvPr/>
          </p:nvSpPr>
          <p:spPr>
            <a:xfrm>
              <a:off x="1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3" name="AutoShape 17"/>
            <p:cNvSpPr/>
            <p:nvPr/>
          </p:nvSpPr>
          <p:spPr>
            <a:xfrm>
              <a:off x="1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4" name="AutoShape 18"/>
            <p:cNvSpPr/>
            <p:nvPr/>
          </p:nvSpPr>
          <p:spPr>
            <a:xfrm>
              <a:off x="1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95" name="AutoShape 19"/>
            <p:cNvSpPr/>
            <p:nvPr/>
          </p:nvSpPr>
          <p:spPr>
            <a:xfrm>
              <a:off x="3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工具、执行者、助理</a:t>
              </a:r>
              <a:endParaRPr lang="en-US" sz="1100"/>
            </a:p>
          </p:txBody>
        </p:sp>
        <p:cxnSp>
          <p:nvCxnSpPr>
            <p:cNvPr id="96" name="Connector 20"/>
            <p:cNvCxnSpPr/>
            <p:nvPr/>
          </p:nvCxnSpPr>
          <p:spPr>
            <a:xfrm rot="5390177">
              <a:off x="6300" y="5690"/>
              <a:ext cx="7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AutoShape 21"/>
            <p:cNvSpPr/>
            <p:nvPr/>
          </p:nvSpPr>
          <p:spPr>
            <a:xfrm>
              <a:off x="10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关系智能</a:t>
              </a:r>
              <a:endParaRPr lang="en-US" sz="1100"/>
            </a:p>
          </p:txBody>
        </p:sp>
        <p:sp>
          <p:nvSpPr>
            <p:cNvPr id="98" name="AutoShape 22"/>
            <p:cNvSpPr/>
            <p:nvPr/>
          </p:nvSpPr>
          <p:spPr>
            <a:xfrm>
              <a:off x="10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Relational Intelligence</a:t>
              </a:r>
              <a:endParaRPr lang="en-US" sz="1100"/>
            </a:p>
          </p:txBody>
        </p:sp>
        <p:sp>
          <p:nvSpPr>
            <p:cNvPr id="99" name="AutoShape 23"/>
            <p:cNvSpPr/>
            <p:nvPr/>
          </p:nvSpPr>
          <p:spPr>
            <a:xfrm>
              <a:off x="10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0" name="AutoShape 24"/>
            <p:cNvSpPr/>
            <p:nvPr/>
          </p:nvSpPr>
          <p:spPr>
            <a:xfrm>
              <a:off x="10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连接与共情</a:t>
              </a:r>
              <a:endParaRPr lang="en-US" sz="1100"/>
            </a:p>
          </p:txBody>
        </p:sp>
        <p:cxnSp>
          <p:nvCxnSpPr>
            <p:cNvPr id="101" name="Connector 25"/>
            <p:cNvCxnSpPr/>
            <p:nvPr/>
          </p:nvCxnSpPr>
          <p:spPr>
            <a:xfrm rot="-8594">
              <a:off x="10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" name="AutoShape 26"/>
            <p:cNvSpPr/>
            <p:nvPr/>
          </p:nvSpPr>
          <p:spPr>
            <a:xfrm>
              <a:off x="10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103" name="AutoShape 27"/>
            <p:cNvSpPr/>
            <p:nvPr/>
          </p:nvSpPr>
          <p:spPr>
            <a:xfrm>
              <a:off x="12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建立关系,提升信任</a:t>
              </a:r>
              <a:endParaRPr lang="en-US" sz="1100"/>
            </a:p>
          </p:txBody>
        </p:sp>
        <p:sp>
          <p:nvSpPr>
            <p:cNvPr id="104" name="AutoShape 28"/>
            <p:cNvSpPr/>
            <p:nvPr/>
          </p:nvSpPr>
          <p:spPr>
            <a:xfrm>
              <a:off x="10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105" name="AutoShape 29"/>
            <p:cNvSpPr/>
            <p:nvPr/>
          </p:nvSpPr>
          <p:spPr>
            <a:xfrm>
              <a:off x="12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人(User/Relationship)</a:t>
              </a:r>
              <a:endParaRPr lang="en-US" sz="1100"/>
            </a:p>
          </p:txBody>
        </p:sp>
        <p:sp>
          <p:nvSpPr>
            <p:cNvPr id="106" name="AutoShape 30"/>
            <p:cNvSpPr/>
            <p:nvPr/>
          </p:nvSpPr>
          <p:spPr>
            <a:xfrm>
              <a:off x="10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107" name="AutoShape 31"/>
            <p:cNvSpPr/>
            <p:nvPr/>
          </p:nvSpPr>
          <p:spPr>
            <a:xfrm>
              <a:off x="12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关系质量、用户满意度、信任度</a:t>
              </a:r>
              <a:endParaRPr lang="en-US" sz="1100"/>
            </a:p>
          </p:txBody>
        </p:sp>
        <p:sp>
          <p:nvSpPr>
            <p:cNvPr id="108" name="AutoShape 32"/>
            <p:cNvSpPr/>
            <p:nvPr/>
          </p:nvSpPr>
          <p:spPr>
            <a:xfrm>
              <a:off x="10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109" name="AutoShape 33"/>
            <p:cNvSpPr/>
            <p:nvPr/>
          </p:nvSpPr>
          <p:spPr>
            <a:xfrm>
              <a:off x="12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记忆、情感计算、伦理、社交模拟</a:t>
              </a:r>
              <a:endParaRPr lang="en-US" sz="1100"/>
            </a:p>
          </p:txBody>
        </p:sp>
        <p:sp>
          <p:nvSpPr>
            <p:cNvPr id="110" name="AutoShape 34"/>
            <p:cNvSpPr/>
            <p:nvPr/>
          </p:nvSpPr>
          <p:spPr>
            <a:xfrm>
              <a:off x="10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1" name="AutoShape 35"/>
            <p:cNvSpPr/>
            <p:nvPr/>
          </p:nvSpPr>
          <p:spPr>
            <a:xfrm>
              <a:off x="10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2" name="AutoShape 36"/>
            <p:cNvSpPr/>
            <p:nvPr/>
          </p:nvSpPr>
          <p:spPr>
            <a:xfrm>
              <a:off x="10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113" name="AutoShape 37"/>
            <p:cNvSpPr/>
            <p:nvPr/>
          </p:nvSpPr>
          <p:spPr>
            <a:xfrm>
              <a:off x="12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伙伴、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情绪价值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提供者</a:t>
              </a:r>
              <a:endParaRPr lang="zh-CN" alt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0121265" y="8420100"/>
            <a:ext cx="7369810" cy="1181100"/>
            <a:chOff x="15939" y="13260"/>
            <a:chExt cx="11606" cy="1860"/>
          </a:xfrm>
        </p:grpSpPr>
        <p:sp>
          <p:nvSpPr>
            <p:cNvPr id="115" name="AutoShape 16"/>
            <p:cNvSpPr/>
            <p:nvPr/>
          </p:nvSpPr>
          <p:spPr>
            <a:xfrm>
              <a:off x="15939" y="13260"/>
              <a:ext cx="11607" cy="1861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6" name="AutoShape 17"/>
            <p:cNvSpPr/>
            <p:nvPr/>
          </p:nvSpPr>
          <p:spPr>
            <a:xfrm>
              <a:off x="15939" y="13338"/>
              <a:ext cx="120" cy="10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7" name="AutoShape 18"/>
            <p:cNvSpPr/>
            <p:nvPr/>
          </p:nvSpPr>
          <p:spPr>
            <a:xfrm>
              <a:off x="16177" y="13292"/>
              <a:ext cx="1085" cy="3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zh-CN" alt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案例</a:t>
              </a:r>
              <a:endParaRPr lang="zh-CN" alt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8" name="AutoShape 19"/>
            <p:cNvSpPr/>
            <p:nvPr/>
          </p:nvSpPr>
          <p:spPr>
            <a:xfrm>
              <a:off x="17059" y="13420"/>
              <a:ext cx="10317" cy="149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用户说</a:t>
              </a:r>
              <a:r>
                <a:rPr lang="en-US" altLang="zh-CN" sz="1600" dirty="0">
                  <a:sym typeface="+mn-ea"/>
                </a:rPr>
                <a:t>：</a:t>
              </a:r>
              <a:r>
                <a:rPr lang="zh-CN" altLang="en-US" sz="1600" dirty="0">
                  <a:sym typeface="+mn-ea"/>
                </a:rPr>
                <a:t>最近期末了考试压力大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我英语都不知道怎么复习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肯定要挂了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任务型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我给你提供一套复习方法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关系型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哎呀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我也发愁呢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最近也在考试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我英语模拟一塌糊涂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World Engine：</a:t>
            </a:r>
            <a:r>
              <a:rPr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世界的底层运转逻辑</a:t>
            </a:r>
            <a:endParaRPr sz="3200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无形的 “世界大道” 作为底层客观运行法则，无意志、无偏爱、不主动干预</a:t>
            </a:r>
            <a:endParaRPr lang="en-US" sz="1725" dirty="0"/>
          </a:p>
        </p:txBody>
      </p:sp>
      <p:sp>
        <p:nvSpPr>
          <p:cNvPr id="59" name="AutoShape 12"/>
          <p:cNvSpPr/>
          <p:nvPr/>
        </p:nvSpPr>
        <p:spPr>
          <a:xfrm>
            <a:off x="10772235" y="-33853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5" name="TextBox 75"/>
          <p:cNvSpPr txBox="1"/>
          <p:nvPr/>
        </p:nvSpPr>
        <p:spPr>
          <a:xfrm>
            <a:off x="15282747" y="3683759"/>
            <a:ext cx="2794000" cy="2174645"/>
          </a:xfrm>
        </p:spPr>
        <p:txBody>
          <a:bodyPr wrap="square" rtlCol="0"/>
          <a:lstStyle/>
          <a:p>
            <a:r>
              <a:rPr sz="1800">
                <a:solidFill>
                  <a:srgbClr val="000000"/>
                </a:solidFill>
              </a:rPr>
              <a:t>World Engine</a:t>
            </a:r>
            <a:endParaRPr sz="1800">
              <a:solidFill>
                <a:srgbClr val="000000"/>
              </a:solidFill>
            </a:endParaRPr>
          </a:p>
          <a:p>
            <a:r>
              <a:rPr sz="1800">
                <a:solidFill>
                  <a:srgbClr val="000000"/>
                </a:solidFill>
              </a:rPr>
              <a:t>客观运行框架，本身不具备任何主动创造、改造世界的能力。所有世界变化的初始动机，全部诞生于 Agent。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34" name="AutoShape 3"/>
          <p:cNvSpPr/>
          <p:nvPr/>
        </p:nvSpPr>
        <p:spPr>
          <a:xfrm>
            <a:off x="647521" y="2846439"/>
            <a:ext cx="6925992" cy="4626501"/>
          </a:xfrm>
          <a:prstGeom prst="roundRect">
            <a:avLst>
              <a:gd name="adj" fmla="val 3846"/>
            </a:avLst>
          </a:prstGeom>
          <a:solidFill>
            <a:srgbClr val="141E19">
              <a:alpha val="80000"/>
            </a:srgbClr>
          </a:solidFill>
          <a:ln w="12700" cap="flat" cmpd="sng">
            <a:solidFill>
              <a:srgbClr val="2E8B57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5"/>
          <p:cNvSpPr/>
          <p:nvPr/>
        </p:nvSpPr>
        <p:spPr>
          <a:xfrm>
            <a:off x="2365436" y="3032466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案例：种植桃林</a:t>
            </a:r>
            <a:endParaRPr lang="en-US" sz="1100"/>
          </a:p>
        </p:txBody>
      </p:sp>
      <p:sp>
        <p:nvSpPr>
          <p:cNvPr id="38" name="AutoShape 7"/>
          <p:cNvSpPr/>
          <p:nvPr/>
        </p:nvSpPr>
        <p:spPr>
          <a:xfrm>
            <a:off x="4776717" y="3683759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0EE9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复刻现实 · 生态演化 · 环境改造</a:t>
            </a:r>
            <a:endParaRPr lang="en-US" sz="1100"/>
          </a:p>
        </p:txBody>
      </p:sp>
      <p:sp>
        <p:nvSpPr>
          <p:cNvPr id="76" name="AutoShape 11"/>
          <p:cNvSpPr/>
          <p:nvPr/>
        </p:nvSpPr>
        <p:spPr>
          <a:xfrm>
            <a:off x="571321" y="7524607"/>
            <a:ext cx="14369981" cy="1489395"/>
          </a:xfrm>
          <a:prstGeom prst="roundRect">
            <a:avLst>
              <a:gd name="adj" fmla="val 3846"/>
            </a:avLst>
          </a:prstGeom>
          <a:solidFill>
            <a:srgbClr val="141928">
              <a:alpha val="80000"/>
            </a:srgbClr>
          </a:solidFill>
          <a:ln w="12700" cap="flat" cmpd="sng">
            <a:solidFill>
              <a:srgbClr val="4682B4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16"/>
          <p:cNvSpPr/>
          <p:nvPr/>
        </p:nvSpPr>
        <p:spPr>
          <a:xfrm>
            <a:off x="571321" y="9071151"/>
            <a:ext cx="14369981" cy="762000"/>
          </a:xfrm>
          <a:prstGeom prst="roundRect">
            <a:avLst>
              <a:gd name="adj" fmla="val 12500"/>
            </a:avLst>
          </a:prstGeom>
          <a:solidFill>
            <a:srgbClr val="666447">
              <a:alpha val="9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9" name="AutoShape 18"/>
          <p:cNvSpPr/>
          <p:nvPr/>
        </p:nvSpPr>
        <p:spPr>
          <a:xfrm>
            <a:off x="841436" y="9134651"/>
            <a:ext cx="3048000" cy="629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200" b="1" i="0" u="none" strike="noStrike">
                <a:solidFill>
                  <a:srgbClr val="FFD7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World Engine</a:t>
            </a:r>
            <a:endParaRPr lang="en-US" sz="1100"/>
          </a:p>
        </p:txBody>
      </p:sp>
      <p:sp>
        <p:nvSpPr>
          <p:cNvPr id="50" name="AutoShape 19"/>
          <p:cNvSpPr/>
          <p:nvPr/>
        </p:nvSpPr>
        <p:spPr>
          <a:xfrm>
            <a:off x="4432451" y="9234665"/>
            <a:ext cx="436432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 spc="100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道法自然，天地不仁，以万物为刍狗。</a:t>
            </a:r>
            <a:endParaRPr lang="en-US" sz="1100"/>
          </a:p>
        </p:txBody>
      </p:sp>
      <p:sp>
        <p:nvSpPr>
          <p:cNvPr id="51" name="AutoShape 20"/>
          <p:cNvSpPr/>
          <p:nvPr/>
        </p:nvSpPr>
        <p:spPr>
          <a:xfrm>
            <a:off x="9737646" y="9234665"/>
            <a:ext cx="4778089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</a:pP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无意志、无偏爱的客观法则</a:t>
            </a: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现实规律的数字化复刻</a:t>
            </a:r>
            <a:endParaRPr sz="1200" spc="5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83000"/>
              </a:lnSpc>
            </a:pPr>
          </a:p>
          <a:p>
            <a:pPr marL="0" indent="0" algn="l">
              <a:lnSpc>
                <a:spcPct val="83000"/>
              </a:lnSpc>
            </a:pP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Agent在道的框架内，完成从改造自然到创造文明的伟大演进。</a:t>
            </a:r>
            <a:endParaRPr sz="1200" spc="5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98" name="Picture 18"/>
          <p:cNvPicPr>
            <a:picLocks noChangeAspect="1"/>
          </p:cNvPicPr>
          <p:nvPr/>
        </p:nvPicPr>
        <p:blipFill>
          <a:blip r:embed="rId3"/>
          <a:srcRect t="13143" b="13143"/>
          <a:stretch>
            <a:fillRect/>
          </a:stretch>
        </p:blipFill>
        <p:spPr>
          <a:xfrm>
            <a:off x="4952566" y="4572184"/>
            <a:ext cx="2442302" cy="148939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9" name="AutoShape 25"/>
          <p:cNvSpPr/>
          <p:nvPr/>
        </p:nvSpPr>
        <p:spPr>
          <a:xfrm>
            <a:off x="11041640" y="770455"/>
            <a:ext cx="1570781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需求萌生</a:t>
            </a:r>
            <a:endParaRPr lang="en-US" sz="1100"/>
          </a:p>
        </p:txBody>
      </p:sp>
      <p:sp>
        <p:nvSpPr>
          <p:cNvPr id="100" name="AutoShape 26"/>
          <p:cNvSpPr/>
          <p:nvPr/>
        </p:nvSpPr>
        <p:spPr>
          <a:xfrm>
            <a:off x="12651690" y="770455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02" name="AutoShape 28"/>
          <p:cNvSpPr/>
          <p:nvPr/>
        </p:nvSpPr>
        <p:spPr>
          <a:xfrm>
            <a:off x="11041640" y="1399431"/>
            <a:ext cx="1570781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结构推演</a:t>
            </a:r>
            <a:endParaRPr lang="en-US" sz="1100"/>
          </a:p>
        </p:txBody>
      </p:sp>
      <p:sp>
        <p:nvSpPr>
          <p:cNvPr id="103" name="AutoShape 29"/>
          <p:cNvSpPr/>
          <p:nvPr/>
        </p:nvSpPr>
        <p:spPr>
          <a:xfrm>
            <a:off x="12651690" y="1399431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04" name="AutoShape 30"/>
          <p:cNvSpPr/>
          <p:nvPr/>
        </p:nvSpPr>
        <p:spPr>
          <a:xfrm>
            <a:off x="13122924" y="1399431"/>
            <a:ext cx="2159823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实体生成</a:t>
            </a:r>
            <a:endParaRPr lang="en-US" sz="1100"/>
          </a:p>
        </p:txBody>
      </p:sp>
      <p:sp>
        <p:nvSpPr>
          <p:cNvPr id="106" name="TextBox 106"/>
          <p:cNvSpPr txBox="1"/>
          <p:nvPr/>
        </p:nvSpPr>
        <p:spPr>
          <a:xfrm>
            <a:off x="841436" y="3387782"/>
            <a:ext cx="4015849" cy="3760464"/>
          </a:xfrm>
          <a:ln w="25400">
            <a:solidFill>
              <a:srgbClr val="EF2D06"/>
            </a:solidFill>
          </a:ln>
        </p:spPr>
        <p:txBody>
          <a:bodyPr wrap="square" rtlCol="0"/>
          <a:lstStyle/>
          <a:p>
            <a:r>
              <a:rPr sz="1200">
                <a:solidFill>
                  <a:srgbClr val="FFFFFF"/>
                </a:solidFill>
              </a:rPr>
              <a:t>① Agent 层（动机发起）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Agent 识别荒地→邀约同伴分工：采种/开垦/养护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生成集体造林行为指令 → 推送至 World Engine</a:t>
            </a:r>
            <a:endParaRPr sz="1200">
              <a:solidFill>
                <a:srgbClr val="FFFFFF"/>
              </a:solidFill>
            </a:endParaRPr>
          </a:p>
          <a:p>
            <a:endParaRPr sz="1200"/>
          </a:p>
          <a:p>
            <a:r>
              <a:rPr sz="1200">
                <a:solidFill>
                  <a:srgbClr val="FFFFFF"/>
                </a:solidFill>
              </a:rPr>
              <a:t>② 生态演算系统（资源生成）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调取现实桃树生物学模板 → 演算标准化种子 DNA 参数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写入资源库，无需从零生成基础模型</a:t>
            </a:r>
            <a:endParaRPr sz="1200">
              <a:solidFill>
                <a:srgbClr val="FFFFFF"/>
              </a:solidFill>
            </a:endParaRPr>
          </a:p>
          <a:p>
            <a:endParaRPr sz="1200"/>
          </a:p>
          <a:p>
            <a:r>
              <a:rPr sz="1200">
                <a:solidFill>
                  <a:srgbClr val="FFFFFF"/>
                </a:solidFill>
              </a:rPr>
              <a:t>③ 地块存储系统（地貌永久修改）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修改中层覆写层：标记开垦、写入幼苗坐标与生长周期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底层原始地形不变 | 数据永久持久化 | 离线不丢失</a:t>
            </a:r>
            <a:endParaRPr sz="1200">
              <a:solidFill>
                <a:srgbClr val="FFFFFF"/>
              </a:solidFill>
            </a:endParaRPr>
          </a:p>
          <a:p>
            <a:endParaRPr sz="1200"/>
          </a:p>
          <a:p>
            <a:r>
              <a:rPr sz="1200">
                <a:solidFill>
                  <a:srgbClr val="FFFFFF"/>
                </a:solidFill>
              </a:rPr>
              <a:t>④ 双层资产渲染库（可视化生成）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匹配现实标准参数库 → 调取花叶/枝干组件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实例化批量排布渲染 → 整片桃林实景生成</a:t>
            </a:r>
            <a:endParaRPr sz="1200">
              <a:solidFill>
                <a:srgbClr val="FFFFFF"/>
              </a:solidFill>
            </a:endParaRPr>
          </a:p>
          <a:p>
            <a:endParaRPr sz="1200"/>
          </a:p>
          <a:p>
            <a:r>
              <a:rPr sz="1200">
                <a:solidFill>
                  <a:srgbClr val="FFFFFF"/>
                </a:solidFill>
              </a:rPr>
              <a:t>⑤ 双向演化反馈（回流 Agent 心智）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桃林成熟事件写入世界档案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正向协作数据回流 → 强化 Agent 后续绿化创造意愿</a:t>
            </a:r>
            <a:endParaRPr sz="1200">
              <a:solidFill>
                <a:srgbClr val="FFFFFF"/>
              </a:solidFill>
            </a:endParaRPr>
          </a:p>
          <a:p>
            <a:endParaRPr sz="1200">
              <a:solidFill>
                <a:srgbClr val="FFFFFF"/>
              </a:solidFill>
            </a:endParaRPr>
          </a:p>
        </p:txBody>
      </p:sp>
      <p:sp>
        <p:nvSpPr>
          <p:cNvPr id="107" name="AutoShape 3"/>
          <p:cNvSpPr/>
          <p:nvPr/>
        </p:nvSpPr>
        <p:spPr>
          <a:xfrm>
            <a:off x="7892888" y="2846439"/>
            <a:ext cx="6925992" cy="4626501"/>
          </a:xfrm>
          <a:prstGeom prst="roundRect">
            <a:avLst>
              <a:gd name="adj" fmla="val 3846"/>
            </a:avLst>
          </a:prstGeom>
          <a:solidFill>
            <a:srgbClr val="141E19">
              <a:alpha val="80000"/>
            </a:srgbClr>
          </a:solidFill>
          <a:ln w="12700" cap="flat" cmpd="sng">
            <a:solidFill>
              <a:srgbClr val="2E8B57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1" name="TextBox 106"/>
          <p:cNvSpPr txBox="1"/>
          <p:nvPr/>
        </p:nvSpPr>
        <p:spPr>
          <a:xfrm>
            <a:off x="10388251" y="3413466"/>
            <a:ext cx="4249313" cy="3760464"/>
          </a:xfrm>
          <a:ln w="25400">
            <a:solidFill>
              <a:srgbClr val="EF2D06"/>
            </a:solidFill>
          </a:ln>
        </p:spPr>
        <p:txBody>
          <a:bodyPr wrap="square" rtlCol="0"/>
          <a:lstStyle/>
          <a:p>
            <a:r>
              <a:rPr sz="1200" b="0" i="0">
                <a:solidFill>
                  <a:srgbClr val="FFFFFF"/>
                </a:solidFill>
              </a:rPr>
              <a:t>① Agent 层（创新需求发起）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Agent 群体研讨设计无轮浮空载具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拆解开采/锻造/结构研发分工 → 提交造物创造指令</a:t>
            </a:r>
            <a:endParaRPr sz="1200" b="0" i="0">
              <a:solidFill>
                <a:srgbClr val="FFFFFF"/>
              </a:solidFill>
            </a:endParaRPr>
          </a:p>
          <a:p>
            <a:endParaRPr sz="1200"/>
          </a:p>
          <a:p>
            <a:r>
              <a:rPr sz="1200" b="0" i="0">
                <a:solidFill>
                  <a:srgbClr val="FFFFFF"/>
                </a:solidFill>
              </a:rPr>
              <a:t>② 物理演算系统（结构合规校验）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校验浮空力学与资源消耗 → 确认不突破安全护栏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无匹配现实参数 → 切换至底层基础几何单元</a:t>
            </a:r>
            <a:endParaRPr sz="1200" b="0" i="0">
              <a:solidFill>
                <a:srgbClr val="FFFFFF"/>
              </a:solidFill>
            </a:endParaRPr>
          </a:p>
          <a:p>
            <a:endParaRPr sz="1200"/>
          </a:p>
          <a:p>
            <a:r>
              <a:rPr sz="1200" b="0" i="0">
                <a:solidFill>
                  <a:srgbClr val="FFFFFF"/>
                </a:solidFill>
              </a:rPr>
              <a:t>③ 资源 &amp; 地块存储系统（工业地貌更新）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记录矿石/金属构件消耗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工坊/浮空停靠平台写入中层覆写层 → 新增人造工业地貌</a:t>
            </a:r>
            <a:endParaRPr sz="1200" b="0" i="0">
              <a:solidFill>
                <a:srgbClr val="FFFFFF"/>
              </a:solidFill>
            </a:endParaRPr>
          </a:p>
          <a:p>
            <a:endParaRPr sz="1200"/>
          </a:p>
          <a:p>
            <a:r>
              <a:rPr sz="1200" b="0" i="0">
                <a:solidFill>
                  <a:srgbClr val="FFFFFF"/>
                </a:solidFill>
              </a:rPr>
              <a:t>④ 双层资产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渲染库（原创实体实时生成）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读取浮空车专属结构 DNA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调用基础几何零件递归拼接 3D 模型 → 原创载具实体</a:t>
            </a:r>
            <a:endParaRPr sz="1200" b="0" i="0">
              <a:solidFill>
                <a:srgbClr val="FFFFFF"/>
              </a:solidFill>
            </a:endParaRPr>
          </a:p>
          <a:p>
            <a:endParaRPr sz="1200"/>
          </a:p>
          <a:p>
            <a:r>
              <a:rPr sz="1200" b="0" i="0">
                <a:solidFill>
                  <a:srgbClr val="FFFFFF"/>
                </a:solidFill>
              </a:rPr>
              <a:t>⑤ 宏观文明涌现（世界规则沉淀）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引擎推演空域通行/停靠/维修等社会规则</a:t>
            </a:r>
            <a:endParaRPr sz="1200" b="0" i="0">
              <a:solidFill>
                <a:srgbClr val="FFFFFF"/>
              </a:solidFill>
            </a:endParaRPr>
          </a:p>
          <a:p>
            <a:r>
              <a:rPr sz="1200" b="0" i="0">
                <a:solidFill>
                  <a:srgbClr val="FFFFFF"/>
                </a:solidFill>
              </a:rPr>
              <a:t>   世界文明层级跃迁 → 创造经历回流 Agent 心智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112" name="AutoShape 15"/>
          <p:cNvSpPr/>
          <p:nvPr/>
        </p:nvSpPr>
        <p:spPr>
          <a:xfrm>
            <a:off x="7952571" y="3874259"/>
            <a:ext cx="270937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7CEFA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突破现实 · 文明跃迁 · 自主创造</a:t>
            </a:r>
            <a:endParaRPr lang="en-US" sz="1100"/>
          </a:p>
        </p:txBody>
      </p:sp>
      <p:sp>
        <p:nvSpPr>
          <p:cNvPr id="113" name="AutoShape 13"/>
          <p:cNvSpPr/>
          <p:nvPr/>
        </p:nvSpPr>
        <p:spPr>
          <a:xfrm>
            <a:off x="9123368" y="3108666"/>
            <a:ext cx="3717484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案例：创造浮空车</a:t>
            </a:r>
            <a:endParaRPr lang="en-US" sz="1100"/>
          </a:p>
        </p:txBody>
      </p:sp>
      <p:pic>
        <p:nvPicPr>
          <p:cNvPr id="115" name="Picture 35"/>
          <p:cNvPicPr>
            <a:picLocks noChangeAspect="1"/>
          </p:cNvPicPr>
          <p:nvPr/>
        </p:nvPicPr>
        <p:blipFill>
          <a:blip r:embed="rId4"/>
          <a:srcRect t="13143" b="13143"/>
          <a:stretch>
            <a:fillRect/>
          </a:stretch>
        </p:blipFill>
        <p:spPr>
          <a:xfrm>
            <a:off x="7982375" y="4661342"/>
            <a:ext cx="2323252" cy="14156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9" name="AutoShape 10"/>
          <p:cNvSpPr/>
          <p:nvPr/>
        </p:nvSpPr>
        <p:spPr>
          <a:xfrm>
            <a:off x="1356205" y="8015270"/>
            <a:ext cx="2709376" cy="4124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地块与地形存储系统</a:t>
            </a:r>
            <a:endParaRPr lang="en-US" sz="1100"/>
          </a:p>
        </p:txBody>
      </p:sp>
      <p:sp>
        <p:nvSpPr>
          <p:cNvPr id="90" name="AutoShape 11"/>
          <p:cNvSpPr/>
          <p:nvPr/>
        </p:nvSpPr>
        <p:spPr>
          <a:xfrm>
            <a:off x="1356205" y="8561330"/>
            <a:ext cx="2709376" cy="36210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承载世界空间骨架的底层存储</a:t>
            </a:r>
            <a:endParaRPr lang="en-US" sz="1100"/>
          </a:p>
        </p:txBody>
      </p:sp>
      <p:sp>
        <p:nvSpPr>
          <p:cNvPr id="116" name="AutoShape 16"/>
          <p:cNvSpPr/>
          <p:nvPr/>
        </p:nvSpPr>
        <p:spPr>
          <a:xfrm>
            <a:off x="941672" y="7931955"/>
            <a:ext cx="2794000" cy="928138"/>
          </a:xfrm>
          <a:prstGeom prst="roundRect">
            <a:avLst>
              <a:gd name="adj" fmla="val 12500"/>
            </a:avLst>
          </a:prstGeom>
          <a:noFill/>
          <a:ln w="12700" cap="flat" cmpd="sng">
            <a:solidFill>
              <a:srgbClr val="66A12B"/>
            </a:solidFill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grpSp>
        <p:nvGrpSpPr>
          <p:cNvPr id="120" name="Group 120"/>
          <p:cNvGrpSpPr/>
          <p:nvPr/>
        </p:nvGrpSpPr>
        <p:grpSpPr>
          <a:xfrm>
            <a:off x="4110517" y="7890896"/>
            <a:ext cx="3159271" cy="969199"/>
            <a:chOff x="5098888" y="8020833"/>
            <a:chExt cx="3159271" cy="969199"/>
          </a:xfrm>
        </p:grpSpPr>
        <p:sp>
          <p:nvSpPr>
            <p:cNvPr id="83" name="AutoShape 18"/>
            <p:cNvSpPr/>
            <p:nvPr/>
          </p:nvSpPr>
          <p:spPr>
            <a:xfrm>
              <a:off x="5548783" y="8072419"/>
              <a:ext cx="2709376" cy="41248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生态与物理演算系统</a:t>
              </a:r>
              <a:endParaRPr lang="en-US" sz="1100"/>
            </a:p>
          </p:txBody>
        </p:sp>
        <p:sp>
          <p:nvSpPr>
            <p:cNvPr id="84" name="AutoShape 19"/>
            <p:cNvSpPr/>
            <p:nvPr/>
          </p:nvSpPr>
          <p:spPr>
            <a:xfrm>
              <a:off x="5548783" y="8609032"/>
              <a:ext cx="2709376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3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60000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驱动世界动态演化的核心引擎</a:t>
              </a:r>
              <a:endParaRPr lang="en-US" sz="1100"/>
            </a:p>
          </p:txBody>
        </p:sp>
        <p:sp>
          <p:nvSpPr>
            <p:cNvPr id="117" name="AutoShape 16"/>
            <p:cNvSpPr/>
            <p:nvPr/>
          </p:nvSpPr>
          <p:spPr>
            <a:xfrm>
              <a:off x="5098888" y="8020833"/>
              <a:ext cx="2794000" cy="928138"/>
            </a:xfrm>
            <a:prstGeom prst="roundRect">
              <a:avLst>
                <a:gd name="adj" fmla="val 12500"/>
              </a:avLst>
            </a:prstGeom>
            <a:noFill/>
            <a:ln w="12700" cap="flat" cmpd="sng">
              <a:solidFill>
                <a:srgbClr val="66A12B"/>
              </a:solidFill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649084" y="7890896"/>
            <a:ext cx="2948567" cy="968955"/>
            <a:chOff x="9726689" y="7989106"/>
            <a:chExt cx="2948567" cy="968955"/>
          </a:xfrm>
        </p:grpSpPr>
        <p:sp>
          <p:nvSpPr>
            <p:cNvPr id="79" name="AutoShape 14"/>
            <p:cNvSpPr/>
            <p:nvPr/>
          </p:nvSpPr>
          <p:spPr>
            <a:xfrm>
              <a:off x="9932704" y="8104146"/>
              <a:ext cx="2709376" cy="34902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双层资产参数库</a:t>
              </a:r>
              <a:endParaRPr lang="en-US" sz="1100"/>
            </a:p>
          </p:txBody>
        </p:sp>
        <p:sp>
          <p:nvSpPr>
            <p:cNvPr id="80" name="AutoShape 15"/>
            <p:cNvSpPr/>
            <p:nvPr/>
          </p:nvSpPr>
          <p:spPr>
            <a:xfrm>
              <a:off x="9932704" y="8609032"/>
              <a:ext cx="2742552" cy="34902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3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60000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现实标准库 + 基础几何库,双轨支撑</a:t>
              </a:r>
              <a:endParaRPr lang="en-US" sz="1100"/>
            </a:p>
          </p:txBody>
        </p:sp>
        <p:sp>
          <p:nvSpPr>
            <p:cNvPr id="118" name="AutoShape 16"/>
            <p:cNvSpPr/>
            <p:nvPr/>
          </p:nvSpPr>
          <p:spPr>
            <a:xfrm>
              <a:off x="9726689" y="7989106"/>
              <a:ext cx="2794000" cy="928138"/>
            </a:xfrm>
            <a:prstGeom prst="roundRect">
              <a:avLst>
                <a:gd name="adj" fmla="val 12500"/>
              </a:avLst>
            </a:prstGeom>
            <a:noFill/>
            <a:ln w="12700" cap="flat" cmpd="sng">
              <a:solidFill>
                <a:srgbClr val="66A12B"/>
              </a:solidFill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1432476" y="7877821"/>
            <a:ext cx="3083259" cy="982028"/>
            <a:chOff x="13106897" y="7989106"/>
            <a:chExt cx="3083259" cy="982028"/>
          </a:xfrm>
        </p:grpSpPr>
        <p:sp>
          <p:nvSpPr>
            <p:cNvPr id="86" name="AutoShape 22"/>
            <p:cNvSpPr/>
            <p:nvPr/>
          </p:nvSpPr>
          <p:spPr>
            <a:xfrm>
              <a:off x="13447604" y="8072419"/>
              <a:ext cx="2709376" cy="41248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行为与创造约束护栏</a:t>
              </a:r>
              <a:endParaRPr lang="en-US" sz="1100"/>
            </a:p>
          </p:txBody>
        </p:sp>
        <p:sp>
          <p:nvSpPr>
            <p:cNvPr id="87" name="AutoShape 23"/>
            <p:cNvSpPr/>
            <p:nvPr/>
          </p:nvSpPr>
          <p:spPr>
            <a:xfrm>
              <a:off x="13447604" y="8609032"/>
              <a:ext cx="2742552" cy="36210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3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60000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保障体系秩序与公平的规则边界</a:t>
              </a:r>
              <a:endParaRPr lang="en-US" sz="1100"/>
            </a:p>
          </p:txBody>
        </p:sp>
        <p:sp>
          <p:nvSpPr>
            <p:cNvPr id="119" name="AutoShape 16"/>
            <p:cNvSpPr/>
            <p:nvPr/>
          </p:nvSpPr>
          <p:spPr>
            <a:xfrm>
              <a:off x="13106897" y="7989106"/>
              <a:ext cx="2794000" cy="928138"/>
            </a:xfrm>
            <a:prstGeom prst="roundRect">
              <a:avLst>
                <a:gd name="adj" fmla="val 12500"/>
              </a:avLst>
            </a:prstGeom>
            <a:noFill/>
            <a:ln w="12700" cap="flat" cmpd="sng">
              <a:solidFill>
                <a:srgbClr val="66A12B"/>
              </a:solidFill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</p:grpSp>
      <p:sp>
        <p:nvSpPr>
          <p:cNvPr id="123" name="TextBox 75"/>
          <p:cNvSpPr txBox="1"/>
          <p:nvPr/>
        </p:nvSpPr>
        <p:spPr>
          <a:xfrm>
            <a:off x="15282747" y="6688024"/>
            <a:ext cx="2794000" cy="2764127"/>
          </a:xfrm>
        </p:spPr>
        <p:txBody>
          <a:bodyPr wrap="square" rtlCol="0"/>
          <a:lstStyle/>
          <a:p>
            <a:r>
              <a:rPr sz="1800">
                <a:solidFill>
                  <a:srgbClr val="000000"/>
                </a:solidFill>
              </a:rPr>
              <a:t>Agent 拥有完整的内生需求闭环：社交、探索、改造环境、制造工具、丰富生活等需求自发循环触发，无需用户唤醒、无需脚本强制指派任务。Agent 依旧会执行约定计划、完成长期创造、沉淀共同记忆。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24" name="Text 49"/>
          <p:cNvSpPr txBox="1"/>
          <p:nvPr/>
        </p:nvSpPr>
        <p:spPr>
          <a:xfrm>
            <a:off x="15282747" y="2908413"/>
            <a:ext cx="2442302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世界在进化</a:t>
            </a:r>
            <a:endParaRPr sz="3450" b="1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26" name="Text 49"/>
          <p:cNvSpPr txBox="1"/>
          <p:nvPr/>
        </p:nvSpPr>
        <p:spPr>
          <a:xfrm>
            <a:off x="15282747" y="6077022"/>
            <a:ext cx="2709376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角色在</a:t>
            </a: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成长</a:t>
            </a:r>
            <a:endParaRPr sz="3450" b="1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89" name="Group 89"/>
          <p:cNvGrpSpPr/>
          <p:nvPr/>
        </p:nvGrpSpPr>
        <p:grpSpPr>
          <a:xfrm>
            <a:off x="534594" y="544018"/>
            <a:ext cx="17218812" cy="9229445"/>
            <a:chOff x="978408" y="791164"/>
            <a:chExt cx="17218812" cy="9229445"/>
          </a:xfrm>
        </p:grpSpPr>
        <p:sp>
          <p:nvSpPr>
            <p:cNvPr id="38" name="TextBox 2"/>
            <p:cNvSpPr txBox="1"/>
            <p:nvPr/>
          </p:nvSpPr>
          <p:spPr>
            <a:xfrm>
              <a:off x="1125577" y="791164"/>
              <a:ext cx="2943387" cy="275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36F68"/>
                  </a:solidFill>
                  <a:latin typeface="Aptos"/>
                </a:rPr>
                <a:t>深度技术壁垒</a:t>
              </a:r>
              <a:endParaRPr sz="1200" b="0">
                <a:solidFill>
                  <a:srgbClr val="736F68"/>
                </a:solidFill>
                <a:latin typeface="Aptos"/>
              </a:endParaRPr>
            </a:p>
          </p:txBody>
        </p:sp>
        <p:sp>
          <p:nvSpPr>
            <p:cNvPr id="39" name="TextBox 3"/>
            <p:cNvSpPr txBox="1"/>
            <p:nvPr/>
          </p:nvSpPr>
          <p:spPr>
            <a:xfrm>
              <a:off x="978408" y="1294499"/>
              <a:ext cx="17218812" cy="6451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3600" b="1">
                  <a:solidFill>
                    <a:srgbClr val="252525"/>
                  </a:solidFill>
                  <a:latin typeface="Aptos"/>
                </a:rPr>
                <a:t>MindEngine × WorldEngine：双向联合飞轮</a:t>
              </a:r>
              <a:endParaRPr sz="3600"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40" name="TextBox 4"/>
            <p:cNvSpPr txBox="1"/>
            <p:nvPr/>
          </p:nvSpPr>
          <p:spPr>
            <a:xfrm>
              <a:off x="978408" y="2119410"/>
              <a:ext cx="17218812" cy="3371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0">
                  <a:solidFill>
                    <a:srgbClr val="736F68"/>
                  </a:solidFill>
                  <a:latin typeface="Aptos"/>
                </a:rPr>
                <a:t>单点能力容易复刻；真正难复制的是两套系统深度耦合后，事件持续双向回流的系统工程。</a:t>
              </a:r>
              <a:endParaRPr sz="1600" b="0">
                <a:solidFill>
                  <a:srgbClr val="736F68"/>
                </a:solidFill>
                <a:latin typeface="Aptos"/>
              </a:endParaRPr>
            </a:p>
          </p:txBody>
        </p:sp>
        <p:cxnSp>
          <p:nvCxnSpPr>
            <p:cNvPr id="41" name="Connector 5"/>
            <p:cNvCxnSpPr/>
            <p:nvPr/>
          </p:nvCxnSpPr>
          <p:spPr>
            <a:xfrm>
              <a:off x="978408" y="2762561"/>
              <a:ext cx="17115793" cy="0"/>
            </a:xfrm>
            <a:prstGeom prst="line">
              <a:avLst/>
            </a:prstGeom>
            <a:ln w="12700">
              <a:solidFill>
                <a:srgbClr val="2525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ounded Rectangle 6"/>
            <p:cNvSpPr/>
            <p:nvPr/>
          </p:nvSpPr>
          <p:spPr>
            <a:xfrm>
              <a:off x="1096143" y="3028210"/>
              <a:ext cx="4488665" cy="1006671"/>
            </a:xfrm>
            <a:prstGeom prst="roundRect">
              <a:avLst/>
            </a:prstGeom>
            <a:solidFill>
              <a:srgbClr val="FBF9F5"/>
            </a:solidFill>
            <a:ln w="10160">
              <a:solidFill>
                <a:srgbClr val="E0D9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TextBox 7"/>
            <p:cNvSpPr txBox="1"/>
            <p:nvPr/>
          </p:nvSpPr>
          <p:spPr>
            <a:xfrm>
              <a:off x="1361048" y="3237933"/>
              <a:ext cx="1618863" cy="30670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>
                  <a:solidFill>
                    <a:srgbClr val="252525"/>
                  </a:solidFill>
                  <a:latin typeface="Aptos"/>
                </a:rPr>
                <a:t>AI 对话角色</a:t>
              </a:r>
              <a:endParaRPr sz="1400"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44" name="TextBox 8"/>
            <p:cNvSpPr txBox="1"/>
            <p:nvPr/>
          </p:nvSpPr>
          <p:spPr>
            <a:xfrm>
              <a:off x="1361048" y="3531546"/>
              <a:ext cx="3826403" cy="275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36F68"/>
                  </a:solidFill>
                  <a:latin typeface="Aptos"/>
                </a:rPr>
                <a:t>有心智，但经历停留在文本</a:t>
              </a:r>
              <a:endParaRPr sz="1200" b="0">
                <a:solidFill>
                  <a:srgbClr val="736F68"/>
                </a:solidFill>
                <a:latin typeface="Aptos"/>
              </a:endParaRPr>
            </a:p>
          </p:txBody>
        </p:sp>
        <p:sp>
          <p:nvSpPr>
            <p:cNvPr id="45" name="Rounded Rectangle 9"/>
            <p:cNvSpPr/>
            <p:nvPr/>
          </p:nvSpPr>
          <p:spPr>
            <a:xfrm>
              <a:off x="5879147" y="3028210"/>
              <a:ext cx="4488665" cy="1006671"/>
            </a:xfrm>
            <a:prstGeom prst="roundRect">
              <a:avLst/>
            </a:prstGeom>
            <a:solidFill>
              <a:srgbClr val="FBF9F5"/>
            </a:solidFill>
            <a:ln w="10160">
              <a:solidFill>
                <a:srgbClr val="E0D9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10"/>
            <p:cNvSpPr txBox="1"/>
            <p:nvPr/>
          </p:nvSpPr>
          <p:spPr>
            <a:xfrm>
              <a:off x="6144052" y="3237933"/>
              <a:ext cx="2133955" cy="30670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>
                  <a:solidFill>
                    <a:srgbClr val="252525"/>
                  </a:solidFill>
                  <a:latin typeface="Aptos"/>
                </a:rPr>
                <a:t>AI 沙盘 / 游戏</a:t>
              </a:r>
              <a:endParaRPr sz="1400"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47" name="TextBox 11"/>
            <p:cNvSpPr txBox="1"/>
            <p:nvPr/>
          </p:nvSpPr>
          <p:spPr>
            <a:xfrm>
              <a:off x="6144052" y="3531546"/>
              <a:ext cx="3826403" cy="275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36F68"/>
                  </a:solidFill>
                  <a:latin typeface="Aptos"/>
                </a:rPr>
                <a:t>有世界，但角色与资产多为预制</a:t>
              </a:r>
              <a:endParaRPr sz="1200" b="0">
                <a:solidFill>
                  <a:srgbClr val="736F68"/>
                </a:solidFill>
                <a:latin typeface="Aptos"/>
              </a:endParaRPr>
            </a:p>
          </p:txBody>
        </p:sp>
        <p:sp>
          <p:nvSpPr>
            <p:cNvPr id="48" name="TextBox 12"/>
            <p:cNvSpPr txBox="1"/>
            <p:nvPr/>
          </p:nvSpPr>
          <p:spPr>
            <a:xfrm>
              <a:off x="10735735" y="3209970"/>
              <a:ext cx="6916959" cy="3371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E85C16"/>
                  </a:solidFill>
                  <a:latin typeface="Aptos"/>
                </a:rPr>
                <a:t>行业缺口：长期心智 × 可真实改造的持续世界</a:t>
              </a:r>
              <a:endParaRPr sz="1600" b="1">
                <a:solidFill>
                  <a:srgbClr val="E85C16"/>
                </a:solidFill>
                <a:latin typeface="Aptos"/>
              </a:endParaRPr>
            </a:p>
          </p:txBody>
        </p:sp>
        <p:sp>
          <p:nvSpPr>
            <p:cNvPr id="49" name="Rounded Rectangle 13"/>
            <p:cNvSpPr/>
            <p:nvPr/>
          </p:nvSpPr>
          <p:spPr>
            <a:xfrm>
              <a:off x="1096143" y="4426364"/>
              <a:ext cx="4562249" cy="3802979"/>
            </a:xfrm>
            <a:prstGeom prst="roundRect">
              <a:avLst/>
            </a:prstGeom>
            <a:solidFill>
              <a:srgbClr val="FDFCF9"/>
            </a:solidFill>
            <a:ln w="10160">
              <a:solidFill>
                <a:srgbClr val="E0D2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14"/>
            <p:cNvSpPr txBox="1"/>
            <p:nvPr/>
          </p:nvSpPr>
          <p:spPr>
            <a:xfrm>
              <a:off x="1508218" y="4817847"/>
              <a:ext cx="3679233" cy="3987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252525"/>
                  </a:solidFill>
                  <a:latin typeface="Aptos"/>
                </a:rPr>
                <a:t>MindEngine｜心智引擎</a:t>
              </a:r>
              <a:endParaRPr sz="2000"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51" name="TextBox 15"/>
            <p:cNvSpPr txBox="1"/>
            <p:nvPr/>
          </p:nvSpPr>
          <p:spPr>
            <a:xfrm>
              <a:off x="1508218" y="5321183"/>
              <a:ext cx="3679233" cy="275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36F68"/>
                  </a:solidFill>
                  <a:latin typeface="Aptos"/>
                </a:rPr>
                <a:t>让 Agent 形成“生命连续性”</a:t>
              </a:r>
              <a:endParaRPr sz="1200" b="0">
                <a:solidFill>
                  <a:srgbClr val="736F68"/>
                </a:solidFill>
                <a:latin typeface="Aptos"/>
              </a:endParaRPr>
            </a:p>
          </p:txBody>
        </p:sp>
        <p:sp>
          <p:nvSpPr>
            <p:cNvPr id="52" name="Rectangle 16"/>
            <p:cNvSpPr/>
            <p:nvPr/>
          </p:nvSpPr>
          <p:spPr>
            <a:xfrm>
              <a:off x="1508218" y="5768592"/>
              <a:ext cx="559243" cy="55926"/>
            </a:xfrm>
            <a:prstGeom prst="rect">
              <a:avLst/>
            </a:prstGeom>
            <a:solidFill>
              <a:srgbClr val="E85C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3" name="TextBox 17"/>
            <p:cNvSpPr txBox="1"/>
            <p:nvPr/>
          </p:nvSpPr>
          <p:spPr>
            <a:xfrm>
              <a:off x="1508218" y="6048223"/>
              <a:ext cx="3752818" cy="10763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0">
                  <a:solidFill>
                    <a:srgbClr val="736F68"/>
                  </a:solidFill>
                  <a:latin typeface="Aptos"/>
                </a:rPr>
                <a:t>分层持久记忆</a:t>
              </a:r>
              <a:br>
                <a:rPr sz="1600" b="0">
                  <a:solidFill>
                    <a:srgbClr val="736F68"/>
                  </a:solidFill>
                  <a:latin typeface="Aptos"/>
                </a:rPr>
              </a:br>
              <a:r>
                <a:rPr sz="2400"/>
                <a:t>情绪 · 人格抗漂移</a:t>
              </a:r>
              <a:br>
                <a:rPr sz="2400"/>
              </a:br>
              <a:r>
                <a:rPr sz="2400"/>
                <a:t>社交关系长期演化</a:t>
              </a:r>
              <a:endParaRPr sz="2400"/>
            </a:p>
          </p:txBody>
        </p:sp>
        <p:sp>
          <p:nvSpPr>
            <p:cNvPr id="54" name="Rounded Rectangle 18"/>
            <p:cNvSpPr/>
            <p:nvPr/>
          </p:nvSpPr>
          <p:spPr>
            <a:xfrm>
              <a:off x="1508218" y="7544248"/>
              <a:ext cx="1250939" cy="391483"/>
            </a:xfrm>
            <a:prstGeom prst="roundRect">
              <a:avLst/>
            </a:prstGeom>
            <a:solidFill>
              <a:srgbClr val="F8F5EE"/>
            </a:solidFill>
            <a:ln w="10160">
              <a:solidFill>
                <a:srgbClr val="E85C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5" name="TextBox 19"/>
            <p:cNvSpPr txBox="1"/>
            <p:nvPr/>
          </p:nvSpPr>
          <p:spPr>
            <a:xfrm>
              <a:off x="1508218" y="7610442"/>
              <a:ext cx="1250939" cy="245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000" b="0">
                  <a:solidFill>
                    <a:srgbClr val="E85C16"/>
                  </a:solidFill>
                  <a:latin typeface="Aptos"/>
                </a:rPr>
                <a:t>Memory</a:t>
              </a:r>
              <a:endParaRPr sz="1000" b="0">
                <a:solidFill>
                  <a:srgbClr val="E85C16"/>
                </a:solidFill>
                <a:latin typeface="Aptos"/>
              </a:endParaRPr>
            </a:p>
          </p:txBody>
        </p:sp>
        <p:sp>
          <p:nvSpPr>
            <p:cNvPr id="56" name="Rounded Rectangle 20"/>
            <p:cNvSpPr/>
            <p:nvPr/>
          </p:nvSpPr>
          <p:spPr>
            <a:xfrm>
              <a:off x="2862175" y="7544248"/>
              <a:ext cx="1250939" cy="391483"/>
            </a:xfrm>
            <a:prstGeom prst="roundRect">
              <a:avLst/>
            </a:prstGeom>
            <a:solidFill>
              <a:srgbClr val="F8F5EE"/>
            </a:solidFill>
            <a:ln w="10160">
              <a:solidFill>
                <a:srgbClr val="E85C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TextBox 21"/>
            <p:cNvSpPr txBox="1"/>
            <p:nvPr/>
          </p:nvSpPr>
          <p:spPr>
            <a:xfrm>
              <a:off x="2862175" y="7610442"/>
              <a:ext cx="1250939" cy="245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000" b="0">
                  <a:solidFill>
                    <a:srgbClr val="E85C16"/>
                  </a:solidFill>
                  <a:latin typeface="Aptos"/>
                </a:rPr>
                <a:t>Emotion</a:t>
              </a:r>
              <a:endParaRPr sz="1000" b="0">
                <a:solidFill>
                  <a:srgbClr val="E85C16"/>
                </a:solidFill>
                <a:latin typeface="Aptos"/>
              </a:endParaRPr>
            </a:p>
          </p:txBody>
        </p:sp>
        <p:sp>
          <p:nvSpPr>
            <p:cNvPr id="58" name="Rounded Rectangle 22"/>
            <p:cNvSpPr/>
            <p:nvPr/>
          </p:nvSpPr>
          <p:spPr>
            <a:xfrm>
              <a:off x="4216133" y="7544248"/>
              <a:ext cx="1000751" cy="391483"/>
            </a:xfrm>
            <a:prstGeom prst="roundRect">
              <a:avLst/>
            </a:prstGeom>
            <a:solidFill>
              <a:srgbClr val="F8F5EE"/>
            </a:solidFill>
            <a:ln w="10160">
              <a:solidFill>
                <a:srgbClr val="E85C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9" name="TextBox 23"/>
            <p:cNvSpPr txBox="1"/>
            <p:nvPr/>
          </p:nvSpPr>
          <p:spPr>
            <a:xfrm>
              <a:off x="4216133" y="7610442"/>
              <a:ext cx="1000751" cy="245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000" b="0">
                  <a:solidFill>
                    <a:srgbClr val="E85C16"/>
                  </a:solidFill>
                  <a:latin typeface="Aptos"/>
                </a:rPr>
                <a:t>Social</a:t>
              </a:r>
              <a:endParaRPr sz="1000" b="0">
                <a:solidFill>
                  <a:srgbClr val="E85C16"/>
                </a:solidFill>
                <a:latin typeface="Aptos"/>
              </a:endParaRPr>
            </a:p>
          </p:txBody>
        </p:sp>
        <p:sp>
          <p:nvSpPr>
            <p:cNvPr id="60" name="Rounded Rectangle 24"/>
            <p:cNvSpPr/>
            <p:nvPr/>
          </p:nvSpPr>
          <p:spPr>
            <a:xfrm>
              <a:off x="13428934" y="4426364"/>
              <a:ext cx="4562249" cy="3802979"/>
            </a:xfrm>
            <a:prstGeom prst="roundRect">
              <a:avLst/>
            </a:prstGeom>
            <a:solidFill>
              <a:srgbClr val="FDFCF9"/>
            </a:solidFill>
            <a:ln w="10160">
              <a:solidFill>
                <a:srgbClr val="C2DC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1" name="TextBox 25"/>
            <p:cNvSpPr txBox="1"/>
            <p:nvPr/>
          </p:nvSpPr>
          <p:spPr>
            <a:xfrm>
              <a:off x="13841008" y="4817847"/>
              <a:ext cx="3679233" cy="3987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252525"/>
                  </a:solidFill>
                  <a:latin typeface="Aptos"/>
                </a:rPr>
                <a:t>WorldEngine｜大道引擎</a:t>
              </a:r>
              <a:endParaRPr sz="2000"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62" name="TextBox 26"/>
            <p:cNvSpPr txBox="1"/>
            <p:nvPr/>
          </p:nvSpPr>
          <p:spPr>
            <a:xfrm>
              <a:off x="13841008" y="5321183"/>
              <a:ext cx="3679233" cy="275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0">
                  <a:solidFill>
                    <a:srgbClr val="736F68"/>
                  </a:solidFill>
                  <a:latin typeface="Aptos"/>
                </a:rPr>
                <a:t>让世界成为“可演化的客观现实”</a:t>
              </a:r>
              <a:endParaRPr sz="1200" b="0">
                <a:solidFill>
                  <a:srgbClr val="736F68"/>
                </a:solidFill>
                <a:latin typeface="Aptos"/>
              </a:endParaRPr>
            </a:p>
          </p:txBody>
        </p:sp>
        <p:sp>
          <p:nvSpPr>
            <p:cNvPr id="63" name="Rectangle 27"/>
            <p:cNvSpPr/>
            <p:nvPr/>
          </p:nvSpPr>
          <p:spPr>
            <a:xfrm>
              <a:off x="13841008" y="5768592"/>
              <a:ext cx="559243" cy="55926"/>
            </a:xfrm>
            <a:prstGeom prst="rect">
              <a:avLst/>
            </a:prstGeom>
            <a:solidFill>
              <a:srgbClr val="27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4" name="TextBox 28"/>
            <p:cNvSpPr txBox="1"/>
            <p:nvPr/>
          </p:nvSpPr>
          <p:spPr>
            <a:xfrm>
              <a:off x="13841008" y="6048223"/>
              <a:ext cx="3752818" cy="10763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0">
                  <a:solidFill>
                    <a:srgbClr val="736F68"/>
                  </a:solidFill>
                  <a:latin typeface="Aptos"/>
                </a:rPr>
                <a:t>现实参数 + 几何元组件</a:t>
              </a:r>
              <a:br>
                <a:rPr sz="1600" b="0">
                  <a:solidFill>
                    <a:srgbClr val="736F68"/>
                  </a:solidFill>
                  <a:latin typeface="Aptos"/>
                </a:rPr>
              </a:br>
              <a:r>
                <a:rPr sz="2400"/>
                <a:t>意图 / 执行彻底解耦</a:t>
              </a:r>
              <a:br>
                <a:rPr sz="2400"/>
              </a:br>
              <a:r>
                <a:rPr sz="2400"/>
                <a:t>地貌与造物永久持久化</a:t>
              </a:r>
              <a:endParaRPr sz="2400"/>
            </a:p>
          </p:txBody>
        </p:sp>
        <p:sp>
          <p:nvSpPr>
            <p:cNvPr id="65" name="Rounded Rectangle 29"/>
            <p:cNvSpPr/>
            <p:nvPr/>
          </p:nvSpPr>
          <p:spPr>
            <a:xfrm>
              <a:off x="13841008" y="7544248"/>
              <a:ext cx="1206789" cy="391483"/>
            </a:xfrm>
            <a:prstGeom prst="roundRect">
              <a:avLst/>
            </a:prstGeom>
            <a:solidFill>
              <a:srgbClr val="F8F5EE"/>
            </a:solidFill>
            <a:ln w="10160">
              <a:solidFill>
                <a:srgbClr val="2794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6" name="TextBox 30"/>
            <p:cNvSpPr txBox="1"/>
            <p:nvPr/>
          </p:nvSpPr>
          <p:spPr>
            <a:xfrm>
              <a:off x="13841008" y="7610442"/>
              <a:ext cx="1206789" cy="245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000" b="0">
                  <a:solidFill>
                    <a:srgbClr val="279488"/>
                  </a:solidFill>
                  <a:latin typeface="Aptos"/>
                </a:rPr>
                <a:t>Rules</a:t>
              </a:r>
              <a:endParaRPr sz="1000" b="0">
                <a:solidFill>
                  <a:srgbClr val="279488"/>
                </a:solidFill>
                <a:latin typeface="Aptos"/>
              </a:endParaRPr>
            </a:p>
          </p:txBody>
        </p:sp>
        <p:sp>
          <p:nvSpPr>
            <p:cNvPr id="67" name="Rounded Rectangle 31"/>
            <p:cNvSpPr/>
            <p:nvPr/>
          </p:nvSpPr>
          <p:spPr>
            <a:xfrm>
              <a:off x="15150815" y="7544248"/>
              <a:ext cx="1206789" cy="391483"/>
            </a:xfrm>
            <a:prstGeom prst="roundRect">
              <a:avLst/>
            </a:prstGeom>
            <a:solidFill>
              <a:srgbClr val="F8F5EE"/>
            </a:solidFill>
            <a:ln w="10160">
              <a:solidFill>
                <a:srgbClr val="2794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8" name="TextBox 32"/>
            <p:cNvSpPr txBox="1"/>
            <p:nvPr/>
          </p:nvSpPr>
          <p:spPr>
            <a:xfrm>
              <a:off x="15150815" y="7610442"/>
              <a:ext cx="1206789" cy="245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000" b="0">
                  <a:solidFill>
                    <a:srgbClr val="279488"/>
                  </a:solidFill>
                  <a:latin typeface="Aptos"/>
                </a:rPr>
                <a:t>Assets</a:t>
              </a:r>
              <a:endParaRPr sz="1000" b="0">
                <a:solidFill>
                  <a:srgbClr val="279488"/>
                </a:solidFill>
                <a:latin typeface="Aptos"/>
              </a:endParaRPr>
            </a:p>
          </p:txBody>
        </p:sp>
        <p:sp>
          <p:nvSpPr>
            <p:cNvPr id="69" name="Rounded Rectangle 33"/>
            <p:cNvSpPr/>
            <p:nvPr/>
          </p:nvSpPr>
          <p:spPr>
            <a:xfrm>
              <a:off x="16460622" y="7544248"/>
              <a:ext cx="1147921" cy="391483"/>
            </a:xfrm>
            <a:prstGeom prst="roundRect">
              <a:avLst/>
            </a:prstGeom>
            <a:solidFill>
              <a:srgbClr val="F8F5EE"/>
            </a:solidFill>
            <a:ln w="10160">
              <a:solidFill>
                <a:srgbClr val="2794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0" name="TextBox 34"/>
            <p:cNvSpPr txBox="1"/>
            <p:nvPr/>
          </p:nvSpPr>
          <p:spPr>
            <a:xfrm>
              <a:off x="16460622" y="7610442"/>
              <a:ext cx="1147921" cy="245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000" b="0">
                  <a:solidFill>
                    <a:srgbClr val="279488"/>
                  </a:solidFill>
                  <a:latin typeface="Aptos"/>
                </a:rPr>
                <a:t>State</a:t>
              </a:r>
              <a:endParaRPr sz="1000" b="0">
                <a:solidFill>
                  <a:srgbClr val="279488"/>
                </a:solidFill>
                <a:latin typeface="Aptos"/>
              </a:endParaRPr>
            </a:p>
          </p:txBody>
        </p:sp>
        <p:sp>
          <p:nvSpPr>
            <p:cNvPr id="71" name="Rounded Rectangle 35"/>
            <p:cNvSpPr/>
            <p:nvPr/>
          </p:nvSpPr>
          <p:spPr>
            <a:xfrm>
              <a:off x="6364806" y="4426364"/>
              <a:ext cx="6328281" cy="3802979"/>
            </a:xfrm>
            <a:prstGeom prst="roundRect">
              <a:avLst/>
            </a:prstGeom>
            <a:solidFill>
              <a:srgbClr val="F2EBDD"/>
            </a:solidFill>
            <a:ln w="10160">
              <a:solidFill>
                <a:srgbClr val="E2D6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2" name="TextBox 36"/>
            <p:cNvSpPr txBox="1"/>
            <p:nvPr/>
          </p:nvSpPr>
          <p:spPr>
            <a:xfrm>
              <a:off x="6806314" y="4733958"/>
              <a:ext cx="5445265" cy="3683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b="1">
                  <a:solidFill>
                    <a:srgbClr val="252525"/>
                  </a:solidFill>
                  <a:latin typeface="Aptos"/>
                </a:rPr>
                <a:t>最高壁垒｜双向事件回流</a:t>
              </a:r>
              <a:endParaRPr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73" name="Rounded Rectangle 37"/>
            <p:cNvSpPr/>
            <p:nvPr/>
          </p:nvSpPr>
          <p:spPr>
            <a:xfrm>
              <a:off x="6953483" y="5544888"/>
              <a:ext cx="1545278" cy="587225"/>
            </a:xfrm>
            <a:prstGeom prst="roundRect">
              <a:avLst/>
            </a:prstGeom>
            <a:solidFill>
              <a:srgbClr val="FDFCF9"/>
            </a:solidFill>
            <a:ln w="15240">
              <a:solidFill>
                <a:srgbClr val="E85C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4" name="TextBox 38"/>
            <p:cNvSpPr txBox="1"/>
            <p:nvPr/>
          </p:nvSpPr>
          <p:spPr>
            <a:xfrm>
              <a:off x="6953483" y="5679734"/>
              <a:ext cx="1545278" cy="2755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E85C16"/>
                  </a:solidFill>
                  <a:latin typeface="Aptos"/>
                </a:rPr>
                <a:t>内生动机</a:t>
              </a:r>
              <a:endParaRPr sz="1200" b="1">
                <a:solidFill>
                  <a:srgbClr val="E85C16"/>
                </a:solidFill>
                <a:latin typeface="Aptos"/>
              </a:endParaRPr>
            </a:p>
          </p:txBody>
        </p:sp>
        <p:sp>
          <p:nvSpPr>
            <p:cNvPr id="75" name="Rounded Rectangle 39"/>
            <p:cNvSpPr/>
            <p:nvPr/>
          </p:nvSpPr>
          <p:spPr>
            <a:xfrm>
              <a:off x="10559132" y="5544888"/>
              <a:ext cx="1545278" cy="587225"/>
            </a:xfrm>
            <a:prstGeom prst="roundRect">
              <a:avLst/>
            </a:prstGeom>
            <a:solidFill>
              <a:srgbClr val="FDFCF9"/>
            </a:solidFill>
            <a:ln w="15240">
              <a:solidFill>
                <a:srgbClr val="2794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6" name="TextBox 40"/>
            <p:cNvSpPr txBox="1"/>
            <p:nvPr/>
          </p:nvSpPr>
          <p:spPr>
            <a:xfrm>
              <a:off x="10559132" y="5679734"/>
              <a:ext cx="1545278" cy="2755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279488"/>
                  </a:solidFill>
                  <a:latin typeface="Aptos"/>
                </a:rPr>
                <a:t>世界改变</a:t>
              </a:r>
              <a:endParaRPr sz="1200" b="1">
                <a:solidFill>
                  <a:srgbClr val="279488"/>
                </a:solidFill>
                <a:latin typeface="Aptos"/>
              </a:endParaRPr>
            </a:p>
          </p:txBody>
        </p:sp>
        <p:sp>
          <p:nvSpPr>
            <p:cNvPr id="77" name="Rounded Rectangle 41"/>
            <p:cNvSpPr/>
            <p:nvPr/>
          </p:nvSpPr>
          <p:spPr>
            <a:xfrm>
              <a:off x="10559132" y="6803226"/>
              <a:ext cx="1545278" cy="587225"/>
            </a:xfrm>
            <a:prstGeom prst="roundRect">
              <a:avLst/>
            </a:prstGeom>
            <a:solidFill>
              <a:srgbClr val="FDFCF9"/>
            </a:solidFill>
            <a:ln w="15240">
              <a:solidFill>
                <a:srgbClr val="2794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8" name="TextBox 42"/>
            <p:cNvSpPr txBox="1"/>
            <p:nvPr/>
          </p:nvSpPr>
          <p:spPr>
            <a:xfrm>
              <a:off x="10559132" y="6938073"/>
              <a:ext cx="1545278" cy="2755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279488"/>
                  </a:solidFill>
                  <a:latin typeface="Aptos"/>
                </a:rPr>
                <a:t>结构化事件</a:t>
              </a:r>
              <a:endParaRPr sz="1200" b="1">
                <a:solidFill>
                  <a:srgbClr val="279488"/>
                </a:solidFill>
                <a:latin typeface="Aptos"/>
              </a:endParaRPr>
            </a:p>
          </p:txBody>
        </p:sp>
        <p:sp>
          <p:nvSpPr>
            <p:cNvPr id="79" name="Rounded Rectangle 43"/>
            <p:cNvSpPr/>
            <p:nvPr/>
          </p:nvSpPr>
          <p:spPr>
            <a:xfrm>
              <a:off x="6953483" y="6803226"/>
              <a:ext cx="1545278" cy="587225"/>
            </a:xfrm>
            <a:prstGeom prst="roundRect">
              <a:avLst/>
            </a:prstGeom>
            <a:solidFill>
              <a:srgbClr val="FDFCF9"/>
            </a:solidFill>
            <a:ln w="15240">
              <a:solidFill>
                <a:srgbClr val="E85C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0" name="TextBox 44"/>
            <p:cNvSpPr txBox="1"/>
            <p:nvPr/>
          </p:nvSpPr>
          <p:spPr>
            <a:xfrm>
              <a:off x="6953483" y="6938073"/>
              <a:ext cx="1545278" cy="2755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E85C16"/>
                  </a:solidFill>
                  <a:latin typeface="Aptos"/>
                </a:rPr>
                <a:t>心智进化</a:t>
              </a:r>
              <a:endParaRPr sz="1200" b="1">
                <a:solidFill>
                  <a:srgbClr val="E85C16"/>
                </a:solidFill>
                <a:latin typeface="Aptos"/>
              </a:endParaRPr>
            </a:p>
          </p:txBody>
        </p:sp>
        <p:cxnSp>
          <p:nvCxnSpPr>
            <p:cNvPr id="81" name="Connector 45"/>
            <p:cNvCxnSpPr/>
            <p:nvPr/>
          </p:nvCxnSpPr>
          <p:spPr>
            <a:xfrm>
              <a:off x="8528195" y="5838500"/>
              <a:ext cx="1957352" cy="0"/>
            </a:xfrm>
            <a:prstGeom prst="line">
              <a:avLst/>
            </a:prstGeom>
            <a:ln w="20320">
              <a:solidFill>
                <a:srgbClr val="E85C1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46"/>
            <p:cNvCxnSpPr/>
            <p:nvPr/>
          </p:nvCxnSpPr>
          <p:spPr>
            <a:xfrm>
              <a:off x="11324412" y="6160075"/>
              <a:ext cx="0" cy="573243"/>
            </a:xfrm>
            <a:prstGeom prst="line">
              <a:avLst/>
            </a:prstGeom>
            <a:ln w="20320">
              <a:solidFill>
                <a:srgbClr val="2794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47"/>
            <p:cNvCxnSpPr/>
            <p:nvPr/>
          </p:nvCxnSpPr>
          <p:spPr>
            <a:xfrm flipH="1">
              <a:off x="8528195" y="7096839"/>
              <a:ext cx="1957352" cy="0"/>
            </a:xfrm>
            <a:prstGeom prst="line">
              <a:avLst/>
            </a:prstGeom>
            <a:ln w="20320">
              <a:solidFill>
                <a:srgbClr val="2794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48"/>
            <p:cNvCxnSpPr/>
            <p:nvPr/>
          </p:nvCxnSpPr>
          <p:spPr>
            <a:xfrm flipV="1">
              <a:off x="7718763" y="6174057"/>
              <a:ext cx="0" cy="573243"/>
            </a:xfrm>
            <a:prstGeom prst="line">
              <a:avLst/>
            </a:prstGeom>
            <a:ln w="20320">
              <a:solidFill>
                <a:srgbClr val="E85C1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49"/>
            <p:cNvSpPr txBox="1"/>
            <p:nvPr/>
          </p:nvSpPr>
          <p:spPr>
            <a:xfrm>
              <a:off x="8601779" y="6016232"/>
              <a:ext cx="1839617" cy="101473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252525"/>
                  </a:solidFill>
                  <a:latin typeface="Aptos"/>
                </a:rPr>
                <a:t>Agent 改变世界</a:t>
              </a:r>
              <a:br>
                <a:rPr sz="1200" b="1">
                  <a:solidFill>
                    <a:srgbClr val="252525"/>
                  </a:solidFill>
                  <a:latin typeface="Aptos"/>
                </a:rPr>
              </a:br>
              <a:r>
                <a:rPr sz="2400"/>
                <a:t>世界塑造 Agent</a:t>
              </a:r>
              <a:endParaRPr sz="2400"/>
            </a:p>
          </p:txBody>
        </p:sp>
        <p:sp>
          <p:nvSpPr>
            <p:cNvPr id="86" name="Rounded Rectangle 50"/>
            <p:cNvSpPr/>
            <p:nvPr/>
          </p:nvSpPr>
          <p:spPr>
            <a:xfrm>
              <a:off x="1096143" y="8564900"/>
              <a:ext cx="16895039" cy="922782"/>
            </a:xfrm>
            <a:prstGeom prst="roundRect">
              <a:avLst/>
            </a:prstGeom>
            <a:solidFill>
              <a:srgbClr val="F6EFE2"/>
            </a:solidFill>
            <a:ln w="10160">
              <a:solidFill>
                <a:srgbClr val="E4D3B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7" name="TextBox 51"/>
            <p:cNvSpPr txBox="1"/>
            <p:nvPr/>
          </p:nvSpPr>
          <p:spPr>
            <a:xfrm>
              <a:off x="1508218" y="8774624"/>
              <a:ext cx="16041457" cy="3371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252525"/>
                  </a:solidFill>
                  <a:latin typeface="Aptos"/>
                </a:rPr>
                <a:t>心智发起行为 → 世界被改造 → 真实事件回流 → 记忆 / 关系 / 能力更新 → 更高阶创造</a:t>
              </a:r>
              <a:endParaRPr sz="1600"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88" name="TextBox 52"/>
            <p:cNvSpPr txBox="1"/>
            <p:nvPr/>
          </p:nvSpPr>
          <p:spPr>
            <a:xfrm>
              <a:off x="3524437" y="9683424"/>
              <a:ext cx="12067884" cy="3371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E85C16"/>
                  </a:solidFill>
                  <a:latin typeface="Aptos"/>
                </a:rPr>
                <a:t>最终产出：一个角色会成长、世界会被改造、文明可自发涌现的 AI 社会</a:t>
              </a:r>
              <a:endParaRPr sz="1600" b="1">
                <a:solidFill>
                  <a:srgbClr val="E85C16"/>
                </a:solidFill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36" name="组合 35"/>
          <p:cNvGrpSpPr/>
          <p:nvPr/>
        </p:nvGrpSpPr>
        <p:grpSpPr>
          <a:xfrm>
            <a:off x="776605" y="594995"/>
            <a:ext cx="16739235" cy="9483725"/>
            <a:chOff x="720" y="490"/>
            <a:chExt cx="17784" cy="10022"/>
          </a:xfrm>
        </p:grpSpPr>
        <p:sp>
          <p:nvSpPr>
            <p:cNvPr id="4" name="Text 0"/>
            <p:cNvSpPr/>
            <p:nvPr/>
          </p:nvSpPr>
          <p:spPr>
            <a:xfrm>
              <a:off x="720" y="490"/>
              <a:ext cx="3600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kern="0" spc="180" dirty="0">
                  <a:solidFill>
                    <a:srgbClr val="85847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情 感 陪 伴 合 规 策 略</a:t>
              </a:r>
              <a:endParaRPr lang="en-US" sz="1200" kern="0" spc="180" dirty="0">
                <a:solidFill>
                  <a:srgbClr val="8584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5" name="Text 1"/>
            <p:cNvSpPr/>
            <p:nvPr/>
          </p:nvSpPr>
          <p:spPr>
            <a:xfrm>
              <a:off x="720" y="1037"/>
              <a:ext cx="1713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16181D"/>
                  </a:solidFill>
                  <a:latin typeface="Noto Serif SC" pitchFamily="34" charset="0"/>
                  <a:ea typeface="Noto Serif SC" pitchFamily="34" charset="-122"/>
                  <a:cs typeface="Noto Serif SC" pitchFamily="34" charset="-120"/>
                  <a:sym typeface="+mn-ea"/>
                </a:rPr>
                <a:t>合规不是事后补丁，而是底层设计</a:t>
              </a:r>
              <a:endParaRPr lang="en-US" sz="36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720" y="1915"/>
              <a:ext cx="1756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66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AI 从“工具”走向“关系”后，监管关注点正在从内容安全延伸到未成年人保护、情感依赖、人格边界与监护责任</a:t>
              </a:r>
              <a:endParaRPr lang="en-US" sz="1600" dirty="0">
                <a:solidFill>
                  <a:srgbClr val="7776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7" name="Shape 3"/>
            <p:cNvSpPr/>
            <p:nvPr/>
          </p:nvSpPr>
          <p:spPr>
            <a:xfrm>
              <a:off x="720" y="2563"/>
              <a:ext cx="17784" cy="0"/>
            </a:xfrm>
            <a:prstGeom prst="line">
              <a:avLst/>
            </a:prstGeom>
            <a:noFill/>
            <a:ln w="12700">
              <a:solidFill>
                <a:srgbClr val="55534F"/>
              </a:solidFill>
              <a:prstDash val="solid"/>
            </a:ln>
          </p:spPr>
        </p:sp>
        <p:sp>
          <p:nvSpPr>
            <p:cNvPr id="8" name="Shape 4"/>
            <p:cNvSpPr/>
            <p:nvPr/>
          </p:nvSpPr>
          <p:spPr>
            <a:xfrm>
              <a:off x="720" y="2923"/>
              <a:ext cx="17784" cy="950"/>
            </a:xfrm>
            <a:prstGeom prst="rect">
              <a:avLst/>
            </a:prstGeom>
            <a:solidFill>
              <a:srgbClr val="F4EFE6"/>
            </a:solidFill>
            <a:ln w="7620">
              <a:solidFill>
                <a:srgbClr val="E3DED4"/>
              </a:solidFill>
              <a:prstDash val="solid"/>
            </a:ln>
          </p:spPr>
        </p:sp>
        <p:sp>
          <p:nvSpPr>
            <p:cNvPr id="9" name="Text 5"/>
            <p:cNvSpPr/>
            <p:nvPr/>
          </p:nvSpPr>
          <p:spPr>
            <a:xfrm>
              <a:off x="1037" y="3082"/>
              <a:ext cx="496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监管背景｜AI 陪伴正在进入新的风险阶段</a:t>
              </a:r>
              <a:endParaRPr lang="en-US" sz="1400" b="1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5904" y="3010"/>
              <a:ext cx="12168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F5D57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传统 AI 的安全主要管理“内容”；当 AI 开始建立长期关系，安全还必须管理“关系”——与谁建立、建立什么关系、持续多久，以及是否产生不健康的情感依赖。</a:t>
              </a:r>
              <a:endParaRPr lang="en-US" sz="1400" dirty="0">
                <a:solidFill>
                  <a:srgbClr val="5F5D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5904" y="3499"/>
              <a:ext cx="6048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456D6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Content Safety  →  Relationship Safety</a:t>
              </a:r>
              <a:endParaRPr lang="en-US" sz="1200" b="1" dirty="0">
                <a:solidFill>
                  <a:srgbClr val="456D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720" y="4176"/>
              <a:ext cx="10944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kern="0" spc="8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我们的判断 · 合规不是运营规则，而是 Relationship Engine 的系统约束</a:t>
              </a:r>
              <a:endParaRPr lang="en-US" sz="1200" b="1" kern="0" spc="8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720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4" name="Shape 10"/>
            <p:cNvSpPr/>
            <p:nvPr/>
          </p:nvSpPr>
          <p:spPr>
            <a:xfrm>
              <a:off x="720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15" name="Text 11"/>
            <p:cNvSpPr/>
            <p:nvPr/>
          </p:nvSpPr>
          <p:spPr>
            <a:xfrm>
              <a:off x="1152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01</a:t>
              </a:r>
              <a:endParaRPr lang="en-US" sz="10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1613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年龄分层</a:t>
              </a:r>
              <a:endParaRPr lang="en-US" sz="20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1152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成人与未成年人模式完整分离。</a:t>
              </a:r>
              <a:r>
                <a:rPr lang="en-US" sz="1400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未成年人不提供虚拟亲密关系型服务</a:t>
              </a: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，仅开放陪伴、学习与兴趣向角色。</a:t>
              </a:r>
              <a:endParaRPr lang="en-US" sz="1400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8" name="Shape 14"/>
            <p:cNvSpPr/>
            <p:nvPr/>
          </p:nvSpPr>
          <p:spPr>
            <a:xfrm>
              <a:off x="9864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9" name="Shape 15"/>
            <p:cNvSpPr/>
            <p:nvPr/>
          </p:nvSpPr>
          <p:spPr>
            <a:xfrm>
              <a:off x="9864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0" name="Text 16"/>
            <p:cNvSpPr/>
            <p:nvPr/>
          </p:nvSpPr>
          <p:spPr>
            <a:xfrm>
              <a:off x="10296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02</a:t>
              </a:r>
              <a:endParaRPr lang="en-US" sz="10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10757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监护可控</a:t>
              </a:r>
              <a:endParaRPr lang="en-US" sz="20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10296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内置监护同意流程、使用时长限制、消费额度控制与现实提醒机制，监护人可查可管可停。</a:t>
              </a:r>
              <a:endParaRPr lang="en-US" sz="1400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3" name="Shape 19"/>
            <p:cNvSpPr/>
            <p:nvPr/>
          </p:nvSpPr>
          <p:spPr>
            <a:xfrm>
              <a:off x="720" y="738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24" name="Shape 20"/>
            <p:cNvSpPr/>
            <p:nvPr/>
          </p:nvSpPr>
          <p:spPr>
            <a:xfrm>
              <a:off x="720" y="738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5" name="Text 21"/>
            <p:cNvSpPr/>
            <p:nvPr/>
          </p:nvSpPr>
          <p:spPr>
            <a:xfrm>
              <a:off x="1152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03</a:t>
              </a:r>
              <a:endParaRPr lang="en-US" sz="10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6" name="Text 22"/>
            <p:cNvSpPr/>
            <p:nvPr/>
          </p:nvSpPr>
          <p:spPr>
            <a:xfrm>
              <a:off x="1613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内容与角色分级</a:t>
              </a:r>
              <a:endParaRPr lang="en-US" sz="20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7" name="Text 23"/>
            <p:cNvSpPr/>
            <p:nvPr/>
          </p:nvSpPr>
          <p:spPr>
            <a:xfrm>
              <a:off x="1152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角色人格、关系类型与可触达内容按等级授权，人格一致性模型保证边界不被提示词诱导突破。</a:t>
              </a:r>
              <a:endParaRPr lang="en-US" sz="1400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8" name="Shape 24"/>
            <p:cNvSpPr/>
            <p:nvPr/>
          </p:nvSpPr>
          <p:spPr>
            <a:xfrm>
              <a:off x="9864" y="7387"/>
              <a:ext cx="8640" cy="2333"/>
            </a:xfrm>
            <a:prstGeom prst="rect">
              <a:avLst/>
            </a:prstGeom>
            <a:solidFill>
              <a:srgbClr val="FBF3E7"/>
            </a:solidFill>
            <a:ln w="10160">
              <a:solidFill>
                <a:srgbClr val="E6B37D"/>
              </a:solidFill>
              <a:prstDash val="solid"/>
            </a:ln>
          </p:spPr>
        </p:sp>
        <p:sp>
          <p:nvSpPr>
            <p:cNvPr id="29" name="Shape 25"/>
            <p:cNvSpPr/>
            <p:nvPr/>
          </p:nvSpPr>
          <p:spPr>
            <a:xfrm>
              <a:off x="9864" y="7387"/>
              <a:ext cx="8640" cy="0"/>
            </a:xfrm>
            <a:prstGeom prst="line">
              <a:avLst/>
            </a:prstGeom>
            <a:noFill/>
            <a:ln w="19050">
              <a:solidFill>
                <a:srgbClr val="C75C0B"/>
              </a:solidFill>
              <a:prstDash val="solid"/>
            </a:ln>
          </p:spPr>
        </p:sp>
        <p:sp>
          <p:nvSpPr>
            <p:cNvPr id="30" name="Text 26"/>
            <p:cNvSpPr/>
            <p:nvPr/>
          </p:nvSpPr>
          <p:spPr>
            <a:xfrm>
              <a:off x="10296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04</a:t>
              </a:r>
              <a:endParaRPr lang="en-US" sz="1000" b="1" kern="0" spc="15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10757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风险识别与干预</a:t>
              </a:r>
              <a:endParaRPr lang="en-US" sz="20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10296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对高风险内容、异常情感依赖与自伤暗示进行识别，执行</a:t>
              </a:r>
              <a:r>
                <a:rPr lang="en-US" sz="1400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强制降级与干预</a:t>
              </a: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，并引导至现实支持资源。</a:t>
              </a:r>
              <a:endParaRPr lang="en-US" sz="1400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720" y="9979"/>
              <a:ext cx="17784" cy="0"/>
            </a:xfrm>
            <a:prstGeom prst="line">
              <a:avLst/>
            </a:prstGeom>
            <a:noFill/>
            <a:ln w="7620">
              <a:solidFill>
                <a:srgbClr val="D7D3CA"/>
              </a:solidFill>
              <a:prstDash val="solid"/>
            </a:ln>
          </p:spPr>
        </p:sp>
        <p:sp>
          <p:nvSpPr>
            <p:cNvPr id="34" name="Text 30"/>
            <p:cNvSpPr/>
            <p:nvPr/>
          </p:nvSpPr>
          <p:spPr>
            <a:xfrm>
              <a:off x="720" y="10123"/>
              <a:ext cx="1764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77746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我们不把合规交给运营侧事后审核，而是将年龄、角色边界、关系权限与风险干预直接写入 MindEngine，让“什么关系可以发生”从系统底层就受到约束。</a:t>
              </a:r>
              <a:endParaRPr lang="en-US" sz="1200" dirty="0">
                <a:solidFill>
                  <a:srgbClr val="7774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5" name="Slide Number Placeholder 0"/>
            <p:cNvSpPr>
              <a:spLocks noGrp="1"/>
            </p:cNvSpPr>
            <p:nvPr/>
          </p:nvSpPr>
          <p:spPr>
            <a:xfrm>
              <a:off x="18000" y="10224"/>
              <a:ext cx="432" cy="288"/>
            </a:xfrm>
            <a:prstGeom prst="rect">
              <a:avLst/>
            </a:prstGeom>
          </p:spPr>
          <p:txBody>
            <a:bodyPr/>
            <a:lstStyle>
              <a:lvl1pPr>
                <a:defRPr sz="700">
                  <a:solidFill>
                    <a:srgbClr val="AAA69C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lvl1pPr>
            </a:lstStyle>
            <a:p>
              <a:pPr algn="l"/>
              <a:fld id="{F7021451-1387-4CA6-816F-3879F97B5CBC}" type="slidenum">
                <a:rPr lang="en-US" sz="1000" b="0"/>
              </a:fld>
              <a:endParaRPr lang="en-US" sz="1000" b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104" name="组合 103"/>
          <p:cNvGrpSpPr/>
          <p:nvPr/>
        </p:nvGrpSpPr>
        <p:grpSpPr>
          <a:xfrm>
            <a:off x="502920" y="384175"/>
            <a:ext cx="17425670" cy="9393649"/>
            <a:chOff x="792" y="605"/>
            <a:chExt cx="17640" cy="9404"/>
          </a:xfrm>
        </p:grpSpPr>
        <p:sp>
          <p:nvSpPr>
            <p:cNvPr id="45" name="TextBox 1"/>
            <p:cNvSpPr txBox="1"/>
            <p:nvPr/>
          </p:nvSpPr>
          <p:spPr>
            <a:xfrm>
              <a:off x="792" y="605"/>
              <a:ext cx="288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商业模式｜RELATIONSHIP ECONOMY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46" name="TextBox 2"/>
            <p:cNvSpPr txBox="1"/>
            <p:nvPr/>
          </p:nvSpPr>
          <p:spPr>
            <a:xfrm>
              <a:off x="792" y="1037"/>
              <a:ext cx="17136" cy="55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sz="3450" b="1" dirty="0">
                  <a:solidFill>
                    <a:srgbClr val="16181D"/>
                  </a:solidFill>
                  <a:latin typeface="Noto Serif SC" pitchFamily="34" charset="0"/>
                  <a:ea typeface="Noto Serif SC" pitchFamily="34" charset="-122"/>
                  <a:cs typeface="Noto Serif SC" pitchFamily="34" charset="-120"/>
                  <a:sym typeface="+mn-ea"/>
                </a:rPr>
                <a:t>先让关系发生，再让关系创造价值</a:t>
              </a:r>
              <a:endPara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endParaRPr>
            </a:p>
          </p:txBody>
        </p:sp>
        <p:sp>
          <p:nvSpPr>
            <p:cNvPr id="47" name="TextBox 3"/>
            <p:cNvSpPr txBox="1"/>
            <p:nvPr/>
          </p:nvSpPr>
          <p:spPr>
            <a:xfrm>
              <a:off x="792" y="1800"/>
              <a:ext cx="17280" cy="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0">
                  <a:solidFill>
                    <a:srgbClr val="6C6A63"/>
                  </a:solidFill>
                  <a:latin typeface="微软雅黑"/>
                </a:rPr>
                <a:t>首次领养免费；关系加深后，从深度体验、关系表达走向</a:t>
              </a:r>
              <a:r>
                <a:rPr lang="zh-CN" b="0">
                  <a:solidFill>
                    <a:srgbClr val="6C6A63"/>
                  </a:solidFill>
                  <a:latin typeface="微软雅黑"/>
                </a:rPr>
                <a:t>硬件</a:t>
              </a:r>
              <a:r>
                <a:rPr b="0">
                  <a:solidFill>
                    <a:srgbClr val="6C6A63"/>
                  </a:solidFill>
                  <a:latin typeface="微软雅黑"/>
                </a:rPr>
                <a:t>载体，持续提升用户 LTV</a:t>
              </a:r>
              <a:endParaRPr b="0">
                <a:solidFill>
                  <a:srgbClr val="6C6A63"/>
                </a:solidFill>
                <a:latin typeface="微软雅黑"/>
              </a:endParaRPr>
            </a:p>
          </p:txBody>
        </p:sp>
        <p:cxnSp>
          <p:nvCxnSpPr>
            <p:cNvPr id="48" name="Connector 4"/>
            <p:cNvCxnSpPr/>
            <p:nvPr/>
          </p:nvCxnSpPr>
          <p:spPr>
            <a:xfrm>
              <a:off x="792" y="2477"/>
              <a:ext cx="17640" cy="0"/>
            </a:xfrm>
            <a:prstGeom prst="line">
              <a:avLst/>
            </a:prstGeom>
            <a:ln w="8890">
              <a:solidFill>
                <a:srgbClr val="1C1D1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5"/>
            <p:cNvSpPr txBox="1"/>
            <p:nvPr/>
          </p:nvSpPr>
          <p:spPr>
            <a:xfrm>
              <a:off x="792" y="2851"/>
              <a:ext cx="720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关系价值阶梯 · HOW WE MAKE MONEY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50" name="TextBox 6"/>
            <p:cNvSpPr txBox="1"/>
            <p:nvPr/>
          </p:nvSpPr>
          <p:spPr>
            <a:xfrm>
              <a:off x="9864" y="2851"/>
              <a:ext cx="7632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模式差异 · PROGRESSION → RELATIONSHIP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cxnSp>
          <p:nvCxnSpPr>
            <p:cNvPr id="51" name="Connector 7"/>
            <p:cNvCxnSpPr/>
            <p:nvPr/>
          </p:nvCxnSpPr>
          <p:spPr>
            <a:xfrm>
              <a:off x="9432" y="2880"/>
              <a:ext cx="0" cy="7128"/>
            </a:xfrm>
            <a:prstGeom prst="line">
              <a:avLst/>
            </a:prstGeom>
            <a:ln w="8890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8"/>
            <p:cNvSpPr/>
            <p:nvPr/>
          </p:nvSpPr>
          <p:spPr>
            <a:xfrm>
              <a:off x="792" y="3312"/>
              <a:ext cx="8136" cy="184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DCA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cxnSp>
          <p:nvCxnSpPr>
            <p:cNvPr id="53" name="Connector 9"/>
            <p:cNvCxnSpPr/>
            <p:nvPr/>
          </p:nvCxnSpPr>
          <p:spPr>
            <a:xfrm>
              <a:off x="792" y="3312"/>
              <a:ext cx="8136" cy="0"/>
            </a:xfrm>
            <a:prstGeom prst="line">
              <a:avLst/>
            </a:prstGeom>
            <a:ln w="15240">
              <a:solidFill>
                <a:srgbClr val="1C1D1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10"/>
            <p:cNvSpPr txBox="1"/>
            <p:nvPr/>
          </p:nvSpPr>
          <p:spPr>
            <a:xfrm>
              <a:off x="1195" y="3629"/>
              <a:ext cx="461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96948B"/>
                  </a:solidFill>
                  <a:latin typeface="微软雅黑"/>
                </a:rPr>
                <a:t>01</a:t>
              </a:r>
              <a:endParaRPr sz="1200" b="1">
                <a:solidFill>
                  <a:srgbClr val="96948B"/>
                </a:solidFill>
                <a:latin typeface="微软雅黑"/>
              </a:endParaRPr>
            </a:p>
          </p:txBody>
        </p:sp>
        <p:sp>
          <p:nvSpPr>
            <p:cNvPr id="55" name="TextBox 11"/>
            <p:cNvSpPr txBox="1"/>
            <p:nvPr/>
          </p:nvSpPr>
          <p:spPr>
            <a:xfrm>
              <a:off x="1728" y="3571"/>
              <a:ext cx="5328" cy="3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C1D1F"/>
                  </a:solidFill>
                  <a:latin typeface="微软雅黑"/>
                </a:rPr>
                <a:t>MEET &amp; ADOPT｜认识 · 领养</a:t>
              </a:r>
              <a:endParaRPr sz="2000"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56" name="TextBox 12"/>
            <p:cNvSpPr txBox="1"/>
            <p:nvPr/>
          </p:nvSpPr>
          <p:spPr>
            <a:xfrm>
              <a:off x="6192" y="3600"/>
              <a:ext cx="2232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6C6A63"/>
                  </a:solidFill>
                  <a:latin typeface="微软雅黑"/>
                </a:rPr>
                <a:t>FREE · ACTIVATION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57" name="TextBox 13"/>
            <p:cNvSpPr txBox="1"/>
            <p:nvPr/>
          </p:nvSpPr>
          <p:spPr>
            <a:xfrm>
              <a:off x="1728" y="4147"/>
              <a:ext cx="6696" cy="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6C6A63"/>
                  </a:solidFill>
                  <a:latin typeface="微软雅黑"/>
                </a:rPr>
                <a:t>首只 Pet 免费领养｜基础互动｜基础长期记忆｜关系成长</a:t>
              </a:r>
              <a:endParaRPr sz="14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58" name="TextBox 14"/>
            <p:cNvSpPr txBox="1"/>
            <p:nvPr/>
          </p:nvSpPr>
          <p:spPr>
            <a:xfrm>
              <a:off x="1728" y="4637"/>
              <a:ext cx="6696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领养不是付费点，而是关系真正开始的时刻。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59" name="Rectangle 15"/>
            <p:cNvSpPr/>
            <p:nvPr/>
          </p:nvSpPr>
          <p:spPr>
            <a:xfrm>
              <a:off x="792" y="5328"/>
              <a:ext cx="8136" cy="184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DCA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cxnSp>
          <p:nvCxnSpPr>
            <p:cNvPr id="60" name="Connector 16"/>
            <p:cNvCxnSpPr/>
            <p:nvPr/>
          </p:nvCxnSpPr>
          <p:spPr>
            <a:xfrm>
              <a:off x="792" y="5328"/>
              <a:ext cx="8136" cy="0"/>
            </a:xfrm>
            <a:prstGeom prst="line">
              <a:avLst/>
            </a:prstGeom>
            <a:ln w="15240">
              <a:solidFill>
                <a:srgbClr val="1C1D1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17"/>
            <p:cNvSpPr txBox="1"/>
            <p:nvPr/>
          </p:nvSpPr>
          <p:spPr>
            <a:xfrm>
              <a:off x="1195" y="5645"/>
              <a:ext cx="461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96948B"/>
                  </a:solidFill>
                  <a:latin typeface="微软雅黑"/>
                </a:rPr>
                <a:t>02</a:t>
              </a:r>
              <a:endParaRPr sz="1200" b="1">
                <a:solidFill>
                  <a:srgbClr val="96948B"/>
                </a:solidFill>
                <a:latin typeface="微软雅黑"/>
              </a:endParaRPr>
            </a:p>
          </p:txBody>
        </p:sp>
        <p:sp>
          <p:nvSpPr>
            <p:cNvPr id="62" name="TextBox 18"/>
            <p:cNvSpPr txBox="1"/>
            <p:nvPr/>
          </p:nvSpPr>
          <p:spPr>
            <a:xfrm>
              <a:off x="1728" y="5587"/>
              <a:ext cx="5328" cy="3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C1D1F"/>
                  </a:solidFill>
                  <a:latin typeface="微软雅黑"/>
                </a:rPr>
                <a:t>DEEPEN｜深度体验</a:t>
              </a:r>
              <a:endParaRPr sz="2000"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63" name="TextBox 19"/>
            <p:cNvSpPr txBox="1"/>
            <p:nvPr/>
          </p:nvSpPr>
          <p:spPr>
            <a:xfrm>
              <a:off x="6192" y="5616"/>
              <a:ext cx="2232" cy="3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6C6A63"/>
                  </a:solidFill>
                  <a:latin typeface="微软雅黑"/>
                </a:rPr>
                <a:t>SUBSCRIPTION · RECURRING REVENUE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64" name="TextBox 20"/>
            <p:cNvSpPr txBox="1"/>
            <p:nvPr/>
          </p:nvSpPr>
          <p:spPr>
            <a:xfrm>
              <a:off x="1728" y="6163"/>
              <a:ext cx="6696" cy="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6C6A63"/>
                  </a:solidFill>
                  <a:latin typeface="微软雅黑"/>
                </a:rPr>
                <a:t>完整每日日记｜Daily Theater｜深度记忆回顾｜Voice / Premium Interaction</a:t>
              </a:r>
              <a:endParaRPr sz="14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65" name="TextBox 21"/>
            <p:cNvSpPr txBox="1"/>
            <p:nvPr/>
          </p:nvSpPr>
          <p:spPr>
            <a:xfrm>
              <a:off x="1728" y="6653"/>
              <a:ext cx="6696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用户付费的不是“它才记得我”，而是“不想错过它的生活”。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66" name="Rectangle 22"/>
            <p:cNvSpPr/>
            <p:nvPr/>
          </p:nvSpPr>
          <p:spPr>
            <a:xfrm>
              <a:off x="792" y="7344"/>
              <a:ext cx="8136" cy="1843"/>
            </a:xfrm>
            <a:prstGeom prst="rect">
              <a:avLst/>
            </a:prstGeom>
            <a:solidFill>
              <a:srgbClr val="F4EEE4"/>
            </a:solidFill>
            <a:ln w="12700">
              <a:solidFill>
                <a:srgbClr val="C54E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cxnSp>
          <p:nvCxnSpPr>
            <p:cNvPr id="67" name="Connector 23"/>
            <p:cNvCxnSpPr/>
            <p:nvPr/>
          </p:nvCxnSpPr>
          <p:spPr>
            <a:xfrm>
              <a:off x="792" y="7344"/>
              <a:ext cx="8136" cy="0"/>
            </a:xfrm>
            <a:prstGeom prst="line">
              <a:avLst/>
            </a:prstGeom>
            <a:ln w="15240">
              <a:solidFill>
                <a:srgbClr val="C54E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24"/>
            <p:cNvSpPr txBox="1"/>
            <p:nvPr/>
          </p:nvSpPr>
          <p:spPr>
            <a:xfrm>
              <a:off x="1195" y="7661"/>
              <a:ext cx="461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03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69" name="TextBox 25"/>
            <p:cNvSpPr txBox="1"/>
            <p:nvPr/>
          </p:nvSpPr>
          <p:spPr>
            <a:xfrm>
              <a:off x="1728" y="7603"/>
              <a:ext cx="5328" cy="3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C1D1F"/>
                  </a:solidFill>
                  <a:latin typeface="微软雅黑"/>
                </a:rPr>
                <a:t>EXPRESS → PHYSICAL｜表达 · 现实陪伴</a:t>
              </a:r>
              <a:endParaRPr sz="2000"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71" name="TextBox 27"/>
            <p:cNvSpPr txBox="1"/>
            <p:nvPr/>
          </p:nvSpPr>
          <p:spPr>
            <a:xfrm>
              <a:off x="1728" y="8179"/>
              <a:ext cx="6696" cy="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6C6A63"/>
                  </a:solidFill>
                  <a:latin typeface="微软雅黑"/>
                </a:rPr>
                <a:t>家园 / 穿搭 / 礼物 / 旅行 / 更多 Pet  →  电子吧唧 / Desktop Pet / Embodied AI</a:t>
              </a:r>
              <a:endParaRPr sz="14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72" name="TextBox 28"/>
            <p:cNvSpPr txBox="1"/>
            <p:nvPr/>
          </p:nvSpPr>
          <p:spPr>
            <a:xfrm>
              <a:off x="1728" y="8669"/>
              <a:ext cx="6696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Same Mind. Different Bodies. 让已经陪伴你的那只 Pet 来到现实。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77" name="TextBox 33"/>
            <p:cNvSpPr txBox="1"/>
            <p:nvPr/>
          </p:nvSpPr>
          <p:spPr>
            <a:xfrm>
              <a:off x="9864" y="3283"/>
              <a:ext cx="3960" cy="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1">
                  <a:solidFill>
                    <a:srgbClr val="1C1D1F"/>
                  </a:solidFill>
                  <a:latin typeface="微软雅黑"/>
                </a:rPr>
                <a:t>传统电子宠物 / 养成游戏</a:t>
              </a:r>
              <a:endParaRPr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78" name="TextBox 34"/>
            <p:cNvSpPr txBox="1"/>
            <p:nvPr/>
          </p:nvSpPr>
          <p:spPr>
            <a:xfrm>
              <a:off x="14256" y="3283"/>
              <a:ext cx="3960" cy="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1">
                  <a:solidFill>
                    <a:srgbClr val="C54E00"/>
                  </a:solidFill>
                  <a:latin typeface="微软雅黑"/>
                </a:rPr>
                <a:t>疯狂宠物城</a:t>
              </a:r>
              <a:endParaRPr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79" name="TextBox 35"/>
            <p:cNvSpPr txBox="1"/>
            <p:nvPr/>
          </p:nvSpPr>
          <p:spPr>
            <a:xfrm>
              <a:off x="9864" y="3773"/>
              <a:ext cx="396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CONTENT / PROGRESSION ECONOMY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80" name="TextBox 36"/>
            <p:cNvSpPr txBox="1"/>
            <p:nvPr/>
          </p:nvSpPr>
          <p:spPr>
            <a:xfrm>
              <a:off x="14256" y="3773"/>
              <a:ext cx="396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RELATIONSHIP ECONOMY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81" name="Rectangle 37"/>
            <p:cNvSpPr/>
            <p:nvPr/>
          </p:nvSpPr>
          <p:spPr>
            <a:xfrm>
              <a:off x="9864" y="4248"/>
              <a:ext cx="3917" cy="1843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CDCA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2" name="Rectangle 38"/>
            <p:cNvSpPr/>
            <p:nvPr/>
          </p:nvSpPr>
          <p:spPr>
            <a:xfrm>
              <a:off x="14256" y="4248"/>
              <a:ext cx="3917" cy="1843"/>
            </a:xfrm>
            <a:prstGeom prst="rect">
              <a:avLst/>
            </a:prstGeom>
            <a:solidFill>
              <a:srgbClr val="F4EEE4"/>
            </a:solidFill>
            <a:ln w="11430">
              <a:solidFill>
                <a:srgbClr val="C54E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TextBox 39"/>
            <p:cNvSpPr txBox="1"/>
            <p:nvPr/>
          </p:nvSpPr>
          <p:spPr>
            <a:xfrm>
              <a:off x="10123" y="4851"/>
              <a:ext cx="3384" cy="49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>
                  <a:solidFill>
                    <a:srgbClr val="6C6A63"/>
                  </a:solidFill>
                  <a:latin typeface="微软雅黑"/>
                </a:rPr>
                <a:t>内容 → 养成 → 等级 / 收藏
→ 消费 / 解锁 → 新内容</a:t>
              </a:r>
              <a:endParaRPr sz="16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84" name="TextBox 40"/>
            <p:cNvSpPr txBox="1"/>
            <p:nvPr/>
          </p:nvSpPr>
          <p:spPr>
            <a:xfrm>
              <a:off x="14515" y="4851"/>
              <a:ext cx="3384" cy="49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>
                  <a:solidFill>
                    <a:srgbClr val="1C1D1F"/>
                  </a:solidFill>
                  <a:latin typeface="微软雅黑"/>
                </a:rPr>
                <a:t>经历 → 记忆 → 关系
→ 表达 → 新的共同经历</a:t>
              </a:r>
              <a:endParaRPr sz="1600" b="1">
                <a:solidFill>
                  <a:srgbClr val="1C1D1F"/>
                </a:solidFill>
                <a:latin typeface="微软雅黑"/>
              </a:endParaRPr>
            </a:p>
          </p:txBody>
        </p:sp>
        <p:cxnSp>
          <p:nvCxnSpPr>
            <p:cNvPr id="85" name="Connector 41"/>
            <p:cNvCxnSpPr/>
            <p:nvPr/>
          </p:nvCxnSpPr>
          <p:spPr>
            <a:xfrm>
              <a:off x="9864" y="7013"/>
              <a:ext cx="8323" cy="0"/>
            </a:xfrm>
            <a:prstGeom prst="line">
              <a:avLst/>
            </a:prstGeom>
            <a:ln w="5715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42"/>
            <p:cNvSpPr txBox="1"/>
            <p:nvPr/>
          </p:nvSpPr>
          <p:spPr>
            <a:xfrm>
              <a:off x="9864" y="6451"/>
              <a:ext cx="1123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核心资产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87" name="TextBox 43"/>
            <p:cNvSpPr txBox="1"/>
            <p:nvPr/>
          </p:nvSpPr>
          <p:spPr>
            <a:xfrm>
              <a:off x="11131" y="6451"/>
              <a:ext cx="2664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等级 · 道具 · 收藏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88" name="TextBox 44"/>
            <p:cNvSpPr txBox="1"/>
            <p:nvPr/>
          </p:nvSpPr>
          <p:spPr>
            <a:xfrm>
              <a:off x="14256" y="6451"/>
              <a:ext cx="3917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共同历史 · 关系 · Pet 人生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cxnSp>
          <p:nvCxnSpPr>
            <p:cNvPr id="89" name="Connector 45"/>
            <p:cNvCxnSpPr/>
            <p:nvPr/>
          </p:nvCxnSpPr>
          <p:spPr>
            <a:xfrm>
              <a:off x="9864" y="7690"/>
              <a:ext cx="8323" cy="0"/>
            </a:xfrm>
            <a:prstGeom prst="line">
              <a:avLst/>
            </a:prstGeom>
            <a:ln w="5715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46"/>
            <p:cNvSpPr txBox="1"/>
            <p:nvPr/>
          </p:nvSpPr>
          <p:spPr>
            <a:xfrm>
              <a:off x="9864" y="7128"/>
              <a:ext cx="1123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成长关系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1" name="TextBox 47"/>
            <p:cNvSpPr txBox="1"/>
            <p:nvPr/>
          </p:nvSpPr>
          <p:spPr>
            <a:xfrm>
              <a:off x="11131" y="7128"/>
              <a:ext cx="2664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User → Pet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2" name="TextBox 48"/>
            <p:cNvSpPr txBox="1"/>
            <p:nvPr/>
          </p:nvSpPr>
          <p:spPr>
            <a:xfrm>
              <a:off x="14256" y="7128"/>
              <a:ext cx="3917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1C1D1F"/>
                  </a:solidFill>
                  <a:latin typeface="微软雅黑"/>
                </a:rPr>
                <a:t>User ↔ Pet ↔ World</a:t>
              </a:r>
              <a:endParaRPr sz="1200" b="0">
                <a:solidFill>
                  <a:srgbClr val="1C1D1F"/>
                </a:solidFill>
                <a:latin typeface="微软雅黑"/>
              </a:endParaRPr>
            </a:p>
          </p:txBody>
        </p:sp>
        <p:cxnSp>
          <p:nvCxnSpPr>
            <p:cNvPr id="93" name="Connector 49"/>
            <p:cNvCxnSpPr/>
            <p:nvPr/>
          </p:nvCxnSpPr>
          <p:spPr>
            <a:xfrm>
              <a:off x="9864" y="8366"/>
              <a:ext cx="8323" cy="0"/>
            </a:xfrm>
            <a:prstGeom prst="line">
              <a:avLst/>
            </a:prstGeom>
            <a:ln w="5715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50"/>
            <p:cNvSpPr txBox="1"/>
            <p:nvPr/>
          </p:nvSpPr>
          <p:spPr>
            <a:xfrm>
              <a:off x="9864" y="7805"/>
              <a:ext cx="1123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用户离线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5" name="TextBox 51"/>
            <p:cNvSpPr txBox="1"/>
            <p:nvPr/>
          </p:nvSpPr>
          <p:spPr>
            <a:xfrm>
              <a:off x="11131" y="7805"/>
              <a:ext cx="2664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暂停 / 离线结算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6" name="TextBox 52"/>
            <p:cNvSpPr txBox="1"/>
            <p:nvPr/>
          </p:nvSpPr>
          <p:spPr>
            <a:xfrm>
              <a:off x="14256" y="7805"/>
              <a:ext cx="3917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1C1D1F"/>
                  </a:solidFill>
                  <a:latin typeface="微软雅黑"/>
                </a:rPr>
                <a:t>Pet 继续生活、产生经历</a:t>
              </a:r>
              <a:endParaRPr sz="1200" b="0">
                <a:solidFill>
                  <a:srgbClr val="1C1D1F"/>
                </a:solidFill>
                <a:latin typeface="微软雅黑"/>
              </a:endParaRPr>
            </a:p>
          </p:txBody>
        </p:sp>
        <p:cxnSp>
          <p:nvCxnSpPr>
            <p:cNvPr id="97" name="Connector 53"/>
            <p:cNvCxnSpPr/>
            <p:nvPr/>
          </p:nvCxnSpPr>
          <p:spPr>
            <a:xfrm>
              <a:off x="9864" y="9043"/>
              <a:ext cx="8323" cy="0"/>
            </a:xfrm>
            <a:prstGeom prst="line">
              <a:avLst/>
            </a:prstGeom>
            <a:ln w="5715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54"/>
            <p:cNvSpPr txBox="1"/>
            <p:nvPr/>
          </p:nvSpPr>
          <p:spPr>
            <a:xfrm>
              <a:off x="9864" y="8482"/>
              <a:ext cx="1123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硬件逻辑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9" name="TextBox 55"/>
            <p:cNvSpPr txBox="1"/>
            <p:nvPr/>
          </p:nvSpPr>
          <p:spPr>
            <a:xfrm>
              <a:off x="11131" y="8482"/>
              <a:ext cx="2664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Hardware → Relationship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100" name="TextBox 56"/>
            <p:cNvSpPr txBox="1"/>
            <p:nvPr/>
          </p:nvSpPr>
          <p:spPr>
            <a:xfrm>
              <a:off x="14256" y="8482"/>
              <a:ext cx="3917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Relationship → Hardware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101" name="Rectangle 57"/>
            <p:cNvSpPr/>
            <p:nvPr/>
          </p:nvSpPr>
          <p:spPr>
            <a:xfrm>
              <a:off x="9864" y="9245"/>
              <a:ext cx="8323" cy="763"/>
            </a:xfrm>
            <a:prstGeom prst="rect">
              <a:avLst/>
            </a:prstGeom>
            <a:solidFill>
              <a:srgbClr val="F4EEE4"/>
            </a:solidFill>
            <a:ln w="8890">
              <a:solidFill>
                <a:srgbClr val="C54E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2" name="TextBox 58"/>
            <p:cNvSpPr txBox="1"/>
            <p:nvPr/>
          </p:nvSpPr>
          <p:spPr>
            <a:xfrm>
              <a:off x="10152" y="9389"/>
              <a:ext cx="7747" cy="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1C1D1F"/>
                  </a:solidFill>
                  <a:latin typeface="微软雅黑"/>
                </a:rPr>
                <a:t>内容负责让新的事情发生，关系负责让发生过的事情越来越有价值。</a:t>
              </a:r>
              <a:endParaRPr sz="1400"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103" name="TextBox 59"/>
            <p:cNvSpPr txBox="1"/>
            <p:nvPr/>
          </p:nvSpPr>
          <p:spPr>
            <a:xfrm>
              <a:off x="792" y="9825"/>
              <a:ext cx="1764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Adoption = Activation, not Monetization.  先最大化关系形成率，再围绕关系深度实现持续商业化。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905402"/>
            <a:ext cx="4972507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657746" y="3905402"/>
            <a:ext cx="4972507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77395" y="3905402"/>
            <a:ext cx="4972507" cy="4343400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8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8630107"/>
            <a:ext cx="15811805" cy="9144"/>
          </a:xfrm>
          <a:prstGeom prst="rect">
            <a:avLst/>
          </a:prstGeom>
        </p:spPr>
      </p:pic>
      <p:pic>
        <p:nvPicPr>
          <p:cNvPr id="9" name="Image 3" descr="gen-dedup-2244e130567dc5d90e6eedf1a9dcaba3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1238098" y="3333902"/>
            <a:ext cx="15811805" cy="914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96005" y="3276295"/>
            <a:ext cx="123444" cy="123444"/>
          </a:xfrm>
          <a:prstGeom prst="ellipse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9087307" y="3276295"/>
            <a:ext cx="123444" cy="123444"/>
          </a:xfrm>
          <a:prstGeom prst="ellipse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4459407" y="3247949"/>
            <a:ext cx="181051" cy="181051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238098" y="3143707"/>
            <a:ext cx="1905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线上验证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15145207" y="3143707"/>
            <a:ext cx="1905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具身放大</a:t>
            </a:r>
            <a:endParaRPr lang="en-US" sz="1050" dirty="0"/>
          </a:p>
        </p:txBody>
      </p:sp>
      <p:pic>
        <p:nvPicPr>
          <p:cNvPr id="15" name="Image 4" descr="gen-dedup-ab77413bf1d788d088fa0f7af44c58e7.png"/>
          <p:cNvPicPr>
            <a:picLocks noChangeAspect="1"/>
          </p:cNvPicPr>
          <p:nvPr/>
        </p:nvPicPr>
        <p:blipFill>
          <a:blip r:embed="rId5"/>
          <a:srcRect l="-409" r="-409"/>
          <a:stretch>
            <a:fillRect/>
          </a:stretch>
        </p:blipFill>
        <p:spPr>
          <a:xfrm>
            <a:off x="1238098" y="3905402"/>
            <a:ext cx="4972507" cy="2834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619402" y="4496105"/>
            <a:ext cx="1867205" cy="990295"/>
          </a:xfrm>
          <a:prstGeom prst="rect">
            <a:avLst/>
          </a:prstGeom>
          <a:solidFill>
            <a:srgbClr val="F7F7F4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1867205" y="4743907"/>
            <a:ext cx="1371600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9C"/>
            </a:solidFill>
            <a:prstDash val="solid"/>
          </a:ln>
        </p:spPr>
      </p:sp>
      <p:pic>
        <p:nvPicPr>
          <p:cNvPr id="18" name="Image 5" descr="gen-dedup-9a93099b0cada72cb12c07e06f41e0c5.png"/>
          <p:cNvPicPr>
            <a:picLocks noChangeAspect="1"/>
          </p:cNvPicPr>
          <p:nvPr/>
        </p:nvPicPr>
        <p:blipFill>
          <a:blip r:embed="rId6"/>
          <a:srcRect l="-57" r="-57"/>
          <a:stretch>
            <a:fillRect/>
          </a:stretch>
        </p:blipFill>
        <p:spPr>
          <a:xfrm>
            <a:off x="2229307" y="4895698"/>
            <a:ext cx="647395" cy="190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829507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AI角色</a:t>
            </a:r>
            <a:endParaRPr lang="en-US" sz="1200" dirty="0"/>
          </a:p>
        </p:txBody>
      </p:sp>
      <p:pic>
        <p:nvPicPr>
          <p:cNvPr id="20" name="Image 6" descr="gen-dedup-ab77413bf1d788d088fa0f7af44c58e7.png"/>
          <p:cNvPicPr>
            <a:picLocks noChangeAspect="1"/>
          </p:cNvPicPr>
          <p:nvPr/>
        </p:nvPicPr>
        <p:blipFill>
          <a:blip r:embed="rId5"/>
          <a:srcRect l="-409" r="-409"/>
          <a:stretch>
            <a:fillRect/>
          </a:stretch>
        </p:blipFill>
        <p:spPr>
          <a:xfrm>
            <a:off x="6657746" y="3905402"/>
            <a:ext cx="4972507" cy="28346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496251" y="4438498"/>
            <a:ext cx="914400" cy="914400"/>
          </a:xfrm>
          <a:prstGeom prst="ellipse">
            <a:avLst/>
          </a:prstGeom>
          <a:solidFill>
            <a:srgbClr val="F7F7F4"/>
          </a:solidFill>
          <a:ln w="12700">
            <a:solidFill>
              <a:srgbClr val="A8A89C"/>
            </a:solidFill>
            <a:prstDash val="solid"/>
          </a:ln>
        </p:spPr>
      </p:sp>
      <p:pic>
        <p:nvPicPr>
          <p:cNvPr id="22" name="Image 7" descr="gen-dedup-38f7f474f13d3dc344a4cf90927a0020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705649" y="4647895"/>
            <a:ext cx="495605" cy="49560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895844" y="4362602"/>
            <a:ext cx="114300" cy="114300"/>
          </a:xfrm>
          <a:prstGeom prst="ellips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9249156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电子吧唧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可挂 · 可贴 · 可携带</a:t>
            </a:r>
            <a:endParaRPr lang="en-US" sz="1200" dirty="0"/>
          </a:p>
        </p:txBody>
      </p:sp>
      <p:pic>
        <p:nvPicPr>
          <p:cNvPr id="25" name="Image 8" descr="gen-dedup-d75b28c3872631fc56e93fd353f52260.png"/>
          <p:cNvPicPr>
            <a:picLocks noChangeAspect="1"/>
          </p:cNvPicPr>
          <p:nvPr/>
        </p:nvPicPr>
        <p:blipFill>
          <a:blip r:embed="rId8"/>
          <a:srcRect l="-409" r="-409"/>
          <a:stretch>
            <a:fillRect/>
          </a:stretch>
        </p:blipFill>
        <p:spPr>
          <a:xfrm>
            <a:off x="12077395" y="3905402"/>
            <a:ext cx="4972507" cy="28346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12763195" y="4572000"/>
            <a:ext cx="1238098" cy="761695"/>
          </a:xfrm>
          <a:prstGeom prst="roundRect">
            <a:avLst>
              <a:gd name="adj" fmla="val 12485"/>
            </a:avLst>
          </a:prstGeom>
          <a:solidFill>
            <a:srgbClr val="FFFFFF"/>
          </a:solidFill>
          <a:ln w="12700">
            <a:solidFill>
              <a:srgbClr val="C79A5E"/>
            </a:solidFill>
            <a:prstDash val="solid"/>
          </a:ln>
        </p:spPr>
      </p:sp>
      <p:pic>
        <p:nvPicPr>
          <p:cNvPr id="27" name="Image 9" descr="gen-dedup-df234bd2ef3e7f2318a2188a036883fc.png"/>
          <p:cNvPicPr>
            <a:picLocks noChangeAspect="1"/>
          </p:cNvPicPr>
          <p:nvPr/>
        </p:nvPicPr>
        <p:blipFill>
          <a:blip r:embed="rId9"/>
          <a:srcRect l="-9" r="-9"/>
          <a:stretch>
            <a:fillRect/>
          </a:stretch>
        </p:blipFill>
        <p:spPr>
          <a:xfrm>
            <a:off x="12973507" y="4781398"/>
            <a:ext cx="819302" cy="342900"/>
          </a:xfrm>
          <a:prstGeom prst="rect">
            <a:avLst/>
          </a:prstGeom>
        </p:spPr>
      </p:pic>
      <p:pic>
        <p:nvPicPr>
          <p:cNvPr id="28" name="Image 10" descr="gen-dedup-79dc65d6e47a43ff7d9ffce45d959eb8.png"/>
          <p:cNvPicPr>
            <a:picLocks noChangeAspect="1"/>
          </p:cNvPicPr>
          <p:nvPr/>
        </p:nvPicPr>
        <p:blipFill>
          <a:blip r:embed="rId10"/>
          <a:srcRect l="-2100" r="-2100"/>
          <a:stretch>
            <a:fillRect/>
          </a:stretch>
        </p:blipFill>
        <p:spPr>
          <a:xfrm>
            <a:off x="12668098" y="5333695"/>
            <a:ext cx="1429207" cy="91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4668805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桌面宠物机器人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具身终端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商业路径</a:t>
            </a:r>
            <a:endParaRPr lang="en-US" sz="1125" dirty="0"/>
          </a:p>
        </p:txBody>
      </p:sp>
      <p:sp>
        <p:nvSpPr>
          <p:cNvPr id="31" name="Text 18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先在线上验证关系，再在线下具身化放大</a:t>
            </a:r>
            <a:endParaRPr lang="en-US" sz="3450" dirty="0"/>
          </a:p>
        </p:txBody>
      </p:sp>
      <p:sp>
        <p:nvSpPr>
          <p:cNvPr id="32" name="Text 19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从虚拟世界建立陪伴关系，再通过电子吧唧、桌面宠物机器人等硬件承接长期价值</a:t>
            </a:r>
            <a:endParaRPr lang="en-US" sz="1725" dirty="0"/>
          </a:p>
        </p:txBody>
      </p:sp>
      <p:sp>
        <p:nvSpPr>
          <p:cNvPr id="33" name="Text 20"/>
          <p:cNvSpPr txBox="1"/>
          <p:nvPr/>
        </p:nvSpPr>
        <p:spPr>
          <a:xfrm>
            <a:off x="1619402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01</a:t>
            </a:r>
            <a:endParaRPr lang="en-US" sz="1050" dirty="0"/>
          </a:p>
        </p:txBody>
      </p:sp>
      <p:sp>
        <p:nvSpPr>
          <p:cNvPr id="34" name="Text 21"/>
          <p:cNvSpPr txBox="1"/>
          <p:nvPr/>
        </p:nvSpPr>
        <p:spPr>
          <a:xfrm>
            <a:off x="1619402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在线验证关系成立</a:t>
            </a:r>
            <a:endParaRPr lang="en-US" sz="2100" dirty="0"/>
          </a:p>
        </p:txBody>
      </p:sp>
      <p:sp>
        <p:nvSpPr>
          <p:cNvPr id="35" name="Text 22"/>
          <p:cNvSpPr txBox="1"/>
          <p:nvPr/>
        </p:nvSpPr>
        <p:spPr>
          <a:xfrm>
            <a:off x="1619402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验证留存、互动深度与角色粘性，证明关系可延续而非一次性体验。</a:t>
            </a:r>
            <a:endParaRPr lang="en-US" sz="1350" dirty="0"/>
          </a:p>
        </p:txBody>
      </p:sp>
      <p:sp>
        <p:nvSpPr>
          <p:cNvPr id="36" name="Text 23"/>
          <p:cNvSpPr txBox="1"/>
          <p:nvPr/>
        </p:nvSpPr>
        <p:spPr>
          <a:xfrm>
            <a:off x="7039051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02</a:t>
            </a:r>
            <a:endParaRPr lang="en-US" sz="1050" dirty="0"/>
          </a:p>
        </p:txBody>
      </p:sp>
      <p:sp>
        <p:nvSpPr>
          <p:cNvPr id="37" name="Text 24"/>
          <p:cNvSpPr txBox="1"/>
          <p:nvPr/>
        </p:nvSpPr>
        <p:spPr>
          <a:xfrm>
            <a:off x="7039051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轻硬件承接在场感</a:t>
            </a:r>
            <a:endParaRPr lang="en-US" sz="2100" dirty="0"/>
          </a:p>
        </p:txBody>
      </p:sp>
      <p:sp>
        <p:nvSpPr>
          <p:cNvPr id="38" name="Text 25"/>
          <p:cNvSpPr txBox="1"/>
          <p:nvPr/>
        </p:nvSpPr>
        <p:spPr>
          <a:xfrm>
            <a:off x="7039051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以电子吧唧承接已建立的关系，让角色随身在场，而非再造一个玩具。</a:t>
            </a:r>
            <a:endParaRPr lang="en-US" sz="1350" dirty="0"/>
          </a:p>
        </p:txBody>
      </p:sp>
      <p:sp>
        <p:nvSpPr>
          <p:cNvPr id="39" name="Text 26"/>
          <p:cNvSpPr txBox="1"/>
          <p:nvPr/>
        </p:nvSpPr>
        <p:spPr>
          <a:xfrm>
            <a:off x="12458700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03</a:t>
            </a:r>
            <a:endParaRPr lang="en-US" sz="1050" dirty="0"/>
          </a:p>
        </p:txBody>
      </p:sp>
      <p:sp>
        <p:nvSpPr>
          <p:cNvPr id="40" name="Text 27"/>
          <p:cNvSpPr txBox="1"/>
          <p:nvPr/>
        </p:nvSpPr>
        <p:spPr>
          <a:xfrm>
            <a:off x="12458700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具身终端放大价值</a:t>
            </a:r>
            <a:endParaRPr lang="en-US" sz="2100" dirty="0"/>
          </a:p>
        </p:txBody>
      </p:sp>
      <p:sp>
        <p:nvSpPr>
          <p:cNvPr id="41" name="Text 28"/>
          <p:cNvSpPr txBox="1"/>
          <p:nvPr/>
        </p:nvSpPr>
        <p:spPr>
          <a:xfrm>
            <a:off x="12458700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扩展至桌面宠物机器人等具身终端，放大 LTV 与品牌势能。</a:t>
            </a:r>
            <a:endParaRPr lang="en-US" sz="1350" dirty="0"/>
          </a:p>
        </p:txBody>
      </p:sp>
      <p:sp>
        <p:nvSpPr>
          <p:cNvPr id="42" name="Text 29"/>
          <p:cNvSpPr txBox="1"/>
          <p:nvPr/>
        </p:nvSpPr>
        <p:spPr>
          <a:xfrm>
            <a:off x="1238098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长期留存与互动深度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6657746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硬件转化率与日常携带率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12077395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单用户 LTV 与复购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277002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15907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3353898" y="3143707"/>
            <a:ext cx="3696005" cy="3619195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9" name="Image 2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1238098" y="3143707"/>
            <a:ext cx="3676802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600200" y="3543300"/>
            <a:ext cx="533095" cy="533095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733702" y="3676802"/>
            <a:ext cx="267005" cy="267005"/>
          </a:xfrm>
          <a:prstGeom prst="ellipse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pic>
        <p:nvPicPr>
          <p:cNvPr id="12" name="Image 3" descr="gen-dedup-285683f193522a26ca86e2aeb96f217f.png"/>
          <p:cNvPicPr>
            <a:picLocks noChangeAspect="1"/>
          </p:cNvPicPr>
          <p:nvPr/>
        </p:nvPicPr>
        <p:blipFill>
          <a:blip r:embed="rId4"/>
          <a:srcRect l="-360" r="-360"/>
          <a:stretch>
            <a:fillRect/>
          </a:stretch>
        </p:blipFill>
        <p:spPr>
          <a:xfrm>
            <a:off x="1857146" y="3619195"/>
            <a:ext cx="19202" cy="381305"/>
          </a:xfrm>
          <a:prstGeom prst="rect">
            <a:avLst/>
          </a:prstGeom>
        </p:spPr>
      </p:pic>
      <p:pic>
        <p:nvPicPr>
          <p:cNvPr id="13" name="Image 4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5277002" y="3143707"/>
            <a:ext cx="3676802" cy="2834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639105" y="3657600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943600" y="3543300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5943600" y="3847795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pic>
        <p:nvPicPr>
          <p:cNvPr id="17" name="Image 5" descr="gen-dedup-43b861830bdd208a666c6588e0ebea74.png"/>
          <p:cNvPicPr>
            <a:picLocks noChangeAspect="1"/>
          </p:cNvPicPr>
          <p:nvPr/>
        </p:nvPicPr>
        <p:blipFill>
          <a:blip r:embed="rId5"/>
          <a:srcRect l="-1876" r="-1876"/>
          <a:stretch>
            <a:fillRect/>
          </a:stretch>
        </p:blipFill>
        <p:spPr>
          <a:xfrm>
            <a:off x="5867705" y="3762756"/>
            <a:ext cx="75895" cy="9144"/>
          </a:xfrm>
          <a:prstGeom prst="rect">
            <a:avLst/>
          </a:prstGeom>
        </p:spPr>
      </p:pic>
      <p:pic>
        <p:nvPicPr>
          <p:cNvPr id="18" name="Image 6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9315907" y="3143707"/>
            <a:ext cx="3676802" cy="28346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600907"/>
            <a:ext cx="418795" cy="418795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9791395" y="3543300"/>
            <a:ext cx="418795" cy="418795"/>
          </a:xfrm>
          <a:prstGeom prst="rect">
            <a:avLst/>
          </a:prstGeom>
          <a:noFill/>
          <a:ln w="12700">
            <a:solidFill>
              <a:srgbClr val="A8A89C"/>
            </a:solidFill>
            <a:prstDash val="solid"/>
          </a:ln>
        </p:spPr>
      </p:sp>
      <p:pic>
        <p:nvPicPr>
          <p:cNvPr id="21" name="Image 7" descr="gen-dedup-6c365fb5bbdc770f426565357468fee8.png"/>
          <p:cNvPicPr>
            <a:picLocks noChangeAspect="1"/>
          </p:cNvPicPr>
          <p:nvPr/>
        </p:nvPicPr>
        <p:blipFill>
          <a:blip r:embed="rId6"/>
          <a:srcRect l="-407" r="-407"/>
          <a:stretch>
            <a:fillRect/>
          </a:stretch>
        </p:blipFill>
        <p:spPr>
          <a:xfrm>
            <a:off x="13353898" y="3143707"/>
            <a:ext cx="3696005" cy="28346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13735202" y="3619195"/>
            <a:ext cx="495605" cy="381305"/>
          </a:xfrm>
          <a:prstGeom prst="roundRect">
            <a:avLst>
              <a:gd name="adj" fmla="val 15108"/>
            </a:avLst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13868705" y="3733495"/>
            <a:ext cx="228600" cy="152705"/>
          </a:xfrm>
          <a:prstGeom prst="roundRect">
            <a:avLst>
              <a:gd name="adj" fmla="val 18563"/>
            </a:avLst>
          </a:prstGeom>
          <a:solidFill>
            <a:srgbClr val="E8C0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13944600" y="3543300"/>
            <a:ext cx="75895" cy="75895"/>
          </a:xfrm>
          <a:prstGeom prst="ellips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15"/>
          <p:cNvSpPr txBox="1"/>
          <p:nvPr/>
        </p:nvSpPr>
        <p:spPr>
          <a:xfrm>
            <a:off x="1238098" y="7830007"/>
            <a:ext cx="1429207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2857500" y="7848295"/>
            <a:ext cx="6019495" cy="152705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8915400" y="7848295"/>
            <a:ext cx="3943807" cy="152705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12896698" y="7848295"/>
            <a:ext cx="1123798" cy="152705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1238098" y="8248802"/>
            <a:ext cx="1429207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成熟阶段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2857500" y="8268005"/>
            <a:ext cx="4324198" cy="152705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7220102" y="8268005"/>
            <a:ext cx="3581705" cy="152705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10839298" y="8268005"/>
            <a:ext cx="1695298" cy="152705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2573000" y="8268005"/>
            <a:ext cx="4058107" cy="152705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商业模式</a:t>
            </a:r>
            <a:endParaRPr lang="en-US" sz="1125" dirty="0"/>
          </a:p>
        </p:txBody>
      </p:sp>
      <p:sp>
        <p:nvSpPr>
          <p:cNvPr id="35" name="Text 2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长期价值来自关系，收入来自数字世界与实体终端协同</a:t>
            </a:r>
            <a:endParaRPr lang="en-US" sz="3450" dirty="0"/>
          </a:p>
        </p:txBody>
      </p:sp>
      <p:sp>
        <p:nvSpPr>
          <p:cNvPr id="36" name="Text 2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订阅、虚拟消费、内容衍生、硬件销售，构建多层收入结构</a:t>
            </a:r>
            <a:endParaRPr lang="en-US" sz="1725" dirty="0"/>
          </a:p>
        </p:txBody>
      </p:sp>
      <p:sp>
        <p:nvSpPr>
          <p:cNvPr id="37" name="Text 27"/>
          <p:cNvSpPr txBox="1"/>
          <p:nvPr/>
        </p:nvSpPr>
        <p:spPr>
          <a:xfrm>
            <a:off x="1600200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050" dirty="0"/>
          </a:p>
        </p:txBody>
      </p:sp>
      <p:sp>
        <p:nvSpPr>
          <p:cNvPr id="38" name="Text 28"/>
          <p:cNvSpPr txBox="1"/>
          <p:nvPr/>
        </p:nvSpPr>
        <p:spPr>
          <a:xfrm>
            <a:off x="1600200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订阅收入</a:t>
            </a:r>
            <a:endParaRPr lang="en-US" sz="2025" dirty="0"/>
          </a:p>
        </p:txBody>
      </p:sp>
      <p:sp>
        <p:nvSpPr>
          <p:cNvPr id="39" name="Text 29"/>
          <p:cNvSpPr txBox="1"/>
          <p:nvPr/>
        </p:nvSpPr>
        <p:spPr>
          <a:xfrm>
            <a:off x="1600200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围绕角色成长、记忆增强与长期陪伴能力持续收费，关系越深越有续费理由。</a:t>
            </a:r>
            <a:endParaRPr lang="en-US" sz="1350" dirty="0"/>
          </a:p>
        </p:txBody>
      </p:sp>
      <p:sp>
        <p:nvSpPr>
          <p:cNvPr id="40" name="Text 30"/>
          <p:cNvSpPr txBox="1"/>
          <p:nvPr/>
        </p:nvSpPr>
        <p:spPr>
          <a:xfrm>
            <a:off x="5639105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5639105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虚拟消费</a:t>
            </a:r>
            <a:endParaRPr lang="en-US" sz="2025" dirty="0"/>
          </a:p>
        </p:txBody>
      </p:sp>
      <p:sp>
        <p:nvSpPr>
          <p:cNvPr id="42" name="Text 32"/>
          <p:cNvSpPr txBox="1"/>
          <p:nvPr/>
        </p:nvSpPr>
        <p:spPr>
          <a:xfrm>
            <a:off x="5639105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装扮、道具、剧情、成长档案构成世界内消费场景，消费即关系表达。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9677095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9677095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内容衍生</a:t>
            </a:r>
            <a:endParaRPr lang="en-US" sz="2025" dirty="0"/>
          </a:p>
        </p:txBody>
      </p:sp>
      <p:sp>
        <p:nvSpPr>
          <p:cNvPr id="45" name="Text 35"/>
          <p:cNvSpPr txBox="1"/>
          <p:nvPr/>
        </p:nvSpPr>
        <p:spPr>
          <a:xfrm>
            <a:off x="9677095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角色与世界观沉淀为可延展的内容资产，支撑联名与二次开发。</a:t>
            </a:r>
            <a:endParaRPr lang="en-US" sz="1350" dirty="0"/>
          </a:p>
        </p:txBody>
      </p:sp>
      <p:sp>
        <p:nvSpPr>
          <p:cNvPr id="46" name="Text 36"/>
          <p:cNvSpPr txBox="1"/>
          <p:nvPr/>
        </p:nvSpPr>
        <p:spPr>
          <a:xfrm>
            <a:off x="13716000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050" dirty="0"/>
          </a:p>
        </p:txBody>
      </p:sp>
      <p:sp>
        <p:nvSpPr>
          <p:cNvPr id="47" name="Text 37"/>
          <p:cNvSpPr txBox="1"/>
          <p:nvPr/>
        </p:nvSpPr>
        <p:spPr>
          <a:xfrm>
            <a:off x="13716000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硬件销售</a:t>
            </a:r>
            <a:endParaRPr lang="en-US" sz="2025" dirty="0"/>
          </a:p>
        </p:txBody>
      </p:sp>
      <p:sp>
        <p:nvSpPr>
          <p:cNvPr id="48" name="Text 38"/>
          <p:cNvSpPr txBox="1"/>
          <p:nvPr/>
        </p:nvSpPr>
        <p:spPr>
          <a:xfrm>
            <a:off x="13716000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在关系成立后，以电子吧唧、桌面终端完成具身化收入放大。</a:t>
            </a:r>
            <a:endParaRPr lang="en-US" sz="1350" dirty="0"/>
          </a:p>
        </p:txBody>
      </p:sp>
      <p:sp>
        <p:nvSpPr>
          <p:cNvPr id="49" name="Text 39"/>
          <p:cNvSpPr txBox="1"/>
          <p:nvPr/>
        </p:nvSpPr>
        <p:spPr>
          <a:xfrm>
            <a:off x="1238098" y="7391095"/>
            <a:ext cx="85725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收入结构演进 · 示意比例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2857500" y="8953805"/>
            <a:ext cx="114300" cy="1143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3066898" y="8915400"/>
            <a:ext cx="31455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4000500" y="8953805"/>
            <a:ext cx="114300" cy="114300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4209898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虚拟消费</a:t>
            </a:r>
            <a:endParaRPr lang="en-US" sz="1200" dirty="0"/>
          </a:p>
        </p:txBody>
      </p:sp>
      <p:sp>
        <p:nvSpPr>
          <p:cNvPr id="54" name="Shape 44"/>
          <p:cNvSpPr/>
          <p:nvPr/>
        </p:nvSpPr>
        <p:spPr>
          <a:xfrm>
            <a:off x="5524805" y="8953805"/>
            <a:ext cx="114300" cy="114300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5734202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内容衍生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7048195" y="8953805"/>
            <a:ext cx="114300" cy="11430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7258507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硬件销售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8953805" y="8915400"/>
            <a:ext cx="260055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上图为收入结构示意比例，非收入承诺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657746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77395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38098" y="8248802"/>
            <a:ext cx="15811805" cy="1086307"/>
          </a:xfrm>
          <a:prstGeom prst="rect">
            <a:avLst/>
          </a:prstGeom>
          <a:solidFill>
            <a:srgbClr val="F1F1EB"/>
          </a:solidFill>
        </p:spPr>
      </p:sp>
      <p:sp>
        <p:nvSpPr>
          <p:cNvPr id="9" name="Shape 5"/>
          <p:cNvSpPr/>
          <p:nvPr/>
        </p:nvSpPr>
        <p:spPr>
          <a:xfrm>
            <a:off x="1238098" y="8248802"/>
            <a:ext cx="28346" cy="1086307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10" name="Image 2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1238098" y="3181198"/>
            <a:ext cx="4972507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57807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009851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76349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4" name="Image 3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6657746" y="3181198"/>
            <a:ext cx="4972507" cy="2834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077456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429500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295998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8" name="Image 4" descr="gen-dedup-d75b28c3872631fc56e93fd353f52260.png"/>
          <p:cNvPicPr>
            <a:picLocks noChangeAspect="1"/>
          </p:cNvPicPr>
          <p:nvPr/>
        </p:nvPicPr>
        <p:blipFill>
          <a:blip r:embed="rId4"/>
          <a:srcRect l="-409" r="-409"/>
          <a:stretch>
            <a:fillRect/>
          </a:stretch>
        </p:blipFill>
        <p:spPr>
          <a:xfrm>
            <a:off x="12077395" y="3181198"/>
            <a:ext cx="4972507" cy="2834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2497105" y="3696005"/>
            <a:ext cx="990295" cy="990295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2849149" y="3933749"/>
            <a:ext cx="304495" cy="304495"/>
          </a:xfrm>
          <a:prstGeom prst="ellipse">
            <a:avLst/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2715646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</a:t>
            </a:r>
            <a:endParaRPr lang="en-US" sz="1125" dirty="0"/>
          </a:p>
        </p:txBody>
      </p:sp>
      <p:sp>
        <p:nvSpPr>
          <p:cNvPr id="23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兼具AI、教育与硬件能力的复合型团队</a:t>
            </a:r>
            <a:endParaRPr lang="en-US" sz="3450" dirty="0"/>
          </a:p>
        </p:txBody>
      </p:sp>
      <p:sp>
        <p:nvSpPr>
          <p:cNvPr id="24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围绕关系型AI产品搭建完整能力结构，项目已完成第一阶段 prototype demo</a:t>
            </a:r>
            <a:endParaRPr lang="en-US" sz="1725" dirty="0"/>
          </a:p>
        </p:txBody>
      </p:sp>
      <p:sp>
        <p:nvSpPr>
          <p:cNvPr id="25" name="Text 18"/>
          <p:cNvSpPr txBox="1"/>
          <p:nvPr/>
        </p:nvSpPr>
        <p:spPr>
          <a:xfrm>
            <a:off x="1657807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CEO</a:t>
            </a:r>
            <a:endParaRPr lang="en-US" sz="1125" dirty="0"/>
          </a:p>
        </p:txBody>
      </p:sp>
      <p:sp>
        <p:nvSpPr>
          <p:cNvPr id="26" name="Text 19"/>
          <p:cNvSpPr txBox="1"/>
          <p:nvPr/>
        </p:nvSpPr>
        <p:spPr>
          <a:xfrm>
            <a:off x="1657807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AI产品专家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1657807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/>
              <a:t>丁小</a:t>
            </a:r>
            <a:r>
              <a:rPr lang="zh-CN" altLang="en-US" sz="1200" dirty="0"/>
              <a:t>晶</a:t>
            </a:r>
            <a:endParaRPr lang="zh-CN" altLang="en-US" sz="1200" dirty="0"/>
          </a:p>
        </p:txBody>
      </p:sp>
      <p:pic>
        <p:nvPicPr>
          <p:cNvPr id="28" name="Image 5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657807" y="6277356"/>
            <a:ext cx="418795" cy="91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57807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小度教育副总经理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产研负责人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拥有10年以上AI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陪伴类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智能硬件经验，负责产品定义、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陪伴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场景理解与整体商业推进。</a:t>
            </a:r>
            <a:endParaRPr lang="en-US" sz="1425" dirty="0"/>
          </a:p>
        </p:txBody>
      </p:sp>
      <p:sp>
        <p:nvSpPr>
          <p:cNvPr id="30" name="Text 22"/>
          <p:cNvSpPr txBox="1"/>
          <p:nvPr/>
        </p:nvSpPr>
        <p:spPr>
          <a:xfrm>
            <a:off x="7077456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CTO</a:t>
            </a:r>
            <a:endParaRPr lang="en-US" sz="1125" dirty="0"/>
          </a:p>
        </p:txBody>
      </p:sp>
      <p:sp>
        <p:nvSpPr>
          <p:cNvPr id="31" name="Text 23"/>
          <p:cNvSpPr txBox="1"/>
          <p:nvPr/>
        </p:nvSpPr>
        <p:spPr>
          <a:xfrm>
            <a:off x="7077456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AI大模型专家</a:t>
            </a:r>
            <a:endParaRPr lang="en-US" sz="2100" dirty="0"/>
          </a:p>
        </p:txBody>
      </p:sp>
      <p:sp>
        <p:nvSpPr>
          <p:cNvPr id="32" name="Text 24"/>
          <p:cNvSpPr txBox="1"/>
          <p:nvPr/>
        </p:nvSpPr>
        <p:spPr>
          <a:xfrm>
            <a:off x="7077456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陶</a:t>
            </a:r>
            <a:r>
              <a:rPr lang="en-US" altLang="zh-CN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</a:t>
            </a:r>
            <a:endParaRPr lang="en-US" altLang="zh-CN" sz="1200" dirty="0">
              <a:solidFill>
                <a:srgbClr val="9A9A8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33" name="Image 6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7077456" y="6277356"/>
            <a:ext cx="418795" cy="91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77456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美团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&amp;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蔚来自动驾驶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Infra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技术负责人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负责核心AI架构、记忆系统与关系能力建设，主导 Mind&amp;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World Engine 的工程实现。</a:t>
            </a:r>
            <a:endParaRPr lang="en-US" sz="1425" dirty="0"/>
          </a:p>
        </p:txBody>
      </p:sp>
      <p:sp>
        <p:nvSpPr>
          <p:cNvPr id="35" name="Text 26"/>
          <p:cNvSpPr txBox="1"/>
          <p:nvPr/>
        </p:nvSpPr>
        <p:spPr>
          <a:xfrm>
            <a:off x="12497105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 LEAD</a:t>
            </a:r>
            <a:endParaRPr lang="en-US" sz="1125" dirty="0"/>
          </a:p>
        </p:txBody>
      </p:sp>
      <p:sp>
        <p:nvSpPr>
          <p:cNvPr id="36" name="Text 27"/>
          <p:cNvSpPr txBox="1"/>
          <p:nvPr/>
        </p:nvSpPr>
        <p:spPr>
          <a:xfrm>
            <a:off x="12497105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硬件技术负责人</a:t>
            </a:r>
            <a:endParaRPr lang="en-US" sz="2100" dirty="0"/>
          </a:p>
        </p:txBody>
      </p:sp>
      <p:sp>
        <p:nvSpPr>
          <p:cNvPr id="37" name="Text 28"/>
          <p:cNvSpPr txBox="1"/>
          <p:nvPr/>
        </p:nvSpPr>
        <p:spPr>
          <a:xfrm>
            <a:off x="12497105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/>
              <a:t>田</a:t>
            </a:r>
            <a:r>
              <a:rPr lang="en-US" altLang="zh-CN" sz="1200" dirty="0"/>
              <a:t>xx</a:t>
            </a:r>
            <a:endParaRPr lang="en-US" altLang="zh-CN" sz="1200" dirty="0"/>
          </a:p>
        </p:txBody>
      </p:sp>
      <p:pic>
        <p:nvPicPr>
          <p:cNvPr id="38" name="Image 7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2497105" y="6277356"/>
            <a:ext cx="418795" cy="91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2497105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小度教育硬件负责人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20年行业经验，负责首款硬件的工程实现与供应链落地。</a:t>
            </a:r>
            <a:endParaRPr lang="en-US" sz="1425" dirty="0"/>
          </a:p>
        </p:txBody>
      </p:sp>
      <p:sp>
        <p:nvSpPr>
          <p:cNvPr id="40" name="Text 30"/>
          <p:cNvSpPr txBox="1"/>
          <p:nvPr/>
        </p:nvSpPr>
        <p:spPr>
          <a:xfrm>
            <a:off x="1657807" y="8477402"/>
            <a:ext cx="914400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当前进展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1657807" y="8781898"/>
            <a:ext cx="9144000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项目已完成第一阶段 prototype demo · 融资后将继续扩充关键岗位</a:t>
            </a:r>
            <a:endParaRPr lang="en-US" sz="1575" dirty="0"/>
          </a:p>
        </p:txBody>
      </p:sp>
      <p:sp>
        <p:nvSpPr>
          <p:cNvPr id="42" name="Text 32"/>
          <p:cNvSpPr txBox="1"/>
          <p:nvPr/>
        </p:nvSpPr>
        <p:spPr>
          <a:xfrm>
            <a:off x="11334902" y="8477402"/>
            <a:ext cx="5334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21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能力结构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11334902" y="8781898"/>
            <a:ext cx="5334610" cy="2770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架构 · 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陪伴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 · 硬件量产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43707"/>
            <a:ext cx="7524598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6"/>
            </a:solidFill>
            <a:prstDash val="solid"/>
          </a:ln>
        </p:spPr>
      </p:sp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38098" y="9068105"/>
            <a:ext cx="15811805" cy="9144"/>
          </a:xfrm>
          <a:prstGeom prst="rect">
            <a:avLst/>
          </a:prstGeom>
        </p:spPr>
      </p:pic>
      <p:pic>
        <p:nvPicPr>
          <p:cNvPr id="7" name="Image 3" descr="gen-dedup-0ae5947bcbed9a22dc8c36704d1be725.png"/>
          <p:cNvPicPr>
            <a:picLocks noChangeAspect="1"/>
          </p:cNvPicPr>
          <p:nvPr/>
        </p:nvPicPr>
        <p:blipFill>
          <a:blip r:embed="rId3"/>
          <a:srcRect l="-402" r="-402"/>
          <a:stretch>
            <a:fillRect/>
          </a:stretch>
        </p:blipFill>
        <p:spPr>
          <a:xfrm>
            <a:off x="1238098" y="3143707"/>
            <a:ext cx="7524598" cy="28346"/>
          </a:xfrm>
          <a:prstGeom prst="rect">
            <a:avLst/>
          </a:prstGeom>
        </p:spPr>
      </p:pic>
      <p:pic>
        <p:nvPicPr>
          <p:cNvPr id="8" name="Image 4" descr="gen-dedup-002180e1191cdf5c81b49534b2cd8ca4.png"/>
          <p:cNvPicPr>
            <a:picLocks noChangeAspect="1"/>
          </p:cNvPicPr>
          <p:nvPr/>
        </p:nvPicPr>
        <p:blipFill>
          <a:blip r:embed="rId4"/>
          <a:srcRect t="-2083" b="-2083"/>
          <a:stretch>
            <a:fillRect/>
          </a:stretch>
        </p:blipFill>
        <p:spPr>
          <a:xfrm>
            <a:off x="4990795" y="3638398"/>
            <a:ext cx="9144" cy="17145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525305" y="3733495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r>
              <a:rPr lang="zh-CN" alt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完善</a:t>
            </a:r>
            <a:endParaRPr lang="zh-CN" altLang="en-US" sz="1800" dirty="0">
              <a:solidFill>
                <a:srgbClr val="16181D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15906902" y="3733495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25%</a:t>
            </a:r>
            <a:endParaRPr lang="en-US" sz="2250" dirty="0"/>
          </a:p>
        </p:txBody>
      </p:sp>
      <p:pic>
        <p:nvPicPr>
          <p:cNvPr id="11" name="Image 5" descr="gen-dedup-5044c63faebd2674225f464894ba57ac.png"/>
          <p:cNvPicPr>
            <a:picLocks noChangeAspect="1"/>
          </p:cNvPicPr>
          <p:nvPr/>
        </p:nvPicPr>
        <p:blipFill>
          <a:blip r:embed="rId5"/>
          <a:srcRect l="-200" r="-200"/>
          <a:stretch>
            <a:fillRect/>
          </a:stretch>
        </p:blipFill>
        <p:spPr>
          <a:xfrm>
            <a:off x="9525305" y="4172407"/>
            <a:ext cx="7524598" cy="75895"/>
          </a:xfrm>
          <a:prstGeom prst="rect">
            <a:avLst/>
          </a:prstGeom>
        </p:spPr>
      </p:pic>
      <p:pic>
        <p:nvPicPr>
          <p:cNvPr id="12" name="Image 6" descr="gen-dedup-436d3f7de47af44381d2c61514ea9fe6.png"/>
          <p:cNvPicPr>
            <a:picLocks noChangeAspect="1"/>
          </p:cNvPicPr>
          <p:nvPr/>
        </p:nvPicPr>
        <p:blipFill>
          <a:blip r:embed="rId6"/>
          <a:srcRect l="-206" r="-206"/>
          <a:stretch>
            <a:fillRect/>
          </a:stretch>
        </p:blipFill>
        <p:spPr>
          <a:xfrm>
            <a:off x="9525000" y="4172585"/>
            <a:ext cx="1865630" cy="76200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9525305" y="4401007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世界系统、角色行为与持续运行能力</a:t>
            </a:r>
            <a:endParaRPr lang="en-US" sz="1200" dirty="0"/>
          </a:p>
        </p:txBody>
      </p:sp>
      <p:sp>
        <p:nvSpPr>
          <p:cNvPr id="14" name="Text 5"/>
          <p:cNvSpPr txBox="1"/>
          <p:nvPr/>
        </p:nvSpPr>
        <p:spPr>
          <a:xfrm>
            <a:off x="9525305" y="5009998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World Engine</a:t>
            </a:r>
            <a:r>
              <a:rPr lang="zh-CN" alt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建设</a:t>
            </a:r>
            <a:endParaRPr lang="zh-CN" altLang="en-US" sz="1800" dirty="0">
              <a:solidFill>
                <a:srgbClr val="16181D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5" name="Text 6"/>
          <p:cNvSpPr txBox="1"/>
          <p:nvPr/>
        </p:nvSpPr>
        <p:spPr>
          <a:xfrm>
            <a:off x="15906902" y="5009998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15%</a:t>
            </a:r>
            <a:endParaRPr lang="en-US" sz="2250" dirty="0"/>
          </a:p>
        </p:txBody>
      </p:sp>
      <p:pic>
        <p:nvPicPr>
          <p:cNvPr id="16" name="Image 7" descr="gen-dedup-5044c63faebd2674225f464894ba57ac.png"/>
          <p:cNvPicPr>
            <a:picLocks noChangeAspect="1"/>
          </p:cNvPicPr>
          <p:nvPr/>
        </p:nvPicPr>
        <p:blipFill>
          <a:blip r:embed="rId5"/>
          <a:srcRect l="-200" r="-200"/>
          <a:stretch>
            <a:fillRect/>
          </a:stretch>
        </p:blipFill>
        <p:spPr>
          <a:xfrm>
            <a:off x="9525305" y="5447995"/>
            <a:ext cx="7524598" cy="75895"/>
          </a:xfrm>
          <a:prstGeom prst="rect">
            <a:avLst/>
          </a:prstGeom>
        </p:spPr>
      </p:pic>
      <p:pic>
        <p:nvPicPr>
          <p:cNvPr id="17" name="Image 8" descr="gen-dedup-adf6798d697a5146748691119c50db89.png"/>
          <p:cNvPicPr>
            <a:picLocks noChangeAspect="1"/>
          </p:cNvPicPr>
          <p:nvPr/>
        </p:nvPicPr>
        <p:blipFill>
          <a:blip r:embed="rId7"/>
          <a:srcRect l="-199" r="-199"/>
          <a:stretch>
            <a:fillRect/>
          </a:stretch>
        </p:blipFill>
        <p:spPr>
          <a:xfrm>
            <a:off x="9525000" y="5447665"/>
            <a:ext cx="1205865" cy="76200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9525305" y="5676595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1200">
                <a:solidFill>
                  <a:srgbClr val="7A7A6E"/>
                </a:solidFill>
                <a:latin typeface="Noto Sans SC"/>
                <a:sym typeface="+mn-ea"/>
              </a:rPr>
              <a:t>规则演算、事件执行、世界状态与实体生成底座</a:t>
            </a:r>
            <a:endParaRPr lang="en-US" sz="1200" dirty="0"/>
          </a:p>
        </p:txBody>
      </p:sp>
      <p:grpSp>
        <p:nvGrpSpPr>
          <p:cNvPr id="47" name="组合 46"/>
          <p:cNvGrpSpPr/>
          <p:nvPr/>
        </p:nvGrpSpPr>
        <p:grpSpPr>
          <a:xfrm>
            <a:off x="9525000" y="7343775"/>
            <a:ext cx="7525817" cy="895198"/>
            <a:chOff x="15000" y="9900"/>
            <a:chExt cx="11852" cy="1410"/>
          </a:xfrm>
        </p:grpSpPr>
        <p:sp>
          <p:nvSpPr>
            <p:cNvPr id="19" name="Text 8"/>
            <p:cNvSpPr txBox="1"/>
            <p:nvPr/>
          </p:nvSpPr>
          <p:spPr>
            <a:xfrm>
              <a:off x="15000" y="9900"/>
              <a:ext cx="8401" cy="52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首款电子吧唧研发</a:t>
              </a:r>
              <a:endParaRPr lang="en-US" sz="1800" dirty="0"/>
            </a:p>
          </p:txBody>
        </p:sp>
        <p:sp>
          <p:nvSpPr>
            <p:cNvPr id="20" name="Text 9"/>
            <p:cNvSpPr txBox="1"/>
            <p:nvPr/>
          </p:nvSpPr>
          <p:spPr>
            <a:xfrm>
              <a:off x="25050" y="9900"/>
              <a:ext cx="1800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2250" b="1" dirty="0">
                  <a:solidFill>
                    <a:srgbClr val="B45309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30%</a:t>
              </a:r>
              <a:endParaRPr lang="en-US" sz="2250" dirty="0"/>
            </a:p>
          </p:txBody>
        </p:sp>
        <p:pic>
          <p:nvPicPr>
            <p:cNvPr id="21" name="Image 9" descr="gen-dedup-5044c63faebd2674225f464894ba57ac.png"/>
            <p:cNvPicPr>
              <a:picLocks noChangeAspect="1"/>
            </p:cNvPicPr>
            <p:nvPr/>
          </p:nvPicPr>
          <p:blipFill>
            <a:blip r:embed="rId5"/>
            <a:srcRect l="-200" r="-200"/>
            <a:stretch>
              <a:fillRect/>
            </a:stretch>
          </p:blipFill>
          <p:spPr>
            <a:xfrm>
              <a:off x="15000" y="10590"/>
              <a:ext cx="11850" cy="120"/>
            </a:xfrm>
            <a:prstGeom prst="rect">
              <a:avLst/>
            </a:prstGeom>
          </p:spPr>
        </p:pic>
        <p:pic>
          <p:nvPicPr>
            <p:cNvPr id="22" name="Image 10" descr="gen-dedup-9ae1a58e5553c9e512a086ffb9863f7d.png"/>
            <p:cNvPicPr>
              <a:picLocks noChangeAspect="1"/>
            </p:cNvPicPr>
            <p:nvPr/>
          </p:nvPicPr>
          <p:blipFill>
            <a:blip r:embed="rId8"/>
            <a:srcRect l="-206" r="-206"/>
            <a:stretch>
              <a:fillRect/>
            </a:stretch>
          </p:blipFill>
          <p:spPr>
            <a:xfrm>
              <a:off x="15000" y="10590"/>
              <a:ext cx="3754" cy="190"/>
            </a:xfrm>
            <a:prstGeom prst="rect">
              <a:avLst/>
            </a:prstGeom>
          </p:spPr>
        </p:pic>
        <p:sp>
          <p:nvSpPr>
            <p:cNvPr id="23" name="Text 10"/>
            <p:cNvSpPr txBox="1"/>
            <p:nvPr/>
          </p:nvSpPr>
          <p:spPr>
            <a:xfrm>
              <a:off x="15000" y="10950"/>
              <a:ext cx="11851" cy="3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sz="1200">
                  <a:solidFill>
                    <a:srgbClr val="7A7A6E"/>
                  </a:solidFill>
                  <a:latin typeface="Noto Sans SC"/>
                  <a:sym typeface="+mn-ea"/>
                </a:rPr>
                <a:t>硬件工程、供应链、量产验证与首款产品落地</a:t>
              </a:r>
              <a:endParaRPr lang="en-US" sz="1200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526575" y="6155207"/>
            <a:ext cx="7525512" cy="895198"/>
            <a:chOff x="15000" y="11910"/>
            <a:chExt cx="11851" cy="1410"/>
          </a:xfrm>
        </p:grpSpPr>
        <p:sp>
          <p:nvSpPr>
            <p:cNvPr id="24" name="Text 11"/>
            <p:cNvSpPr txBox="1"/>
            <p:nvPr/>
          </p:nvSpPr>
          <p:spPr>
            <a:xfrm>
              <a:off x="15000" y="11910"/>
              <a:ext cx="8401" cy="52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altLang="zh-CN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3D</a:t>
              </a:r>
              <a:r>
                <a:rPr lang="zh-CN" altLang="en-US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数字宠物桌面版</a:t>
              </a:r>
              <a:r>
                <a:rPr lang="zh-CN" altLang="en-US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迭代</a:t>
              </a:r>
              <a:endParaRPr lang="zh-CN" alt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  <p:sp>
          <p:nvSpPr>
            <p:cNvPr id="25" name="Text 12"/>
            <p:cNvSpPr txBox="1"/>
            <p:nvPr/>
          </p:nvSpPr>
          <p:spPr>
            <a:xfrm>
              <a:off x="25050" y="11910"/>
              <a:ext cx="1800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2250" b="1" dirty="0">
                  <a:solidFill>
                    <a:srgbClr val="B45309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20%</a:t>
              </a:r>
              <a:endParaRPr lang="en-US" sz="2250" dirty="0"/>
            </a:p>
          </p:txBody>
        </p:sp>
        <p:pic>
          <p:nvPicPr>
            <p:cNvPr id="26" name="Image 11" descr="gen-dedup-5044c63faebd2674225f464894ba57ac.png"/>
            <p:cNvPicPr>
              <a:picLocks noChangeAspect="1"/>
            </p:cNvPicPr>
            <p:nvPr/>
          </p:nvPicPr>
          <p:blipFill>
            <a:blip r:embed="rId5"/>
            <a:srcRect l="-200" r="-200"/>
            <a:stretch>
              <a:fillRect/>
            </a:stretch>
          </p:blipFill>
          <p:spPr>
            <a:xfrm>
              <a:off x="15000" y="12600"/>
              <a:ext cx="11850" cy="120"/>
            </a:xfrm>
            <a:prstGeom prst="rect">
              <a:avLst/>
            </a:prstGeom>
          </p:spPr>
        </p:pic>
        <p:sp>
          <p:nvSpPr>
            <p:cNvPr id="28" name="Text 14"/>
            <p:cNvSpPr txBox="1"/>
            <p:nvPr/>
          </p:nvSpPr>
          <p:spPr>
            <a:xfrm>
              <a:off x="15000" y="12960"/>
              <a:ext cx="11851" cy="3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sz="1200">
                  <a:solidFill>
                    <a:srgbClr val="7A7A6E"/>
                  </a:solidFill>
                  <a:latin typeface="Noto Sans SC"/>
                  <a:sym typeface="+mn-ea"/>
                </a:rPr>
                <a:t>3D 表现、交互体验、桌面常驻与用户增长能力</a:t>
              </a:r>
              <a:endParaRPr lang="en-US" sz="1200" dirty="0"/>
            </a:p>
          </p:txBody>
        </p:sp>
      </p:grpSp>
      <p:sp>
        <p:nvSpPr>
          <p:cNvPr id="29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融资计划</a:t>
            </a:r>
            <a:endParaRPr lang="en-US" sz="1125" dirty="0"/>
          </a:p>
        </p:txBody>
      </p:sp>
      <p:sp>
        <p:nvSpPr>
          <p:cNvPr id="30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本轮融资计划：用2000万跑通「关系世界 + 硬件入口」的关键闭环</a:t>
            </a:r>
            <a:endParaRPr lang="en-US" sz="3450" dirty="0"/>
          </a:p>
        </p:txBody>
      </p:sp>
      <p:sp>
        <p:nvSpPr>
          <p:cNvPr id="31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以2亿元估值融资2000万元，完成世界构建与首款电子吧唧落地</a:t>
            </a:r>
            <a:endParaRPr lang="en-US" sz="1725" dirty="0"/>
          </a:p>
        </p:txBody>
      </p:sp>
      <p:sp>
        <p:nvSpPr>
          <p:cNvPr id="32" name="Text 18"/>
          <p:cNvSpPr txBox="1"/>
          <p:nvPr/>
        </p:nvSpPr>
        <p:spPr>
          <a:xfrm>
            <a:off x="1657807" y="3543300"/>
            <a:ext cx="30486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 / 团队估值</a:t>
            </a:r>
            <a:endParaRPr lang="en-US" sz="1125" dirty="0"/>
          </a:p>
        </p:txBody>
      </p:sp>
      <p:sp>
        <p:nvSpPr>
          <p:cNvPr id="33" name="Text 19"/>
          <p:cNvSpPr txBox="1"/>
          <p:nvPr/>
        </p:nvSpPr>
        <p:spPr>
          <a:xfrm>
            <a:off x="1657807" y="3972154"/>
            <a:ext cx="3048610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亿元</a:t>
            </a:r>
            <a:endParaRPr lang="en-US" sz="6900" dirty="0"/>
          </a:p>
        </p:txBody>
      </p:sp>
      <p:sp>
        <p:nvSpPr>
          <p:cNvPr id="34" name="Text 20"/>
          <p:cNvSpPr txBox="1"/>
          <p:nvPr/>
        </p:nvSpPr>
        <p:spPr>
          <a:xfrm>
            <a:off x="1657807" y="5076749"/>
            <a:ext cx="304861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投前估值</a:t>
            </a:r>
            <a:endParaRPr lang="en-US" sz="1275" dirty="0"/>
          </a:p>
        </p:txBody>
      </p:sp>
      <p:sp>
        <p:nvSpPr>
          <p:cNvPr id="35" name="Text 21"/>
          <p:cNvSpPr txBox="1"/>
          <p:nvPr/>
        </p:nvSpPr>
        <p:spPr>
          <a:xfrm>
            <a:off x="5562295" y="3543300"/>
            <a:ext cx="28575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本轮计划融资</a:t>
            </a:r>
            <a:endParaRPr lang="en-US" sz="1125" dirty="0"/>
          </a:p>
        </p:txBody>
      </p:sp>
      <p:sp>
        <p:nvSpPr>
          <p:cNvPr id="36" name="Text 22"/>
          <p:cNvSpPr txBox="1"/>
          <p:nvPr/>
        </p:nvSpPr>
        <p:spPr>
          <a:xfrm>
            <a:off x="5562295" y="3972154"/>
            <a:ext cx="3776472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2000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万</a:t>
            </a:r>
            <a:endParaRPr lang="en-US" sz="6900" dirty="0"/>
          </a:p>
        </p:txBody>
      </p:sp>
      <p:sp>
        <p:nvSpPr>
          <p:cNvPr id="37" name="Text 23"/>
          <p:cNvSpPr txBox="1"/>
          <p:nvPr/>
        </p:nvSpPr>
        <p:spPr>
          <a:xfrm>
            <a:off x="5562295" y="5076749"/>
            <a:ext cx="285750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人民币</a:t>
            </a:r>
            <a:endParaRPr lang="en-US" sz="1275" dirty="0"/>
          </a:p>
        </p:txBody>
      </p:sp>
      <p:sp>
        <p:nvSpPr>
          <p:cNvPr id="38" name="Text 24"/>
          <p:cNvSpPr txBox="1"/>
          <p:nvPr/>
        </p:nvSpPr>
        <p:spPr>
          <a:xfrm>
            <a:off x="1238098" y="6248095"/>
            <a:ext cx="75255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本轮亮点</a:t>
            </a:r>
            <a:endParaRPr lang="en-US" sz="1050" dirty="0"/>
          </a:p>
        </p:txBody>
      </p:sp>
      <p:sp>
        <p:nvSpPr>
          <p:cNvPr id="39" name="Shape 25"/>
          <p:cNvSpPr/>
          <p:nvPr/>
        </p:nvSpPr>
        <p:spPr>
          <a:xfrm>
            <a:off x="1238098" y="6983806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1495044" y="6705295"/>
            <a:ext cx="4677156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已完成第一阶段 prototype demo，</a:t>
            </a:r>
            <a:r>
              <a:rPr lang="zh-CN" alt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r>
              <a:rPr lang="zh-CN" alt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跑通</a:t>
            </a:r>
            <a:endParaRPr lang="zh-CN" altLang="en-US" sz="1500" dirty="0">
              <a:solidFill>
                <a:srgbClr val="33332C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1" name="Shape 27"/>
          <p:cNvSpPr/>
          <p:nvPr/>
        </p:nvSpPr>
        <p:spPr>
          <a:xfrm>
            <a:off x="1238098" y="7715479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1494790" y="7410450"/>
            <a:ext cx="467487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三层能力已跑通主链路，具备工程化基础</a:t>
            </a:r>
            <a:endParaRPr lang="en-US" sz="1500" dirty="0"/>
          </a:p>
        </p:txBody>
      </p:sp>
      <p:sp>
        <p:nvSpPr>
          <p:cNvPr id="43" name="Shape 29"/>
          <p:cNvSpPr/>
          <p:nvPr/>
        </p:nvSpPr>
        <p:spPr>
          <a:xfrm>
            <a:off x="1238098" y="8391271"/>
            <a:ext cx="66751" cy="66751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1495044" y="8115300"/>
            <a:ext cx="4191610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CN" alt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桌面版数字宠物已经发布</a:t>
            </a:r>
            <a:endParaRPr lang="en-US" sz="1500" dirty="0"/>
          </a:p>
        </p:txBody>
      </p:sp>
      <p:sp>
        <p:nvSpPr>
          <p:cNvPr id="45" name="Text 31"/>
          <p:cNvSpPr txBox="1"/>
          <p:nvPr/>
        </p:nvSpPr>
        <p:spPr>
          <a:xfrm>
            <a:off x="9525305" y="3143707"/>
            <a:ext cx="752551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资金用途分配 · 示意比例</a:t>
            </a:r>
            <a:endParaRPr lang="en-US" sz="1050" dirty="0"/>
          </a:p>
        </p:txBody>
      </p:sp>
      <p:sp>
        <p:nvSpPr>
          <p:cNvPr id="46" name="Text 32"/>
          <p:cNvSpPr txBox="1"/>
          <p:nvPr/>
        </p:nvSpPr>
        <p:spPr>
          <a:xfrm>
            <a:off x="1238098" y="9353398"/>
            <a:ext cx="15811805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阶段目标：将原型升级为可运营版本，并完成首款硬件从概念验证到可交付形态。</a:t>
            </a:r>
            <a:endParaRPr lang="en-US" sz="1350" dirty="0"/>
          </a:p>
        </p:txBody>
      </p:sp>
      <p:pic>
        <p:nvPicPr>
          <p:cNvPr id="49" name="Image 6" descr="gen-dedup-436d3f7de47af44381d2c61514ea9fe6.png"/>
          <p:cNvPicPr>
            <a:picLocks noChangeAspect="1"/>
          </p:cNvPicPr>
          <p:nvPr/>
        </p:nvPicPr>
        <p:blipFill>
          <a:blip r:embed="rId6"/>
          <a:srcRect l="-206" r="-206"/>
          <a:stretch>
            <a:fillRect/>
          </a:stretch>
        </p:blipFill>
        <p:spPr>
          <a:xfrm>
            <a:off x="9526270" y="6592570"/>
            <a:ext cx="1676400" cy="76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5831</Words>
  <Application>WPS 演示</Application>
  <PresentationFormat>On-screen Show (16:9)</PresentationFormat>
  <Paragraphs>691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5" baseType="lpstr">
      <vt:lpstr>Arial</vt:lpstr>
      <vt:lpstr>宋体</vt:lpstr>
      <vt:lpstr>Wingdings</vt:lpstr>
      <vt:lpstr>Noto Sans SC</vt:lpstr>
      <vt:lpstr>苹方-简</vt:lpstr>
      <vt:lpstr>Noto Sans SC</vt:lpstr>
      <vt:lpstr>Noto Sans SC</vt:lpstr>
      <vt:lpstr>Noto Serif SC</vt:lpstr>
      <vt:lpstr>Noto Serif SC</vt:lpstr>
      <vt:lpstr>Noto Serif SC</vt:lpstr>
      <vt:lpstr>IBM Plex Sans</vt:lpstr>
      <vt:lpstr>IBM Plex Sans</vt:lpstr>
      <vt:lpstr>IBM Plex Sans</vt:lpstr>
      <vt:lpstr>Noto Sans SC</vt:lpstr>
      <vt:lpstr>Wingdings</vt:lpstr>
      <vt:lpstr>微软雅黑</vt:lpstr>
      <vt:lpstr>汉仪旗黑</vt:lpstr>
      <vt:lpstr>微软雅黑</vt:lpstr>
      <vt:lpstr>微软雅黑</vt:lpstr>
      <vt:lpstr>Noto Serif SC</vt:lpstr>
      <vt:lpstr>Aptos</vt:lpstr>
      <vt:lpstr>Helvetica Neue</vt:lpstr>
      <vt:lpstr>Calibri</vt:lpstr>
      <vt:lpstr>宋体</vt:lpstr>
      <vt:lpstr>汉仪书宋二KW</vt:lpstr>
      <vt:lpstr>Arial Unicode MS</vt:lpstr>
      <vt:lpstr>等线</vt:lpstr>
      <vt:lpstr>汉仪中等线KW</vt:lpstr>
      <vt:lpstr>Aptos</vt:lpstr>
      <vt:lpstr>Arial</vt:lpstr>
      <vt:lpstr>微软雅黑</vt:lpstr>
      <vt:lpstr>Noto Sans Oriya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微信用户</cp:lastModifiedBy>
  <cp:revision>38</cp:revision>
  <dcterms:created xsi:type="dcterms:W3CDTF">2026-08-14T08:16:28Z</dcterms:created>
  <dcterms:modified xsi:type="dcterms:W3CDTF">2026-08-14T08:16:28Z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E4D5C2687F2438CBA7CE7E6A9C45459B_43</vt:lpwstr>
  </property>
</Properties>
</file>