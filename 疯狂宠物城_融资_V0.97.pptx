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79" r:id="rId6"/>
    <p:sldId id="258" r:id="rId7"/>
    <p:sldId id="285" r:id="rId8"/>
    <p:sldId id="284" r:id="rId9"/>
    <p:sldId id="266" r:id="rId10"/>
    <p:sldId id="260" r:id="rId11"/>
    <p:sldId id="286" r:id="rId12"/>
    <p:sldId id="262" r:id="rId13"/>
    <p:sldId id="280" r:id="rId14"/>
    <p:sldId id="267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 它有自己的人生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你不在线，它继续生活。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② 它记得你们共同经历过什么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关系不会随着 </a:t>
            </a:r>
            <a:r>
              <a:rPr lang="en-US" altLang="zh-CN" dirty="0"/>
              <a:t>Session </a:t>
            </a:r>
            <a:r>
              <a:rPr lang="zh-CN" altLang="en-US" dirty="0"/>
              <a:t>结束。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③ 它会因为这些经历而改变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今天发生的事情会影响明天的它。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然后说：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“所以我们不是让 </a:t>
            </a:r>
            <a:r>
              <a:rPr lang="en-US" altLang="zh-CN" dirty="0"/>
              <a:t>AI </a:t>
            </a:r>
            <a:r>
              <a:rPr lang="zh-CN" altLang="en-US" dirty="0"/>
              <a:t>更像人说话，而是第一次让 </a:t>
            </a:r>
            <a:r>
              <a:rPr lang="en-US" altLang="zh-CN" dirty="0"/>
              <a:t>AI </a:t>
            </a:r>
            <a:r>
              <a:rPr lang="zh-CN" altLang="en-US" dirty="0"/>
              <a:t>拥有连续的人生。”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 它有自己的人生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你不在线，它继续生活。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② 它记得你们共同经历过什么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关系不会随着 </a:t>
            </a:r>
            <a:r>
              <a:rPr lang="en-US" altLang="zh-CN" dirty="0"/>
              <a:t>Session </a:t>
            </a:r>
            <a:r>
              <a:rPr lang="zh-CN" altLang="en-US" dirty="0"/>
              <a:t>结束。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③ 它会因为这些经历而改变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今天发生的事情会影响明天的它。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然后说：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“所以我们不是让 </a:t>
            </a:r>
            <a:r>
              <a:rPr lang="en-US" altLang="zh-CN" dirty="0"/>
              <a:t>AI </a:t>
            </a:r>
            <a:r>
              <a:rPr lang="zh-CN" altLang="en-US" dirty="0"/>
              <a:t>更像人说话，而是第一次让 </a:t>
            </a:r>
            <a:r>
              <a:rPr lang="en-US" altLang="zh-CN" dirty="0"/>
              <a:t>AI </a:t>
            </a:r>
            <a:r>
              <a:rPr lang="zh-CN" altLang="en-US" dirty="0"/>
              <a:t>拥有连续的人生。”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① 它有自己的人生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你不在线，它继续生活。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② 它记得你们共同经历过什么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关系不会随着 </a:t>
            </a:r>
            <a:r>
              <a:rPr lang="en-US" altLang="zh-CN" dirty="0"/>
              <a:t>Session </a:t>
            </a:r>
            <a:r>
              <a:rPr lang="zh-CN" altLang="en-US" dirty="0"/>
              <a:t>结束。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③ 它会因为这些经历而改变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今天发生的事情会影响明天的它。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然后说：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“所以我们不是让 </a:t>
            </a:r>
            <a:r>
              <a:rPr lang="en-US" altLang="zh-CN" dirty="0"/>
              <a:t>AI </a:t>
            </a:r>
            <a:r>
              <a:rPr lang="zh-CN" altLang="en-US" dirty="0"/>
              <a:t>更像人说话，而是第一次让 </a:t>
            </a:r>
            <a:r>
              <a:rPr lang="en-US" altLang="zh-CN" dirty="0"/>
              <a:t>AI </a:t>
            </a:r>
            <a:r>
              <a:rPr lang="zh-CN" altLang="en-US" dirty="0"/>
              <a:t>拥有连续的人生。”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5836" y="9534525"/>
            <a:ext cx="3200567" cy="54768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686544" y="9534525"/>
            <a:ext cx="434362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30312" y="9534525"/>
            <a:ext cx="3200567" cy="54768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23.pn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9.png"/><Relationship Id="rId13" Type="http://schemas.openxmlformats.org/officeDocument/2006/relationships/image" Target="../media/image28.pn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25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gen-dedup-4e954339e028d100677b67e529cb06d3.png"/>
          <p:cNvPicPr>
            <a:picLocks noChangeAspect="1"/>
          </p:cNvPicPr>
          <p:nvPr/>
        </p:nvPicPr>
        <p:blipFill>
          <a:blip r:embed="rId1"/>
          <a:srcRect l="-2083" r="-2083"/>
          <a:stretch>
            <a:fillRect/>
          </a:stretch>
        </p:blipFill>
        <p:spPr>
          <a:xfrm>
            <a:off x="1238098" y="5848502"/>
            <a:ext cx="8572500" cy="9144"/>
          </a:xfrm>
          <a:prstGeom prst="rect">
            <a:avLst/>
          </a:prstGeom>
        </p:spPr>
      </p:pic>
      <p:pic>
        <p:nvPicPr>
          <p:cNvPr id="17" name="Image 8" descr="gen-dedup-44e588de7fa6c03f7f513974a6fe718a.png"/>
          <p:cNvPicPr>
            <a:picLocks noChangeAspect="1"/>
          </p:cNvPicPr>
          <p:nvPr/>
        </p:nvPicPr>
        <p:blipFill>
          <a:blip r:embed="rId2"/>
          <a:srcRect l="-429" r="-429"/>
          <a:stretch>
            <a:fillRect/>
          </a:stretch>
        </p:blipFill>
        <p:spPr>
          <a:xfrm>
            <a:off x="1238098" y="1429207"/>
            <a:ext cx="609905" cy="28346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1238098" y="1714500"/>
            <a:ext cx="8572500" cy="2478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5" kern="0" spc="360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疯狂宠物城 · AI 陪伴</a:t>
            </a:r>
            <a:endParaRPr lang="en-US" sz="1125" dirty="0"/>
          </a:p>
        </p:txBody>
      </p:sp>
      <p:sp>
        <p:nvSpPr>
          <p:cNvPr id="20" name="Text 9"/>
          <p:cNvSpPr txBox="1"/>
          <p:nvPr/>
        </p:nvSpPr>
        <p:spPr>
          <a:xfrm>
            <a:off x="1238098" y="2495398"/>
            <a:ext cx="9144000" cy="1905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疯狂宠物城</a:t>
            </a:r>
            <a:endParaRPr lang="en-US" sz="45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  <a:p>
            <a:pPr marL="0" indent="0" algn="l">
              <a:lnSpc>
                <a:spcPct val="134000"/>
              </a:lnSpc>
              <a:buNone/>
            </a:pPr>
            <a:r>
              <a:rPr 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让AI角色</a:t>
            </a:r>
            <a:r>
              <a:rPr lang="zh-CN" altLang="en-US" sz="450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活起来</a:t>
            </a:r>
            <a:endParaRPr lang="zh-CN" altLang="en-US" sz="450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21" name="Text 10"/>
          <p:cNvSpPr txBox="1"/>
          <p:nvPr/>
        </p:nvSpPr>
        <p:spPr>
          <a:xfrm>
            <a:off x="1238098" y="4608576"/>
            <a:ext cx="7127793" cy="80192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用虚拟世界、关系智能与硬件</a:t>
            </a:r>
            <a:r>
              <a:rPr lang="zh-CN" alt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载体</a:t>
            </a: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入口</a:t>
            </a:r>
            <a:endParaRPr lang="en-US" sz="1950" b="0" i="0" dirty="0">
              <a:solidFill>
                <a:srgbClr val="5C5C52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pPr marL="0" indent="0" algn="l">
              <a:lnSpc>
                <a:spcPts val="2965"/>
              </a:lnSpc>
              <a:buNone/>
            </a:pPr>
            <a:r>
              <a:rPr lang="en-US" sz="1950" b="0" i="0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做AI生命体（AI-Native Life）</a:t>
            </a:r>
            <a:endParaRPr lang="en-US" sz="1950" dirty="0"/>
          </a:p>
        </p:txBody>
      </p:sp>
      <p:grpSp>
        <p:nvGrpSpPr>
          <p:cNvPr id="58" name="组合 57"/>
          <p:cNvGrpSpPr/>
          <p:nvPr/>
        </p:nvGrpSpPr>
        <p:grpSpPr>
          <a:xfrm>
            <a:off x="693420" y="7145655"/>
            <a:ext cx="7905115" cy="1734820"/>
            <a:chOff x="1468" y="11253"/>
            <a:chExt cx="11340" cy="2333"/>
          </a:xfrm>
        </p:grpSpPr>
        <p:sp>
          <p:nvSpPr>
            <p:cNvPr id="16" name="Oval 11"/>
            <p:cNvSpPr/>
            <p:nvPr/>
          </p:nvSpPr>
          <p:spPr>
            <a:xfrm>
              <a:off x="1576" y="11426"/>
              <a:ext cx="864" cy="864"/>
            </a:xfrm>
            <a:prstGeom prst="ellipse">
              <a:avLst/>
            </a:prstGeom>
            <a:solidFill>
              <a:srgbClr val="FBFAF7"/>
            </a:solidFill>
            <a:ln w="20320">
              <a:solidFill>
                <a:srgbClr val="C5530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0" name="Oval 14"/>
            <p:cNvSpPr/>
            <p:nvPr/>
          </p:nvSpPr>
          <p:spPr>
            <a:xfrm>
              <a:off x="184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1" name="Oval 15"/>
            <p:cNvSpPr/>
            <p:nvPr/>
          </p:nvSpPr>
          <p:spPr>
            <a:xfrm>
              <a:off x="2100" y="11820"/>
              <a:ext cx="76" cy="76"/>
            </a:xfrm>
            <a:prstGeom prst="ellipse">
              <a:avLst/>
            </a:prstGeom>
            <a:solidFill>
              <a:srgbClr val="C553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2" name="TextBox 16"/>
            <p:cNvSpPr txBox="1"/>
            <p:nvPr/>
          </p:nvSpPr>
          <p:spPr>
            <a:xfrm>
              <a:off x="1468" y="12444"/>
              <a:ext cx="2296" cy="51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en-US"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</a:t>
              </a:r>
              <a:r>
                <a:rPr lang="zh-CN" altLang="en-US"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生命体</a:t>
              </a:r>
              <a:endParaRPr lang="zh-CN" altLang="en-US" sz="1875" b="1">
                <a:solidFill>
                  <a:srgbClr val="171B1F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33" name="TextBox 17"/>
            <p:cNvSpPr txBox="1"/>
            <p:nvPr/>
          </p:nvSpPr>
          <p:spPr>
            <a:xfrm>
              <a:off x="1468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微软雅黑" pitchFamily="34" charset="0"/>
                  <a:ea typeface="微软雅黑" pitchFamily="34" charset="0"/>
                </a:rPr>
                <a:t>持续存在</a:t>
              </a:r>
              <a:endParaRPr sz="1575" b="0">
                <a:solidFill>
                  <a:srgbClr val="5C5C5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34" name="Connector 18"/>
            <p:cNvCxnSpPr/>
            <p:nvPr/>
          </p:nvCxnSpPr>
          <p:spPr>
            <a:xfrm>
              <a:off x="3779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Heart 19"/>
            <p:cNvSpPr/>
            <p:nvPr/>
          </p:nvSpPr>
          <p:spPr>
            <a:xfrm>
              <a:off x="4643" y="11296"/>
              <a:ext cx="907" cy="907"/>
            </a:xfrm>
            <a:prstGeom prst="heart">
              <a:avLst/>
            </a:prstGeom>
            <a:noFill/>
            <a:ln w="21590">
              <a:solidFill>
                <a:srgbClr val="F15D7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6" name="TextBox 20"/>
            <p:cNvSpPr txBox="1"/>
            <p:nvPr/>
          </p:nvSpPr>
          <p:spPr>
            <a:xfrm>
              <a:off x="4535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</a:rPr>
                <a:t>关系智能</a:t>
              </a:r>
              <a:endParaRPr sz="1875" b="1">
                <a:solidFill>
                  <a:srgbClr val="171B1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7" name="TextBox 21"/>
            <p:cNvSpPr txBox="1"/>
            <p:nvPr/>
          </p:nvSpPr>
          <p:spPr>
            <a:xfrm>
              <a:off x="4535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微软雅黑" pitchFamily="34" charset="0"/>
                  <a:ea typeface="微软雅黑" pitchFamily="34" charset="0"/>
                </a:rPr>
                <a:t>持续成长</a:t>
              </a:r>
              <a:endParaRPr sz="1575" b="0">
                <a:solidFill>
                  <a:srgbClr val="5C5C5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38" name="Connector 22"/>
            <p:cNvCxnSpPr/>
            <p:nvPr/>
          </p:nvCxnSpPr>
          <p:spPr>
            <a:xfrm>
              <a:off x="6846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23"/>
            <p:cNvSpPr/>
            <p:nvPr/>
          </p:nvSpPr>
          <p:spPr>
            <a:xfrm>
              <a:off x="7797" y="11296"/>
              <a:ext cx="907" cy="907"/>
            </a:xfrm>
            <a:prstGeom prst="ellipse">
              <a:avLst/>
            </a:prstGeom>
            <a:solidFill>
              <a:srgbClr val="FBFAF7"/>
            </a:solidFill>
            <a:ln w="19050">
              <a:solidFill>
                <a:srgbClr val="3D6FC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44" name="Connector 24"/>
            <p:cNvCxnSpPr/>
            <p:nvPr/>
          </p:nvCxnSpPr>
          <p:spPr>
            <a:xfrm>
              <a:off x="7797" y="11750"/>
              <a:ext cx="907" cy="0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25"/>
            <p:cNvCxnSpPr/>
            <p:nvPr/>
          </p:nvCxnSpPr>
          <p:spPr>
            <a:xfrm>
              <a:off x="8250" y="11296"/>
              <a:ext cx="0" cy="907"/>
            </a:xfrm>
            <a:prstGeom prst="line">
              <a:avLst/>
            </a:prstGeom>
            <a:ln w="12700">
              <a:solidFill>
                <a:srgbClr val="3D6FC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26"/>
            <p:cNvSpPr txBox="1"/>
            <p:nvPr/>
          </p:nvSpPr>
          <p:spPr>
            <a:xfrm>
              <a:off x="7689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</a:rPr>
                <a:t>虚拟世界</a:t>
              </a:r>
              <a:endParaRPr sz="1875" b="1">
                <a:solidFill>
                  <a:srgbClr val="171B1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2" name="TextBox 27"/>
            <p:cNvSpPr txBox="1"/>
            <p:nvPr/>
          </p:nvSpPr>
          <p:spPr>
            <a:xfrm>
              <a:off x="7689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微软雅黑" pitchFamily="34" charset="0"/>
                  <a:ea typeface="微软雅黑" pitchFamily="34" charset="0"/>
                </a:rPr>
                <a:t>持续运行</a:t>
              </a:r>
              <a:endParaRPr sz="1575" b="0">
                <a:solidFill>
                  <a:srgbClr val="5C5C5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53" name="Connector 28"/>
            <p:cNvCxnSpPr/>
            <p:nvPr/>
          </p:nvCxnSpPr>
          <p:spPr>
            <a:xfrm>
              <a:off x="10000" y="11253"/>
              <a:ext cx="0" cy="2333"/>
            </a:xfrm>
            <a:prstGeom prst="line">
              <a:avLst/>
            </a:prstGeom>
            <a:ln w="8890">
              <a:solidFill>
                <a:srgbClr val="D8D5C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ounded Rectangle 29"/>
            <p:cNvSpPr/>
            <p:nvPr/>
          </p:nvSpPr>
          <p:spPr>
            <a:xfrm>
              <a:off x="11037" y="11275"/>
              <a:ext cx="540" cy="929"/>
            </a:xfrm>
            <a:prstGeom prst="roundRect">
              <a:avLst/>
            </a:prstGeom>
            <a:noFill/>
            <a:ln w="20320">
              <a:solidFill>
                <a:srgbClr val="46A4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7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5" name="TextBox 30"/>
            <p:cNvSpPr txBox="1"/>
            <p:nvPr/>
          </p:nvSpPr>
          <p:spPr>
            <a:xfrm>
              <a:off x="10756" y="12444"/>
              <a:ext cx="2052" cy="51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875" b="1">
                  <a:solidFill>
                    <a:srgbClr val="171B1F"/>
                  </a:solidFill>
                  <a:latin typeface="微软雅黑" pitchFamily="34" charset="0"/>
                  <a:ea typeface="微软雅黑" pitchFamily="34" charset="0"/>
                </a:rPr>
                <a:t>硬件入口</a:t>
              </a:r>
              <a:endParaRPr sz="1875" b="1">
                <a:solidFill>
                  <a:srgbClr val="171B1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6" name="TextBox 31"/>
            <p:cNvSpPr txBox="1"/>
            <p:nvPr/>
          </p:nvSpPr>
          <p:spPr>
            <a:xfrm>
              <a:off x="10756" y="13059"/>
              <a:ext cx="2052" cy="4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575" b="0">
                  <a:solidFill>
                    <a:srgbClr val="5C5C58"/>
                  </a:solidFill>
                  <a:latin typeface="微软雅黑" pitchFamily="34" charset="0"/>
                  <a:ea typeface="微软雅黑" pitchFamily="34" charset="0"/>
                </a:rPr>
                <a:t>跨设备陪伴</a:t>
              </a:r>
              <a:endParaRPr sz="1575" b="0">
                <a:solidFill>
                  <a:srgbClr val="5C5C5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075" y="1358265"/>
            <a:ext cx="8235950" cy="75222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075" y="1390650"/>
            <a:ext cx="174371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我做了十多年 AI 陪伴，才意识到：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再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聪明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的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对话智能</a:t>
            </a:r>
            <a:r>
              <a:rPr lang="en-US" sz="3450" b="1" dirty="0">
                <a:solidFill>
                  <a:srgbClr val="FF000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也不如一只猫</a:t>
            </a:r>
            <a:endParaRPr lang="en-US" sz="3450" b="1" dirty="0">
              <a:solidFill>
                <a:srgbClr val="FF0000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  <a:sym typeface="+mn-ea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陪伴硬件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市场还在做"高级工具",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不是在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做"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长期关系型</a:t>
            </a:r>
            <a:r>
              <a:rPr 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陪伴"。</a:t>
            </a:r>
            <a:endParaRPr lang="en-US" sz="1725" dirty="0"/>
          </a:p>
        </p:txBody>
      </p:sp>
      <p:pic>
        <p:nvPicPr>
          <p:cNvPr id="55" name="Picture 55"/>
          <p:cNvPicPr/>
          <p:nvPr/>
        </p:nvPicPr>
        <p:blipFill>
          <a:blip r:embed="rId2"/>
          <a:stretch>
            <a:fillRect/>
          </a:stretch>
        </p:blipFill>
        <p:spPr>
          <a:xfrm>
            <a:off x="1128243" y="5643975"/>
            <a:ext cx="5564505" cy="3404870"/>
          </a:xfrm>
          <a:prstGeom prst="rect">
            <a:avLst/>
          </a:prstGeom>
        </p:spPr>
      </p:pic>
      <p:sp>
        <p:nvSpPr>
          <p:cNvPr id="161" name="Shape 10"/>
          <p:cNvSpPr/>
          <p:nvPr/>
        </p:nvSpPr>
        <p:spPr>
          <a:xfrm>
            <a:off x="1243584" y="2999232"/>
            <a:ext cx="1783080" cy="0"/>
          </a:xfrm>
          <a:prstGeom prst="line">
            <a:avLst/>
          </a:prstGeom>
          <a:noFill/>
          <a:ln w="8890">
            <a:solidFill>
              <a:srgbClr val="E8E4DC"/>
            </a:solidFill>
            <a:prstDash val="solid"/>
          </a:ln>
        </p:spPr>
      </p:sp>
      <p:sp>
        <p:nvSpPr>
          <p:cNvPr id="164" name="Shape 13"/>
          <p:cNvSpPr/>
          <p:nvPr/>
        </p:nvSpPr>
        <p:spPr>
          <a:xfrm>
            <a:off x="3328416" y="2560320"/>
            <a:ext cx="201168" cy="0"/>
          </a:xfrm>
          <a:prstGeom prst="line">
            <a:avLst/>
          </a:prstGeom>
          <a:noFill/>
          <a:ln w="15240">
            <a:solidFill>
              <a:srgbClr val="5A5750"/>
            </a:solidFill>
            <a:prstDash val="solid"/>
            <a:headEnd type="none"/>
            <a:tailEnd type="triangle"/>
          </a:ln>
        </p:spPr>
      </p:sp>
      <p:sp>
        <p:nvSpPr>
          <p:cNvPr id="170" name="Shape 19"/>
          <p:cNvSpPr/>
          <p:nvPr/>
        </p:nvSpPr>
        <p:spPr>
          <a:xfrm>
            <a:off x="3803904" y="2999232"/>
            <a:ext cx="1783080" cy="0"/>
          </a:xfrm>
          <a:prstGeom prst="line">
            <a:avLst/>
          </a:prstGeom>
          <a:noFill/>
          <a:ln w="8890">
            <a:solidFill>
              <a:srgbClr val="E8E4DC"/>
            </a:solidFill>
            <a:prstDash val="solid"/>
          </a:ln>
        </p:spPr>
      </p:sp>
      <p:sp>
        <p:nvSpPr>
          <p:cNvPr id="173" name="Shape 22"/>
          <p:cNvSpPr/>
          <p:nvPr/>
        </p:nvSpPr>
        <p:spPr>
          <a:xfrm>
            <a:off x="5888736" y="2560320"/>
            <a:ext cx="201168" cy="0"/>
          </a:xfrm>
          <a:prstGeom prst="line">
            <a:avLst/>
          </a:prstGeom>
          <a:noFill/>
          <a:ln w="15240">
            <a:solidFill>
              <a:srgbClr val="5A5750"/>
            </a:solidFill>
            <a:prstDash val="solid"/>
            <a:headEnd type="none"/>
            <a:tailEnd type="triangle"/>
          </a:ln>
        </p:spPr>
      </p:sp>
      <p:sp>
        <p:nvSpPr>
          <p:cNvPr id="179" name="Shape 28"/>
          <p:cNvSpPr/>
          <p:nvPr/>
        </p:nvSpPr>
        <p:spPr>
          <a:xfrm>
            <a:off x="6364224" y="2999232"/>
            <a:ext cx="1783080" cy="0"/>
          </a:xfrm>
          <a:prstGeom prst="line">
            <a:avLst/>
          </a:prstGeom>
          <a:noFill/>
          <a:ln w="8890">
            <a:solidFill>
              <a:srgbClr val="E8E4DC"/>
            </a:solidFill>
            <a:prstDash val="solid"/>
          </a:ln>
        </p:spPr>
      </p:sp>
      <p:sp>
        <p:nvSpPr>
          <p:cNvPr id="182" name="Shape 31"/>
          <p:cNvSpPr/>
          <p:nvPr/>
        </p:nvSpPr>
        <p:spPr>
          <a:xfrm>
            <a:off x="8449056" y="2560320"/>
            <a:ext cx="201168" cy="0"/>
          </a:xfrm>
          <a:prstGeom prst="line">
            <a:avLst/>
          </a:prstGeom>
          <a:noFill/>
          <a:ln w="15240">
            <a:solidFill>
              <a:srgbClr val="5A5750"/>
            </a:solidFill>
            <a:prstDash val="solid"/>
            <a:headEnd type="none"/>
            <a:tailEnd type="triangle"/>
          </a:ln>
        </p:spPr>
      </p:sp>
      <p:sp>
        <p:nvSpPr>
          <p:cNvPr id="188" name="Shape 37"/>
          <p:cNvSpPr/>
          <p:nvPr/>
        </p:nvSpPr>
        <p:spPr>
          <a:xfrm>
            <a:off x="8924544" y="2999232"/>
            <a:ext cx="1965960" cy="0"/>
          </a:xfrm>
          <a:prstGeom prst="line">
            <a:avLst/>
          </a:prstGeom>
          <a:noFill/>
          <a:ln w="8890">
            <a:solidFill>
              <a:srgbClr val="E8E4DC"/>
            </a:solidFill>
            <a:prstDash val="solid"/>
          </a:ln>
        </p:spPr>
      </p:sp>
      <p:grpSp>
        <p:nvGrpSpPr>
          <p:cNvPr id="190" name="Group 190"/>
          <p:cNvGrpSpPr/>
          <p:nvPr/>
        </p:nvGrpSpPr>
        <p:grpSpPr>
          <a:xfrm>
            <a:off x="1144270" y="2800985"/>
            <a:ext cx="13051155" cy="2702560"/>
            <a:chOff x="1238098" y="6431396"/>
            <a:chExt cx="12911091" cy="3532776"/>
          </a:xfrm>
        </p:grpSpPr>
        <p:sp>
          <p:nvSpPr>
            <p:cNvPr id="156" name="Text 5"/>
            <p:cNvSpPr/>
            <p:nvPr/>
          </p:nvSpPr>
          <p:spPr>
            <a:xfrm>
              <a:off x="1238098" y="6431396"/>
              <a:ext cx="2862640" cy="353277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8E4DC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7" name="Text 6"/>
            <p:cNvSpPr/>
            <p:nvPr/>
          </p:nvSpPr>
          <p:spPr>
            <a:xfrm>
              <a:off x="1413362" y="6720441"/>
              <a:ext cx="2512113" cy="256929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4778D0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2016–2021</a:t>
              </a:r>
              <a:endParaRPr lang="en-US" sz="1000" b="1" dirty="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58" name="Text 7"/>
            <p:cNvSpPr/>
            <p:nvPr/>
          </p:nvSpPr>
          <p:spPr>
            <a:xfrm>
              <a:off x="1413362" y="7105835"/>
              <a:ext cx="2512113" cy="44962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4778D0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听得懂你说的</a:t>
              </a:r>
              <a:endParaRPr lang="en-US" sz="2000" b="1" i="0" dirty="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59" name="Text 8"/>
            <p:cNvSpPr/>
            <p:nvPr/>
          </p:nvSpPr>
          <p:spPr>
            <a:xfrm>
              <a:off x="1471783" y="7587577"/>
              <a:ext cx="2395270" cy="481742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智能语音助手</a:t>
              </a:r>
              <a:endParaRPr lang="zh-CN" alt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0" name="Text 9"/>
            <p:cNvSpPr/>
            <p:nvPr/>
          </p:nvSpPr>
          <p:spPr>
            <a:xfrm>
              <a:off x="1471783" y="8149610"/>
              <a:ext cx="2395270" cy="738671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智能音箱 / 智能屏 / 车载音箱</a:t>
              </a:r>
              <a:endParaRPr lang="en-US" sz="1200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第一次大规模进入家庭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62" name="Text 11"/>
            <p:cNvSpPr/>
            <p:nvPr/>
          </p:nvSpPr>
          <p:spPr>
            <a:xfrm>
              <a:off x="1354940" y="9097036"/>
              <a:ext cx="2628955" cy="36933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4778D0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Presence ≠ Relationship</a:t>
              </a:r>
              <a:endParaRPr lang="en-US" sz="1400" b="1" dirty="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3" name="Text 12"/>
            <p:cNvSpPr/>
            <p:nvPr/>
          </p:nvSpPr>
          <p:spPr>
            <a:xfrm>
              <a:off x="1413362" y="9514546"/>
              <a:ext cx="2512113" cy="353278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在场，不等于关系。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5" name="Text 14"/>
            <p:cNvSpPr/>
            <p:nvPr/>
          </p:nvSpPr>
          <p:spPr>
            <a:xfrm>
              <a:off x="4509687" y="6431396"/>
              <a:ext cx="2862640" cy="353277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8E4DC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6" name="Text 15"/>
            <p:cNvSpPr/>
            <p:nvPr/>
          </p:nvSpPr>
          <p:spPr>
            <a:xfrm>
              <a:off x="4684950" y="6720441"/>
              <a:ext cx="2512113" cy="256929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32966F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2022–2024</a:t>
              </a:r>
              <a:endParaRPr lang="en-US" sz="1000" b="1" dirty="0">
                <a:solidFill>
                  <a:srgbClr val="32966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7" name="Text 16"/>
            <p:cNvSpPr/>
            <p:nvPr/>
          </p:nvSpPr>
          <p:spPr>
            <a:xfrm>
              <a:off x="4684950" y="7105835"/>
              <a:ext cx="2512113" cy="44962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32966F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会和你聊天</a:t>
              </a:r>
              <a:endParaRPr lang="en-US" sz="2000" b="1" i="0" dirty="0">
                <a:solidFill>
                  <a:srgbClr val="32966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68" name="Text 17"/>
            <p:cNvSpPr/>
            <p:nvPr/>
          </p:nvSpPr>
          <p:spPr>
            <a:xfrm>
              <a:off x="4743372" y="7587577"/>
              <a:ext cx="2395270" cy="481742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生成式</a:t>
              </a:r>
              <a:r>
                <a:rPr lang="en-US" altLang="zh-CN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</a:t>
              </a:r>
              <a:endParaRPr lang="en-US" altLang="zh-CN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69" name="Text 18"/>
            <p:cNvSpPr/>
            <p:nvPr/>
          </p:nvSpPr>
          <p:spPr>
            <a:xfrm>
              <a:off x="4743372" y="8149610"/>
              <a:ext cx="2395270" cy="738671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LLM / Voice / Open Conversation</a:t>
              </a:r>
              <a:endParaRPr lang="en-US" sz="1200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第一次可以开放聊天、共情、接梗、角色扮演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71" name="Text 20"/>
            <p:cNvSpPr/>
            <p:nvPr/>
          </p:nvSpPr>
          <p:spPr>
            <a:xfrm>
              <a:off x="4626529" y="9097036"/>
              <a:ext cx="2628955" cy="36933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32966F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Conversation ≠ Relationship</a:t>
              </a:r>
              <a:endParaRPr lang="en-US" sz="1400" b="1" dirty="0">
                <a:solidFill>
                  <a:srgbClr val="32966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72" name="Text 21"/>
            <p:cNvSpPr/>
            <p:nvPr/>
          </p:nvSpPr>
          <p:spPr>
            <a:xfrm>
              <a:off x="4684950" y="9514546"/>
              <a:ext cx="2512113" cy="353278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聊得很好，不等于有关系。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74" name="Text 23"/>
            <p:cNvSpPr/>
            <p:nvPr/>
          </p:nvSpPr>
          <p:spPr>
            <a:xfrm>
              <a:off x="7781275" y="6431396"/>
              <a:ext cx="2862640" cy="3532776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E8E4DC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5" name="Text 24"/>
            <p:cNvSpPr/>
            <p:nvPr/>
          </p:nvSpPr>
          <p:spPr>
            <a:xfrm>
              <a:off x="7956539" y="6720441"/>
              <a:ext cx="2512113" cy="256929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7B61D1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2024–2026</a:t>
              </a:r>
              <a:endParaRPr lang="en-US" sz="1000" b="1" dirty="0">
                <a:solidFill>
                  <a:srgbClr val="7B61D1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76" name="Text 25"/>
            <p:cNvSpPr/>
            <p:nvPr/>
          </p:nvSpPr>
          <p:spPr>
            <a:xfrm>
              <a:off x="7956539" y="7105835"/>
              <a:ext cx="2512113" cy="44962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i="0" dirty="0">
                  <a:solidFill>
                    <a:srgbClr val="7B61D1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会扮演角色</a:t>
              </a:r>
              <a:endParaRPr lang="en-US" sz="2000" b="1" i="0" dirty="0">
                <a:solidFill>
                  <a:srgbClr val="7B61D1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77" name="Text 26"/>
            <p:cNvSpPr/>
            <p:nvPr/>
          </p:nvSpPr>
          <p:spPr>
            <a:xfrm>
              <a:off x="8014960" y="7587577"/>
              <a:ext cx="2395270" cy="481742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长期记忆</a:t>
              </a: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· </a:t>
              </a: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个性化</a:t>
              </a: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· </a:t>
              </a: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智能体</a:t>
              </a:r>
              <a:endParaRPr lang="zh-CN" alt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78" name="Text 27"/>
            <p:cNvSpPr/>
            <p:nvPr/>
          </p:nvSpPr>
          <p:spPr>
            <a:xfrm>
              <a:off x="8014960" y="8149610"/>
              <a:ext cx="2395270" cy="738671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开始记住用户、理解偏好，并主动完成越来越多的事情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80" name="Text 29"/>
            <p:cNvSpPr/>
            <p:nvPr/>
          </p:nvSpPr>
          <p:spPr>
            <a:xfrm>
              <a:off x="7898118" y="9097036"/>
              <a:ext cx="2628955" cy="36933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7B61D1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Personalization ≠ Relationship</a:t>
              </a:r>
              <a:endParaRPr lang="en-US" sz="1400" b="1" dirty="0">
                <a:solidFill>
                  <a:srgbClr val="7B61D1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1" name="Text 30"/>
            <p:cNvSpPr/>
            <p:nvPr/>
          </p:nvSpPr>
          <p:spPr>
            <a:xfrm>
              <a:off x="7956539" y="9514546"/>
              <a:ext cx="2512113" cy="353278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知道“你的历史”，不等于拥有“我们的历史”。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83" name="Text 32"/>
            <p:cNvSpPr/>
            <p:nvPr/>
          </p:nvSpPr>
          <p:spPr>
            <a:xfrm>
              <a:off x="11052864" y="6431396"/>
              <a:ext cx="3096325" cy="3532776"/>
            </a:xfrm>
            <a:prstGeom prst="rect">
              <a:avLst/>
            </a:prstGeom>
            <a:solidFill>
              <a:srgbClr val="FEF4EC"/>
            </a:solidFill>
            <a:ln w="10160">
              <a:solidFill>
                <a:srgbClr val="F06418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14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84" name="Text 33"/>
            <p:cNvSpPr/>
            <p:nvPr/>
          </p:nvSpPr>
          <p:spPr>
            <a:xfrm>
              <a:off x="11228128" y="6720441"/>
              <a:ext cx="2745798" cy="256929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NEXT</a:t>
              </a:r>
              <a:endParaRPr lang="en-US" sz="1000" b="1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5" name="Text 34"/>
            <p:cNvSpPr/>
            <p:nvPr/>
          </p:nvSpPr>
          <p:spPr>
            <a:xfrm>
              <a:off x="11228128" y="7105835"/>
              <a:ext cx="2745798" cy="44962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会与你共同生活</a:t>
              </a:r>
              <a:endParaRPr lang="en-US" sz="2000" b="1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6" name="Text 35"/>
            <p:cNvSpPr/>
            <p:nvPr/>
          </p:nvSpPr>
          <p:spPr>
            <a:xfrm>
              <a:off x="11286549" y="7587577"/>
              <a:ext cx="2628955" cy="481742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zh-CN" altLang="en-US" sz="1200" dirty="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共生型</a:t>
              </a:r>
              <a:endParaRPr lang="en-US" sz="1200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AI-Native Life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87" name="Text 36"/>
            <p:cNvSpPr/>
            <p:nvPr/>
          </p:nvSpPr>
          <p:spPr>
            <a:xfrm>
              <a:off x="11286549" y="8149610"/>
              <a:ext cx="2628955" cy="738671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持续存在</a:t>
              </a:r>
              <a:endParaRPr lang="en-US" sz="1200" dirty="0">
                <a:latin typeface="微软雅黑" pitchFamily="34" charset="0"/>
                <a:ea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拥有自己的</a:t>
              </a:r>
              <a:r>
                <a:rPr lang="zh-CN" alt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性格</a:t>
              </a:r>
              <a:endParaRPr lang="en-US" sz="1200" dirty="0">
                <a:latin typeface="微软雅黑" pitchFamily="34" charset="0"/>
                <a:ea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与你共同经历</a:t>
              </a:r>
              <a:endParaRPr lang="en-US" sz="1200" dirty="0">
                <a:latin typeface="微软雅黑" pitchFamily="34" charset="0"/>
                <a:ea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并因这些经历持续改变</a:t>
              </a:r>
              <a:endPara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9" name="Text 38"/>
            <p:cNvSpPr/>
            <p:nvPr/>
          </p:nvSpPr>
          <p:spPr>
            <a:xfrm>
              <a:off x="11169706" y="9097036"/>
              <a:ext cx="2862640" cy="36933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“我们”开始出现</a:t>
              </a:r>
              <a:endParaRPr lang="en-US" sz="2000" b="1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306688" y="5781284"/>
            <a:ext cx="6129600" cy="3070225"/>
            <a:chOff x="14947" y="10758"/>
            <a:chExt cx="6192" cy="2520"/>
          </a:xfrm>
        </p:grpSpPr>
        <p:sp>
          <p:nvSpPr>
            <p:cNvPr id="15" name="Shape 12"/>
            <p:cNvSpPr/>
            <p:nvPr/>
          </p:nvSpPr>
          <p:spPr>
            <a:xfrm>
              <a:off x="14947" y="10758"/>
              <a:ext cx="6192" cy="2520"/>
            </a:xfrm>
            <a:prstGeom prst="roundRect">
              <a:avLst>
                <a:gd name="adj" fmla="val 4571"/>
              </a:avLst>
            </a:prstGeom>
            <a:solidFill>
              <a:srgbClr val="FFF8F0"/>
            </a:solidFill>
            <a:ln w="11430">
              <a:noFill/>
              <a:prstDash val="solid"/>
            </a:ln>
          </p:spPr>
          <p:txBody>
            <a:bodyPr/>
            <a:p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pic>
          <p:nvPicPr>
            <p:cNvPr id="16" name="Image 1" descr="/mnt/data/a_clean_minimal_studio_style_scene_a_cute_orange_batch_2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207" y="11066"/>
              <a:ext cx="1986" cy="1250"/>
            </a:xfrm>
            <a:prstGeom prst="rect">
              <a:avLst/>
            </a:prstGeom>
          </p:spPr>
        </p:pic>
        <p:sp>
          <p:nvSpPr>
            <p:cNvPr id="17" name="Text 13"/>
            <p:cNvSpPr/>
            <p:nvPr/>
          </p:nvSpPr>
          <p:spPr>
            <a:xfrm>
              <a:off x="17424" y="10902"/>
              <a:ext cx="3456" cy="317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2400" b="1" dirty="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一只几乎什么都不会的猫</a:t>
              </a:r>
              <a:endParaRPr lang="en-US" sz="2400" b="1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  <p:sp>
          <p:nvSpPr>
            <p:cNvPr id="18" name="Text 14"/>
            <p:cNvSpPr/>
            <p:nvPr/>
          </p:nvSpPr>
          <p:spPr>
            <a:xfrm>
              <a:off x="17424" y="11320"/>
              <a:ext cx="3699" cy="1080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✓ 有自己的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性格</a:t>
              </a:r>
              <a:r>
                <a:rPr lang="en-US" altLang="zh-CN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，</a:t>
              </a: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不会无限迎合你</a:t>
              </a:r>
              <a:endParaRPr lang="en-US" sz="1600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✓ 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独立的存在</a:t>
              </a:r>
              <a:r>
                <a:rPr lang="en-US" altLang="zh-CN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，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但是</a:t>
              </a: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和你共同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经历</a:t>
              </a:r>
              <a:endParaRPr lang="zh-CN" alt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✓ 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能交流</a:t>
              </a:r>
              <a:r>
                <a:rPr lang="en-US" altLang="zh-CN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，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但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永远不会说话</a:t>
              </a:r>
              <a:endParaRPr lang="zh-CN" alt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✓ 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有灵性</a:t>
              </a:r>
              <a:r>
                <a:rPr lang="en-US" altLang="zh-CN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，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但是很多事情</a:t>
              </a:r>
              <a:r>
                <a:rPr lang="zh-CN" altLang="en-US" sz="1600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都不会</a:t>
              </a:r>
              <a:endParaRPr lang="zh-CN" alt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9" name="Text 15"/>
            <p:cNvSpPr/>
            <p:nvPr/>
          </p:nvSpPr>
          <p:spPr>
            <a:xfrm>
              <a:off x="17424" y="12443"/>
              <a:ext cx="2952" cy="547"/>
            </a:xfrm>
            <a:prstGeom prst="rect">
              <a:avLst/>
            </a:prstGeom>
            <a:solidFill>
              <a:srgbClr val="FEF0E6"/>
            </a:solidFill>
            <a:ln w="10160">
              <a:solidFill>
                <a:srgbClr val="F0C9B5"/>
              </a:solidFill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如果它消失了，</a:t>
              </a:r>
              <a:endParaRPr lang="en-US" sz="1600" dirty="0">
                <a:latin typeface="微软雅黑" pitchFamily="34" charset="0"/>
                <a:ea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Noto Sans CJK SC" pitchFamily="34" charset="-120"/>
                </a:rPr>
                <a:t>你会真的难过。</a:t>
              </a:r>
              <a:endParaRPr lang="en-US" sz="1600" b="1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</p:grpSp>
      <p:sp>
        <p:nvSpPr>
          <p:cNvPr id="5" name="Text 9"/>
          <p:cNvSpPr/>
          <p:nvPr/>
        </p:nvSpPr>
        <p:spPr>
          <a:xfrm>
            <a:off x="7259152" y="6904352"/>
            <a:ext cx="712744" cy="438604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VS</a:t>
            </a:r>
            <a:endParaRPr lang="en-US" sz="3200" b="1" dirty="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591030" y="2800985"/>
            <a:ext cx="3021965" cy="6050280"/>
            <a:chOff x="22936" y="11817"/>
            <a:chExt cx="4765" cy="2936"/>
          </a:xfrm>
        </p:grpSpPr>
        <p:sp>
          <p:nvSpPr>
            <p:cNvPr id="6" name="Text 42"/>
            <p:cNvSpPr/>
            <p:nvPr/>
          </p:nvSpPr>
          <p:spPr>
            <a:xfrm>
              <a:off x="22936" y="11817"/>
              <a:ext cx="4608" cy="2936"/>
            </a:xfrm>
            <a:prstGeom prst="rect">
              <a:avLst/>
            </a:prstGeom>
            <a:solidFill>
              <a:srgbClr val="FEF4EC"/>
            </a:solidFill>
            <a:ln w="10160">
              <a:noFill/>
            </a:ln>
          </p:spPr>
          <p:txBody>
            <a:bodyPr wrap="square" lIns="1143" tIns="1143" rIns="1143" bIns="1143" rtlCol="0" anchor="ctr">
              <a:normAutofit/>
            </a:bodyPr>
            <a:lstStyle/>
            <a:p>
              <a:pPr marL="0" indent="0" algn="ctr">
                <a:buNone/>
              </a:pPr>
              <a:endParaRPr lang="en-US" sz="2000" dirty="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" name="Text 44"/>
            <p:cNvSpPr txBox="1"/>
            <p:nvPr/>
          </p:nvSpPr>
          <p:spPr>
            <a:xfrm>
              <a:off x="23259" y="11817"/>
              <a:ext cx="396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lvl="0" algn="l">
                <a:lnSpc>
                  <a:spcPct val="125000"/>
                </a:lnSpc>
                <a:buClrTx/>
                <a:buSzTx/>
                <a:buFontTx/>
                <a:defRPr/>
              </a:pPr>
              <a:r>
                <a:rPr lang="zh-CN" altLang="en-US" sz="1700"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AI 陪伴的终点，不是更聪明，而是不可替代的关系</a:t>
              </a:r>
              <a:endParaRPr lang="zh-CN" altLang="en-US" sz="17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  <p:sp>
          <p:nvSpPr>
            <p:cNvPr id="9" name="Text 45"/>
            <p:cNvSpPr/>
            <p:nvPr/>
          </p:nvSpPr>
          <p:spPr>
            <a:xfrm>
              <a:off x="23741" y="12447"/>
              <a:ext cx="3960" cy="346"/>
            </a:xfrm>
            <a:prstGeom prst="rect">
              <a:avLst/>
            </a:prstGeom>
            <a:noFill/>
          </p:spPr>
          <p:txBody>
            <a:bodyPr wrap="square" lIns="762" tIns="762" rIns="762" bIns="762" rtlCol="0" anchor="ctr">
              <a:normAutofit lnSpcReduction="10000"/>
            </a:bodyPr>
            <a:lstStyle/>
            <a:p>
              <a:pPr marL="0" indent="0" algn="l">
                <a:buNone/>
              </a:pPr>
              <a:endParaRPr lang="zh-CN" altLang="en-US" sz="2000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endParaRPr>
            </a:p>
          </p:txBody>
        </p:sp>
      </p:grpSp>
      <p:sp>
        <p:nvSpPr>
          <p:cNvPr id="69" name="Rounded Rectangle 67"/>
          <p:cNvSpPr/>
          <p:nvPr/>
        </p:nvSpPr>
        <p:spPr>
          <a:xfrm>
            <a:off x="1238250" y="9274175"/>
            <a:ext cx="15810865" cy="807085"/>
          </a:xfrm>
          <a:prstGeom prst="roundRect">
            <a:avLst/>
          </a:prstGeom>
          <a:solidFill>
            <a:srgbClr val="EFF3F9"/>
          </a:solidFill>
          <a:ln w="12700">
            <a:solidFill>
              <a:srgbClr val="DC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0" name="TextBox 68"/>
          <p:cNvSpPr txBox="1"/>
          <p:nvPr/>
        </p:nvSpPr>
        <p:spPr>
          <a:xfrm>
            <a:off x="1711960" y="9416415"/>
            <a:ext cx="685165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2D5EA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➜  </a:t>
            </a:r>
            <a:r>
              <a:rPr b="1">
                <a:solidFill>
                  <a:srgbClr val="2D5EA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 陪伴正在从 Chat 走向真正的 Relationship，最终走向 Life。</a:t>
            </a:r>
            <a:endParaRPr lang="en-US" altLang="zh-CN" b="1">
              <a:solidFill>
                <a:srgbClr val="2D5EA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2" name="TextBox 69"/>
          <p:cNvSpPr txBox="1"/>
          <p:nvPr/>
        </p:nvSpPr>
        <p:spPr>
          <a:xfrm>
            <a:off x="8392795" y="9451975"/>
            <a:ext cx="8103235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0">
                <a:solidFill>
                  <a:srgbClr val="2D5EA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2024–2026，模型、成本、实时交互、Memory 与 Agent 第一次同时跨越产品化临界点。</a:t>
            </a:r>
            <a:endParaRPr sz="1400" b="0">
              <a:solidFill>
                <a:srgbClr val="2D5EA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" name="Text 19"/>
          <p:cNvSpPr txBox="1"/>
          <p:nvPr/>
        </p:nvSpPr>
        <p:spPr>
          <a:xfrm>
            <a:off x="14753590" y="3954780"/>
            <a:ext cx="2421255" cy="10674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lvl="0" indent="-285750" algn="l">
              <a:lnSpc>
                <a:spcPct val="125000"/>
              </a:lnSpc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70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持续存在</a:t>
            </a:r>
            <a:endParaRPr lang="zh-CN" altLang="en-US" sz="170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用户不在线，它仍拥有自己的时间线、状态和经历</a:t>
            </a:r>
            <a:endParaRPr lang="zh-CN" altLang="en-US" sz="1700"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</p:txBody>
      </p:sp>
      <p:sp>
        <p:nvSpPr>
          <p:cNvPr id="20" name="Text 25"/>
          <p:cNvSpPr txBox="1"/>
          <p:nvPr/>
        </p:nvSpPr>
        <p:spPr>
          <a:xfrm>
            <a:off x="14753590" y="5022215"/>
            <a:ext cx="2421255" cy="13201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lvl="0" indent="-285750" algn="l">
              <a:lnSpc>
                <a:spcPct val="125000"/>
              </a:lnSpc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70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自主性</a:t>
            </a:r>
            <a:endParaRPr lang="zh-CN" altLang="en-US" sz="170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它有稳定人格、偏好与判断，不会无限迎合用户。</a:t>
            </a:r>
            <a:endParaRPr lang="zh-CN" altLang="en-US" sz="1700"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</p:txBody>
      </p:sp>
      <p:sp>
        <p:nvSpPr>
          <p:cNvPr id="21" name="Text 31"/>
          <p:cNvSpPr txBox="1"/>
          <p:nvPr/>
        </p:nvSpPr>
        <p:spPr>
          <a:xfrm>
            <a:off x="14753590" y="6325870"/>
            <a:ext cx="2553970" cy="1250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lvl="0" indent="-285750" algn="l">
              <a:lnSpc>
                <a:spcPct val="125000"/>
              </a:lnSpc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70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共同经历</a:t>
            </a:r>
            <a:endParaRPr lang="zh-CN" altLang="en-US" sz="170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记住的不只是“关于你的信息”，而是发生在我们之间的事情</a:t>
            </a:r>
            <a:endParaRPr lang="zh-CN" altLang="en-US" sz="17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22" name="Text 37"/>
          <p:cNvSpPr txBox="1"/>
          <p:nvPr/>
        </p:nvSpPr>
        <p:spPr>
          <a:xfrm>
            <a:off x="14753590" y="7576185"/>
            <a:ext cx="2421255" cy="1250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285750" lvl="0" indent="-285750" algn="l">
              <a:lnSpc>
                <a:spcPct val="125000"/>
              </a:lnSpc>
              <a:buClrTx/>
              <a:buSzTx/>
              <a:buFont typeface="Wingdings" panose="05000000000000000000" charset="0"/>
              <a:buChar char=""/>
              <a:defRPr/>
            </a:pPr>
            <a:r>
              <a:rPr lang="zh-CN" altLang="en-US" sz="1700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相互改变</a:t>
            </a:r>
            <a:endParaRPr lang="zh-CN" altLang="en-US" sz="1700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Noto Sans SC"/>
                <a:sym typeface="+mn-ea"/>
              </a:rPr>
              <a:t>共同经历会改变它相互之间的关系</a:t>
            </a:r>
            <a:endParaRPr lang="zh-CN" altLang="en-US" sz="1700">
              <a:latin typeface="微软雅黑" pitchFamily="34" charset="0"/>
              <a:ea typeface="微软雅黑" pitchFamily="34" charset="0"/>
              <a:cs typeface="Noto Sans SC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42"/>
          <p:cNvSpPr/>
          <p:nvPr/>
        </p:nvSpPr>
        <p:spPr>
          <a:xfrm>
            <a:off x="727710" y="6405245"/>
            <a:ext cx="9593580" cy="3504565"/>
          </a:xfrm>
          <a:prstGeom prst="roundRect">
            <a:avLst>
              <a:gd name="adj" fmla="val 1695"/>
            </a:avLst>
          </a:prstGeom>
          <a:solidFill>
            <a:srgbClr val="FFF9F3"/>
          </a:solidFill>
          <a:ln w="11430">
            <a:solidFill>
              <a:srgbClr val="F1D5C2"/>
            </a:solidFill>
            <a:prstDash val="solid"/>
          </a:ln>
        </p:spPr>
        <p:txBody>
          <a:bodyPr/>
          <a:p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45" name="Text 33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问题与机会</a:t>
            </a:r>
            <a:endParaRPr lang="en-US" sz="1125" dirty="0"/>
          </a:p>
        </p:txBody>
      </p:sp>
      <p:sp>
        <p:nvSpPr>
          <p:cNvPr id="46" name="Text 34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陪伴</a:t>
            </a:r>
            <a:r>
              <a:rPr lang="en-US" altLang="zh-CN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+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学习的思考</a:t>
            </a:r>
            <a:r>
              <a:rPr lang="en-US" altLang="zh-CN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：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不会做题的妈妈，为什么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输给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最会讲题的 AI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老师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  <a:sym typeface="+mn-ea"/>
              </a:rPr>
              <a:t>？</a:t>
            </a:r>
            <a:endParaRPr 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  <a:sym typeface="+mn-ea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当</a:t>
            </a:r>
            <a:r>
              <a:rPr lang="en-US" altLang="zh-CN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Agent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越来越便宜，</a:t>
            </a:r>
            <a:r>
              <a:rPr lang="en-US" altLang="zh-CN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Relationship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就会成为真正</a:t>
            </a:r>
            <a:r>
              <a:rPr lang="zh-CN" altLang="en-US" sz="1700" b="1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+mn-ea"/>
              </a:rPr>
              <a:t>有价值的东西</a:t>
            </a:r>
            <a:endParaRPr lang="zh-CN" altLang="en-US" sz="1700" b="1">
              <a:solidFill>
                <a:srgbClr val="F97316"/>
              </a:solidFill>
              <a:latin typeface="Noto Sans SC"/>
              <a:ea typeface="Noto Sans SC"/>
              <a:cs typeface="Noto Sans SC"/>
              <a:sym typeface="+mn-ea"/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250" y="2552700"/>
            <a:ext cx="15811500" cy="19050"/>
          </a:xfrm>
          <a:prstGeom prst="rect">
            <a:avLst/>
          </a:prstGeom>
        </p:spPr>
      </p:pic>
      <p:sp>
        <p:nvSpPr>
          <p:cNvPr id="41" name="Shape 5"/>
          <p:cNvSpPr/>
          <p:nvPr/>
        </p:nvSpPr>
        <p:spPr>
          <a:xfrm>
            <a:off x="1029335" y="2866390"/>
            <a:ext cx="2468880" cy="331914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8E4DC"/>
            </a:solidFill>
            <a:prstDash val="solid"/>
          </a:ln>
        </p:spPr>
      </p:sp>
      <p:sp>
        <p:nvSpPr>
          <p:cNvPr id="55" name="Text 6"/>
          <p:cNvSpPr/>
          <p:nvPr/>
        </p:nvSpPr>
        <p:spPr>
          <a:xfrm>
            <a:off x="1139190" y="3030855"/>
            <a:ext cx="349885" cy="310515"/>
          </a:xfrm>
          <a:prstGeom prst="rect">
            <a:avLst/>
          </a:prstGeom>
          <a:solidFill>
            <a:srgbClr val="7B61D1"/>
          </a:solidFill>
          <a:ln>
            <a:solidFill>
              <a:srgbClr val="7B61D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01</a:t>
            </a:r>
            <a:endParaRPr lang="en-US" sz="16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pic>
        <p:nvPicPr>
          <p:cNvPr id="71" name="Image 0" descr="/mnt/data/a_cozy_indoor_study_room_scene_in_a_soft_warm_3d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3456305"/>
            <a:ext cx="2086610" cy="1513205"/>
          </a:xfrm>
          <a:prstGeom prst="rect">
            <a:avLst/>
          </a:prstGeom>
        </p:spPr>
      </p:pic>
      <p:sp>
        <p:nvSpPr>
          <p:cNvPr id="74" name="Text 7"/>
          <p:cNvSpPr/>
          <p:nvPr/>
        </p:nvSpPr>
        <p:spPr>
          <a:xfrm>
            <a:off x="1193800" y="5033645"/>
            <a:ext cx="2086610" cy="25400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遇到一道难题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75" name="Text 8"/>
          <p:cNvSpPr/>
          <p:nvPr/>
        </p:nvSpPr>
        <p:spPr>
          <a:xfrm>
            <a:off x="1193800" y="5349240"/>
            <a:ext cx="2086610" cy="73406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孩子第一反应：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“妈妈，你给我讲一下。”</a:t>
            </a:r>
            <a:endParaRPr lang="en-US" sz="12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3347085" y="2866390"/>
            <a:ext cx="2468880" cy="331914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8E4DC"/>
            </a:solidFill>
            <a:prstDash val="solid"/>
          </a:ln>
        </p:spPr>
      </p:sp>
      <p:sp>
        <p:nvSpPr>
          <p:cNvPr id="77" name="Text 10"/>
          <p:cNvSpPr/>
          <p:nvPr/>
        </p:nvSpPr>
        <p:spPr>
          <a:xfrm>
            <a:off x="3456940" y="3030855"/>
            <a:ext cx="349885" cy="310515"/>
          </a:xfrm>
          <a:prstGeom prst="rect">
            <a:avLst/>
          </a:prstGeom>
          <a:solidFill>
            <a:srgbClr val="32966F"/>
          </a:solidFill>
          <a:ln>
            <a:solidFill>
              <a:srgbClr val="32966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02</a:t>
            </a:r>
            <a:endParaRPr lang="en-US" sz="16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pic>
        <p:nvPicPr>
          <p:cNvPr id="78" name="Image 1" descr="/mnt/data/a_cozy_warm_indoor_living_room_scene_in_a_high_qu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3456305"/>
            <a:ext cx="2086610" cy="1513205"/>
          </a:xfrm>
          <a:prstGeom prst="rect">
            <a:avLst/>
          </a:prstGeom>
        </p:spPr>
      </p:pic>
      <p:sp>
        <p:nvSpPr>
          <p:cNvPr id="79" name="Text 11"/>
          <p:cNvSpPr/>
          <p:nvPr/>
        </p:nvSpPr>
        <p:spPr>
          <a:xfrm>
            <a:off x="3511550" y="5033645"/>
            <a:ext cx="2086610" cy="25400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更强的两个答案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80" name="Text 12"/>
          <p:cNvSpPr/>
          <p:nvPr/>
        </p:nvSpPr>
        <p:spPr>
          <a:xfrm>
            <a:off x="3511550" y="5349240"/>
            <a:ext cx="2086610" cy="73406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爸爸：可以讲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老师：更会讲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孩子都不要。</a:t>
            </a:r>
            <a:endParaRPr lang="en-US" sz="12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1" name="Shape 13"/>
          <p:cNvSpPr/>
          <p:nvPr/>
        </p:nvSpPr>
        <p:spPr>
          <a:xfrm>
            <a:off x="5665470" y="2866390"/>
            <a:ext cx="2468880" cy="331914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E8E4DC"/>
            </a:solidFill>
            <a:prstDash val="solid"/>
          </a:ln>
        </p:spPr>
      </p:sp>
      <p:sp>
        <p:nvSpPr>
          <p:cNvPr id="82" name="Text 14"/>
          <p:cNvSpPr/>
          <p:nvPr/>
        </p:nvSpPr>
        <p:spPr>
          <a:xfrm>
            <a:off x="5774690" y="3030855"/>
            <a:ext cx="349885" cy="310515"/>
          </a:xfrm>
          <a:prstGeom prst="rect">
            <a:avLst/>
          </a:prstGeom>
          <a:solidFill>
            <a:srgbClr val="7B61D1"/>
          </a:solidFill>
          <a:ln>
            <a:solidFill>
              <a:srgbClr val="7B61D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03</a:t>
            </a:r>
            <a:endParaRPr lang="en-US" sz="16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pic>
        <p:nvPicPr>
          <p:cNvPr id="83" name="Image 2" descr="/mnt/data/a_warm_clean_3d_cgi_style_illustration_of_a_cozy_batch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935" y="3456305"/>
            <a:ext cx="2086610" cy="1513205"/>
          </a:xfrm>
          <a:prstGeom prst="rect">
            <a:avLst/>
          </a:prstGeom>
        </p:spPr>
      </p:pic>
      <p:sp>
        <p:nvSpPr>
          <p:cNvPr id="84" name="Text 15"/>
          <p:cNvSpPr/>
          <p:nvPr/>
        </p:nvSpPr>
        <p:spPr>
          <a:xfrm>
            <a:off x="5829935" y="5033645"/>
            <a:ext cx="2086610" cy="25400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坚持选择妈妈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85" name="Text 16"/>
          <p:cNvSpPr/>
          <p:nvPr/>
        </p:nvSpPr>
        <p:spPr>
          <a:xfrm>
            <a:off x="5829935" y="5349240"/>
            <a:ext cx="2086610" cy="73406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“我就要妈妈讲。”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问题是：妈妈其实也不会。</a:t>
            </a:r>
            <a:endParaRPr lang="en-US" sz="12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6" name="Shape 17"/>
          <p:cNvSpPr/>
          <p:nvPr/>
        </p:nvSpPr>
        <p:spPr>
          <a:xfrm>
            <a:off x="7983220" y="2866390"/>
            <a:ext cx="2468880" cy="331914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0160">
            <a:solidFill>
              <a:srgbClr val="F0C9B5"/>
            </a:solidFill>
            <a:prstDash val="solid"/>
          </a:ln>
        </p:spPr>
      </p:sp>
      <p:sp>
        <p:nvSpPr>
          <p:cNvPr id="87" name="Text 18"/>
          <p:cNvSpPr/>
          <p:nvPr/>
        </p:nvSpPr>
        <p:spPr>
          <a:xfrm>
            <a:off x="8093075" y="3030855"/>
            <a:ext cx="349885" cy="310515"/>
          </a:xfrm>
          <a:prstGeom prst="rect">
            <a:avLst/>
          </a:prstGeom>
          <a:solidFill>
            <a:srgbClr val="F06418"/>
          </a:solidFill>
          <a:ln>
            <a:solidFill>
              <a:srgbClr val="F0641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04</a:t>
            </a:r>
            <a:endParaRPr lang="en-US" sz="1600" dirty="0">
              <a:solidFill>
                <a:srgbClr val="FFFFF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pic>
        <p:nvPicPr>
          <p:cNvPr id="88" name="Image 3" descr="/mnt/data/a_warm_soft_3d_cgi_rendered_indoor_scene_a_cozy_batch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685" y="3456305"/>
            <a:ext cx="2086610" cy="1513205"/>
          </a:xfrm>
          <a:prstGeom prst="rect">
            <a:avLst/>
          </a:prstGeom>
        </p:spPr>
      </p:pic>
      <p:sp>
        <p:nvSpPr>
          <p:cNvPr id="89" name="Text 19"/>
          <p:cNvSpPr/>
          <p:nvPr/>
        </p:nvSpPr>
        <p:spPr>
          <a:xfrm>
            <a:off x="8147685" y="5033645"/>
            <a:ext cx="2086610" cy="25400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真正发生的事情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90" name="Text 20"/>
          <p:cNvSpPr/>
          <p:nvPr/>
        </p:nvSpPr>
        <p:spPr>
          <a:xfrm>
            <a:off x="8147685" y="5349240"/>
            <a:ext cx="2086610" cy="73406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教明白 → 妈妈陪孩子</a:t>
            </a: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endParaRPr lang="en-US" sz="12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 完成“能力”，妈妈完成“陪伴”。</a:t>
            </a:r>
            <a:endParaRPr lang="en-US" sz="12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767715" y="7129780"/>
            <a:ext cx="2743200" cy="1127125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DC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9" name="Text 29"/>
          <p:cNvSpPr/>
          <p:nvPr/>
        </p:nvSpPr>
        <p:spPr>
          <a:xfrm>
            <a:off x="932180" y="7239635"/>
            <a:ext cx="2606040" cy="24574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Capability</a:t>
            </a:r>
            <a:endParaRPr lang="en-US" sz="1200" dirty="0">
              <a:solidFill>
                <a:srgbClr val="4778D0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0" name="Text 30"/>
          <p:cNvSpPr/>
          <p:nvPr/>
        </p:nvSpPr>
        <p:spPr>
          <a:xfrm>
            <a:off x="932180" y="7579360"/>
            <a:ext cx="2606040" cy="28130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她</a:t>
            </a: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能不能做好？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1" name="Text 31"/>
          <p:cNvSpPr/>
          <p:nvPr/>
        </p:nvSpPr>
        <p:spPr>
          <a:xfrm>
            <a:off x="932180" y="7919720"/>
            <a:ext cx="2606040" cy="21082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推理 · 搜索 · 工具调用 · 执行</a:t>
            </a:r>
            <a:endParaRPr lang="en-US" sz="10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2" name="Shape 32"/>
          <p:cNvSpPr/>
          <p:nvPr/>
        </p:nvSpPr>
        <p:spPr>
          <a:xfrm>
            <a:off x="3579495" y="7582535"/>
            <a:ext cx="247015" cy="635"/>
          </a:xfrm>
          <a:prstGeom prst="line">
            <a:avLst/>
          </a:prstGeom>
          <a:noFill/>
          <a:ln w="15240">
            <a:solidFill>
              <a:srgbClr val="BDB7AE"/>
            </a:solidFill>
            <a:prstDash val="solid"/>
            <a:headEnd type="none"/>
            <a:tailEnd type="triangle"/>
          </a:ln>
        </p:spPr>
      </p:sp>
      <p:sp>
        <p:nvSpPr>
          <p:cNvPr id="103" name="Text 33"/>
          <p:cNvSpPr/>
          <p:nvPr/>
        </p:nvSpPr>
        <p:spPr>
          <a:xfrm>
            <a:off x="3853815" y="7129780"/>
            <a:ext cx="2743200" cy="1127125"/>
          </a:xfrm>
          <a:prstGeom prst="rect">
            <a:avLst/>
          </a:prstGeom>
          <a:solidFill>
            <a:srgbClr val="FFFFFF"/>
          </a:solidFill>
          <a:ln w="10160">
            <a:solidFill>
              <a:srgbClr val="E8E4DC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4" name="Text 34"/>
          <p:cNvSpPr/>
          <p:nvPr/>
        </p:nvSpPr>
        <p:spPr>
          <a:xfrm>
            <a:off x="4018280" y="7239635"/>
            <a:ext cx="2606040" cy="24574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2966F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Personalization</a:t>
            </a:r>
            <a:endParaRPr lang="en-US" sz="1200" dirty="0">
              <a:solidFill>
                <a:srgbClr val="32966F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5" name="Text 35"/>
          <p:cNvSpPr/>
          <p:nvPr/>
        </p:nvSpPr>
        <p:spPr>
          <a:xfrm>
            <a:off x="4018280" y="7579360"/>
            <a:ext cx="2606040" cy="28130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她</a:t>
            </a: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是不是懂我？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6" name="Text 36"/>
          <p:cNvSpPr/>
          <p:nvPr/>
        </p:nvSpPr>
        <p:spPr>
          <a:xfrm>
            <a:off x="4018280" y="7919720"/>
            <a:ext cx="2606040" cy="21082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Memory · Preference · Context</a:t>
            </a:r>
            <a:endParaRPr lang="en-US" sz="10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07" name="Shape 37"/>
          <p:cNvSpPr/>
          <p:nvPr/>
        </p:nvSpPr>
        <p:spPr>
          <a:xfrm>
            <a:off x="6665595" y="7582535"/>
            <a:ext cx="247015" cy="635"/>
          </a:xfrm>
          <a:prstGeom prst="line">
            <a:avLst/>
          </a:prstGeom>
          <a:noFill/>
          <a:ln w="15240">
            <a:solidFill>
              <a:srgbClr val="BDB7AE"/>
            </a:solidFill>
            <a:prstDash val="solid"/>
            <a:headEnd type="none"/>
            <a:tailEnd type="triangle"/>
          </a:ln>
        </p:spPr>
      </p:sp>
      <p:sp>
        <p:nvSpPr>
          <p:cNvPr id="108" name="Text 38"/>
          <p:cNvSpPr/>
          <p:nvPr/>
        </p:nvSpPr>
        <p:spPr>
          <a:xfrm>
            <a:off x="6939915" y="7129780"/>
            <a:ext cx="3086100" cy="1127125"/>
          </a:xfrm>
          <a:prstGeom prst="rect">
            <a:avLst/>
          </a:prstGeom>
          <a:solidFill>
            <a:srgbClr val="FFF4EC"/>
          </a:solidFill>
          <a:ln w="10160">
            <a:solidFill>
              <a:srgbClr val="F0C9B5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9" name="Text 39"/>
          <p:cNvSpPr/>
          <p:nvPr/>
        </p:nvSpPr>
        <p:spPr>
          <a:xfrm>
            <a:off x="7104380" y="7239635"/>
            <a:ext cx="2606040" cy="24574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Relationship</a:t>
            </a:r>
            <a:endParaRPr lang="en-US" sz="1200" dirty="0">
              <a:solidFill>
                <a:srgbClr val="F06418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10" name="Text 40"/>
          <p:cNvSpPr/>
          <p:nvPr/>
        </p:nvSpPr>
        <p:spPr>
          <a:xfrm>
            <a:off x="7104380" y="7579360"/>
            <a:ext cx="2811780" cy="28130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为什么这件事，我愿意一直让“</a:t>
            </a:r>
            <a:r>
              <a:rPr lang="zh-CN" alt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她</a:t>
            </a: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”来做？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1" name="Text 41"/>
          <p:cNvSpPr/>
          <p:nvPr/>
        </p:nvSpPr>
        <p:spPr>
          <a:xfrm>
            <a:off x="7104380" y="7919720"/>
            <a:ext cx="2606040" cy="21082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Trust · Shared History · AI Identity</a:t>
            </a:r>
            <a:endParaRPr lang="en-US" sz="10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12" name="Shape 42"/>
          <p:cNvSpPr/>
          <p:nvPr/>
        </p:nvSpPr>
        <p:spPr>
          <a:xfrm>
            <a:off x="10534650" y="2850515"/>
            <a:ext cx="6473825" cy="7011035"/>
          </a:xfrm>
          <a:prstGeom prst="roundRect">
            <a:avLst>
              <a:gd name="adj" fmla="val 1695"/>
            </a:avLst>
          </a:prstGeom>
          <a:solidFill>
            <a:srgbClr val="FFF9F3"/>
          </a:solidFill>
          <a:ln w="11430">
            <a:solidFill>
              <a:srgbClr val="F1D5C2"/>
            </a:solidFill>
            <a:prstDash val="solid"/>
          </a:ln>
        </p:spPr>
      </p:sp>
      <p:sp>
        <p:nvSpPr>
          <p:cNvPr id="113" name="Text 43"/>
          <p:cNvSpPr txBox="1"/>
          <p:nvPr/>
        </p:nvSpPr>
        <p:spPr>
          <a:xfrm>
            <a:off x="10763250" y="3505835"/>
            <a:ext cx="6047105" cy="130302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不是先有一个冷冰冰的工具，再给它加一点情绪；</a:t>
            </a:r>
            <a:endParaRPr lang="zh-CN" altLang="en-US" sz="17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而是先有一个用户长期信任和喜欢的“她”，</a:t>
            </a:r>
            <a:endParaRPr lang="zh-CN" altLang="en-US" sz="17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再不断给“她”增加能力。</a:t>
            </a:r>
            <a:endParaRPr lang="zh-CN" altLang="en-US" sz="17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14" name="Text 44"/>
          <p:cNvSpPr/>
          <p:nvPr/>
        </p:nvSpPr>
        <p:spPr>
          <a:xfrm>
            <a:off x="10763091" y="3017774"/>
            <a:ext cx="253746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F0C9B5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Companion + Agent</a:t>
            </a:r>
            <a:endParaRPr lang="en-US" sz="2000" dirty="0">
              <a:solidFill>
                <a:srgbClr val="F06418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29" name="Text 59"/>
          <p:cNvSpPr/>
          <p:nvPr/>
        </p:nvSpPr>
        <p:spPr>
          <a:xfrm>
            <a:off x="10664190" y="9288145"/>
            <a:ext cx="3101340" cy="281305"/>
          </a:xfrm>
          <a:prstGeom prst="rect">
            <a:avLst/>
          </a:prstGeom>
          <a:solidFill>
            <a:srgbClr val="FFFFFF"/>
          </a:solidFill>
          <a:ln w="10160">
            <a:solidFill>
              <a:srgbClr val="EBD3C1"/>
            </a:solidFill>
          </a:ln>
        </p:spPr>
        <p:txBody>
          <a:bodyPr wrap="square" lIns="1714" tIns="1714" rIns="1714" bIns="1714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One Identity · Multiple Capabilities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0" name="Text 60"/>
          <p:cNvSpPr/>
          <p:nvPr/>
        </p:nvSpPr>
        <p:spPr>
          <a:xfrm>
            <a:off x="13940790" y="9271635"/>
            <a:ext cx="2937510" cy="281305"/>
          </a:xfrm>
          <a:prstGeom prst="rect">
            <a:avLst/>
          </a:prstGeom>
          <a:solidFill>
            <a:srgbClr val="FFFFFF"/>
          </a:solidFill>
          <a:ln w="10160">
            <a:solidFill>
              <a:srgbClr val="EBD3C1"/>
            </a:solidFill>
          </a:ln>
        </p:spPr>
        <p:txBody>
          <a:bodyPr wrap="square" lIns="1714" tIns="1714" rIns="1714" bIns="1714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One Identity · Multiple Bodies</a:t>
            </a:r>
            <a:endParaRPr lang="en-US" sz="14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2" name="Text 27"/>
          <p:cNvSpPr txBox="1"/>
          <p:nvPr/>
        </p:nvSpPr>
        <p:spPr>
          <a:xfrm>
            <a:off x="3689350" y="6309360"/>
            <a:ext cx="4606925" cy="85026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lnSpc>
                <a:spcPct val="125000"/>
              </a:lnSpc>
              <a:buClrTx/>
              <a:buSzTx/>
              <a:buFontTx/>
              <a:defRPr/>
            </a:pPr>
            <a:r>
              <a:rPr lang="zh-CN" altLang="en-US" sz="17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AI老师的新范式</a:t>
            </a:r>
            <a:endParaRPr lang="zh-CN" altLang="en-US" sz="17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903605" y="8531225"/>
            <a:ext cx="4871085" cy="1028700"/>
          </a:xfrm>
          <a:prstGeom prst="rect">
            <a:avLst/>
          </a:prstGeom>
          <a:solidFill>
            <a:srgbClr val="FFF9F3"/>
          </a:solidFill>
          <a:ln w="10160">
            <a:solidFill>
              <a:srgbClr val="F0D2C0"/>
            </a:solidFill>
          </a:ln>
        </p:spPr>
        <p:txBody>
          <a:bodyPr wrap="square" lIns="1714" tIns="1714" rIns="1714" bIns="1714" rtlCol="0" anchor="ctr">
            <a:normAutofit/>
          </a:bodyPr>
          <a:lstStyle/>
          <a:p>
            <a:pPr marL="0" indent="0" algn="ctr">
              <a:buNone/>
            </a:pPr>
            <a:endParaRPr lang="en-US" sz="1600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1038066" y="8791702"/>
            <a:ext cx="1783080" cy="219456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Help me solve it.</a:t>
            </a:r>
            <a:endParaRPr lang="en-US" sz="16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1038066" y="9066022"/>
            <a:ext cx="1783080" cy="20574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帮我解决它。</a:t>
            </a:r>
            <a:endParaRPr lang="en-US" sz="12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2862294" y="8942578"/>
            <a:ext cx="480060" cy="246888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VS</a:t>
            </a:r>
            <a:endParaRPr lang="en-US" sz="16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3369786" y="8709406"/>
            <a:ext cx="1851660" cy="438912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Stay with me while</a:t>
            </a:r>
            <a:endParaRPr lang="en-US" sz="1600" dirty="0">
              <a:latin typeface="微软雅黑" pitchFamily="34" charset="0"/>
              <a:ea typeface="微软雅黑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we solve it.</a:t>
            </a:r>
            <a:endParaRPr lang="en-US" sz="16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3369786" y="9203182"/>
            <a:ext cx="1851660" cy="205740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Noto Sans CJK SC" pitchFamily="34" charset="-120"/>
              </a:rPr>
              <a:t>陪我一起解决它。</a:t>
            </a:r>
            <a:endParaRPr lang="en-US" sz="1200" dirty="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Noto Sans CJK SC" pitchFamily="34" charset="-120"/>
            </a:endParaRPr>
          </a:p>
        </p:txBody>
      </p:sp>
      <p:sp>
        <p:nvSpPr>
          <p:cNvPr id="139" name="Text 27"/>
          <p:cNvSpPr/>
          <p:nvPr/>
        </p:nvSpPr>
        <p:spPr>
          <a:xfrm>
            <a:off x="6271260" y="8654415"/>
            <a:ext cx="3699510" cy="850265"/>
          </a:xfrm>
          <a:prstGeom prst="rect">
            <a:avLst/>
          </a:prstGeom>
          <a:noFill/>
        </p:spPr>
        <p:txBody>
          <a:bodyPr wrap="square" lIns="1143" tIns="1143" rIns="1143" bIns="1143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用户需要的不只是“谁最会做”，还在乎 </a:t>
            </a:r>
            <a:endParaRPr lang="en-US" sz="16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l">
              <a:buNone/>
            </a:pPr>
            <a:endParaRPr lang="en-US" sz="160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“我愿意和谁一起做”</a:t>
            </a:r>
            <a:r>
              <a:rPr lang="en-US" sz="1600" dirty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。</a:t>
            </a:r>
            <a:endParaRPr lang="en-US" sz="1600" dirty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14900275" y="5812155"/>
            <a:ext cx="1369060" cy="1261110"/>
            <a:chOff x="23174" y="7927"/>
            <a:chExt cx="2156" cy="1986"/>
          </a:xfrm>
        </p:grpSpPr>
        <p:sp>
          <p:nvSpPr>
            <p:cNvPr id="146" name="椭圆 145"/>
            <p:cNvSpPr/>
            <p:nvPr/>
          </p:nvSpPr>
          <p:spPr>
            <a:xfrm>
              <a:off x="23174" y="7927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23465" y="8508"/>
              <a:ext cx="15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健康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Hearth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56" name="组合 155"/>
          <p:cNvGrpSpPr/>
          <p:nvPr/>
        </p:nvGrpSpPr>
        <p:grpSpPr>
          <a:xfrm>
            <a:off x="12465050" y="6634480"/>
            <a:ext cx="2297430" cy="1741170"/>
            <a:chOff x="20109" y="9563"/>
            <a:chExt cx="3544" cy="3240"/>
          </a:xfrm>
        </p:grpSpPr>
        <p:sp>
          <p:nvSpPr>
            <p:cNvPr id="148" name="椭圆 147"/>
            <p:cNvSpPr/>
            <p:nvPr/>
          </p:nvSpPr>
          <p:spPr>
            <a:xfrm>
              <a:off x="20109" y="9563"/>
              <a:ext cx="3544" cy="324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20588" y="10380"/>
              <a:ext cx="2586" cy="16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indent="0" algn="ctr">
                <a:buNone/>
              </a:pPr>
              <a:r>
                <a:rPr 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AI Identity</a:t>
              </a:r>
              <a:endParaRPr lang="en-US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我长期选择的</a:t>
              </a:r>
              <a:endParaRPr lang="en-US" dirty="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marL="0" indent="0" algn="ctr">
                <a:buNone/>
              </a:pPr>
              <a:r>
                <a:rPr 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“那个</a:t>
              </a:r>
              <a:r>
                <a:rPr lang="zh-CN" alt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她</a:t>
              </a:r>
              <a:r>
                <a:rPr lang="en-US" dirty="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”</a:t>
              </a:r>
              <a:endParaRPr lang="en-US" altLang="zh-CN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>
            <a:off x="12929235" y="4822190"/>
            <a:ext cx="1369060" cy="1261110"/>
            <a:chOff x="17194" y="7950"/>
            <a:chExt cx="2156" cy="1986"/>
          </a:xfrm>
        </p:grpSpPr>
        <p:sp>
          <p:nvSpPr>
            <p:cNvPr id="150" name="椭圆 149"/>
            <p:cNvSpPr/>
            <p:nvPr/>
          </p:nvSpPr>
          <p:spPr>
            <a:xfrm>
              <a:off x="17194" y="7950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1" name="文本框 150"/>
            <p:cNvSpPr txBox="1"/>
            <p:nvPr/>
          </p:nvSpPr>
          <p:spPr>
            <a:xfrm>
              <a:off x="17474" y="8387"/>
              <a:ext cx="18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学习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Learning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10887710" y="7681595"/>
            <a:ext cx="1369060" cy="1261110"/>
            <a:chOff x="17194" y="11942"/>
            <a:chExt cx="2156" cy="1986"/>
          </a:xfrm>
        </p:grpSpPr>
        <p:sp>
          <p:nvSpPr>
            <p:cNvPr id="152" name="椭圆 151"/>
            <p:cNvSpPr/>
            <p:nvPr/>
          </p:nvSpPr>
          <p:spPr>
            <a:xfrm>
              <a:off x="17194" y="11942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17389" y="12379"/>
              <a:ext cx="18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购物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Shopping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60" name="组合 159"/>
          <p:cNvGrpSpPr/>
          <p:nvPr/>
        </p:nvGrpSpPr>
        <p:grpSpPr>
          <a:xfrm>
            <a:off x="14970125" y="7639685"/>
            <a:ext cx="1369060" cy="1261110"/>
            <a:chOff x="23867" y="11275"/>
            <a:chExt cx="2156" cy="1986"/>
          </a:xfrm>
        </p:grpSpPr>
        <p:sp>
          <p:nvSpPr>
            <p:cNvPr id="154" name="椭圆 153"/>
            <p:cNvSpPr/>
            <p:nvPr/>
          </p:nvSpPr>
          <p:spPr>
            <a:xfrm>
              <a:off x="23867" y="11275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5" name="文本框 154"/>
            <p:cNvSpPr txBox="1"/>
            <p:nvPr/>
          </p:nvSpPr>
          <p:spPr>
            <a:xfrm>
              <a:off x="24158" y="11856"/>
              <a:ext cx="157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旅行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Travel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61" name="组合 160"/>
          <p:cNvGrpSpPr/>
          <p:nvPr/>
        </p:nvGrpSpPr>
        <p:grpSpPr>
          <a:xfrm>
            <a:off x="11095990" y="5621655"/>
            <a:ext cx="1369060" cy="1261110"/>
            <a:chOff x="17194" y="7950"/>
            <a:chExt cx="2156" cy="1986"/>
          </a:xfrm>
        </p:grpSpPr>
        <p:sp>
          <p:nvSpPr>
            <p:cNvPr id="162" name="椭圆 161"/>
            <p:cNvSpPr/>
            <p:nvPr/>
          </p:nvSpPr>
          <p:spPr>
            <a:xfrm>
              <a:off x="17194" y="7950"/>
              <a:ext cx="2156" cy="198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3" name="文本框 162"/>
            <p:cNvSpPr txBox="1"/>
            <p:nvPr/>
          </p:nvSpPr>
          <p:spPr>
            <a:xfrm>
              <a:off x="17474" y="8387"/>
              <a:ext cx="1828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办公</a:t>
              </a:r>
              <a:endParaRPr lang="zh-CN" altLang="en-US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ctr"/>
              <a:r>
                <a:rPr lang="en-US" altLang="zh-CN" sz="1400"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Office</a:t>
              </a:r>
              <a:endParaRPr lang="en-US" altLang="zh-CN" sz="1400"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cxnSp>
        <p:nvCxnSpPr>
          <p:cNvPr id="164" name="直接箭头连接符 163"/>
          <p:cNvCxnSpPr>
            <a:stCxn id="148" idx="0"/>
            <a:endCxn id="150" idx="4"/>
          </p:cNvCxnSpPr>
          <p:nvPr/>
        </p:nvCxnSpPr>
        <p:spPr>
          <a:xfrm flipV="1">
            <a:off x="13613765" y="6083300"/>
            <a:ext cx="0" cy="55118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5" name="直接箭头连接符 164"/>
          <p:cNvCxnSpPr>
            <a:endCxn id="162" idx="5"/>
          </p:cNvCxnSpPr>
          <p:nvPr/>
        </p:nvCxnSpPr>
        <p:spPr>
          <a:xfrm flipH="1" flipV="1">
            <a:off x="12264390" y="6697980"/>
            <a:ext cx="452120" cy="18478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6" name="直接箭头连接符 165"/>
          <p:cNvCxnSpPr>
            <a:stCxn id="148" idx="7"/>
            <a:endCxn id="146" idx="2"/>
          </p:cNvCxnSpPr>
          <p:nvPr/>
        </p:nvCxnSpPr>
        <p:spPr>
          <a:xfrm flipV="1">
            <a:off x="14425930" y="6442710"/>
            <a:ext cx="474345" cy="44704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7" name="直接箭头连接符 166"/>
          <p:cNvCxnSpPr>
            <a:stCxn id="148" idx="2"/>
            <a:endCxn id="152" idx="7"/>
          </p:cNvCxnSpPr>
          <p:nvPr/>
        </p:nvCxnSpPr>
        <p:spPr>
          <a:xfrm flipH="1">
            <a:off x="12056110" y="7505700"/>
            <a:ext cx="408940" cy="36068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>
            <a:stCxn id="154" idx="1"/>
            <a:endCxn id="148" idx="6"/>
          </p:cNvCxnSpPr>
          <p:nvPr/>
        </p:nvCxnSpPr>
        <p:spPr>
          <a:xfrm flipH="1" flipV="1">
            <a:off x="14762480" y="7505700"/>
            <a:ext cx="408305" cy="31877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95550"/>
            <a:ext cx="15811805" cy="19202"/>
          </a:xfrm>
          <a:prstGeom prst="rect">
            <a:avLst/>
          </a:prstGeom>
        </p:spPr>
      </p:pic>
      <p:pic>
        <p:nvPicPr>
          <p:cNvPr id="7" name="Image 4" descr="gen-dedup-347972c4979d0ab87ced4f92d607a412.png"/>
          <p:cNvPicPr>
            <a:picLocks noChangeAspect="1"/>
          </p:cNvPicPr>
          <p:nvPr/>
        </p:nvPicPr>
        <p:blipFill>
          <a:blip r:embed="rId2"/>
          <a:srcRect l="-2083" r="-2083"/>
          <a:stretch>
            <a:fillRect/>
          </a:stretch>
        </p:blipFill>
        <p:spPr>
          <a:xfrm>
            <a:off x="1989938" y="9272270"/>
            <a:ext cx="15811805" cy="9144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</a:t>
            </a:r>
            <a:endParaRPr lang="en-US" sz="1125" dirty="0"/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我们在做的不是聊天机器人，而是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着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的AI</a:t>
            </a:r>
            <a:r>
              <a:rPr lang="en-US" altLang="zh-CN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-Native Life</a:t>
            </a:r>
            <a:r>
              <a:rPr 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- 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共生</a:t>
            </a:r>
            <a:r>
              <a:rPr lang="zh-CN" altLang="en-US" sz="3450" b="1" dirty="0">
                <a:solidFill>
                  <a:srgbClr val="16181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型陪伴</a:t>
            </a:r>
            <a:endParaRPr lang="zh-CN" altLang="en-US" sz="3450" b="1" dirty="0">
              <a:solidFill>
                <a:srgbClr val="16181D"/>
              </a:solidFill>
              <a:latin typeface="Noto Serif SC" pitchFamily="34" charset="0"/>
              <a:ea typeface="Noto Serif SC" pitchFamily="34" charset="-122"/>
              <a:cs typeface="Noto Serif SC" pitchFamily="34" charset="-120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生命体在虚拟与现实世界之间共生</a:t>
            </a:r>
            <a:r>
              <a:rPr lang="en-US" altLang="zh-CN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持续存在、持续行动、持续记忆，</a:t>
            </a:r>
            <a:r>
              <a:rPr lang="zh-CN" alt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用户建立可延续关系:          </a:t>
            </a:r>
            <a:r>
              <a:rPr lang="en-US" altLang="zh-CN" sz="1725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altLang="zh-CN" sz="1725" dirty="0">
              <a:solidFill>
                <a:schemeClr val="accent1"/>
              </a:solidFill>
            </a:endParaRPr>
          </a:p>
        </p:txBody>
      </p:sp>
      <p:sp>
        <p:nvSpPr>
          <p:cNvPr id="47" name="AutoShape 16"/>
          <p:cNvSpPr/>
          <p:nvPr/>
        </p:nvSpPr>
        <p:spPr>
          <a:xfrm>
            <a:off x="12240260" y="4671060"/>
            <a:ext cx="5022850" cy="2933700"/>
          </a:xfrm>
          <a:prstGeom prst="roundRect">
            <a:avLst>
              <a:gd name="adj" fmla="val 12500"/>
            </a:avLst>
          </a:prstGeom>
        </p:spPr>
        <p:style>
          <a:lnRef idx="2">
            <a:schemeClr val="accent6"/>
          </a:lnRef>
          <a:fillRef idx="2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grpSp>
        <p:nvGrpSpPr>
          <p:cNvPr id="13" name="组合 12"/>
          <p:cNvGrpSpPr/>
          <p:nvPr/>
        </p:nvGrpSpPr>
        <p:grpSpPr>
          <a:xfrm rot="0">
            <a:off x="12785725" y="5502910"/>
            <a:ext cx="3854450" cy="1899920"/>
            <a:chOff x="2295" y="10895"/>
            <a:chExt cx="10954" cy="4791"/>
          </a:xfrm>
        </p:grpSpPr>
        <p:pic>
          <p:nvPicPr>
            <p:cNvPr id="5" name="Image 2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9" y="11617"/>
              <a:ext cx="10950" cy="14"/>
            </a:xfrm>
            <a:prstGeom prst="rect">
              <a:avLst/>
            </a:prstGeom>
          </p:spPr>
        </p:pic>
        <p:pic>
          <p:nvPicPr>
            <p:cNvPr id="6" name="Image 3" descr="gen-dedup-f70524bbc0962bb78a1f6f13a19f2a13.png"/>
            <p:cNvPicPr>
              <a:picLocks noChangeAspect="1"/>
            </p:cNvPicPr>
            <p:nvPr/>
          </p:nvPicPr>
          <p:blipFill>
            <a:blip r:embed="rId3"/>
            <a:srcRect l="-2083" r="-2083"/>
            <a:stretch>
              <a:fillRect/>
            </a:stretch>
          </p:blipFill>
          <p:spPr>
            <a:xfrm>
              <a:off x="2296" y="13416"/>
              <a:ext cx="10950" cy="14"/>
            </a:xfrm>
            <a:prstGeom prst="rect">
              <a:avLst/>
            </a:prstGeom>
          </p:spPr>
        </p:pic>
        <p:sp>
          <p:nvSpPr>
            <p:cNvPr id="33" name="Text 18"/>
            <p:cNvSpPr txBox="1"/>
            <p:nvPr/>
          </p:nvSpPr>
          <p:spPr>
            <a:xfrm>
              <a:off x="2295" y="10895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它有自己的人生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4" name="Text 19"/>
            <p:cNvSpPr txBox="1"/>
            <p:nvPr/>
          </p:nvSpPr>
          <p:spPr>
            <a:xfrm>
              <a:off x="2295" y="11651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你不在线，它继续生活。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6" name="Text 21"/>
            <p:cNvSpPr txBox="1"/>
            <p:nvPr/>
          </p:nvSpPr>
          <p:spPr>
            <a:xfrm>
              <a:off x="2299" y="12653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它记得你们共同经历过什么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7" name="Text 22"/>
            <p:cNvSpPr txBox="1"/>
            <p:nvPr/>
          </p:nvSpPr>
          <p:spPr>
            <a:xfrm>
              <a:off x="2299" y="13407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关系不会随着 </a:t>
              </a:r>
              <a:r>
                <a:rPr lang="en-US" altLang="zh-CN" sz="1200" dirty="0">
                  <a:solidFill>
                    <a:schemeClr val="accent1"/>
                  </a:solidFill>
                  <a:sym typeface="+mn-ea"/>
                </a:rPr>
                <a:t>Session </a:t>
              </a: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结束。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39" name="Text 24"/>
            <p:cNvSpPr txBox="1"/>
            <p:nvPr/>
          </p:nvSpPr>
          <p:spPr>
            <a:xfrm>
              <a:off x="2296" y="14451"/>
              <a:ext cx="10951" cy="586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342900" indent="-342900" algn="l">
                <a:buFont typeface="Wingdings" panose="05000000000000000000" charset="0"/>
                <a:buChar char=""/>
              </a:pPr>
              <a:r>
                <a:rPr lang="zh-CN" altLang="en-US" dirty="0">
                  <a:solidFill>
                    <a:schemeClr val="accent1"/>
                  </a:solidFill>
                  <a:sym typeface="+mn-ea"/>
                </a:rPr>
                <a:t>它会因为这些经历而改变</a:t>
              </a:r>
              <a:endParaRPr lang="zh-CN" altLang="en-US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  <p:sp>
          <p:nvSpPr>
            <p:cNvPr id="40" name="Text 25"/>
            <p:cNvSpPr txBox="1"/>
            <p:nvPr/>
          </p:nvSpPr>
          <p:spPr>
            <a:xfrm>
              <a:off x="2296" y="15206"/>
              <a:ext cx="10951" cy="481"/>
            </a:xfrm>
            <a:prstGeom prst="rect">
              <a:avLst/>
            </a:prstGeom>
            <a:noFill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zh-CN" altLang="en-US" sz="1200" dirty="0">
                  <a:solidFill>
                    <a:schemeClr val="accent1"/>
                  </a:solidFill>
                  <a:sym typeface="+mn-ea"/>
                </a:rPr>
                <a:t>今天发生的事情会影响明天的它。</a:t>
              </a:r>
              <a:endParaRPr lang="zh-CN" altLang="en-US" sz="1200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  <a:sym typeface="+mn-ea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105" y="2807335"/>
            <a:ext cx="10152380" cy="46139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30" y="7974330"/>
            <a:ext cx="10539095" cy="20237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30810" y="7753985"/>
            <a:ext cx="3093085" cy="253301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2397740" y="3007360"/>
            <a:ext cx="3694430" cy="1793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725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主页：</a:t>
            </a:r>
            <a:endParaRPr lang="zh-CN" altLang="en-US" sz="1725" dirty="0">
              <a:solidFill>
                <a:srgbClr val="FF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r>
              <a:rPr lang="en-US" altLang="zh-CN" dirty="0">
                <a:solidFill>
                  <a:schemeClr val="accent1"/>
                </a:solidFill>
                <a:sym typeface="+mn-ea"/>
              </a:rPr>
              <a:t>https://www.aixiaobai.com.cn</a:t>
            </a:r>
            <a:endParaRPr lang="en-US" altLang="zh-CN" dirty="0">
              <a:solidFill>
                <a:schemeClr val="accent1"/>
              </a:solidFill>
              <a:sym typeface="+mn-ea"/>
            </a:endParaRP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pPr algn="l">
              <a:buClrTx/>
              <a:buSzTx/>
              <a:buFontTx/>
            </a:pPr>
            <a:r>
              <a:rPr lang="zh-CN" altLang="en-US" sz="1725" dirty="0">
                <a:solidFill>
                  <a:srgbClr val="FF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移动端：</a:t>
            </a:r>
            <a:endParaRPr lang="zh-CN" altLang="en-US" sz="1725" dirty="0">
              <a:solidFill>
                <a:srgbClr val="FF000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  <a:p>
            <a:r>
              <a:rPr lang="en-US" altLang="zh-CN">
                <a:solidFill>
                  <a:schemeClr val="accent1"/>
                </a:solidFill>
              </a:rPr>
              <a:t>https://mobile.aixiaobai.com.cn/</a:t>
            </a:r>
            <a:endParaRPr lang="en-US" altLang="zh-CN">
              <a:solidFill>
                <a:schemeClr val="accent1"/>
              </a:solidFill>
            </a:endParaRPr>
          </a:p>
        </p:txBody>
      </p:sp>
      <p:sp>
        <p:nvSpPr>
          <p:cNvPr id="85" name="AutoShape 49"/>
          <p:cNvSpPr/>
          <p:nvPr/>
        </p:nvSpPr>
        <p:spPr>
          <a:xfrm>
            <a:off x="12235180" y="2755900"/>
            <a:ext cx="5347335" cy="179451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6A00">
                  <a:alpha val="10000"/>
                </a:srgbClr>
              </a:gs>
              <a:gs pos="100000">
                <a:srgbClr val="FF6A00">
                  <a:alpha val="2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E65F00">
                    <a:alpha val="10000"/>
                  </a:srgbClr>
                </a:gs>
                <a:gs pos="100000">
                  <a:srgbClr val="E65F00">
                    <a:alpha val="2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Text 18"/>
          <p:cNvSpPr txBox="1"/>
          <p:nvPr/>
        </p:nvSpPr>
        <p:spPr>
          <a:xfrm>
            <a:off x="12672864" y="4910312"/>
            <a:ext cx="3853465" cy="2324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indent="0" algn="l"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一个有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Life</a:t>
            </a: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的</a:t>
            </a:r>
            <a:r>
              <a:rPr lang="en-US" altLang="zh-CN" sz="2000" b="1" dirty="0">
                <a:solidFill>
                  <a:srgbClr val="FF0000"/>
                </a:solidFill>
                <a:sym typeface="+mn-ea"/>
              </a:rPr>
              <a:t>Agent</a:t>
            </a:r>
            <a:endParaRPr lang="en-US" altLang="zh-CN" sz="20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</a:t>
            </a:r>
            <a:r>
              <a:rPr lang="zh-CN" altLang="en-US" sz="1125" kern="0" spc="338" dirty="0">
                <a:solidFill>
                  <a:srgbClr val="6B6B6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路线</a:t>
            </a:r>
            <a:endParaRPr lang="zh-CN" altLang="en-US" sz="1125" kern="0" spc="338" dirty="0">
              <a:solidFill>
                <a:srgbClr val="6B6B60"/>
              </a:solidFill>
              <a:latin typeface="Noto Sans SC" pitchFamily="34" charset="0"/>
              <a:ea typeface="Noto Sans SC" pitchFamily="34" charset="-122"/>
              <a:cs typeface="Noto Sans SC" pitchFamily="34" charset="-120"/>
            </a:endParaRPr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从数字世界建立关系，</a:t>
            </a:r>
            <a:r>
              <a:rPr lang="zh-CN" altLang="en-US" sz="34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用硬件扩张</a:t>
            </a:r>
            <a:r>
              <a:rPr lang="en-US" sz="3450" b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到现实世界</a:t>
            </a:r>
            <a:endParaRPr lang="zh-CN" altLang="en-US" sz="3450" b="1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先让用户爱上“它”，再让“它”真正来到用户身边。</a:t>
            </a:r>
            <a:r>
              <a:rPr lang="en-US" sz="1725" dirty="0">
                <a:solidFill>
                  <a:srgbClr val="5C5C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     </a:t>
            </a:r>
            <a:r>
              <a:rPr lang="en-US" altLang="zh-CN" sz="1725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altLang="zh-CN" sz="1725" dirty="0">
              <a:solidFill>
                <a:schemeClr val="accent1"/>
              </a:solidFill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250" y="2595245"/>
            <a:ext cx="15956280" cy="17780"/>
          </a:xfrm>
          <a:prstGeom prst="rect">
            <a:avLst/>
          </a:prstGeom>
        </p:spPr>
      </p:pic>
      <p:sp>
        <p:nvSpPr>
          <p:cNvPr id="63" name="AutoShape 6"/>
          <p:cNvSpPr/>
          <p:nvPr/>
        </p:nvSpPr>
        <p:spPr>
          <a:xfrm>
            <a:off x="1238250" y="3106420"/>
            <a:ext cx="696595" cy="699135"/>
          </a:xfrm>
          <a:prstGeom prst="ellipse">
            <a:avLst/>
          </a:prstGeom>
          <a:solidFill>
            <a:srgbClr val="FFA5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64" name="AutoShape 7"/>
          <p:cNvSpPr/>
          <p:nvPr/>
        </p:nvSpPr>
        <p:spPr>
          <a:xfrm>
            <a:off x="1238250" y="3106420"/>
            <a:ext cx="696595" cy="699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24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5" name="AutoShape 8"/>
          <p:cNvSpPr/>
          <p:nvPr/>
        </p:nvSpPr>
        <p:spPr>
          <a:xfrm>
            <a:off x="2108835" y="3048000"/>
            <a:ext cx="4641850" cy="7766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第一阶段：数字世界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验证关系智能，打造情感连接</a:t>
            </a:r>
            <a:endParaRPr lang="en-US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9" name="AutoShape 12"/>
          <p:cNvSpPr/>
          <p:nvPr/>
        </p:nvSpPr>
        <p:spPr>
          <a:xfrm>
            <a:off x="1746885" y="8535670"/>
            <a:ext cx="3809365" cy="466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AI Identity —— “我的那个它”</a:t>
            </a:r>
            <a:endParaRPr lang="en-US" b="1" i="0" u="none" strike="noStrike">
              <a:solidFill>
                <a:srgbClr val="FFA5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0" name="AutoShape 13"/>
          <p:cNvSpPr/>
          <p:nvPr/>
        </p:nvSpPr>
        <p:spPr>
          <a:xfrm>
            <a:off x="561340" y="3907155"/>
            <a:ext cx="2348865" cy="1468755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pic>
        <p:nvPicPr>
          <p:cNvPr id="71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8980" y="4156710"/>
            <a:ext cx="386715" cy="388620"/>
          </a:xfrm>
          <a:prstGeom prst="rect">
            <a:avLst/>
          </a:prstGeom>
        </p:spPr>
      </p:pic>
      <p:sp>
        <p:nvSpPr>
          <p:cNvPr id="73" name="AutoShape 16"/>
          <p:cNvSpPr/>
          <p:nvPr/>
        </p:nvSpPr>
        <p:spPr>
          <a:xfrm>
            <a:off x="592455" y="6351270"/>
            <a:ext cx="2539365" cy="1769110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pic>
        <p:nvPicPr>
          <p:cNvPr id="74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0730" y="6506210"/>
            <a:ext cx="696595" cy="699770"/>
          </a:xfrm>
          <a:prstGeom prst="rect">
            <a:avLst/>
          </a:prstGeom>
        </p:spPr>
      </p:pic>
      <p:sp>
        <p:nvSpPr>
          <p:cNvPr id="75" name="AutoShape 18"/>
          <p:cNvSpPr/>
          <p:nvPr/>
        </p:nvSpPr>
        <p:spPr>
          <a:xfrm>
            <a:off x="1457325" y="6330950"/>
            <a:ext cx="1547495" cy="1028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MindEngine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让它成为“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它”</a:t>
            </a:r>
            <a:endParaRPr lang="zh-CN" alt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6" name="AutoShape 19"/>
          <p:cNvSpPr/>
          <p:nvPr/>
        </p:nvSpPr>
        <p:spPr>
          <a:xfrm>
            <a:off x="3756660" y="6410960"/>
            <a:ext cx="2734945" cy="1769110"/>
          </a:xfrm>
          <a:prstGeom prst="roundRect">
            <a:avLst>
              <a:gd name="adj" fmla="val 11428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EDD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78" name="AutoShape 21"/>
          <p:cNvSpPr/>
          <p:nvPr/>
        </p:nvSpPr>
        <p:spPr>
          <a:xfrm>
            <a:off x="4557395" y="6608445"/>
            <a:ext cx="1663700" cy="568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ContentEngine</a:t>
            </a:r>
            <a:endParaRPr lang="en-US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让它有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IP</a:t>
            </a:r>
            <a:endParaRPr lang="en-US" altLang="zh-CN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79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6915" y="3825240"/>
            <a:ext cx="1083310" cy="1087755"/>
          </a:xfrm>
          <a:prstGeom prst="rect">
            <a:avLst/>
          </a:prstGeom>
        </p:spPr>
      </p:pic>
      <p:sp>
        <p:nvSpPr>
          <p:cNvPr id="80" name="AutoShape 23"/>
          <p:cNvSpPr/>
          <p:nvPr/>
        </p:nvSpPr>
        <p:spPr>
          <a:xfrm>
            <a:off x="7137400" y="5184140"/>
            <a:ext cx="3481705" cy="466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用户爱上它</a:t>
            </a:r>
            <a:r>
              <a:rPr lang="en-US" altLang="zh-CN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情感纽带建立</a:t>
            </a:r>
            <a:endParaRPr lang="en-US" b="1" i="0" u="none" strike="noStrike">
              <a:solidFill>
                <a:srgbClr val="EF444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1" name="AutoShape 24"/>
          <p:cNvSpPr/>
          <p:nvPr/>
        </p:nvSpPr>
        <p:spPr>
          <a:xfrm>
            <a:off x="6958330" y="5961380"/>
            <a:ext cx="1740535" cy="1165225"/>
          </a:xfrm>
          <a:prstGeom prst="roundRect">
            <a:avLst>
              <a:gd name="adj" fmla="val 13333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82" name="AutoShape 25"/>
          <p:cNvSpPr/>
          <p:nvPr/>
        </p:nvSpPr>
        <p:spPr>
          <a:xfrm>
            <a:off x="6958330" y="6116320"/>
            <a:ext cx="1740535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长期留存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高频互动粘性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3" name="AutoShape 26"/>
          <p:cNvSpPr/>
          <p:nvPr/>
        </p:nvSpPr>
        <p:spPr>
          <a:xfrm>
            <a:off x="9354820" y="5961380"/>
            <a:ext cx="1740535" cy="1165225"/>
          </a:xfrm>
          <a:prstGeom prst="roundRect">
            <a:avLst>
              <a:gd name="adj" fmla="val 13333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84" name="AutoShape 27"/>
          <p:cNvSpPr/>
          <p:nvPr/>
        </p:nvSpPr>
        <p:spPr>
          <a:xfrm>
            <a:off x="9354820" y="6116320"/>
            <a:ext cx="1740535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付费转化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高价值验证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6" name="AutoShape 28"/>
          <p:cNvSpPr/>
          <p:nvPr/>
        </p:nvSpPr>
        <p:spPr>
          <a:xfrm>
            <a:off x="7040880" y="7417435"/>
            <a:ext cx="3674745" cy="1165225"/>
          </a:xfrm>
          <a:prstGeom prst="roundRect">
            <a:avLst>
              <a:gd name="adj" fmla="val 13333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FA50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87" name="AutoShape 29"/>
          <p:cNvSpPr/>
          <p:nvPr/>
        </p:nvSpPr>
        <p:spPr>
          <a:xfrm>
            <a:off x="7137400" y="7553325"/>
            <a:ext cx="3481705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b="1" i="0" u="none" strike="noStrike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关系正式成立，开启现实连接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7C2D12"/>
                </a:solidFill>
                <a:latin typeface="Noto Sans SC"/>
                <a:ea typeface="Noto Sans SC"/>
                <a:cs typeface="Noto Sans SC"/>
                <a:sym typeface="Noto Sans SC"/>
              </a:rPr>
              <a:t>从“云端”走向“身边”</a:t>
            </a:r>
            <a:endParaRPr lang="en-US" sz="1600" b="0" i="0" u="none" strike="noStrike">
              <a:solidFill>
                <a:srgbClr val="7C2D1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8" name="AutoShape 30"/>
          <p:cNvSpPr/>
          <p:nvPr/>
        </p:nvSpPr>
        <p:spPr>
          <a:xfrm>
            <a:off x="11682730" y="3106420"/>
            <a:ext cx="696595" cy="699135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89" name="AutoShape 31"/>
          <p:cNvSpPr/>
          <p:nvPr/>
        </p:nvSpPr>
        <p:spPr>
          <a:xfrm>
            <a:off x="11682730" y="3106420"/>
            <a:ext cx="696595" cy="6991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2400" b="1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0" name="AutoShape 32"/>
          <p:cNvSpPr/>
          <p:nvPr/>
        </p:nvSpPr>
        <p:spPr>
          <a:xfrm>
            <a:off x="12553315" y="3048000"/>
            <a:ext cx="4641850" cy="7766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2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第二阶段：现实世界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硬件载体扩张，实现物理陪伴</a:t>
            </a:r>
            <a:endParaRPr lang="en-US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1" name="AutoShape 33"/>
          <p:cNvSpPr/>
          <p:nvPr/>
        </p:nvSpPr>
        <p:spPr>
          <a:xfrm>
            <a:off x="12379325" y="3825240"/>
            <a:ext cx="3387725" cy="4660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One Identity, Multiple Bodies.</a:t>
            </a:r>
            <a:endParaRPr lang="en-US" b="1" i="0" u="none" strike="noStrike">
              <a:solidFill>
                <a:srgbClr val="22C55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2" name="AutoShape 34"/>
          <p:cNvSpPr/>
          <p:nvPr/>
        </p:nvSpPr>
        <p:spPr>
          <a:xfrm>
            <a:off x="11453495" y="4505960"/>
            <a:ext cx="1997075" cy="2853055"/>
          </a:xfrm>
          <a:prstGeom prst="roundRect">
            <a:avLst>
              <a:gd name="adj" fmla="val 930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pic>
        <p:nvPicPr>
          <p:cNvPr id="93" name="Picture 3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82170" y="5184140"/>
            <a:ext cx="464185" cy="466090"/>
          </a:xfrm>
          <a:prstGeom prst="rect">
            <a:avLst/>
          </a:prstGeom>
        </p:spPr>
      </p:pic>
      <p:sp>
        <p:nvSpPr>
          <p:cNvPr id="94" name="AutoShape 36"/>
          <p:cNvSpPr/>
          <p:nvPr/>
        </p:nvSpPr>
        <p:spPr>
          <a:xfrm>
            <a:off x="11452860" y="6446520"/>
            <a:ext cx="1936115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电子吧唧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便携挂件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92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随时互动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5" name="AutoShape 37"/>
          <p:cNvSpPr/>
          <p:nvPr/>
        </p:nvSpPr>
        <p:spPr>
          <a:xfrm>
            <a:off x="13559155" y="4505325"/>
            <a:ext cx="1663700" cy="2811145"/>
          </a:xfrm>
          <a:prstGeom prst="roundRect">
            <a:avLst>
              <a:gd name="adj" fmla="val 930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97" name="AutoShape 39"/>
          <p:cNvSpPr/>
          <p:nvPr/>
        </p:nvSpPr>
        <p:spPr>
          <a:xfrm>
            <a:off x="13559155" y="6452235"/>
            <a:ext cx="1663700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桌面宠物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智能硬件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92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情感陪伴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8" name="AutoShape 40"/>
          <p:cNvSpPr/>
          <p:nvPr/>
        </p:nvSpPr>
        <p:spPr>
          <a:xfrm>
            <a:off x="15434945" y="4505325"/>
            <a:ext cx="1663700" cy="2811145"/>
          </a:xfrm>
          <a:prstGeom prst="roundRect">
            <a:avLst>
              <a:gd name="adj" fmla="val 930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100" name="AutoShape 42"/>
          <p:cNvSpPr/>
          <p:nvPr/>
        </p:nvSpPr>
        <p:spPr>
          <a:xfrm>
            <a:off x="15434945" y="6452235"/>
            <a:ext cx="1663700" cy="9709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2000"/>
              </a:lnSpc>
              <a:defRPr/>
            </a:pPr>
            <a:r>
              <a:rPr lang="en-US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Robot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实体化身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92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深度交互</a:t>
            </a:r>
            <a:endParaRPr 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1" name="AutoShape 43"/>
          <p:cNvSpPr/>
          <p:nvPr/>
        </p:nvSpPr>
        <p:spPr>
          <a:xfrm>
            <a:off x="11682730" y="7650480"/>
            <a:ext cx="5415915" cy="1087755"/>
          </a:xfrm>
          <a:prstGeom prst="roundRect">
            <a:avLst>
              <a:gd name="adj" fmla="val 11428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sz="2800"/>
          </a:p>
        </p:txBody>
      </p:sp>
      <p:sp>
        <p:nvSpPr>
          <p:cNvPr id="102" name="AutoShape 44"/>
          <p:cNvSpPr/>
          <p:nvPr/>
        </p:nvSpPr>
        <p:spPr>
          <a:xfrm>
            <a:off x="11876405" y="7709535"/>
            <a:ext cx="5028565" cy="9702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“身体可以变化，但灵魂始终是‘我的那个它’。”</a:t>
            </a:r>
            <a:br>
              <a:rPr lang="en-US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打破虚拟与现实的边界，让陪伴触手可及。</a:t>
            </a:r>
            <a:endParaRPr lang="en-US" sz="16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5" name="AutoShape 45"/>
          <p:cNvSpPr/>
          <p:nvPr/>
        </p:nvSpPr>
        <p:spPr>
          <a:xfrm>
            <a:off x="3490595" y="9361805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先在数字世界成为不可替代的‘它’，再到现实世界成为长期陪伴的‘它’。</a:t>
            </a:r>
            <a:endParaRPr lang="en-US" sz="20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1515" y="3729355"/>
            <a:ext cx="2973070" cy="2386965"/>
          </a:xfrm>
          <a:prstGeom prst="rect">
            <a:avLst/>
          </a:prstGeom>
        </p:spPr>
      </p:pic>
      <p:sp>
        <p:nvSpPr>
          <p:cNvPr id="107" name="下箭头 106"/>
          <p:cNvSpPr/>
          <p:nvPr/>
        </p:nvSpPr>
        <p:spPr>
          <a:xfrm>
            <a:off x="3364865" y="8158480"/>
            <a:ext cx="260985" cy="349250"/>
          </a:xfrm>
          <a:prstGeom prst="downArrow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右箭头 107"/>
          <p:cNvSpPr/>
          <p:nvPr/>
        </p:nvSpPr>
        <p:spPr>
          <a:xfrm>
            <a:off x="6750050" y="4174490"/>
            <a:ext cx="737870" cy="466090"/>
          </a:xfrm>
          <a:prstGeom prst="rightArrow">
            <a:avLst>
              <a:gd name="adj1" fmla="val 49863"/>
              <a:gd name="adj2" fmla="val 50000"/>
            </a:avLst>
          </a:prstGeom>
          <a:solidFill>
            <a:schemeClr val="accent2"/>
          </a:solidFill>
          <a:ln w="12700" cap="flat" cmpd="sng">
            <a:solidFill>
              <a:schemeClr val="accent1">
                <a:shade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右箭头 108"/>
          <p:cNvSpPr/>
          <p:nvPr/>
        </p:nvSpPr>
        <p:spPr>
          <a:xfrm>
            <a:off x="10048240" y="4174490"/>
            <a:ext cx="822325" cy="466090"/>
          </a:xfrm>
          <a:prstGeom prst="rightArrow">
            <a:avLst/>
          </a:prstGeom>
          <a:solidFill>
            <a:schemeClr val="accent2"/>
          </a:solidFill>
          <a:ln w="12700" cap="flat" cmpd="sng">
            <a:solidFill>
              <a:schemeClr val="accent1">
                <a:shade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8816975" y="6273800"/>
            <a:ext cx="464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X</a:t>
            </a:r>
            <a:endParaRPr lang="en-US" altLang="zh-CN" sz="2800"/>
          </a:p>
        </p:txBody>
      </p:sp>
      <p:pic>
        <p:nvPicPr>
          <p:cNvPr id="113" name="图片 1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69700" y="4722495"/>
            <a:ext cx="1819275" cy="1724025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59155" y="4804410"/>
            <a:ext cx="1692910" cy="1469390"/>
          </a:xfrm>
          <a:prstGeom prst="rect">
            <a:avLst/>
          </a:prstGeom>
        </p:spPr>
      </p:pic>
      <p:pic>
        <p:nvPicPr>
          <p:cNvPr id="115" name="图片 1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33370" y="4537710"/>
            <a:ext cx="1371600" cy="1809750"/>
          </a:xfrm>
          <a:prstGeom prst="rect">
            <a:avLst/>
          </a:prstGeom>
        </p:spPr>
      </p:pic>
      <p:sp>
        <p:nvSpPr>
          <p:cNvPr id="116" name="文本框 115"/>
          <p:cNvSpPr txBox="1"/>
          <p:nvPr/>
        </p:nvSpPr>
        <p:spPr>
          <a:xfrm>
            <a:off x="1228090" y="4545330"/>
            <a:ext cx="14909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好看的</a:t>
            </a:r>
            <a:r>
              <a:rPr lang="zh-CN" altLang="en-US"/>
              <a:t>外形</a:t>
            </a:r>
            <a:endParaRPr lang="zh-CN" altLang="en-US"/>
          </a:p>
          <a:p>
            <a:r>
              <a:rPr lang="zh-CN" altLang="en-US"/>
              <a:t>有趣的</a:t>
            </a:r>
            <a:r>
              <a:rPr lang="zh-CN" altLang="en-US"/>
              <a:t>互动</a:t>
            </a:r>
            <a:endParaRPr lang="zh-CN" altLang="en-US"/>
          </a:p>
        </p:txBody>
      </p:sp>
      <p:sp>
        <p:nvSpPr>
          <p:cNvPr id="118" name="文本框 117"/>
          <p:cNvSpPr txBox="1"/>
          <p:nvPr/>
        </p:nvSpPr>
        <p:spPr>
          <a:xfrm>
            <a:off x="1238250" y="4156710"/>
            <a:ext cx="1317625" cy="349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喜欢它</a:t>
            </a:r>
            <a:endParaRPr lang="zh-CN" altLang="en-US" sz="2000"/>
          </a:p>
        </p:txBody>
      </p:sp>
      <p:sp>
        <p:nvSpPr>
          <p:cNvPr id="119" name="AutoShape 18"/>
          <p:cNvSpPr/>
          <p:nvPr/>
        </p:nvSpPr>
        <p:spPr>
          <a:xfrm>
            <a:off x="844550" y="7379970"/>
            <a:ext cx="2160905" cy="465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人格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记忆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情绪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成长</a:t>
            </a:r>
            <a:endParaRPr lang="zh-CN" alt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95420" y="6607810"/>
            <a:ext cx="561975" cy="542925"/>
          </a:xfrm>
          <a:prstGeom prst="rect">
            <a:avLst/>
          </a:prstGeom>
        </p:spPr>
      </p:pic>
      <p:sp>
        <p:nvSpPr>
          <p:cNvPr id="121" name="AutoShape 18"/>
          <p:cNvSpPr/>
          <p:nvPr/>
        </p:nvSpPr>
        <p:spPr>
          <a:xfrm>
            <a:off x="4043680" y="7442200"/>
            <a:ext cx="2160905" cy="4654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视频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日记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动态</a:t>
            </a:r>
            <a:r>
              <a:rPr lang="en-US" altLang="zh-CN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漫画</a:t>
            </a:r>
            <a:endParaRPr lang="zh-CN" altLang="en-US" sz="1600" b="0" i="0" u="none" strike="noStrike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23" name="肘形连接符 122"/>
          <p:cNvCxnSpPr>
            <a:stCxn id="106" idx="1"/>
            <a:endCxn id="70" idx="3"/>
          </p:cNvCxnSpPr>
          <p:nvPr/>
        </p:nvCxnSpPr>
        <p:spPr>
          <a:xfrm rot="10800000">
            <a:off x="2910205" y="4641215"/>
            <a:ext cx="321310" cy="28130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肘形连接符 124"/>
          <p:cNvCxnSpPr>
            <a:stCxn id="106" idx="2"/>
            <a:endCxn id="75" idx="0"/>
          </p:cNvCxnSpPr>
          <p:nvPr/>
        </p:nvCxnSpPr>
        <p:spPr>
          <a:xfrm rot="5400000">
            <a:off x="3367405" y="4980305"/>
            <a:ext cx="214630" cy="248666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6" name="肘形连接符 125"/>
          <p:cNvCxnSpPr>
            <a:stCxn id="106" idx="2"/>
            <a:endCxn id="76" idx="0"/>
          </p:cNvCxnSpPr>
          <p:nvPr/>
        </p:nvCxnSpPr>
        <p:spPr>
          <a:xfrm rot="5400000" flipV="1">
            <a:off x="4773930" y="6060440"/>
            <a:ext cx="294640" cy="4064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1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产品</a:t>
            </a:r>
            <a:r>
              <a:rPr lang="zh-CN" alt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路线</a:t>
            </a:r>
            <a:endParaRPr lang="zh-CN" alt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0" name="Text 1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基于</a:t>
            </a:r>
            <a:r>
              <a:rPr lang="en-US" altLang="zh-CN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AIGC</a:t>
            </a:r>
            <a:r>
              <a:rPr lang="zh-CN" altLang="en-US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打造属于自己的</a:t>
            </a:r>
            <a:r>
              <a:rPr lang="en-US" altLang="zh-CN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IP</a:t>
            </a:r>
            <a:r>
              <a:rPr lang="zh-CN" altLang="en-US" sz="3450" b="1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Noto Sans SC"/>
              </a:rPr>
              <a:t>角色</a:t>
            </a:r>
            <a:endParaRPr lang="zh-CN" altLang="en-US" sz="3450" b="1">
              <a:solidFill>
                <a:srgbClr val="333333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Noto Sans SC"/>
            </a:endParaRPr>
          </a:p>
        </p:txBody>
      </p:sp>
      <p:sp>
        <p:nvSpPr>
          <p:cNvPr id="31" name="Text 1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sz="1725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AIGC 正在重构影视内容生产</a:t>
            </a:r>
            <a:r>
              <a:rPr lang="zh-CN" sz="1725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，也能</a:t>
            </a:r>
            <a:r>
              <a:rPr sz="1725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让每个人都拥有一个持续生活、持续产生内容的专属 IP。</a:t>
            </a:r>
            <a:r>
              <a:rPr 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    </a:t>
            </a:r>
            <a:r>
              <a:rPr lang="en-US" altLang="zh-CN" sz="1725" dirty="0">
                <a:solidFill>
                  <a:schemeClr val="accent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</a:t>
            </a:r>
            <a:endParaRPr lang="en-US" altLang="zh-CN" sz="1725" dirty="0">
              <a:solidFill>
                <a:schemeClr val="accent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250" y="2595245"/>
            <a:ext cx="15956280" cy="17780"/>
          </a:xfrm>
          <a:prstGeom prst="rect">
            <a:avLst/>
          </a:prstGeom>
        </p:spPr>
      </p:pic>
      <p:grpSp>
        <p:nvGrpSpPr>
          <p:cNvPr id="164" name="组合 163"/>
          <p:cNvGrpSpPr/>
          <p:nvPr/>
        </p:nvGrpSpPr>
        <p:grpSpPr>
          <a:xfrm>
            <a:off x="777240" y="2816225"/>
            <a:ext cx="6208395" cy="6261100"/>
            <a:chOff x="1224" y="4435"/>
            <a:chExt cx="5976" cy="7454"/>
          </a:xfrm>
        </p:grpSpPr>
        <p:sp>
          <p:nvSpPr>
            <p:cNvPr id="127" name="Rounded Rectangle 5"/>
            <p:cNvSpPr/>
            <p:nvPr/>
          </p:nvSpPr>
          <p:spPr>
            <a:xfrm>
              <a:off x="1224" y="4435"/>
              <a:ext cx="5735" cy="7454"/>
            </a:xfrm>
            <a:prstGeom prst="roundRect">
              <a:avLst/>
            </a:prstGeom>
            <a:solidFill>
              <a:srgbClr val="FFFCF9"/>
            </a:solidFill>
            <a:ln w="10160">
              <a:solidFill>
                <a:srgbClr val="F2C9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0" name="TextBox 8"/>
            <p:cNvSpPr txBox="1"/>
            <p:nvPr/>
          </p:nvSpPr>
          <p:spPr>
            <a:xfrm>
              <a:off x="2390" y="4669"/>
              <a:ext cx="3384" cy="33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2026｜AIGC 内容进入爆发期</a:t>
              </a:r>
              <a:endPara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31" name="Rounded Rectangle 9"/>
            <p:cNvSpPr/>
            <p:nvPr/>
          </p:nvSpPr>
          <p:spPr>
            <a:xfrm>
              <a:off x="1440" y="5227"/>
              <a:ext cx="5270" cy="1872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F2D8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2" name="Rounded Rectangle 10"/>
            <p:cNvSpPr/>
            <p:nvPr/>
          </p:nvSpPr>
          <p:spPr>
            <a:xfrm>
              <a:off x="1440" y="5227"/>
              <a:ext cx="490" cy="432"/>
            </a:xfrm>
            <a:prstGeom prst="roundRect">
              <a:avLst/>
            </a:prstGeom>
            <a:solidFill>
              <a:srgbClr val="F05A16"/>
            </a:solidFill>
            <a:ln w="10160">
              <a:solidFill>
                <a:srgbClr val="F05A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3" name="TextBox 11"/>
            <p:cNvSpPr txBox="1"/>
            <p:nvPr/>
          </p:nvSpPr>
          <p:spPr>
            <a:xfrm>
              <a:off x="1440" y="5296"/>
              <a:ext cx="490" cy="29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01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134" name="Connector 12"/>
            <p:cNvCxnSpPr/>
            <p:nvPr/>
          </p:nvCxnSpPr>
          <p:spPr>
            <a:xfrm flipV="1">
              <a:off x="2131" y="5716"/>
              <a:ext cx="461" cy="446"/>
            </a:xfrm>
            <a:prstGeom prst="line">
              <a:avLst/>
            </a:prstGeom>
            <a:ln w="25400">
              <a:solidFill>
                <a:srgbClr val="FF7A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3"/>
            <p:cNvCxnSpPr/>
            <p:nvPr/>
          </p:nvCxnSpPr>
          <p:spPr>
            <a:xfrm>
              <a:off x="2592" y="5716"/>
              <a:ext cx="331" cy="274"/>
            </a:xfrm>
            <a:prstGeom prst="line">
              <a:avLst/>
            </a:prstGeom>
            <a:ln w="25400">
              <a:solidFill>
                <a:srgbClr val="FF7A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4"/>
            <p:cNvCxnSpPr/>
            <p:nvPr/>
          </p:nvCxnSpPr>
          <p:spPr>
            <a:xfrm flipV="1">
              <a:off x="2923" y="5529"/>
              <a:ext cx="360" cy="461"/>
            </a:xfrm>
            <a:prstGeom prst="line">
              <a:avLst/>
            </a:prstGeom>
            <a:ln w="25400">
              <a:solidFill>
                <a:srgbClr val="FF7A2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ounded Rectangle 15"/>
            <p:cNvSpPr/>
            <p:nvPr/>
          </p:nvSpPr>
          <p:spPr>
            <a:xfrm>
              <a:off x="2131" y="6235"/>
              <a:ext cx="173" cy="216"/>
            </a:xfrm>
            <a:prstGeom prst="roundRect">
              <a:avLst/>
            </a:prstGeom>
            <a:solidFill>
              <a:srgbClr val="FF7A2F"/>
            </a:solidFill>
            <a:ln w="10160">
              <a:solidFill>
                <a:srgbClr val="FF7A2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8" name="Rounded Rectangle 16"/>
            <p:cNvSpPr/>
            <p:nvPr/>
          </p:nvSpPr>
          <p:spPr>
            <a:xfrm>
              <a:off x="2390" y="6062"/>
              <a:ext cx="173" cy="389"/>
            </a:xfrm>
            <a:prstGeom prst="roundRect">
              <a:avLst/>
            </a:prstGeom>
            <a:solidFill>
              <a:srgbClr val="FF7A2F"/>
            </a:solidFill>
            <a:ln w="10160">
              <a:solidFill>
                <a:srgbClr val="FF7A2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9" name="Rounded Rectangle 17"/>
            <p:cNvSpPr/>
            <p:nvPr/>
          </p:nvSpPr>
          <p:spPr>
            <a:xfrm>
              <a:off x="2650" y="5889"/>
              <a:ext cx="173" cy="562"/>
            </a:xfrm>
            <a:prstGeom prst="roundRect">
              <a:avLst/>
            </a:prstGeom>
            <a:solidFill>
              <a:srgbClr val="FF7A2F"/>
            </a:solidFill>
            <a:ln w="10160">
              <a:solidFill>
                <a:srgbClr val="FF7A2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0" name="TextBox 18"/>
            <p:cNvSpPr txBox="1"/>
            <p:nvPr/>
          </p:nvSpPr>
          <p:spPr>
            <a:xfrm>
              <a:off x="3528" y="5394"/>
              <a:ext cx="2232" cy="58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3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220亿+</a:t>
              </a:r>
              <a:endParaRPr sz="3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1" name="TextBox 19"/>
            <p:cNvSpPr txBox="1"/>
            <p:nvPr/>
          </p:nvSpPr>
          <p:spPr>
            <a:xfrm>
              <a:off x="3528" y="5999"/>
              <a:ext cx="2592" cy="58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2026年1–5月</a:t>
              </a:r>
              <a:b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短剧市场规模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2" name="TextBox 20"/>
            <p:cNvSpPr txBox="1"/>
            <p:nvPr/>
          </p:nvSpPr>
          <p:spPr>
            <a:xfrm>
              <a:off x="3528" y="6539"/>
              <a:ext cx="2592" cy="51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影视从“技术尝鲜”</a:t>
              </a:r>
              <a:b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进入规模化生产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3" name="TextBox 21"/>
            <p:cNvSpPr txBox="1"/>
            <p:nvPr/>
          </p:nvSpPr>
          <p:spPr>
            <a:xfrm>
              <a:off x="1656" y="6845"/>
              <a:ext cx="3312" cy="19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05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来源：中国经济网 / DataEye</a:t>
              </a:r>
              <a:endParaRPr sz="105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4" name="Rounded Rectangle 22"/>
            <p:cNvSpPr/>
            <p:nvPr/>
          </p:nvSpPr>
          <p:spPr>
            <a:xfrm>
              <a:off x="1440" y="7228"/>
              <a:ext cx="5228" cy="1959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F2D8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5" name="Rounded Rectangle 23"/>
            <p:cNvSpPr/>
            <p:nvPr/>
          </p:nvSpPr>
          <p:spPr>
            <a:xfrm>
              <a:off x="1440" y="7228"/>
              <a:ext cx="490" cy="432"/>
            </a:xfrm>
            <a:prstGeom prst="roundRect">
              <a:avLst/>
            </a:prstGeom>
            <a:solidFill>
              <a:srgbClr val="F05A16"/>
            </a:solidFill>
            <a:ln w="10160">
              <a:solidFill>
                <a:srgbClr val="F05A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6" name="TextBox 24"/>
            <p:cNvSpPr txBox="1"/>
            <p:nvPr/>
          </p:nvSpPr>
          <p:spPr>
            <a:xfrm>
              <a:off x="1440" y="7298"/>
              <a:ext cx="490" cy="29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02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pic>
          <p:nvPicPr>
            <p:cNvPr id="147" name="Picture 25" descr="woman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58" y="7442"/>
              <a:ext cx="1512" cy="1339"/>
            </a:xfrm>
            <a:prstGeom prst="rect">
              <a:avLst/>
            </a:prstGeom>
          </p:spPr>
        </p:pic>
        <p:sp>
          <p:nvSpPr>
            <p:cNvPr id="148" name="TextBox 26"/>
            <p:cNvSpPr txBox="1"/>
            <p:nvPr/>
          </p:nvSpPr>
          <p:spPr>
            <a:xfrm>
              <a:off x="3398" y="7278"/>
              <a:ext cx="2693" cy="879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2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2亿+ 播放</a:t>
              </a:r>
              <a:br>
                <a:rPr sz="2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2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25.8万 / 条广告</a:t>
              </a:r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49" name="TextBox 27"/>
            <p:cNvSpPr txBox="1"/>
            <p:nvPr/>
          </p:nvSpPr>
          <p:spPr>
            <a:xfrm>
              <a:off x="3398" y="8166"/>
              <a:ext cx="3024" cy="659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短剧女主“方桃子”走出剧情，</a:t>
              </a:r>
              <a:b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开始经营社交账号、积累粉丝、</a:t>
              </a:r>
              <a:b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接商业广告。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50" name="TextBox 28"/>
            <p:cNvSpPr txBox="1"/>
            <p:nvPr/>
          </p:nvSpPr>
          <p:spPr>
            <a:xfrm>
              <a:off x="1656" y="8926"/>
              <a:ext cx="2736" cy="18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03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来源：中新网 / 北京日报</a:t>
              </a:r>
              <a:endParaRPr sz="103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51" name="Rounded Rectangle 29"/>
            <p:cNvSpPr/>
            <p:nvPr/>
          </p:nvSpPr>
          <p:spPr>
            <a:xfrm>
              <a:off x="1440" y="9330"/>
              <a:ext cx="5228" cy="1468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F2D8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2" name="Rounded Rectangle 30"/>
            <p:cNvSpPr/>
            <p:nvPr/>
          </p:nvSpPr>
          <p:spPr>
            <a:xfrm>
              <a:off x="1440" y="9331"/>
              <a:ext cx="490" cy="432"/>
            </a:xfrm>
            <a:prstGeom prst="roundRect">
              <a:avLst/>
            </a:prstGeom>
            <a:solidFill>
              <a:srgbClr val="F05A16"/>
            </a:solidFill>
            <a:ln w="10160">
              <a:solidFill>
                <a:srgbClr val="F05A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3" name="TextBox 31"/>
            <p:cNvSpPr txBox="1"/>
            <p:nvPr/>
          </p:nvSpPr>
          <p:spPr>
            <a:xfrm>
              <a:off x="1440" y="9400"/>
              <a:ext cx="490" cy="29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03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4" name="TextBox 32"/>
            <p:cNvSpPr txBox="1"/>
            <p:nvPr/>
          </p:nvSpPr>
          <p:spPr>
            <a:xfrm>
              <a:off x="2160" y="9517"/>
              <a:ext cx="403" cy="36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▶</a:t>
              </a:r>
              <a:endPara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5" name="TextBox 33"/>
            <p:cNvSpPr txBox="1"/>
            <p:nvPr/>
          </p:nvSpPr>
          <p:spPr>
            <a:xfrm>
              <a:off x="2765" y="9517"/>
              <a:ext cx="403" cy="36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▣</a:t>
              </a:r>
              <a:endPara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6" name="TextBox 34"/>
            <p:cNvSpPr txBox="1"/>
            <p:nvPr/>
          </p:nvSpPr>
          <p:spPr>
            <a:xfrm>
              <a:off x="3370" y="9517"/>
              <a:ext cx="403" cy="36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●</a:t>
              </a:r>
              <a:endPara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7" name="TextBox 35"/>
            <p:cNvSpPr txBox="1"/>
            <p:nvPr/>
          </p:nvSpPr>
          <p:spPr>
            <a:xfrm>
              <a:off x="3974" y="9517"/>
              <a:ext cx="403" cy="36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20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♫</a:t>
              </a:r>
              <a:endPara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8" name="TextBox 36"/>
            <p:cNvSpPr txBox="1"/>
            <p:nvPr/>
          </p:nvSpPr>
          <p:spPr>
            <a:xfrm>
              <a:off x="2131" y="9883"/>
              <a:ext cx="4320" cy="769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视频、漫画、声音、音乐等</a:t>
              </a:r>
              <a:b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多模态内容，开始可以围绕同一个</a:t>
              </a:r>
              <a:b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</a:br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角色持续生成。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59" name="Rounded Rectangle 37"/>
            <p:cNvSpPr/>
            <p:nvPr/>
          </p:nvSpPr>
          <p:spPr>
            <a:xfrm>
              <a:off x="1440" y="10915"/>
              <a:ext cx="5228" cy="489"/>
            </a:xfrm>
            <a:prstGeom prst="roundRect">
              <a:avLst/>
            </a:prstGeom>
            <a:solidFill>
              <a:srgbClr val="FFF5EC"/>
            </a:solidFill>
            <a:ln w="10160">
              <a:solidFill>
                <a:srgbClr val="F2C9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0" name="Oval 38"/>
            <p:cNvSpPr/>
            <p:nvPr/>
          </p:nvSpPr>
          <p:spPr>
            <a:xfrm>
              <a:off x="1627" y="10958"/>
              <a:ext cx="360" cy="360"/>
            </a:xfrm>
            <a:prstGeom prst="ellipse">
              <a:avLst/>
            </a:prstGeom>
            <a:solidFill>
              <a:srgbClr val="F05A16"/>
            </a:solidFill>
            <a:ln>
              <a:solidFill>
                <a:srgbClr val="F05A1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1" name="TextBox 39"/>
            <p:cNvSpPr txBox="1"/>
            <p:nvPr/>
          </p:nvSpPr>
          <p:spPr>
            <a:xfrm>
              <a:off x="1627" y="10991"/>
              <a:ext cx="360" cy="29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⚡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2" name="TextBox 40"/>
            <p:cNvSpPr txBox="1"/>
            <p:nvPr/>
          </p:nvSpPr>
          <p:spPr>
            <a:xfrm>
              <a:off x="2088" y="10999"/>
              <a:ext cx="4622" cy="215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l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打造 IP 的内容成本，正在发生结构性变化。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cxnSp>
          <p:nvCxnSpPr>
            <p:cNvPr id="163" name="Connector 41"/>
            <p:cNvCxnSpPr/>
            <p:nvPr/>
          </p:nvCxnSpPr>
          <p:spPr>
            <a:xfrm>
              <a:off x="7200" y="4435"/>
              <a:ext cx="0" cy="7142"/>
            </a:xfrm>
            <a:prstGeom prst="line">
              <a:avLst/>
            </a:prstGeom>
            <a:ln w="8890">
              <a:solidFill>
                <a:srgbClr val="E6E0D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1" name="Right Arrow 47"/>
          <p:cNvSpPr/>
          <p:nvPr/>
        </p:nvSpPr>
        <p:spPr>
          <a:xfrm>
            <a:off x="7062470" y="5250815"/>
            <a:ext cx="852170" cy="519430"/>
          </a:xfrm>
          <a:prstGeom prst="rightArrow">
            <a:avLst/>
          </a:prstGeom>
          <a:solidFill>
            <a:srgbClr val="FF7A2F"/>
          </a:solidFill>
          <a:ln>
            <a:solidFill>
              <a:srgbClr val="FF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77" name="TextBox 53"/>
          <p:cNvSpPr txBox="1"/>
          <p:nvPr/>
        </p:nvSpPr>
        <p:spPr>
          <a:xfrm>
            <a:off x="8112760" y="5066665"/>
            <a:ext cx="2705100" cy="90551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l"/>
            <a:r>
              <a:rPr lang="zh-CN" b="1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疯狂</a:t>
            </a:r>
            <a:r>
              <a:rPr lang="zh-CN" b="1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宠物城</a:t>
            </a:r>
            <a:endParaRPr lang="zh-CN" b="1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lang="zh-CN" b="1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每个人自己的专属</a:t>
            </a:r>
            <a:r>
              <a:rPr lang="en-US" altLang="zh-CN" b="1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IP</a:t>
            </a:r>
            <a:endParaRPr lang="en-US" altLang="zh-CN" b="1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pic>
        <p:nvPicPr>
          <p:cNvPr id="188" name="Picture 64" descr="p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1080" y="4082415"/>
            <a:ext cx="2085975" cy="1798320"/>
          </a:xfrm>
          <a:prstGeom prst="rect">
            <a:avLst/>
          </a:prstGeom>
        </p:spPr>
      </p:pic>
      <p:sp>
        <p:nvSpPr>
          <p:cNvPr id="191" name="TextBox 67"/>
          <p:cNvSpPr txBox="1"/>
          <p:nvPr/>
        </p:nvSpPr>
        <p:spPr>
          <a:xfrm>
            <a:off x="10859135" y="5972175"/>
            <a:ext cx="270383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属于“它”的 Life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92" name="TextBox 68"/>
          <p:cNvSpPr txBox="1"/>
          <p:nvPr/>
        </p:nvSpPr>
        <p:spPr>
          <a:xfrm>
            <a:off x="9932035" y="6333490"/>
            <a:ext cx="5046345" cy="553720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/>
            <a:r>
              <a:rPr sz="14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今天去了哪里 · 遇到了谁 · 发生了什么 · 做了什么选择</a:t>
            </a:r>
            <a:endParaRPr sz="1400" b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93" name="Connector 69"/>
          <p:cNvCxnSpPr/>
          <p:nvPr/>
        </p:nvCxnSpPr>
        <p:spPr>
          <a:xfrm>
            <a:off x="12313920" y="6333490"/>
            <a:ext cx="0" cy="469900"/>
          </a:xfrm>
          <a:prstGeom prst="line">
            <a:avLst/>
          </a:prstGeom>
          <a:ln w="1524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ounded Rectangle 70"/>
          <p:cNvSpPr/>
          <p:nvPr/>
        </p:nvSpPr>
        <p:spPr>
          <a:xfrm>
            <a:off x="10871835" y="6777990"/>
            <a:ext cx="2704465" cy="421005"/>
          </a:xfrm>
          <a:prstGeom prst="roundRect">
            <a:avLst/>
          </a:prstGeom>
          <a:solidFill>
            <a:srgbClr val="FFF8F2"/>
          </a:solidFill>
          <a:ln w="10160">
            <a:solidFill>
              <a:srgbClr val="F2C9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5" name="TextBox 71"/>
          <p:cNvSpPr txBox="1"/>
          <p:nvPr/>
        </p:nvSpPr>
        <p:spPr>
          <a:xfrm>
            <a:off x="11014075" y="6849110"/>
            <a:ext cx="2378075" cy="27686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✦ </a:t>
            </a:r>
            <a:r>
              <a:rPr lang="en-US" b="1">
                <a:solidFill>
                  <a:srgbClr val="174E9B"/>
                </a:solidFill>
                <a:latin typeface="微软雅黑" pitchFamily="34" charset="0"/>
                <a:ea typeface="微软雅黑" pitchFamily="34" charset="0"/>
                <a:sym typeface="+mn-ea"/>
              </a:rPr>
              <a:t>Content</a:t>
            </a:r>
            <a:r>
              <a:rPr b="1">
                <a:solidFill>
                  <a:srgbClr val="174E9B"/>
                </a:solidFill>
                <a:latin typeface="微软雅黑" pitchFamily="34" charset="0"/>
                <a:ea typeface="微软雅黑" pitchFamily="34" charset="0"/>
                <a:sym typeface="+mn-ea"/>
              </a:rPr>
              <a:t> Engine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96" name="Rounded Rectangle 72"/>
          <p:cNvSpPr/>
          <p:nvPr/>
        </p:nvSpPr>
        <p:spPr>
          <a:xfrm>
            <a:off x="8773160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7" name="TextBox 73"/>
          <p:cNvSpPr txBox="1"/>
          <p:nvPr/>
        </p:nvSpPr>
        <p:spPr>
          <a:xfrm>
            <a:off x="8773160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▶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8" name="TextBox 74"/>
          <p:cNvSpPr txBox="1"/>
          <p:nvPr/>
        </p:nvSpPr>
        <p:spPr>
          <a:xfrm>
            <a:off x="8773160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每日剧场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199" name="Connector 75"/>
          <p:cNvCxnSpPr/>
          <p:nvPr/>
        </p:nvCxnSpPr>
        <p:spPr>
          <a:xfrm flipH="1">
            <a:off x="9288145" y="7197725"/>
            <a:ext cx="3025775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76"/>
          <p:cNvSpPr/>
          <p:nvPr/>
        </p:nvSpPr>
        <p:spPr>
          <a:xfrm>
            <a:off x="9984105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1" name="TextBox 77"/>
          <p:cNvSpPr txBox="1"/>
          <p:nvPr/>
        </p:nvSpPr>
        <p:spPr>
          <a:xfrm>
            <a:off x="9984105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7B61D1"/>
                </a:solidFill>
                <a:latin typeface="微软雅黑" pitchFamily="34" charset="0"/>
                <a:ea typeface="微软雅黑" pitchFamily="34" charset="0"/>
              </a:rPr>
              <a:t>▣</a:t>
            </a:r>
            <a:endParaRPr b="1">
              <a:solidFill>
                <a:srgbClr val="7B61D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2" name="TextBox 78"/>
          <p:cNvSpPr txBox="1"/>
          <p:nvPr/>
        </p:nvSpPr>
        <p:spPr>
          <a:xfrm>
            <a:off x="9984105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漫画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03" name="Connector 79"/>
          <p:cNvCxnSpPr/>
          <p:nvPr/>
        </p:nvCxnSpPr>
        <p:spPr>
          <a:xfrm flipH="1">
            <a:off x="10499090" y="7197725"/>
            <a:ext cx="1814830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80"/>
          <p:cNvSpPr/>
          <p:nvPr/>
        </p:nvSpPr>
        <p:spPr>
          <a:xfrm>
            <a:off x="11193780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5" name="TextBox 81"/>
          <p:cNvSpPr txBox="1"/>
          <p:nvPr/>
        </p:nvSpPr>
        <p:spPr>
          <a:xfrm>
            <a:off x="11193780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▤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6" name="TextBox 82"/>
          <p:cNvSpPr txBox="1"/>
          <p:nvPr/>
        </p:nvSpPr>
        <p:spPr>
          <a:xfrm>
            <a:off x="11193780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日记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07" name="Connector 83"/>
          <p:cNvCxnSpPr/>
          <p:nvPr/>
        </p:nvCxnSpPr>
        <p:spPr>
          <a:xfrm flipH="1">
            <a:off x="11708765" y="7197725"/>
            <a:ext cx="605155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Rounded Rectangle 84"/>
          <p:cNvSpPr/>
          <p:nvPr/>
        </p:nvSpPr>
        <p:spPr>
          <a:xfrm>
            <a:off x="12404090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09" name="TextBox 85"/>
          <p:cNvSpPr txBox="1"/>
          <p:nvPr/>
        </p:nvSpPr>
        <p:spPr>
          <a:xfrm>
            <a:off x="12404090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●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0" name="TextBox 86"/>
          <p:cNvSpPr txBox="1"/>
          <p:nvPr/>
        </p:nvSpPr>
        <p:spPr>
          <a:xfrm>
            <a:off x="12404090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动态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11" name="Connector 87"/>
          <p:cNvCxnSpPr/>
          <p:nvPr/>
        </p:nvCxnSpPr>
        <p:spPr>
          <a:xfrm>
            <a:off x="12313920" y="7197725"/>
            <a:ext cx="605155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ounded Rectangle 88"/>
          <p:cNvSpPr/>
          <p:nvPr/>
        </p:nvSpPr>
        <p:spPr>
          <a:xfrm>
            <a:off x="13615035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3" name="TextBox 89"/>
          <p:cNvSpPr txBox="1"/>
          <p:nvPr/>
        </p:nvSpPr>
        <p:spPr>
          <a:xfrm>
            <a:off x="13615035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●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4" name="TextBox 90"/>
          <p:cNvSpPr txBox="1"/>
          <p:nvPr/>
        </p:nvSpPr>
        <p:spPr>
          <a:xfrm>
            <a:off x="13615035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Podcast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15" name="Connector 91"/>
          <p:cNvCxnSpPr/>
          <p:nvPr/>
        </p:nvCxnSpPr>
        <p:spPr>
          <a:xfrm>
            <a:off x="12313920" y="7197725"/>
            <a:ext cx="1814830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ounded Rectangle 92"/>
          <p:cNvSpPr/>
          <p:nvPr/>
        </p:nvSpPr>
        <p:spPr>
          <a:xfrm>
            <a:off x="14824710" y="7321550"/>
            <a:ext cx="1029970" cy="76708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F3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7" name="TextBox 93"/>
          <p:cNvSpPr txBox="1"/>
          <p:nvPr/>
        </p:nvSpPr>
        <p:spPr>
          <a:xfrm>
            <a:off x="14824710" y="7381875"/>
            <a:ext cx="102997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F05A16"/>
                </a:solidFill>
                <a:latin typeface="微软雅黑" pitchFamily="34" charset="0"/>
                <a:ea typeface="微软雅黑" pitchFamily="34" charset="0"/>
              </a:rPr>
              <a:t>✣</a:t>
            </a:r>
            <a:endParaRPr b="1">
              <a:solidFill>
                <a:srgbClr val="F05A16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18" name="TextBox 94"/>
          <p:cNvSpPr txBox="1"/>
          <p:nvPr/>
        </p:nvSpPr>
        <p:spPr>
          <a:xfrm>
            <a:off x="14824710" y="7703820"/>
            <a:ext cx="102997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互动剧情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219" name="Connector 95"/>
          <p:cNvCxnSpPr/>
          <p:nvPr/>
        </p:nvCxnSpPr>
        <p:spPr>
          <a:xfrm>
            <a:off x="12313920" y="7197725"/>
            <a:ext cx="3025775" cy="123825"/>
          </a:xfrm>
          <a:prstGeom prst="line">
            <a:avLst/>
          </a:prstGeom>
          <a:ln w="8890">
            <a:solidFill>
              <a:srgbClr val="FF7A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ounded Rectangle 96"/>
          <p:cNvSpPr/>
          <p:nvPr/>
        </p:nvSpPr>
        <p:spPr>
          <a:xfrm>
            <a:off x="8284210" y="8360410"/>
            <a:ext cx="8394065" cy="716915"/>
          </a:xfrm>
          <a:prstGeom prst="roundRect">
            <a:avLst/>
          </a:prstGeom>
          <a:solidFill>
            <a:srgbClr val="FFF9F4"/>
          </a:solidFill>
          <a:ln w="10160">
            <a:solidFill>
              <a:srgbClr val="F2C9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1" name="TextBox 97"/>
          <p:cNvSpPr txBox="1"/>
          <p:nvPr/>
        </p:nvSpPr>
        <p:spPr>
          <a:xfrm>
            <a:off x="8554085" y="8456930"/>
            <a:ext cx="541020" cy="27622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b="1">
                <a:solidFill>
                  <a:srgbClr val="C7783D"/>
                </a:solidFill>
                <a:latin typeface="微软雅黑" pitchFamily="34" charset="0"/>
                <a:ea typeface="微软雅黑" pitchFamily="34" charset="0"/>
              </a:rPr>
              <a:t>●●</a:t>
            </a:r>
            <a:endParaRPr b="1">
              <a:solidFill>
                <a:srgbClr val="C7783D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2" name="TextBox 98"/>
          <p:cNvSpPr txBox="1"/>
          <p:nvPr/>
        </p:nvSpPr>
        <p:spPr>
          <a:xfrm>
            <a:off x="9133840" y="8435340"/>
            <a:ext cx="1287780" cy="36893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用户观看</a:t>
            </a:r>
            <a:b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</a:br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互动 / 选择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23" name="TextBox 99"/>
          <p:cNvSpPr txBox="1"/>
          <p:nvPr/>
        </p:nvSpPr>
        <p:spPr>
          <a:xfrm>
            <a:off x="10923905" y="8367395"/>
            <a:ext cx="541020" cy="42989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800" b="1">
                <a:solidFill>
                  <a:srgbClr val="C7783D"/>
                </a:solidFill>
                <a:latin typeface="微软雅黑" pitchFamily="34" charset="0"/>
                <a:ea typeface="微软雅黑" pitchFamily="34" charset="0"/>
              </a:rPr>
              <a:t>♡</a:t>
            </a:r>
            <a:endParaRPr sz="2800" b="1">
              <a:solidFill>
                <a:srgbClr val="C7783D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4" name="TextBox 100"/>
          <p:cNvSpPr txBox="1"/>
          <p:nvPr/>
        </p:nvSpPr>
        <p:spPr>
          <a:xfrm>
            <a:off x="11503025" y="8527415"/>
            <a:ext cx="128778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共同经历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5" name="TextBox 101"/>
          <p:cNvSpPr txBox="1"/>
          <p:nvPr/>
        </p:nvSpPr>
        <p:spPr>
          <a:xfrm>
            <a:off x="12880975" y="8367395"/>
            <a:ext cx="541020" cy="42989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800" b="1">
                <a:solidFill>
                  <a:srgbClr val="F04E4E"/>
                </a:solidFill>
                <a:latin typeface="微软雅黑" pitchFamily="34" charset="0"/>
                <a:ea typeface="微软雅黑" pitchFamily="34" charset="0"/>
              </a:rPr>
              <a:t>♥</a:t>
            </a:r>
            <a:endParaRPr sz="2800" b="1">
              <a:solidFill>
                <a:srgbClr val="F04E4E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6" name="TextBox 102"/>
          <p:cNvSpPr txBox="1"/>
          <p:nvPr/>
        </p:nvSpPr>
        <p:spPr>
          <a:xfrm>
            <a:off x="13460095" y="8527415"/>
            <a:ext cx="1287780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关系加深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7" name="TextBox 103"/>
          <p:cNvSpPr txBox="1"/>
          <p:nvPr/>
        </p:nvSpPr>
        <p:spPr>
          <a:xfrm>
            <a:off x="14554835" y="8367395"/>
            <a:ext cx="541020" cy="42989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800" b="1">
                <a:solidFill>
                  <a:srgbClr val="C7783D"/>
                </a:solidFill>
                <a:latin typeface="微软雅黑" pitchFamily="34" charset="0"/>
                <a:ea typeface="微软雅黑" pitchFamily="34" charset="0"/>
              </a:rPr>
              <a:t>↻</a:t>
            </a:r>
            <a:endParaRPr sz="2800" b="1">
              <a:solidFill>
                <a:srgbClr val="C7783D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8" name="TextBox 104"/>
          <p:cNvSpPr txBox="1"/>
          <p:nvPr/>
        </p:nvSpPr>
        <p:spPr>
          <a:xfrm>
            <a:off x="15133955" y="8527415"/>
            <a:ext cx="1544955" cy="183515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l"/>
            <a:r>
              <a:rPr sz="1200" b="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影响下一段 Life</a:t>
            </a:r>
            <a:endParaRPr sz="1200" b="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229" name="TextBox 105"/>
          <p:cNvSpPr txBox="1"/>
          <p:nvPr/>
        </p:nvSpPr>
        <p:spPr>
          <a:xfrm>
            <a:off x="10511790" y="8441690"/>
            <a:ext cx="360045" cy="3073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000" b="1">
                <a:solidFill>
                  <a:srgbClr val="FF7A2F"/>
                </a:solidFill>
                <a:latin typeface="微软雅黑" pitchFamily="34" charset="0"/>
                <a:ea typeface="微软雅黑" pitchFamily="34" charset="0"/>
              </a:rPr>
              <a:t>→</a:t>
            </a:r>
            <a:endParaRPr sz="2000" b="1">
              <a:solidFill>
                <a:srgbClr val="FF7A2F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30" name="TextBox 106"/>
          <p:cNvSpPr txBox="1"/>
          <p:nvPr/>
        </p:nvSpPr>
        <p:spPr>
          <a:xfrm>
            <a:off x="12468860" y="8441690"/>
            <a:ext cx="360045" cy="3073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000" b="1">
                <a:solidFill>
                  <a:srgbClr val="FF7A2F"/>
                </a:solidFill>
                <a:latin typeface="微软雅黑" pitchFamily="34" charset="0"/>
                <a:ea typeface="微软雅黑" pitchFamily="34" charset="0"/>
              </a:rPr>
              <a:t>→</a:t>
            </a:r>
            <a:endParaRPr sz="2000" b="1">
              <a:solidFill>
                <a:srgbClr val="FF7A2F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31" name="TextBox 107"/>
          <p:cNvSpPr txBox="1"/>
          <p:nvPr/>
        </p:nvSpPr>
        <p:spPr>
          <a:xfrm>
            <a:off x="14270990" y="8441690"/>
            <a:ext cx="360045" cy="307340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/>
          <a:p>
            <a:pPr algn="ctr"/>
            <a:r>
              <a:rPr sz="2000" b="1">
                <a:solidFill>
                  <a:srgbClr val="FF7A2F"/>
                </a:solidFill>
                <a:latin typeface="微软雅黑" pitchFamily="34" charset="0"/>
                <a:ea typeface="微软雅黑" pitchFamily="34" charset="0"/>
              </a:rPr>
              <a:t>→</a:t>
            </a:r>
            <a:endParaRPr sz="2000" b="1">
              <a:solidFill>
                <a:srgbClr val="FF7A2F"/>
              </a:solidFill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502015" y="2707005"/>
            <a:ext cx="7799070" cy="1106170"/>
            <a:chOff x="4059" y="13736"/>
            <a:chExt cx="12282" cy="1742"/>
          </a:xfrm>
        </p:grpSpPr>
        <p:sp>
          <p:nvSpPr>
            <p:cNvPr id="236" name="Rounded Rectangle 111"/>
            <p:cNvSpPr/>
            <p:nvPr/>
          </p:nvSpPr>
          <p:spPr>
            <a:xfrm>
              <a:off x="4059" y="13736"/>
              <a:ext cx="12283" cy="1742"/>
            </a:xfrm>
            <a:prstGeom prst="roundRect">
              <a:avLst/>
            </a:prstGeom>
            <a:solidFill>
              <a:srgbClr val="FFFCF8"/>
            </a:solidFill>
            <a:ln w="10160">
              <a:solidFill>
                <a:srgbClr val="F2C9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37" name="TextBox 112"/>
            <p:cNvSpPr txBox="1"/>
            <p:nvPr/>
          </p:nvSpPr>
          <p:spPr>
            <a:xfrm>
              <a:off x="6538" y="13880"/>
              <a:ext cx="1499" cy="64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传统 IP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238" name="TextBox 113"/>
            <p:cNvSpPr txBox="1"/>
            <p:nvPr/>
          </p:nvSpPr>
          <p:spPr>
            <a:xfrm>
              <a:off x="4629" y="14370"/>
              <a:ext cx="5088" cy="58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一套内容 → 一个角色 → 服务所有用户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239" name="TextBox 114"/>
            <p:cNvSpPr txBox="1"/>
            <p:nvPr/>
          </p:nvSpPr>
          <p:spPr>
            <a:xfrm>
              <a:off x="10152" y="13981"/>
              <a:ext cx="970" cy="87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3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VS</a:t>
              </a:r>
              <a:endParaRPr sz="3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40" name="TextBox 115"/>
            <p:cNvSpPr txBox="1"/>
            <p:nvPr/>
          </p:nvSpPr>
          <p:spPr>
            <a:xfrm>
              <a:off x="12111" y="13880"/>
              <a:ext cx="2029" cy="64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AI-Native IP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42" name="TextBox 117"/>
            <p:cNvSpPr txBox="1"/>
            <p:nvPr/>
          </p:nvSpPr>
          <p:spPr>
            <a:xfrm>
              <a:off x="11291" y="14370"/>
              <a:ext cx="4679" cy="58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no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一个角色 × 一个人生 × 一个用户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sp>
        <p:nvSpPr>
          <p:cNvPr id="244" name="Rounded Rectangle 119"/>
          <p:cNvSpPr/>
          <p:nvPr/>
        </p:nvSpPr>
        <p:spPr>
          <a:xfrm>
            <a:off x="1796415" y="9317990"/>
            <a:ext cx="14269085" cy="746760"/>
          </a:xfrm>
          <a:prstGeom prst="roundRect">
            <a:avLst/>
          </a:prstGeom>
          <a:solidFill>
            <a:srgbClr val="FFF8F2"/>
          </a:solidFill>
          <a:ln w="10160">
            <a:solidFill>
              <a:srgbClr val="F2C9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46" name="TextBox 121"/>
          <p:cNvSpPr txBox="1"/>
          <p:nvPr/>
        </p:nvSpPr>
        <p:spPr>
          <a:xfrm>
            <a:off x="2258695" y="9443720"/>
            <a:ext cx="13409930" cy="479425"/>
          </a:xfrm>
          <a:prstGeom prst="rect">
            <a:avLst/>
          </a:prstGeom>
          <a:noFill/>
        </p:spPr>
        <p:txBody>
          <a:bodyPr wrap="square" lIns="18288" tIns="0" rIns="18288" bIns="0" anchor="ctr">
            <a:noAutofit/>
          </a:bodyPr>
          <a:lstStyle/>
          <a:p>
            <a:pPr algn="ctr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 Engine +  </a:t>
            </a:r>
            <a:r>
              <a:rPr lang="en-US"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</a:t>
            </a:r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Engine，让每个用户都拥有一个持续生活、持续成长、持续产生故事的“自己的那个它”。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团队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AI产品 × Agent工程 × 消费硬件的</a:t>
            </a:r>
            <a:r>
              <a:rPr 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完整创始团队</a:t>
            </a:r>
            <a:endParaRPr lang="en-US" sz="3450" b="1" dirty="0">
              <a:solidFill>
                <a:srgbClr val="16181D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这个团队不是为了一个 </a:t>
            </a:r>
            <a:r>
              <a:rPr lang="en-US" altLang="zh-CN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 Pet Idea </a:t>
            </a:r>
            <a:r>
              <a:rPr lang="zh-CN" alt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临时拼起来的，而是三个人过去十多年的积累，在同一个方向上的自然汇聚</a:t>
            </a:r>
            <a:endParaRPr lang="zh-CN" altLang="en-US" sz="1725" dirty="0">
              <a:solidFill>
                <a:srgbClr val="5C5C52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1238250" y="2721419"/>
            <a:ext cx="15812135" cy="7044125"/>
            <a:chOff x="2794" y="5587"/>
            <a:chExt cx="17856" cy="7358"/>
          </a:xfrm>
        </p:grpSpPr>
        <p:sp>
          <p:nvSpPr>
            <p:cNvPr id="44" name="Rectangle 5"/>
            <p:cNvSpPr/>
            <p:nvPr/>
          </p:nvSpPr>
          <p:spPr>
            <a:xfrm>
              <a:off x="2794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5" name="Rectangle 6"/>
            <p:cNvSpPr/>
            <p:nvPr/>
          </p:nvSpPr>
          <p:spPr>
            <a:xfrm>
              <a:off x="2794" y="5587"/>
              <a:ext cx="5558" cy="26"/>
            </a:xfrm>
            <a:prstGeom prst="rect">
              <a:avLst/>
            </a:prstGeom>
            <a:solidFill>
              <a:srgbClr val="191A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6" name="Rectangle 7"/>
            <p:cNvSpPr/>
            <p:nvPr/>
          </p:nvSpPr>
          <p:spPr>
            <a:xfrm>
              <a:off x="3269" y="6192"/>
              <a:ext cx="1123" cy="1123"/>
            </a:xfrm>
            <a:prstGeom prst="rect">
              <a:avLst/>
            </a:prstGeom>
            <a:solidFill>
              <a:srgbClr val="F1F1EC"/>
            </a:solidFill>
            <a:ln w="762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7" name="Oval 8"/>
            <p:cNvSpPr/>
            <p:nvPr/>
          </p:nvSpPr>
          <p:spPr>
            <a:xfrm>
              <a:off x="3685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8" name="Rounded Rectangle 9"/>
            <p:cNvSpPr/>
            <p:nvPr/>
          </p:nvSpPr>
          <p:spPr>
            <a:xfrm>
              <a:off x="3516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9" name="TextBox 10"/>
            <p:cNvSpPr txBox="1"/>
            <p:nvPr/>
          </p:nvSpPr>
          <p:spPr>
            <a:xfrm>
              <a:off x="3269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CEO</a:t>
              </a:r>
              <a:endParaRPr sz="1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0" name="TextBox 11"/>
            <p:cNvSpPr txBox="1"/>
            <p:nvPr/>
          </p:nvSpPr>
          <p:spPr>
            <a:xfrm>
              <a:off x="3269" y="7810"/>
              <a:ext cx="4536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产品 × 消费硬件商业化</a:t>
              </a:r>
              <a:endParaRPr sz="2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1" name="TextBox 12"/>
            <p:cNvSpPr txBox="1"/>
            <p:nvPr/>
          </p:nvSpPr>
          <p:spPr>
            <a:xfrm>
              <a:off x="3269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丁小晶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52" name="Connector 13"/>
            <p:cNvCxnSpPr/>
            <p:nvPr/>
          </p:nvCxnSpPr>
          <p:spPr>
            <a:xfrm>
              <a:off x="3269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14"/>
            <p:cNvSpPr txBox="1"/>
            <p:nvPr/>
          </p:nvSpPr>
          <p:spPr>
            <a:xfrm>
              <a:off x="3269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10+ 年 AI 消费硬件产品经验</a:t>
              </a:r>
              <a:endParaRPr sz="16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4" name="TextBox 15"/>
            <p:cNvSpPr txBox="1"/>
            <p:nvPr/>
          </p:nvSpPr>
          <p:spPr>
            <a:xfrm>
              <a:off x="3269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小度教育副总经理 &amp; 产品负责人
曾负责智能音箱 / 学习机 / 机器人等产品
覆盖产品定义、用户场景与整体商业推进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5" name="Rounded Rectangle 16"/>
            <p:cNvSpPr/>
            <p:nvPr/>
          </p:nvSpPr>
          <p:spPr>
            <a:xfrm>
              <a:off x="3226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6" name="TextBox 17"/>
            <p:cNvSpPr txBox="1"/>
            <p:nvPr/>
          </p:nvSpPr>
          <p:spPr>
            <a:xfrm>
              <a:off x="3341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把 AI 做成用户愿意长期使用的消费产品</a:t>
              </a:r>
              <a:endParaRPr sz="12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7" name="Rectangle 18"/>
            <p:cNvSpPr/>
            <p:nvPr/>
          </p:nvSpPr>
          <p:spPr>
            <a:xfrm>
              <a:off x="8900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8" name="Rectangle 19"/>
            <p:cNvSpPr/>
            <p:nvPr/>
          </p:nvSpPr>
          <p:spPr>
            <a:xfrm>
              <a:off x="8900" y="5587"/>
              <a:ext cx="5558" cy="26"/>
            </a:xfrm>
            <a:prstGeom prst="rect">
              <a:avLst/>
            </a:prstGeom>
            <a:solidFill>
              <a:srgbClr val="191A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9" name="Rectangle 20"/>
            <p:cNvSpPr/>
            <p:nvPr/>
          </p:nvSpPr>
          <p:spPr>
            <a:xfrm>
              <a:off x="9375" y="6192"/>
              <a:ext cx="1123" cy="1123"/>
            </a:xfrm>
            <a:prstGeom prst="rect">
              <a:avLst/>
            </a:prstGeom>
            <a:solidFill>
              <a:srgbClr val="F1F1EC"/>
            </a:solidFill>
            <a:ln w="762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0" name="Oval 21"/>
            <p:cNvSpPr/>
            <p:nvPr/>
          </p:nvSpPr>
          <p:spPr>
            <a:xfrm>
              <a:off x="9790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1" name="Rounded Rectangle 22"/>
            <p:cNvSpPr/>
            <p:nvPr/>
          </p:nvSpPr>
          <p:spPr>
            <a:xfrm>
              <a:off x="9622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A5A39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2" name="TextBox 23"/>
            <p:cNvSpPr txBox="1"/>
            <p:nvPr/>
          </p:nvSpPr>
          <p:spPr>
            <a:xfrm>
              <a:off x="9375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CTO</a:t>
              </a:r>
              <a:endParaRPr sz="1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3" name="TextBox 24"/>
            <p:cNvSpPr txBox="1"/>
            <p:nvPr/>
          </p:nvSpPr>
          <p:spPr>
            <a:xfrm>
              <a:off x="9375" y="7617"/>
              <a:ext cx="4536" cy="8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Agent × </a:t>
              </a:r>
              <a:r>
                <a:rPr lang="en-US"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Mind</a:t>
              </a:r>
              <a:r>
                <a:rPr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× World Engine</a:t>
              </a:r>
              <a:endParaRPr sz="2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4" name="TextBox 25"/>
            <p:cNvSpPr txBox="1"/>
            <p:nvPr/>
          </p:nvSpPr>
          <p:spPr>
            <a:xfrm>
              <a:off x="9375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lang="zh-CN"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陶</a:t>
              </a:r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×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65" name="Connector 26"/>
            <p:cNvCxnSpPr/>
            <p:nvPr/>
          </p:nvCxnSpPr>
          <p:spPr>
            <a:xfrm>
              <a:off x="9375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27"/>
            <p:cNvSpPr txBox="1"/>
            <p:nvPr/>
          </p:nvSpPr>
          <p:spPr>
            <a:xfrm>
              <a:off x="9375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核心 AI Infra / Agent 工程经验</a:t>
              </a:r>
              <a:endParaRPr sz="16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7" name="TextBox 28"/>
            <p:cNvSpPr txBox="1"/>
            <p:nvPr/>
          </p:nvSpPr>
          <p:spPr>
            <a:xfrm>
              <a:off x="9375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美团 &amp; 蔚来自动驾驶 AI Infra 技术负责人
负责 Agent 架构、长期记忆与关系能力建设
主导 Mind &amp; World Engine 的工程实现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8" name="Rounded Rectangle 29"/>
            <p:cNvSpPr/>
            <p:nvPr/>
          </p:nvSpPr>
          <p:spPr>
            <a:xfrm>
              <a:off x="9332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69" name="TextBox 30"/>
            <p:cNvSpPr txBox="1"/>
            <p:nvPr/>
          </p:nvSpPr>
          <p:spPr>
            <a:xfrm>
              <a:off x="9447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把“持续存在的 AI 关系”真正工程化</a:t>
              </a:r>
              <a:endParaRPr sz="12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0" name="Rectangle 31"/>
            <p:cNvSpPr/>
            <p:nvPr/>
          </p:nvSpPr>
          <p:spPr>
            <a:xfrm>
              <a:off x="15005" y="5587"/>
              <a:ext cx="5558" cy="5131"/>
            </a:xfrm>
            <a:prstGeom prst="rect">
              <a:avLst/>
            </a:prstGeom>
            <a:solidFill>
              <a:srgbClr val="FBFAF7"/>
            </a:solidFill>
            <a:ln w="1016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1" name="Rectangle 32"/>
            <p:cNvSpPr/>
            <p:nvPr/>
          </p:nvSpPr>
          <p:spPr>
            <a:xfrm>
              <a:off x="15005" y="5587"/>
              <a:ext cx="5558" cy="26"/>
            </a:xfrm>
            <a:prstGeom prst="rect">
              <a:avLst/>
            </a:prstGeom>
            <a:solidFill>
              <a:srgbClr val="CB4A0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2" name="Rectangle 33"/>
            <p:cNvSpPr/>
            <p:nvPr/>
          </p:nvSpPr>
          <p:spPr>
            <a:xfrm>
              <a:off x="15480" y="6192"/>
              <a:ext cx="1123" cy="1123"/>
            </a:xfrm>
            <a:prstGeom prst="rect">
              <a:avLst/>
            </a:prstGeom>
            <a:solidFill>
              <a:srgbClr val="FAF1E7"/>
            </a:solidFill>
            <a:ln w="762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3" name="Oval 34"/>
            <p:cNvSpPr/>
            <p:nvPr/>
          </p:nvSpPr>
          <p:spPr>
            <a:xfrm>
              <a:off x="15896" y="6394"/>
              <a:ext cx="292" cy="292"/>
            </a:xfrm>
            <a:prstGeom prst="ellipse">
              <a:avLst/>
            </a:prstGeom>
            <a:noFill/>
            <a:ln w="1270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4" name="Rounded Rectangle 35"/>
            <p:cNvSpPr/>
            <p:nvPr/>
          </p:nvSpPr>
          <p:spPr>
            <a:xfrm>
              <a:off x="15728" y="6843"/>
              <a:ext cx="629" cy="270"/>
            </a:xfrm>
            <a:prstGeom prst="roundRect">
              <a:avLst/>
            </a:prstGeom>
            <a:noFill/>
            <a:ln w="12700">
              <a:solidFill>
                <a:srgbClr val="DA91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5" name="TextBox 36"/>
            <p:cNvSpPr txBox="1"/>
            <p:nvPr/>
          </p:nvSpPr>
          <p:spPr>
            <a:xfrm>
              <a:off x="15480" y="7414"/>
              <a:ext cx="2160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HARDWARE LEAD</a:t>
              </a:r>
              <a:endParaRPr sz="1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6" name="TextBox 37"/>
            <p:cNvSpPr txBox="1"/>
            <p:nvPr/>
          </p:nvSpPr>
          <p:spPr>
            <a:xfrm>
              <a:off x="15480" y="7809"/>
              <a:ext cx="4536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2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消费电子 × 供应链量产</a:t>
              </a:r>
              <a:endParaRPr sz="2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7" name="TextBox 38"/>
            <p:cNvSpPr txBox="1"/>
            <p:nvPr/>
          </p:nvSpPr>
          <p:spPr>
            <a:xfrm>
              <a:off x="15480" y="8336"/>
              <a:ext cx="2592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田××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78" name="Connector 39"/>
            <p:cNvCxnSpPr/>
            <p:nvPr/>
          </p:nvCxnSpPr>
          <p:spPr>
            <a:xfrm>
              <a:off x="15480" y="8726"/>
              <a:ext cx="504" cy="0"/>
            </a:xfrm>
            <a:prstGeom prst="line">
              <a:avLst/>
            </a:prstGeom>
            <a:ln w="7620">
              <a:solidFill>
                <a:srgbClr val="DDD9C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40"/>
            <p:cNvSpPr txBox="1"/>
            <p:nvPr/>
          </p:nvSpPr>
          <p:spPr>
            <a:xfrm>
              <a:off x="15480" y="8904"/>
              <a:ext cx="4493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20 年消费电子 / 教育硬件经验</a:t>
              </a:r>
              <a:endParaRPr sz="16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0" name="TextBox 41"/>
            <p:cNvSpPr txBox="1"/>
            <p:nvPr/>
          </p:nvSpPr>
          <p:spPr>
            <a:xfrm>
              <a:off x="15480" y="9349"/>
              <a:ext cx="4522" cy="77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0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小度教育硬件负责人
负责首款硬件工程化、供应链与量产落地
覆盖成本、品质与规模交付</a:t>
              </a:r>
              <a:endParaRPr sz="1400" b="0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1" name="Rounded Rectangle 42"/>
            <p:cNvSpPr/>
            <p:nvPr/>
          </p:nvSpPr>
          <p:spPr>
            <a:xfrm>
              <a:off x="15437" y="10339"/>
              <a:ext cx="4680" cy="331"/>
            </a:xfrm>
            <a:prstGeom prst="roundRect">
              <a:avLst/>
            </a:prstGeom>
            <a:solidFill>
              <a:srgbClr val="F5F1E9"/>
            </a:solidFill>
            <a:ln w="635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2" name="TextBox 43"/>
            <p:cNvSpPr txBox="1"/>
            <p:nvPr/>
          </p:nvSpPr>
          <p:spPr>
            <a:xfrm>
              <a:off x="15552" y="10361"/>
              <a:ext cx="4435" cy="2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把 AI Identity 从虚拟世界带进现实</a:t>
              </a:r>
              <a:endParaRPr sz="12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3" name="Rounded Rectangle 44"/>
            <p:cNvSpPr/>
            <p:nvPr/>
          </p:nvSpPr>
          <p:spPr>
            <a:xfrm>
              <a:off x="2794" y="10886"/>
              <a:ext cx="17856" cy="1037"/>
            </a:xfrm>
            <a:prstGeom prst="roundRect">
              <a:avLst/>
            </a:prstGeom>
            <a:solidFill>
              <a:srgbClr val="F7F6F2"/>
            </a:solidFill>
            <a:ln w="889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4" name="TextBox 45"/>
            <p:cNvSpPr txBox="1"/>
            <p:nvPr/>
          </p:nvSpPr>
          <p:spPr>
            <a:xfrm>
              <a:off x="3183" y="11043"/>
              <a:ext cx="1757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400" b="1">
                  <a:solidFill>
                    <a:srgbClr val="69665E"/>
                  </a:solidFill>
                  <a:latin typeface="微软雅黑" pitchFamily="34" charset="0"/>
                  <a:ea typeface="微软雅黑" pitchFamily="34" charset="0"/>
                </a:rPr>
                <a:t>核心能力闭环</a:t>
              </a:r>
              <a:endParaRPr sz="1400" b="1">
                <a:solidFill>
                  <a:srgbClr val="69665E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5" name="Rounded Rectangle 46"/>
            <p:cNvSpPr/>
            <p:nvPr/>
          </p:nvSpPr>
          <p:spPr>
            <a:xfrm>
              <a:off x="5170" y="11030"/>
              <a:ext cx="388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6" name="TextBox 47"/>
            <p:cNvSpPr txBox="1"/>
            <p:nvPr/>
          </p:nvSpPr>
          <p:spPr>
            <a:xfrm>
              <a:off x="5285" y="11130"/>
              <a:ext cx="365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AI产品 / 用户 / 商业化</a:t>
              </a:r>
              <a:endParaRPr sz="1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7" name="Rounded Rectangle 48"/>
            <p:cNvSpPr/>
            <p:nvPr/>
          </p:nvSpPr>
          <p:spPr>
            <a:xfrm>
              <a:off x="9850" y="11030"/>
              <a:ext cx="460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8" name="TextBox 49"/>
            <p:cNvSpPr txBox="1"/>
            <p:nvPr/>
          </p:nvSpPr>
          <p:spPr>
            <a:xfrm>
              <a:off x="9965" y="11130"/>
              <a:ext cx="437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</a:rPr>
                <a:t>Agent / Memory / Relationship / World</a:t>
              </a:r>
              <a:endParaRPr sz="1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9" name="Rounded Rectangle 50"/>
            <p:cNvSpPr/>
            <p:nvPr/>
          </p:nvSpPr>
          <p:spPr>
            <a:xfrm>
              <a:off x="15250" y="11030"/>
              <a:ext cx="3888" cy="518"/>
            </a:xfrm>
            <a:prstGeom prst="roundRect">
              <a:avLst/>
            </a:prstGeom>
            <a:solidFill>
              <a:srgbClr val="F5F1E9"/>
            </a:solidFill>
            <a:ln w="762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0" name="TextBox 51"/>
            <p:cNvSpPr txBox="1"/>
            <p:nvPr/>
          </p:nvSpPr>
          <p:spPr>
            <a:xfrm>
              <a:off x="15365" y="11130"/>
              <a:ext cx="3658" cy="3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硬件工程 / 供应链 / 量产</a:t>
              </a:r>
              <a:endParaRPr sz="14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91" name="TextBox 52"/>
            <p:cNvSpPr txBox="1"/>
            <p:nvPr/>
          </p:nvSpPr>
          <p:spPr>
            <a:xfrm>
              <a:off x="9159" y="11049"/>
              <a:ext cx="432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 sz="2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2" name="TextBox 53"/>
            <p:cNvSpPr txBox="1"/>
            <p:nvPr/>
          </p:nvSpPr>
          <p:spPr>
            <a:xfrm>
              <a:off x="14674" y="11049"/>
              <a:ext cx="432" cy="48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 sz="24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3" name="Rounded Rectangle 54"/>
            <p:cNvSpPr/>
            <p:nvPr/>
          </p:nvSpPr>
          <p:spPr>
            <a:xfrm>
              <a:off x="2794" y="12110"/>
              <a:ext cx="17856" cy="835"/>
            </a:xfrm>
            <a:prstGeom prst="roundRect">
              <a:avLst/>
            </a:prstGeom>
            <a:solidFill>
              <a:srgbClr val="F9F7F1"/>
            </a:solidFill>
            <a:ln w="8890">
              <a:solidFill>
                <a:srgbClr val="DDD9C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4" name="TextBox 55"/>
            <p:cNvSpPr txBox="1"/>
            <p:nvPr/>
          </p:nvSpPr>
          <p:spPr>
            <a:xfrm>
              <a:off x="3226" y="12262"/>
              <a:ext cx="403" cy="41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✓</a:t>
              </a:r>
              <a:endParaRPr sz="20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5" name="TextBox 56"/>
            <p:cNvSpPr txBox="1"/>
            <p:nvPr/>
          </p:nvSpPr>
          <p:spPr>
            <a:xfrm>
              <a:off x="3730" y="12237"/>
              <a:ext cx="11016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sz="1600" b="1">
                  <a:solidFill>
                    <a:srgbClr val="191A1C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核心团队已共同完成第一阶段 Prototype：虚拟世界、Agent 行为、Mind Engine 核心链路已跑通</a:t>
              </a:r>
              <a:endParaRPr sz="1600" b="1">
                <a:solidFill>
                  <a:srgbClr val="191A1C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96" name="TextBox 57"/>
            <p:cNvSpPr txBox="1"/>
            <p:nvPr/>
          </p:nvSpPr>
          <p:spPr>
            <a:xfrm>
              <a:off x="14230" y="12237"/>
              <a:ext cx="5772" cy="35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 b="1">
                  <a:solidFill>
                    <a:srgbClr val="CB4A0A"/>
                  </a:solidFill>
                  <a:latin typeface="微软雅黑" pitchFamily="34" charset="0"/>
                  <a:ea typeface="微软雅黑" pitchFamily="34" charset="0"/>
                </a:rPr>
                <a:t>AI Identity → Relationship → World → Hardware</a:t>
              </a:r>
              <a:endParaRPr sz="1600" b="1">
                <a:solidFill>
                  <a:srgbClr val="CB4A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矩形 158"/>
          <p:cNvSpPr/>
          <p:nvPr/>
        </p:nvSpPr>
        <p:spPr>
          <a:xfrm>
            <a:off x="11604625" y="4948555"/>
            <a:ext cx="5035550" cy="48069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1252220" y="4948555"/>
            <a:ext cx="9992995" cy="48069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技术壁垒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 Engine：</a:t>
            </a:r>
            <a:r>
              <a:rPr lang="zh-CN" alt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从任务智能到</a:t>
            </a:r>
            <a:r>
              <a:rPr lang="en-US" sz="3450" b="1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关系智能</a:t>
            </a:r>
            <a:endParaRPr lang="en-US" sz="3450" dirty="0"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长期记忆、情绪感知、人格一致性，让AI从任务智能升级为关系智能</a:t>
            </a:r>
            <a:endParaRPr lang="en-US" sz="1725" dirty="0">
              <a:solidFill>
                <a:srgbClr val="5C5C52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1506855" y="5095508"/>
            <a:ext cx="9446260" cy="4245075"/>
            <a:chOff x="2074" y="4534"/>
            <a:chExt cx="11419" cy="4703"/>
          </a:xfrm>
        </p:grpSpPr>
        <p:sp>
          <p:nvSpPr>
            <p:cNvPr id="8" name="TextBox 7"/>
            <p:cNvSpPr txBox="1"/>
            <p:nvPr/>
          </p:nvSpPr>
          <p:spPr>
            <a:xfrm>
              <a:off x="2074" y="4534"/>
              <a:ext cx="3600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lang="en-US"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MindEngine</a:t>
              </a:r>
              <a:endParaRPr lang="en-US"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074" y="5789"/>
              <a:ext cx="1843" cy="1930"/>
            </a:xfrm>
            <a:prstGeom prst="roundRect">
              <a:avLst/>
            </a:prstGeom>
            <a:solidFill>
              <a:srgbClr val="F8F7F2"/>
            </a:solidFill>
            <a:ln w="1016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04" y="5861"/>
              <a:ext cx="1584" cy="545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600">
                  <a:latin typeface="微软雅黑" pitchFamily="34" charset="0"/>
                  <a:ea typeface="微软雅黑" pitchFamily="34" charset="0"/>
                  <a:sym typeface="+mn-ea"/>
                </a:rPr>
                <a:t>PERCEPTION</a:t>
              </a:r>
              <a:endParaRPr lang="zh-CN" sz="1600"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04" y="6346"/>
              <a:ext cx="1584" cy="27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lang="zh-CN"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感知</a:t>
              </a:r>
              <a:endParaRPr lang="zh-CN"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04" y="6852"/>
              <a:ext cx="1584" cy="537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05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用户 · 世界
其他 AI · 时间
内部状态</a:t>
              </a:r>
              <a:endParaRPr sz="105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4076" y="6653"/>
              <a:ext cx="317" cy="202"/>
            </a:xfrm>
            <a:prstGeom prst="rightArrow">
              <a:avLst/>
            </a:prstGeom>
            <a:solidFill>
              <a:srgbClr val="F064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450" y="5069"/>
              <a:ext cx="5357" cy="3139"/>
            </a:xfrm>
            <a:prstGeom prst="roundRect">
              <a:avLst/>
            </a:prstGeom>
            <a:solidFill>
              <a:srgbClr val="F8F7F2"/>
            </a:solidFill>
            <a:ln w="1397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39" y="5266"/>
              <a:ext cx="4579" cy="27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600"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PERSISTENT MIND｜持续心智</a:t>
              </a:r>
              <a:endParaRPr lang="zh-CN"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724" y="5674"/>
              <a:ext cx="1382" cy="1051"/>
            </a:xfrm>
            <a:prstGeom prst="roundRect">
              <a:avLst/>
            </a:prstGeom>
            <a:solidFill>
              <a:srgbClr val="F2F7FF"/>
            </a:solidFill>
            <a:ln w="8255">
              <a:solidFill>
                <a:srgbClr val="4778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96" y="5818"/>
              <a:ext cx="1238" cy="1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4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MEMORY</a:t>
              </a:r>
              <a:endParaRPr sz="94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96" y="6060"/>
              <a:ext cx="1238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记忆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96" y="6396"/>
              <a:ext cx="1238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过去经历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409" y="5674"/>
              <a:ext cx="1382" cy="1051"/>
            </a:xfrm>
            <a:prstGeom prst="roundRect">
              <a:avLst/>
            </a:prstGeom>
            <a:solidFill>
              <a:srgbClr val="FFF5F5"/>
            </a:solidFill>
            <a:ln w="8255">
              <a:solidFill>
                <a:srgbClr val="C44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81" y="5818"/>
              <a:ext cx="1238" cy="1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4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EMOTION</a:t>
              </a:r>
              <a:endParaRPr sz="94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481" y="6060"/>
              <a:ext cx="1238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情感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81" y="6396"/>
              <a:ext cx="1238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当前状态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8093" y="5674"/>
              <a:ext cx="1382" cy="1051"/>
            </a:xfrm>
            <a:prstGeom prst="roundRect">
              <a:avLst/>
            </a:prstGeom>
            <a:solidFill>
              <a:srgbClr val="F7F4FF"/>
            </a:solidFill>
            <a:ln w="8255">
              <a:solidFill>
                <a:srgbClr val="7B61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165" y="5818"/>
              <a:ext cx="1238" cy="1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4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PERSONALITY</a:t>
              </a:r>
              <a:endParaRPr sz="94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65" y="6060"/>
              <a:ext cx="1238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人格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165" y="6396"/>
              <a:ext cx="1238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长期自我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5415" y="6725"/>
              <a:ext cx="0" cy="245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7100" y="6725"/>
              <a:ext cx="0" cy="245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8785" y="6725"/>
              <a:ext cx="0" cy="245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Connector 30"/>
            <p:cNvCxnSpPr/>
            <p:nvPr/>
          </p:nvCxnSpPr>
          <p:spPr>
            <a:xfrm>
              <a:off x="5415" y="6970"/>
              <a:ext cx="3370" cy="0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31"/>
            <p:cNvCxnSpPr/>
            <p:nvPr/>
          </p:nvCxnSpPr>
          <p:spPr>
            <a:xfrm>
              <a:off x="7100" y="6970"/>
              <a:ext cx="0" cy="173"/>
            </a:xfrm>
            <a:prstGeom prst="line">
              <a:avLst/>
            </a:prstGeom>
            <a:ln w="889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ounded Rectangle 32"/>
            <p:cNvSpPr/>
            <p:nvPr/>
          </p:nvSpPr>
          <p:spPr>
            <a:xfrm>
              <a:off x="4825" y="7143"/>
              <a:ext cx="2045" cy="821"/>
            </a:xfrm>
            <a:prstGeom prst="roundRect">
              <a:avLst/>
            </a:prstGeom>
            <a:solidFill>
              <a:srgbClr val="F3FAF6"/>
            </a:solidFill>
            <a:ln w="8255">
              <a:solidFill>
                <a:srgbClr val="3296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40" y="7267"/>
              <a:ext cx="1814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RELATIONSHIP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40" y="7479"/>
              <a:ext cx="1814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关系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1" name="Rounded Rectangle 35"/>
            <p:cNvSpPr/>
            <p:nvPr/>
          </p:nvSpPr>
          <p:spPr>
            <a:xfrm>
              <a:off x="7388" y="7143"/>
              <a:ext cx="2045" cy="821"/>
            </a:xfrm>
            <a:prstGeom prst="roundRect">
              <a:avLst/>
            </a:prstGeom>
            <a:solidFill>
              <a:srgbClr val="FFF6EE"/>
            </a:solidFill>
            <a:ln w="8255">
              <a:solidFill>
                <a:srgbClr val="F064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2" name="TextBox 36"/>
            <p:cNvSpPr txBox="1"/>
            <p:nvPr/>
          </p:nvSpPr>
          <p:spPr>
            <a:xfrm>
              <a:off x="7503" y="7267"/>
              <a:ext cx="1814" cy="15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MOTIVATION</a:t>
              </a:r>
              <a:endParaRPr sz="9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3" name="TextBox 37"/>
            <p:cNvSpPr txBox="1"/>
            <p:nvPr/>
          </p:nvSpPr>
          <p:spPr>
            <a:xfrm>
              <a:off x="7503" y="7479"/>
              <a:ext cx="1814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动机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44" name="Connector 38"/>
            <p:cNvCxnSpPr/>
            <p:nvPr/>
          </p:nvCxnSpPr>
          <p:spPr>
            <a:xfrm>
              <a:off x="6869" y="7546"/>
              <a:ext cx="518" cy="0"/>
            </a:xfrm>
            <a:prstGeom prst="line">
              <a:avLst/>
            </a:prstGeom>
            <a:ln w="1016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39"/>
            <p:cNvSpPr txBox="1"/>
            <p:nvPr/>
          </p:nvSpPr>
          <p:spPr>
            <a:xfrm>
              <a:off x="6956" y="7354"/>
              <a:ext cx="346" cy="272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6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↔</a:t>
              </a:r>
              <a:endPara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6" name="Right Arrow 40"/>
            <p:cNvSpPr/>
            <p:nvPr/>
          </p:nvSpPr>
          <p:spPr>
            <a:xfrm>
              <a:off x="9980" y="6653"/>
              <a:ext cx="317" cy="202"/>
            </a:xfrm>
            <a:prstGeom prst="rightArrow">
              <a:avLst/>
            </a:prstGeom>
            <a:solidFill>
              <a:srgbClr val="F064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7" name="Rounded Rectangle 41"/>
            <p:cNvSpPr/>
            <p:nvPr/>
          </p:nvSpPr>
          <p:spPr>
            <a:xfrm>
              <a:off x="10354" y="5818"/>
              <a:ext cx="1613" cy="1814"/>
            </a:xfrm>
            <a:prstGeom prst="roundRect">
              <a:avLst/>
            </a:prstGeom>
            <a:solidFill>
              <a:srgbClr val="F8F7F2"/>
            </a:solidFill>
            <a:ln w="11430">
              <a:solidFill>
                <a:srgbClr val="DAD5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8" name="TextBox 42"/>
            <p:cNvSpPr txBox="1"/>
            <p:nvPr/>
          </p:nvSpPr>
          <p:spPr>
            <a:xfrm>
              <a:off x="10498" y="6097"/>
              <a:ext cx="1468" cy="477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400">
                  <a:latin typeface="微软雅黑" pitchFamily="34" charset="0"/>
                  <a:ea typeface="微软雅黑" pitchFamily="34" charset="0"/>
                  <a:sym typeface="+mn-ea"/>
                </a:rPr>
                <a:t>APPRAISAL
&amp; CHOICE</a:t>
              </a:r>
              <a:endParaRPr lang="zh-CN" sz="1400"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49" name="TextBox 43"/>
            <p:cNvSpPr txBox="1"/>
            <p:nvPr/>
          </p:nvSpPr>
          <p:spPr>
            <a:xfrm>
              <a:off x="10498" y="6786"/>
              <a:ext cx="1325" cy="167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8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意义评估与选择</a:t>
              </a:r>
              <a:endParaRPr sz="98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0" name="TextBox 44"/>
            <p:cNvSpPr txBox="1"/>
            <p:nvPr/>
          </p:nvSpPr>
          <p:spPr>
            <a:xfrm>
              <a:off x="10513" y="7123"/>
              <a:ext cx="1296" cy="30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88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“意味着什么？
我怎么做？”</a:t>
              </a:r>
              <a:endParaRPr sz="88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1" name="Right Arrow 45"/>
            <p:cNvSpPr/>
            <p:nvPr/>
          </p:nvSpPr>
          <p:spPr>
            <a:xfrm>
              <a:off x="12154" y="6653"/>
              <a:ext cx="317" cy="202"/>
            </a:xfrm>
            <a:prstGeom prst="rightArrow">
              <a:avLst/>
            </a:prstGeom>
            <a:solidFill>
              <a:srgbClr val="F0641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2" name="Rounded Rectangle 46"/>
            <p:cNvSpPr/>
            <p:nvPr/>
          </p:nvSpPr>
          <p:spPr>
            <a:xfrm>
              <a:off x="12514" y="5818"/>
              <a:ext cx="979" cy="1814"/>
            </a:xfrm>
            <a:prstGeom prst="roundRect">
              <a:avLst/>
            </a:prstGeom>
            <a:solidFill>
              <a:srgbClr val="F8F7F2"/>
            </a:solidFill>
            <a:ln w="11430">
              <a:solidFill>
                <a:srgbClr val="DAD5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3" name="TextBox 47"/>
            <p:cNvSpPr txBox="1"/>
            <p:nvPr/>
          </p:nvSpPr>
          <p:spPr>
            <a:xfrm>
              <a:off x="12615" y="6148"/>
              <a:ext cx="778" cy="204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sz="1200">
                  <a:latin typeface="微软雅黑" pitchFamily="34" charset="0"/>
                  <a:ea typeface="微软雅黑" pitchFamily="34" charset="0"/>
                  <a:sym typeface="+mn-ea"/>
                </a:rPr>
                <a:t>ACTION</a:t>
              </a:r>
              <a:endParaRPr lang="en-US" altLang="zh-CN" sz="1200">
                <a:latin typeface="微软雅黑" pitchFamily="34" charset="0"/>
                <a:ea typeface="微软雅黑" pitchFamily="34" charset="0"/>
                <a:sym typeface="+mn-ea"/>
              </a:endParaRPr>
            </a:p>
          </p:txBody>
        </p:sp>
        <p:sp>
          <p:nvSpPr>
            <p:cNvPr id="54" name="TextBox 48"/>
            <p:cNvSpPr txBox="1"/>
            <p:nvPr/>
          </p:nvSpPr>
          <p:spPr>
            <a:xfrm>
              <a:off x="12615" y="6507"/>
              <a:ext cx="778" cy="238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</a:rPr>
                <a:t>行动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5" name="TextBox 49"/>
            <p:cNvSpPr txBox="1"/>
            <p:nvPr/>
          </p:nvSpPr>
          <p:spPr>
            <a:xfrm>
              <a:off x="12615" y="6989"/>
              <a:ext cx="778" cy="307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9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表达 /
世界行动</a:t>
              </a:r>
              <a:endParaRPr sz="9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56" name="Rounded Rectangle 50"/>
            <p:cNvSpPr/>
            <p:nvPr/>
          </p:nvSpPr>
          <p:spPr>
            <a:xfrm>
              <a:off x="5703" y="8583"/>
              <a:ext cx="2563" cy="605"/>
            </a:xfrm>
            <a:prstGeom prst="roundRect">
              <a:avLst/>
            </a:prstGeom>
            <a:solidFill>
              <a:srgbClr val="F8F7F2"/>
            </a:solidFill>
            <a:ln w="10160">
              <a:solidFill>
                <a:srgbClr val="DAD5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7" name="TextBox 51"/>
            <p:cNvSpPr txBox="1"/>
            <p:nvPr/>
          </p:nvSpPr>
          <p:spPr>
            <a:xfrm>
              <a:off x="5847" y="8510"/>
              <a:ext cx="2275" cy="545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sz="1600"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EXPERIENCE｜经历</a:t>
              </a:r>
              <a:endParaRPr lang="zh-CN"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  <p:cxnSp>
          <p:nvCxnSpPr>
            <p:cNvPr id="58" name="Connector 52"/>
            <p:cNvCxnSpPr/>
            <p:nvPr/>
          </p:nvCxnSpPr>
          <p:spPr>
            <a:xfrm>
              <a:off x="13004" y="7632"/>
              <a:ext cx="0" cy="1238"/>
            </a:xfrm>
            <a:prstGeom prst="line">
              <a:avLst/>
            </a:prstGeom>
            <a:ln w="1524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3"/>
            <p:cNvCxnSpPr/>
            <p:nvPr/>
          </p:nvCxnSpPr>
          <p:spPr>
            <a:xfrm flipH="1">
              <a:off x="8266" y="8871"/>
              <a:ext cx="4738" cy="0"/>
            </a:xfrm>
            <a:prstGeom prst="line">
              <a:avLst/>
            </a:prstGeom>
            <a:ln w="1524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4"/>
            <p:cNvCxnSpPr/>
            <p:nvPr/>
          </p:nvCxnSpPr>
          <p:spPr>
            <a:xfrm flipH="1">
              <a:off x="3010" y="8871"/>
              <a:ext cx="2693" cy="0"/>
            </a:xfrm>
            <a:prstGeom prst="line">
              <a:avLst/>
            </a:prstGeom>
            <a:ln w="1524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55"/>
            <p:cNvCxnSpPr/>
            <p:nvPr/>
          </p:nvCxnSpPr>
          <p:spPr>
            <a:xfrm flipV="1">
              <a:off x="3010" y="7719"/>
              <a:ext cx="0" cy="1152"/>
            </a:xfrm>
            <a:prstGeom prst="line">
              <a:avLst/>
            </a:prstGeom>
            <a:ln w="1524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56"/>
            <p:cNvSpPr txBox="1"/>
            <p:nvPr/>
          </p:nvSpPr>
          <p:spPr>
            <a:xfrm>
              <a:off x="2074" y="8891"/>
              <a:ext cx="2333" cy="346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02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每一次经历，
都可能改变下一次的“它”。</a:t>
              </a:r>
              <a:endParaRPr sz="102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11823700" y="5095550"/>
            <a:ext cx="4816218" cy="4123380"/>
            <a:chOff x="16013" y="4660"/>
            <a:chExt cx="5472" cy="4983"/>
          </a:xfrm>
        </p:grpSpPr>
        <p:sp>
          <p:nvSpPr>
            <p:cNvPr id="65" name="TextBox 58"/>
            <p:cNvSpPr txBox="1"/>
            <p:nvPr/>
          </p:nvSpPr>
          <p:spPr>
            <a:xfrm>
              <a:off x="16013" y="4660"/>
              <a:ext cx="3816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lang="zh-CN"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案例</a:t>
              </a:r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— “爽约”如何改变 AI 的选择？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7" name="TextBox 60"/>
            <p:cNvSpPr txBox="1"/>
            <p:nvPr/>
          </p:nvSpPr>
          <p:spPr>
            <a:xfrm>
              <a:off x="16258" y="5394"/>
              <a:ext cx="3168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DAY 1｜负面经历输入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8" name="TextBox 61"/>
            <p:cNvSpPr txBox="1"/>
            <p:nvPr/>
          </p:nvSpPr>
          <p:spPr>
            <a:xfrm>
              <a:off x="16258" y="5827"/>
              <a:ext cx="5112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“香蕉猫答应陪我去湖边，但它没来。”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9" name="TextBox 62"/>
            <p:cNvSpPr txBox="1"/>
            <p:nvPr/>
          </p:nvSpPr>
          <p:spPr>
            <a:xfrm>
              <a:off x="16258" y="6245"/>
              <a:ext cx="5112" cy="892"/>
            </a:xfrm>
            <a:prstGeom prst="rect">
              <a:avLst/>
            </a:prstGeom>
            <a:noFill/>
          </p:spPr>
          <p:txBody>
            <a:bodyPr wrap="square" lIns="18288" tIns="0" rIns="18288" bIns="0" anchor="t">
              <a:spAutoFit/>
            </a:bodyPr>
            <a:lstStyle/>
            <a:p>
              <a:pPr algn="l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→ 记忆：记录爽约
→ 情感：失落
→ 关系：信任度下降
→ 动机：想知道原因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cxnSp>
          <p:nvCxnSpPr>
            <p:cNvPr id="70" name="Connector 63"/>
            <p:cNvCxnSpPr/>
            <p:nvPr/>
          </p:nvCxnSpPr>
          <p:spPr>
            <a:xfrm>
              <a:off x="16258" y="7483"/>
              <a:ext cx="5227" cy="0"/>
            </a:xfrm>
            <a:prstGeom prst="line">
              <a:avLst/>
            </a:prstGeom>
            <a:ln w="8890">
              <a:solidFill>
                <a:srgbClr val="DAD5CD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64"/>
            <p:cNvSpPr txBox="1"/>
            <p:nvPr/>
          </p:nvSpPr>
          <p:spPr>
            <a:xfrm>
              <a:off x="16258" y="7670"/>
              <a:ext cx="3312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DAY 2｜基于历史的决策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2" name="TextBox 65"/>
            <p:cNvSpPr txBox="1"/>
            <p:nvPr/>
          </p:nvSpPr>
          <p:spPr>
            <a:xfrm>
              <a:off x="16258" y="8100"/>
              <a:ext cx="5184" cy="22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香蕉猫再次邀请：“去湖边玩吧！”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3" name="TextBox 66"/>
            <p:cNvSpPr txBox="1"/>
            <p:nvPr/>
          </p:nvSpPr>
          <p:spPr>
            <a:xfrm>
              <a:off x="16258" y="8424"/>
              <a:ext cx="1512" cy="22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→ AI 选择：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4" name="TextBox 67"/>
            <p:cNvSpPr txBox="1"/>
            <p:nvPr/>
          </p:nvSpPr>
          <p:spPr>
            <a:xfrm>
              <a:off x="17640" y="8404"/>
              <a:ext cx="3672" cy="260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l"/>
              <a:r>
                <a:rPr sz="14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“好吧……但你昨天为什么没来？”</a:t>
              </a:r>
              <a:endPara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75" name="Rounded Rectangle 68"/>
            <p:cNvSpPr/>
            <p:nvPr/>
          </p:nvSpPr>
          <p:spPr>
            <a:xfrm>
              <a:off x="16013" y="9067"/>
              <a:ext cx="5184" cy="576"/>
            </a:xfrm>
            <a:prstGeom prst="roundRect">
              <a:avLst/>
            </a:prstGeom>
            <a:solidFill>
              <a:srgbClr val="FFF6EE"/>
            </a:solidFill>
            <a:ln>
              <a:solidFill>
                <a:srgbClr val="FFF6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6" name="TextBox 69"/>
            <p:cNvSpPr txBox="1"/>
            <p:nvPr/>
          </p:nvSpPr>
          <p:spPr>
            <a:xfrm>
              <a:off x="16517" y="9216"/>
              <a:ext cx="4824" cy="223"/>
            </a:xfrm>
            <a:prstGeom prst="rect">
              <a:avLst/>
            </a:prstGeom>
            <a:noFill/>
          </p:spPr>
          <p:txBody>
            <a:bodyPr wrap="square" lIns="18288" tIns="0" rIns="18288" bIns="0" anchor="ctr">
              <a:spAutoFit/>
            </a:bodyPr>
            <a:lstStyle/>
            <a:p>
              <a:pPr algn="ctr"/>
              <a:r>
                <a:rPr sz="1200">
                  <a:solidFill>
                    <a:schemeClr val="tx1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过去的经历，真实改变了 AI 今天的选择与语气。</a:t>
              </a:r>
              <a:endPara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sp>
        <p:nvSpPr>
          <p:cNvPr id="161" name="Rounded Rectangle 71"/>
          <p:cNvSpPr/>
          <p:nvPr/>
        </p:nvSpPr>
        <p:spPr>
          <a:xfrm>
            <a:off x="11209020" y="2743835"/>
            <a:ext cx="5650230" cy="2060575"/>
          </a:xfrm>
          <a:prstGeom prst="roundRect">
            <a:avLst/>
          </a:prstGeom>
          <a:solidFill>
            <a:srgbClr val="F8F7F2"/>
          </a:solidFill>
          <a:ln w="10160">
            <a:solidFill>
              <a:srgbClr val="DAD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920105" y="2719705"/>
            <a:ext cx="5033010" cy="2094865"/>
            <a:chOff x="9626" y="4323"/>
            <a:chExt cx="7632" cy="2578"/>
          </a:xfrm>
        </p:grpSpPr>
        <p:sp>
          <p:nvSpPr>
            <p:cNvPr id="160" name="Rounded Rectangle 70"/>
            <p:cNvSpPr/>
            <p:nvPr/>
          </p:nvSpPr>
          <p:spPr>
            <a:xfrm>
              <a:off x="9626" y="4323"/>
              <a:ext cx="7632" cy="2579"/>
            </a:xfrm>
            <a:prstGeom prst="roundRect">
              <a:avLst/>
            </a:prstGeom>
            <a:solidFill>
              <a:srgbClr val="F8F7F2"/>
            </a:solidFill>
            <a:ln w="10160">
              <a:solidFill>
                <a:srgbClr val="DAD5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2" name="TextBox 72"/>
            <p:cNvSpPr txBox="1"/>
            <p:nvPr/>
          </p:nvSpPr>
          <p:spPr>
            <a:xfrm>
              <a:off x="9986" y="4467"/>
              <a:ext cx="3960" cy="346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l"/>
              <a:r>
                <a:rPr sz="1600">
                  <a:solidFill>
                    <a:srgbClr val="77736D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行业正在解决 AI 长期持续性，但各有侧重</a:t>
              </a:r>
              <a:endParaRPr sz="16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endParaRPr>
            </a:p>
          </p:txBody>
        </p:sp>
        <p:sp>
          <p:nvSpPr>
            <p:cNvPr id="163" name="TextBox 73"/>
            <p:cNvSpPr txBox="1"/>
            <p:nvPr/>
          </p:nvSpPr>
          <p:spPr>
            <a:xfrm>
              <a:off x="9986" y="4784"/>
              <a:ext cx="4608" cy="283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l"/>
              <a:endParaRPr sz="12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4" name="Rounded Rectangle 74"/>
            <p:cNvSpPr/>
            <p:nvPr/>
          </p:nvSpPr>
          <p:spPr>
            <a:xfrm>
              <a:off x="10159" y="5245"/>
              <a:ext cx="2102" cy="866"/>
            </a:xfrm>
            <a:prstGeom prst="roundRect">
              <a:avLst/>
            </a:prstGeom>
            <a:solidFill>
              <a:srgbClr val="F2F7FF"/>
            </a:solidFill>
            <a:ln w="6985">
              <a:solidFill>
                <a:srgbClr val="4778D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5" name="TextBox 75"/>
            <p:cNvSpPr txBox="1"/>
            <p:nvPr/>
          </p:nvSpPr>
          <p:spPr>
            <a:xfrm>
              <a:off x="10217" y="531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980">
                  <a:solidFill>
                    <a:srgbClr val="4778D0"/>
                  </a:solidFill>
                  <a:latin typeface="微软雅黑" pitchFamily="34" charset="0"/>
                  <a:ea typeface="微软雅黑" pitchFamily="34" charset="0"/>
                </a:rPr>
                <a:t>MEMORY INFRA.</a:t>
              </a:r>
              <a:endParaRPr sz="980">
                <a:solidFill>
                  <a:srgbClr val="4778D0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6" name="TextBox 76"/>
            <p:cNvSpPr txBox="1"/>
            <p:nvPr/>
          </p:nvSpPr>
          <p:spPr>
            <a:xfrm>
              <a:off x="10217" y="554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代表</a:t>
              </a:r>
              <a:r>
                <a:rPr lang="en-US" alt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：</a:t>
              </a:r>
              <a:r>
                <a:rPr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Mem0 / Zep</a:t>
              </a:r>
              <a:endParaRPr sz="104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67" name="TextBox 77"/>
            <p:cNvSpPr txBox="1"/>
            <p:nvPr/>
          </p:nvSpPr>
          <p:spPr>
            <a:xfrm>
              <a:off x="10217" y="5763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102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</a:rPr>
                <a:t>长期记忆</a:t>
              </a:r>
              <a:endParaRPr sz="10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8" name="Rounded Rectangle 78"/>
            <p:cNvSpPr/>
            <p:nvPr/>
          </p:nvSpPr>
          <p:spPr>
            <a:xfrm>
              <a:off x="12506" y="5245"/>
              <a:ext cx="2102" cy="866"/>
            </a:xfrm>
            <a:prstGeom prst="roundRect">
              <a:avLst/>
            </a:prstGeom>
            <a:solidFill>
              <a:srgbClr val="FFF5F5"/>
            </a:solidFill>
            <a:ln w="6985">
              <a:solidFill>
                <a:srgbClr val="C44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9" name="TextBox 79"/>
            <p:cNvSpPr txBox="1"/>
            <p:nvPr/>
          </p:nvSpPr>
          <p:spPr>
            <a:xfrm>
              <a:off x="12564" y="531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980">
                  <a:solidFill>
                    <a:srgbClr val="C44A4A"/>
                  </a:solidFill>
                  <a:latin typeface="微软雅黑" pitchFamily="34" charset="0"/>
                  <a:ea typeface="微软雅黑" pitchFamily="34" charset="0"/>
                </a:rPr>
                <a:t>STATEFUL AGENT</a:t>
              </a:r>
              <a:endParaRPr sz="980">
                <a:solidFill>
                  <a:srgbClr val="C44A4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0" name="TextBox 80"/>
            <p:cNvSpPr txBox="1"/>
            <p:nvPr/>
          </p:nvSpPr>
          <p:spPr>
            <a:xfrm>
              <a:off x="12564" y="554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代表</a:t>
              </a:r>
              <a:r>
                <a:rPr lang="en-US" alt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：</a:t>
              </a:r>
              <a:r>
                <a:rPr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Letta</a:t>
              </a:r>
              <a:endParaRPr sz="104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71" name="TextBox 81"/>
            <p:cNvSpPr txBox="1"/>
            <p:nvPr/>
          </p:nvSpPr>
          <p:spPr>
            <a:xfrm>
              <a:off x="12564" y="5763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102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</a:rPr>
                <a:t>长期状态</a:t>
              </a:r>
              <a:endParaRPr sz="10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2" name="Rounded Rectangle 82"/>
            <p:cNvSpPr/>
            <p:nvPr/>
          </p:nvSpPr>
          <p:spPr>
            <a:xfrm>
              <a:off x="14853" y="5245"/>
              <a:ext cx="2102" cy="866"/>
            </a:xfrm>
            <a:prstGeom prst="roundRect">
              <a:avLst/>
            </a:prstGeom>
            <a:solidFill>
              <a:srgbClr val="F7F4FF"/>
            </a:solidFill>
            <a:ln w="6985">
              <a:solidFill>
                <a:srgbClr val="7B61D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3" name="TextBox 83"/>
            <p:cNvSpPr txBox="1"/>
            <p:nvPr/>
          </p:nvSpPr>
          <p:spPr>
            <a:xfrm>
              <a:off x="14911" y="531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980">
                  <a:solidFill>
                    <a:srgbClr val="7B61D1"/>
                  </a:solidFill>
                  <a:latin typeface="微软雅黑" pitchFamily="34" charset="0"/>
                  <a:ea typeface="微软雅黑" pitchFamily="34" charset="0"/>
                </a:rPr>
                <a:t>COMPANION MIND</a:t>
              </a:r>
              <a:endParaRPr sz="980">
                <a:solidFill>
                  <a:srgbClr val="7B61D1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4" name="TextBox 84"/>
            <p:cNvSpPr txBox="1"/>
            <p:nvPr/>
          </p:nvSpPr>
          <p:spPr>
            <a:xfrm>
              <a:off x="14911" y="5547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代表</a:t>
              </a:r>
              <a:r>
                <a:rPr lang="en-US" altLang="zh-CN"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：</a:t>
              </a:r>
              <a:r>
                <a:rPr sz="104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Nomi 等</a:t>
              </a:r>
              <a:endParaRPr sz="104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75" name="TextBox 85"/>
            <p:cNvSpPr txBox="1"/>
            <p:nvPr/>
          </p:nvSpPr>
          <p:spPr>
            <a:xfrm>
              <a:off x="14911" y="5763"/>
              <a:ext cx="1987" cy="189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1020">
                  <a:solidFill>
                    <a:srgbClr val="171717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人格 / 关系</a:t>
              </a:r>
              <a:endParaRPr sz="10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cxnSp>
          <p:nvCxnSpPr>
            <p:cNvPr id="176" name="Connector 86"/>
            <p:cNvCxnSpPr/>
            <p:nvPr/>
          </p:nvCxnSpPr>
          <p:spPr>
            <a:xfrm>
              <a:off x="11210" y="6037"/>
              <a:ext cx="0" cy="203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or 87"/>
            <p:cNvCxnSpPr/>
            <p:nvPr/>
          </p:nvCxnSpPr>
          <p:spPr>
            <a:xfrm>
              <a:off x="13557" y="6037"/>
              <a:ext cx="0" cy="203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ctor 88"/>
            <p:cNvCxnSpPr/>
            <p:nvPr/>
          </p:nvCxnSpPr>
          <p:spPr>
            <a:xfrm>
              <a:off x="15905" y="6037"/>
              <a:ext cx="0" cy="203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or 89"/>
            <p:cNvCxnSpPr/>
            <p:nvPr/>
          </p:nvCxnSpPr>
          <p:spPr>
            <a:xfrm>
              <a:off x="11210" y="6224"/>
              <a:ext cx="4693" cy="0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or 90"/>
            <p:cNvCxnSpPr/>
            <p:nvPr/>
          </p:nvCxnSpPr>
          <p:spPr>
            <a:xfrm>
              <a:off x="13557" y="6224"/>
              <a:ext cx="0" cy="188"/>
            </a:xfrm>
            <a:prstGeom prst="line">
              <a:avLst/>
            </a:prstGeom>
            <a:ln w="7620">
              <a:solidFill>
                <a:srgbClr val="77736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ounded Rectangle 91"/>
            <p:cNvSpPr/>
            <p:nvPr/>
          </p:nvSpPr>
          <p:spPr>
            <a:xfrm>
              <a:off x="11599" y="6267"/>
              <a:ext cx="3917" cy="315"/>
            </a:xfrm>
            <a:prstGeom prst="roundRect">
              <a:avLst/>
            </a:prstGeom>
            <a:solidFill>
              <a:srgbClr val="FFF6EE"/>
            </a:solidFill>
            <a:ln w="6985">
              <a:solidFill>
                <a:srgbClr val="F064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82" name="TextBox 92"/>
            <p:cNvSpPr txBox="1"/>
            <p:nvPr/>
          </p:nvSpPr>
          <p:spPr>
            <a:xfrm>
              <a:off x="11743" y="6303"/>
              <a:ext cx="3629" cy="221"/>
            </a:xfrm>
            <a:prstGeom prst="rect">
              <a:avLst/>
            </a:prstGeom>
            <a:noFill/>
          </p:spPr>
          <p:txBody>
            <a:bodyPr wrap="none" lIns="18288" tIns="0" rIns="18288" bIns="0" anchor="ctr">
              <a:noAutofit/>
            </a:bodyPr>
            <a:lstStyle/>
            <a:p>
              <a:pPr algn="ctr"/>
              <a:r>
                <a:rPr sz="104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MINDENGINE · </a:t>
              </a:r>
              <a:r>
                <a:rPr lang="zh-CN" sz="104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持续存在的</a:t>
              </a:r>
              <a:r>
                <a:rPr lang="en-US" altLang="zh-CN" sz="104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</a:t>
              </a:r>
              <a:r>
                <a:rPr lang="zh-CN" altLang="en-US" sz="1040">
                  <a:solidFill>
                    <a:srgbClr val="F0641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个体</a:t>
              </a:r>
              <a:endParaRPr lang="zh-CN" altLang="en-US" sz="1040">
                <a:solidFill>
                  <a:srgbClr val="F06418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</p:grpSp>
      <p:sp>
        <p:nvSpPr>
          <p:cNvPr id="183" name="TextBox 93"/>
          <p:cNvSpPr txBox="1"/>
          <p:nvPr/>
        </p:nvSpPr>
        <p:spPr>
          <a:xfrm>
            <a:off x="11372215" y="2835275"/>
            <a:ext cx="2606040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l"/>
            <a:r>
              <a:rPr sz="16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一个 MindEngine，进入更多 AI 场景</a:t>
            </a:r>
            <a:endParaRPr sz="160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84" name="TextBox 94"/>
          <p:cNvSpPr txBox="1"/>
          <p:nvPr/>
        </p:nvSpPr>
        <p:spPr>
          <a:xfrm>
            <a:off x="11372215" y="3162300"/>
            <a:ext cx="3063240" cy="179705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l"/>
            <a:endParaRPr sz="830">
              <a:solidFill>
                <a:srgbClr val="77736D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85" name="TextBox 95"/>
          <p:cNvSpPr txBox="1"/>
          <p:nvPr/>
        </p:nvSpPr>
        <p:spPr>
          <a:xfrm>
            <a:off x="11393805" y="362839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lang="en-US"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AI</a:t>
            </a:r>
            <a:r>
              <a:rPr lang="zh-CN" altLang="en-US"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陪伴</a:t>
            </a:r>
            <a:endParaRPr lang="zh-CN" altLang="en-US" sz="920">
              <a:solidFill>
                <a:srgbClr val="171717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86" name="TextBox 96"/>
          <p:cNvSpPr txBox="1"/>
          <p:nvPr/>
        </p:nvSpPr>
        <p:spPr>
          <a:xfrm>
            <a:off x="12277090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AI Toy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87" name="TextBox 97"/>
          <p:cNvSpPr txBox="1"/>
          <p:nvPr/>
        </p:nvSpPr>
        <p:spPr>
          <a:xfrm>
            <a:off x="13173710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Game Agent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88" name="TextBox 98"/>
          <p:cNvSpPr txBox="1"/>
          <p:nvPr/>
        </p:nvSpPr>
        <p:spPr>
          <a:xfrm>
            <a:off x="14069695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Robot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89" name="TextBox 99"/>
          <p:cNvSpPr txBox="1"/>
          <p:nvPr/>
        </p:nvSpPr>
        <p:spPr>
          <a:xfrm>
            <a:off x="14965680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AI Teacher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0" name="TextBox 100"/>
          <p:cNvSpPr txBox="1"/>
          <p:nvPr/>
        </p:nvSpPr>
        <p:spPr>
          <a:xfrm>
            <a:off x="15861665" y="3636010"/>
            <a:ext cx="841375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92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Personal Agent</a:t>
            </a:r>
            <a:endParaRPr sz="92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1" name="TextBox 101"/>
          <p:cNvSpPr txBox="1"/>
          <p:nvPr/>
        </p:nvSpPr>
        <p:spPr>
          <a:xfrm>
            <a:off x="11591290" y="3987165"/>
            <a:ext cx="4846320" cy="219710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sz="1400">
                <a:solidFill>
                  <a:srgbClr val="171717"/>
                </a:solidFill>
                <a:latin typeface="微软雅黑" pitchFamily="34" charset="0"/>
                <a:ea typeface="微软雅黑" pitchFamily="34" charset="0"/>
              </a:rPr>
              <a:t>One Identity · Multiple Applications · Multiple Bodies</a:t>
            </a:r>
            <a:endParaRPr sz="1400">
              <a:solidFill>
                <a:srgbClr val="171717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92" name="TextBox 102"/>
          <p:cNvSpPr txBox="1"/>
          <p:nvPr/>
        </p:nvSpPr>
        <p:spPr>
          <a:xfrm>
            <a:off x="11656060" y="4309110"/>
            <a:ext cx="4754880" cy="179705"/>
          </a:xfrm>
          <a:prstGeom prst="rect">
            <a:avLst/>
          </a:prstGeom>
          <a:noFill/>
        </p:spPr>
        <p:txBody>
          <a:bodyPr wrap="none" lIns="18288" tIns="0" rIns="18288" bIns="0" anchor="ctr">
            <a:noAutofit/>
          </a:bodyPr>
          <a:lstStyle/>
          <a:p>
            <a:pPr algn="ctr"/>
            <a:r>
              <a:rPr lang="zh-CN" sz="16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源于</a:t>
            </a:r>
            <a:r>
              <a:rPr sz="1600">
                <a:solidFill>
                  <a:srgbClr val="77736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疯狂宠物城，不是 MindEngine 的能力边界</a:t>
            </a:r>
            <a:endParaRPr sz="1600">
              <a:solidFill>
                <a:srgbClr val="77736D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pic>
        <p:nvPicPr>
          <p:cNvPr id="194" name="图片 1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655" y="3180715"/>
            <a:ext cx="428625" cy="4527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955" y="3200400"/>
            <a:ext cx="446405" cy="4464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2505" y="3200400"/>
            <a:ext cx="504825" cy="4953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47495" y="3200400"/>
            <a:ext cx="485775" cy="50482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19350" y="3209925"/>
            <a:ext cx="533400" cy="495300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975330" y="3200400"/>
            <a:ext cx="523875" cy="504825"/>
          </a:xfrm>
          <a:prstGeom prst="rect">
            <a:avLst/>
          </a:prstGeom>
        </p:spPr>
      </p:pic>
      <p:grpSp>
        <p:nvGrpSpPr>
          <p:cNvPr id="115" name="组合 114"/>
          <p:cNvGrpSpPr/>
          <p:nvPr/>
        </p:nvGrpSpPr>
        <p:grpSpPr>
          <a:xfrm>
            <a:off x="1165860" y="2743835"/>
            <a:ext cx="4498340" cy="2092960"/>
            <a:chOff x="1836" y="4321"/>
            <a:chExt cx="7084" cy="3296"/>
          </a:xfrm>
        </p:grpSpPr>
        <p:grpSp>
          <p:nvGrpSpPr>
            <p:cNvPr id="66" name="组合 65"/>
            <p:cNvGrpSpPr/>
            <p:nvPr/>
          </p:nvGrpSpPr>
          <p:grpSpPr>
            <a:xfrm>
              <a:off x="1836" y="4321"/>
              <a:ext cx="7085" cy="3297"/>
              <a:chOff x="1335" y="4323"/>
              <a:chExt cx="6904" cy="2958"/>
            </a:xfrm>
          </p:grpSpPr>
          <p:sp>
            <p:nvSpPr>
              <p:cNvPr id="64" name="Rounded Rectangle 70"/>
              <p:cNvSpPr/>
              <p:nvPr/>
            </p:nvSpPr>
            <p:spPr>
              <a:xfrm>
                <a:off x="1335" y="4323"/>
                <a:ext cx="6808" cy="2959"/>
              </a:xfrm>
              <a:prstGeom prst="roundRect">
                <a:avLst/>
              </a:prstGeom>
              <a:solidFill>
                <a:srgbClr val="F8F7F2"/>
              </a:solidFill>
              <a:ln w="10160">
                <a:solidFill>
                  <a:srgbClr val="DAD5C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2000">
                  <a:latin typeface="微软雅黑" pitchFamily="34" charset="0"/>
                  <a:ea typeface="微软雅黑" pitchFamily="34" charset="0"/>
                </a:endParaRPr>
              </a:p>
            </p:txBody>
          </p:sp>
          <p:sp>
            <p:nvSpPr>
              <p:cNvPr id="82" name="AutoShape 6"/>
              <p:cNvSpPr/>
              <p:nvPr/>
            </p:nvSpPr>
            <p:spPr>
              <a:xfrm>
                <a:off x="1950" y="4978"/>
                <a:ext cx="3508" cy="20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0000"/>
                  </a:lnSpc>
                  <a:defRPr/>
                </a:pPr>
                <a:r>
                  <a:rPr lang="en-US" sz="10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效率与执行</a:t>
                </a:r>
                <a:endParaRPr lang="en-US" sz="10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84" name="AutoShape 8"/>
              <p:cNvSpPr/>
              <p:nvPr/>
            </p:nvSpPr>
            <p:spPr>
              <a:xfrm>
                <a:off x="1950" y="5325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核心目标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85" name="AutoShape 9"/>
              <p:cNvSpPr/>
              <p:nvPr/>
            </p:nvSpPr>
            <p:spPr>
              <a:xfrm>
                <a:off x="2785" y="5315"/>
                <a:ext cx="1689" cy="19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微软雅黑" pitchFamily="34" charset="0"/>
                    <a:sym typeface="Noto Sans SC"/>
                  </a:rPr>
                  <a:t>完成任务,提升效率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Noto Sans SC"/>
                </a:endParaRPr>
              </a:p>
            </p:txBody>
          </p:sp>
          <p:sp>
            <p:nvSpPr>
              <p:cNvPr id="86" name="AutoShape 10"/>
              <p:cNvSpPr/>
              <p:nvPr/>
            </p:nvSpPr>
            <p:spPr>
              <a:xfrm>
                <a:off x="1950" y="5560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关注点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87" name="AutoShape 11"/>
              <p:cNvSpPr/>
              <p:nvPr/>
            </p:nvSpPr>
            <p:spPr>
              <a:xfrm>
                <a:off x="2785" y="5586"/>
                <a:ext cx="1587" cy="12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微软雅黑" pitchFamily="34" charset="0"/>
                    <a:sym typeface="Noto Sans SC"/>
                  </a:rPr>
                  <a:t>事(Task/Process)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Noto Sans SC"/>
                </a:endParaRPr>
              </a:p>
            </p:txBody>
          </p:sp>
          <p:sp>
            <p:nvSpPr>
              <p:cNvPr id="90" name="AutoShape 14"/>
              <p:cNvSpPr/>
              <p:nvPr/>
            </p:nvSpPr>
            <p:spPr>
              <a:xfrm>
                <a:off x="1950" y="5968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技术核心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91" name="AutoShape 15"/>
              <p:cNvSpPr/>
              <p:nvPr/>
            </p:nvSpPr>
            <p:spPr>
              <a:xfrm>
                <a:off x="2785" y="5824"/>
                <a:ext cx="2653" cy="50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规划、分解、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推理、工具调用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92" name="AutoShape 16"/>
              <p:cNvSpPr/>
              <p:nvPr/>
            </p:nvSpPr>
            <p:spPr>
              <a:xfrm>
                <a:off x="1950" y="6438"/>
                <a:ext cx="2653" cy="437"/>
              </a:xfrm>
              <a:prstGeom prst="roundRect">
                <a:avLst>
                  <a:gd name="adj" fmla="val 0"/>
                </a:avLst>
              </a:prstGeom>
              <a:solidFill>
                <a:srgbClr val="FF6A00">
                  <a:alpha val="8000"/>
                </a:srgbClr>
              </a:solidFill>
              <a:ln cap="flat" cmpd="sng">
                <a:solidFill>
                  <a:srgbClr val="E65F00">
                    <a:alpha val="8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 sz="1200">
                  <a:latin typeface="微软雅黑" pitchFamily="34" charset="0"/>
                  <a:ea typeface="微软雅黑" pitchFamily="34" charset="0"/>
                </a:endParaRPr>
              </a:p>
            </p:txBody>
          </p:sp>
          <p:sp>
            <p:nvSpPr>
              <p:cNvPr id="95" name="AutoShape 19"/>
              <p:cNvSpPr/>
              <p:nvPr/>
            </p:nvSpPr>
            <p:spPr>
              <a:xfrm>
                <a:off x="2568" y="6464"/>
                <a:ext cx="2653" cy="33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00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工具、执行者、助理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0" name="AutoShape 24"/>
              <p:cNvSpPr/>
              <p:nvPr/>
            </p:nvSpPr>
            <p:spPr>
              <a:xfrm>
                <a:off x="4731" y="4978"/>
                <a:ext cx="3508" cy="20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0000"/>
                  </a:lnSpc>
                  <a:defRPr/>
                </a:pPr>
                <a:r>
                  <a:rPr lang="en-US" sz="10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连接与共情</a:t>
                </a:r>
                <a:endParaRPr lang="en-US" sz="10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2" name="AutoShape 26"/>
              <p:cNvSpPr/>
              <p:nvPr/>
            </p:nvSpPr>
            <p:spPr>
              <a:xfrm>
                <a:off x="4731" y="5325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核心目标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3" name="AutoShape 27"/>
              <p:cNvSpPr/>
              <p:nvPr/>
            </p:nvSpPr>
            <p:spPr>
              <a:xfrm>
                <a:off x="5577" y="5315"/>
                <a:ext cx="1727" cy="174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微软雅黑" pitchFamily="34" charset="0"/>
                    <a:sym typeface="Noto Sans SC"/>
                  </a:rPr>
                  <a:t>建立关系,提升信任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Noto Sans SC"/>
                </a:endParaRPr>
              </a:p>
            </p:txBody>
          </p:sp>
          <p:sp>
            <p:nvSpPr>
              <p:cNvPr id="104" name="AutoShape 28"/>
              <p:cNvSpPr/>
              <p:nvPr/>
            </p:nvSpPr>
            <p:spPr>
              <a:xfrm>
                <a:off x="4731" y="5560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关注点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5" name="AutoShape 29"/>
              <p:cNvSpPr/>
              <p:nvPr/>
            </p:nvSpPr>
            <p:spPr>
              <a:xfrm>
                <a:off x="5586" y="5586"/>
                <a:ext cx="2653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微软雅黑" pitchFamily="34" charset="0"/>
                    <a:sym typeface="Noto Sans SC"/>
                  </a:rPr>
                  <a:t>人(User/Relationship)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Noto Sans SC"/>
                </a:endParaRPr>
              </a:p>
            </p:txBody>
          </p:sp>
          <p:sp>
            <p:nvSpPr>
              <p:cNvPr id="108" name="AutoShape 32"/>
              <p:cNvSpPr/>
              <p:nvPr/>
            </p:nvSpPr>
            <p:spPr>
              <a:xfrm>
                <a:off x="4731" y="5968"/>
                <a:ext cx="769" cy="175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1000" i="0" u="none" strike="noStrike">
                    <a:solidFill>
                      <a:srgbClr val="666666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技术核心</a:t>
                </a:r>
                <a:endParaRPr lang="en-US" sz="1000" i="0" u="none" strike="noStrike">
                  <a:solidFill>
                    <a:srgbClr val="666666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09" name="AutoShape 33"/>
              <p:cNvSpPr/>
              <p:nvPr/>
            </p:nvSpPr>
            <p:spPr>
              <a:xfrm>
                <a:off x="5566" y="5801"/>
                <a:ext cx="1913" cy="50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记忆、情感计算、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  <a:p>
                <a:pPr marL="0" indent="0" algn="l">
                  <a:lnSpc>
                    <a:spcPct val="117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伦理、社交模拟</a:t>
                </a:r>
                <a:endParaRPr 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10" name="AutoShape 34"/>
              <p:cNvSpPr/>
              <p:nvPr/>
            </p:nvSpPr>
            <p:spPr>
              <a:xfrm>
                <a:off x="4731" y="6438"/>
                <a:ext cx="2801" cy="437"/>
              </a:xfrm>
              <a:prstGeom prst="roundRect">
                <a:avLst>
                  <a:gd name="adj" fmla="val 0"/>
                </a:avLst>
              </a:prstGeom>
              <a:solidFill>
                <a:srgbClr val="FF6A00">
                  <a:alpha val="8000"/>
                </a:srgbClr>
              </a:solidFill>
              <a:ln cap="flat" cmpd="sng">
                <a:solidFill>
                  <a:srgbClr val="E65F00">
                    <a:alpha val="8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 sz="1200">
                  <a:latin typeface="微软雅黑" pitchFamily="34" charset="0"/>
                  <a:ea typeface="微软雅黑" pitchFamily="34" charset="0"/>
                </a:endParaRPr>
              </a:p>
            </p:txBody>
          </p:sp>
          <p:sp>
            <p:nvSpPr>
              <p:cNvPr id="112" name="AutoShape 36"/>
              <p:cNvSpPr/>
              <p:nvPr/>
            </p:nvSpPr>
            <p:spPr>
              <a:xfrm>
                <a:off x="4861" y="6497"/>
                <a:ext cx="450" cy="3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9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角色</a:t>
                </a:r>
                <a:endParaRPr lang="en-US" sz="9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zh-CN" altLang="en-US" sz="9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定位</a:t>
                </a:r>
                <a:endParaRPr lang="zh-CN" altLang="en-US" sz="9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113" name="AutoShape 37"/>
              <p:cNvSpPr/>
              <p:nvPr/>
            </p:nvSpPr>
            <p:spPr>
              <a:xfrm>
                <a:off x="5349" y="6464"/>
                <a:ext cx="2653" cy="33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00000"/>
                  </a:lnSpc>
                  <a:defRPr/>
                </a:pPr>
                <a:r>
                  <a:rPr 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伙伴、</a:t>
                </a:r>
                <a:r>
                  <a:rPr lang="zh-CN" altLang="en-US" sz="1000" i="0" u="none" strike="noStrike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情绪价值提供者</a:t>
                </a:r>
                <a:endParaRPr lang="zh-CN" altLang="en-US" sz="1000" i="0" u="none" strike="noStrike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39" name="AutoShape 2"/>
              <p:cNvSpPr/>
              <p:nvPr/>
            </p:nvSpPr>
            <p:spPr>
              <a:xfrm>
                <a:off x="4731" y="4548"/>
                <a:ext cx="2232" cy="38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108000"/>
                  </a:lnSpc>
                  <a:defRPr/>
                </a:pPr>
                <a:r>
                  <a:rPr lang="en-US" sz="1600" i="0" u="none" strike="noStrike" spc="100">
                    <a:solidFill>
                      <a:srgbClr val="333333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关系智能</a:t>
                </a:r>
                <a:endParaRPr lang="en-US" sz="1600" i="0" u="none" strike="noStrike" spc="100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  <p:sp>
            <p:nvSpPr>
              <p:cNvPr id="40" name="AutoShape 36"/>
              <p:cNvSpPr/>
              <p:nvPr/>
            </p:nvSpPr>
            <p:spPr>
              <a:xfrm>
                <a:off x="2038" y="6486"/>
                <a:ext cx="450" cy="34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t" anchorCtr="0"/>
              <a:lstStyle/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en-US" sz="9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角色</a:t>
                </a:r>
                <a:endParaRPr lang="en-US" sz="9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  <a:p>
                <a:pPr marL="0" indent="0" algn="l">
                  <a:lnSpc>
                    <a:spcPct val="83000"/>
                  </a:lnSpc>
                  <a:defRPr/>
                </a:pPr>
                <a:r>
                  <a:rPr lang="zh-CN" altLang="en-US" sz="900" i="0" u="none" strike="noStrike">
                    <a:solidFill>
                      <a:srgbClr val="FF6A00"/>
                    </a:solidFill>
                    <a:latin typeface="微软雅黑" pitchFamily="34" charset="0"/>
                    <a:ea typeface="微软雅黑" pitchFamily="34" charset="0"/>
                    <a:cs typeface="Noto Sans SC"/>
                    <a:sym typeface="Noto Sans SC"/>
                  </a:rPr>
                  <a:t>定位</a:t>
                </a:r>
                <a:endParaRPr lang="zh-CN" altLang="en-US" sz="900" i="0" u="none" strike="noStrike">
                  <a:solidFill>
                    <a:srgbClr val="FF6A00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endParaRPr>
              </a:p>
            </p:txBody>
          </p:sp>
        </p:grpSp>
        <p:sp>
          <p:nvSpPr>
            <p:cNvPr id="78" name="AutoShape 2"/>
            <p:cNvSpPr/>
            <p:nvPr/>
          </p:nvSpPr>
          <p:spPr>
            <a:xfrm>
              <a:off x="2467" y="4602"/>
              <a:ext cx="2656" cy="43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/>
            <a:lstStyle/>
            <a:p>
              <a:pPr marL="0" indent="0" algn="l">
                <a:lnSpc>
                  <a:spcPct val="108000"/>
                </a:lnSpc>
                <a:defRPr/>
              </a:pPr>
              <a:r>
                <a:rPr lang="en-US" sz="1400" i="0" u="none" strike="noStrike" spc="100">
                  <a:solidFill>
                    <a:srgbClr val="333333"/>
                  </a:solidFill>
                  <a:latin typeface="微软雅黑" pitchFamily="34" charset="0"/>
                  <a:ea typeface="微软雅黑" pitchFamily="34" charset="0"/>
                  <a:cs typeface="Noto Sans SC"/>
                  <a:sym typeface="Noto Sans SC"/>
                </a:rPr>
                <a:t>任务智能</a:t>
              </a:r>
              <a:endParaRPr lang="en-US" sz="1400" i="0" u="none" strike="noStrike" spc="100">
                <a:solidFill>
                  <a:srgbClr val="333333"/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42"/>
          <p:cNvSpPr/>
          <p:nvPr/>
        </p:nvSpPr>
        <p:spPr>
          <a:xfrm>
            <a:off x="2912745" y="2753995"/>
            <a:ext cx="8990330" cy="5680710"/>
          </a:xfrm>
          <a:prstGeom prst="roundRect">
            <a:avLst>
              <a:gd name="adj" fmla="val 1695"/>
            </a:avLst>
          </a:prstGeom>
          <a:solidFill>
            <a:srgbClr val="FFF9F3"/>
          </a:solidFill>
          <a:ln w="11430">
            <a:solidFill>
              <a:srgbClr val="F1D5C2"/>
            </a:solidFill>
            <a:prstDash val="solid"/>
          </a:ln>
        </p:spPr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技术壁垒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2" name="Text 22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3450" b="1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</a:t>
            </a:r>
            <a:r>
              <a:rPr sz="3450" b="1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Engi</a:t>
            </a:r>
            <a:r>
              <a:rPr lang="en-US" sz="3450" b="1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ne：</a:t>
            </a:r>
            <a:r>
              <a:rPr lang="en-US" sz="3450" b="1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AI 原生 IP 内容引擎</a:t>
            </a:r>
            <a:endParaRPr lang="en-US" sz="3450" b="1">
              <a:solidFill>
                <a:srgbClr val="16181D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sz="1725">
                <a:solidFill>
                  <a:srgbClr val="646464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让 AI 角色的持续经历，自动转化为可传播、可学习、可积累的 IP 内容</a:t>
            </a:r>
            <a:endParaRPr lang="en-US" sz="1725" dirty="0">
              <a:solidFill>
                <a:srgbClr val="646464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59" name="AutoShape 12"/>
          <p:cNvSpPr/>
          <p:nvPr/>
        </p:nvSpPr>
        <p:spPr>
          <a:xfrm>
            <a:off x="10772235" y="-33853"/>
            <a:ext cx="2963726" cy="1269178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cap="flat" cmpd="sng">
            <a:solidFill>
              <a:srgbClr val="E6CFC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9" name="AutoShape 25"/>
          <p:cNvSpPr/>
          <p:nvPr/>
        </p:nvSpPr>
        <p:spPr>
          <a:xfrm>
            <a:off x="11041640" y="770455"/>
            <a:ext cx="1570781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rPr>
              <a:t>需求萌生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微软雅黑" pitchFamily="34" charset="0"/>
              <a:ea typeface="微软雅黑" pitchFamily="34" charset="0"/>
              <a:cs typeface="Noto Sans SC"/>
              <a:sym typeface="Noto Sans SC"/>
            </a:endParaRPr>
          </a:p>
        </p:txBody>
      </p:sp>
      <p:sp>
        <p:nvSpPr>
          <p:cNvPr id="100" name="AutoShape 26"/>
          <p:cNvSpPr/>
          <p:nvPr/>
        </p:nvSpPr>
        <p:spPr>
          <a:xfrm>
            <a:off x="12651690" y="770455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rPr>
              <a:t>→</a:t>
            </a:r>
            <a:endParaRPr lang="en-US" sz="1400" b="0" i="0" u="none" strike="noStrike">
              <a:solidFill>
                <a:srgbClr val="FFD700">
                  <a:alpha val="54902"/>
                </a:srgbClr>
              </a:solidFill>
              <a:latin typeface="微软雅黑" pitchFamily="34" charset="0"/>
              <a:ea typeface="微软雅黑" pitchFamily="34" charset="0"/>
              <a:cs typeface="Noto Sans SC"/>
              <a:sym typeface="Noto Sans SC"/>
            </a:endParaRPr>
          </a:p>
        </p:txBody>
      </p:sp>
      <p:sp>
        <p:nvSpPr>
          <p:cNvPr id="103" name="AutoShape 29"/>
          <p:cNvSpPr/>
          <p:nvPr/>
        </p:nvSpPr>
        <p:spPr>
          <a:xfrm>
            <a:off x="12651690" y="1399431"/>
            <a:ext cx="431965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D700">
                    <a:alpha val="54902"/>
                  </a:srgbClr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rPr>
              <a:t>→</a:t>
            </a:r>
            <a:endParaRPr lang="en-US" sz="1400" b="0" i="0" u="none" strike="noStrike">
              <a:solidFill>
                <a:srgbClr val="FFD700">
                  <a:alpha val="54902"/>
                </a:srgbClr>
              </a:solidFill>
              <a:latin typeface="微软雅黑" pitchFamily="34" charset="0"/>
              <a:ea typeface="微软雅黑" pitchFamily="34" charset="0"/>
              <a:cs typeface="Noto Sans SC"/>
              <a:sym typeface="Noto Sans SC"/>
            </a:endParaRPr>
          </a:p>
        </p:txBody>
      </p:sp>
      <p:sp>
        <p:nvSpPr>
          <p:cNvPr id="104" name="AutoShape 30"/>
          <p:cNvSpPr/>
          <p:nvPr/>
        </p:nvSpPr>
        <p:spPr>
          <a:xfrm>
            <a:off x="13122924" y="1399431"/>
            <a:ext cx="2159823" cy="51104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0"/>
                <a:cs typeface="Noto Sans SC"/>
                <a:sym typeface="Noto Sans SC"/>
              </a:rPr>
              <a:t>实体生成</a:t>
            </a:r>
            <a:endParaRPr lang="en-US" sz="1400" b="0" i="0" u="none" strike="noStrike">
              <a:solidFill>
                <a:srgbClr val="FFFFFF">
                  <a:alpha val="80000"/>
                </a:srgbClr>
              </a:solidFill>
              <a:latin typeface="微软雅黑" pitchFamily="34" charset="0"/>
              <a:ea typeface="微软雅黑" pitchFamily="34" charset="0"/>
              <a:cs typeface="Noto Sans SC"/>
              <a:sym typeface="Noto Sans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215390" y="2753995"/>
            <a:ext cx="1453515" cy="551180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36576" rtlCol="0" anchor="ctr"/>
          <a:lstStyle/>
          <a:p>
            <a:pPr algn="l"/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" name="Chevron 6"/>
          <p:cNvSpPr/>
          <p:nvPr/>
        </p:nvSpPr>
        <p:spPr>
          <a:xfrm>
            <a:off x="2679065" y="4713605"/>
            <a:ext cx="233680" cy="53467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" name="TextBox 8"/>
          <p:cNvSpPr txBox="1"/>
          <p:nvPr/>
        </p:nvSpPr>
        <p:spPr>
          <a:xfrm>
            <a:off x="5901055" y="2800985"/>
            <a:ext cx="265176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ContentEngine</a:t>
            </a:r>
            <a:endParaRPr sz="2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34" name="Rounded Rectangle 9"/>
          <p:cNvSpPr/>
          <p:nvPr/>
        </p:nvSpPr>
        <p:spPr>
          <a:xfrm>
            <a:off x="3400425" y="3451225"/>
            <a:ext cx="2195830" cy="263906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36576" rtlCol="0" anchor="ctr"/>
          <a:lstStyle/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StoryModel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故事模型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spcBef>
                <a:spcPts val="400"/>
              </a:spcBef>
            </a:pPr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什么值得讲？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冲突识别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关系变化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情绪转折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成长反差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故事价值判断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6" name="Rounded Rectangle 10"/>
          <p:cNvSpPr/>
          <p:nvPr/>
        </p:nvSpPr>
        <p:spPr>
          <a:xfrm>
            <a:off x="6192520" y="3463925"/>
            <a:ext cx="2195830" cy="263906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36576" rtlCol="0" anchor="ctr"/>
          <a:lstStyle/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Narrative Model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叙事模型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>
              <a:spcBef>
                <a:spcPts val="400"/>
              </a:spcBef>
            </a:pPr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怎么讲得更好？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故事结构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节奏悬念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角色线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关系线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时间连续性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讲述方式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8" name="Rounded Rectangle 11"/>
          <p:cNvSpPr/>
          <p:nvPr/>
        </p:nvSpPr>
        <p:spPr>
          <a:xfrm>
            <a:off x="8916035" y="3463925"/>
            <a:ext cx="2195830" cy="263906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36576" rtlCol="0" anchor="ctr"/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多模态内容生产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剧本 / 分镜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图片 / 漫画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视频 / 动画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配音 / 音乐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剪辑 / 包装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75" name="Connector 12"/>
          <p:cNvCxnSpPr/>
          <p:nvPr/>
        </p:nvCxnSpPr>
        <p:spPr>
          <a:xfrm>
            <a:off x="5596255" y="4783455"/>
            <a:ext cx="596900" cy="0"/>
          </a:xfrm>
          <a:prstGeom prst="line">
            <a:avLst/>
          </a:prstGeom>
          <a:ln w="19050">
            <a:solidFill>
              <a:srgbClr val="F07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13"/>
          <p:cNvCxnSpPr>
            <a:stCxn id="36" idx="3"/>
          </p:cNvCxnSpPr>
          <p:nvPr/>
        </p:nvCxnSpPr>
        <p:spPr>
          <a:xfrm>
            <a:off x="8388350" y="4783455"/>
            <a:ext cx="527685" cy="0"/>
          </a:xfrm>
          <a:prstGeom prst="line">
            <a:avLst/>
          </a:prstGeom>
          <a:ln w="19050">
            <a:solidFill>
              <a:srgbClr val="F07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14"/>
          <p:cNvSpPr/>
          <p:nvPr/>
        </p:nvSpPr>
        <p:spPr>
          <a:xfrm>
            <a:off x="3395980" y="6587490"/>
            <a:ext cx="5146675" cy="690245"/>
          </a:xfrm>
          <a:prstGeom prst="roundRect">
            <a:avLst/>
          </a:prstGeom>
          <a:solidFill>
            <a:srgbClr val="FCFAF7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91440" rIns="73152" bIns="36576" rtlCol="0" anchor="ctr"/>
          <a:lstStyle/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Reward Model｜奖励模型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用户反馈强化学习，反哺 Story / Narrative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80" name="Connector 15"/>
          <p:cNvCxnSpPr/>
          <p:nvPr/>
        </p:nvCxnSpPr>
        <p:spPr>
          <a:xfrm>
            <a:off x="4488180" y="6090285"/>
            <a:ext cx="0" cy="513715"/>
          </a:xfrm>
          <a:prstGeom prst="line">
            <a:avLst/>
          </a:prstGeom>
          <a:ln w="15240">
            <a:solidFill>
              <a:srgbClr val="F07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16"/>
          <p:cNvCxnSpPr/>
          <p:nvPr/>
        </p:nvCxnSpPr>
        <p:spPr>
          <a:xfrm>
            <a:off x="7290435" y="6102985"/>
            <a:ext cx="0" cy="501015"/>
          </a:xfrm>
          <a:prstGeom prst="line">
            <a:avLst/>
          </a:prstGeom>
          <a:ln w="15240">
            <a:solidFill>
              <a:srgbClr val="F07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17"/>
          <p:cNvSpPr/>
          <p:nvPr/>
        </p:nvSpPr>
        <p:spPr>
          <a:xfrm>
            <a:off x="3124200" y="7489190"/>
            <a:ext cx="8608695" cy="800735"/>
          </a:xfrm>
          <a:prstGeom prst="roundRect">
            <a:avLst/>
          </a:prstGeom>
          <a:solidFill>
            <a:srgbClr val="F8ECDF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2920" tIns="91440" rIns="502920" bIns="36576" rtlCol="0" anchor="ctr"/>
          <a:lstStyle/>
          <a:p>
            <a:pPr algn="l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基础生成模型层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0" name="Chevron 21"/>
          <p:cNvSpPr/>
          <p:nvPr/>
        </p:nvSpPr>
        <p:spPr>
          <a:xfrm>
            <a:off x="11993880" y="4667250"/>
            <a:ext cx="212090" cy="46736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8" name="Rounded Rectangle 22"/>
          <p:cNvSpPr/>
          <p:nvPr/>
        </p:nvSpPr>
        <p:spPr>
          <a:xfrm>
            <a:off x="12184380" y="2823845"/>
            <a:ext cx="1431925" cy="260858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64592" rIns="73152" bIns="36576" rtlCol="0" anchor="ctr"/>
          <a:lstStyle/>
          <a:p>
            <a:pPr algn="ctr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IP内容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────────</a:t>
            </a:r>
            <a:endParaRPr sz="1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短视频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漫画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日记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连载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动画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2" name="Diamond 23"/>
          <p:cNvSpPr/>
          <p:nvPr/>
        </p:nvSpPr>
        <p:spPr>
          <a:xfrm>
            <a:off x="12863195" y="5433060"/>
            <a:ext cx="211455" cy="593090"/>
          </a:xfrm>
          <a:prstGeom prst="diamond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6" name="Rounded Rectangle 24"/>
          <p:cNvSpPr/>
          <p:nvPr/>
        </p:nvSpPr>
        <p:spPr>
          <a:xfrm>
            <a:off x="12205970" y="6081395"/>
            <a:ext cx="1400175" cy="2249170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64592" rIns="73152" bIns="36576" rtlCol="0" anchor="ctr"/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用户反馈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────────</a:t>
            </a:r>
            <a:endParaRPr sz="1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完播 / 点赞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评论 / 分享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收藏 / 转化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ctr"/>
            <a:r>
              <a:rPr sz="16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角色喜爱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7" name="Chevron 25"/>
          <p:cNvSpPr/>
          <p:nvPr/>
        </p:nvSpPr>
        <p:spPr>
          <a:xfrm rot="10800000">
            <a:off x="11866245" y="6749415"/>
            <a:ext cx="233680" cy="46736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1" name="Rounded Rectangle 26"/>
          <p:cNvSpPr/>
          <p:nvPr/>
        </p:nvSpPr>
        <p:spPr>
          <a:xfrm>
            <a:off x="14076045" y="2757170"/>
            <a:ext cx="3002280" cy="5522595"/>
          </a:xfrm>
          <a:prstGeom prst="roundRect">
            <a:avLst/>
          </a:prstGeom>
          <a:solidFill>
            <a:srgbClr val="FCF7F2"/>
          </a:solidFill>
          <a:ln w="1524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0" rIns="73152" bIns="36576"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113" name="Connector 28"/>
          <p:cNvCxnSpPr/>
          <p:nvPr/>
        </p:nvCxnSpPr>
        <p:spPr>
          <a:xfrm>
            <a:off x="14703425" y="7277735"/>
            <a:ext cx="1930400" cy="0"/>
          </a:xfrm>
          <a:prstGeom prst="line">
            <a:avLst/>
          </a:prstGeom>
          <a:ln w="12700">
            <a:solidFill>
              <a:srgbClr val="EDA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29"/>
          <p:cNvSpPr txBox="1"/>
          <p:nvPr/>
        </p:nvSpPr>
        <p:spPr>
          <a:xfrm>
            <a:off x="14336395" y="7360920"/>
            <a:ext cx="2360930" cy="3067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角色越真实，内容越独特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6" name="TextBox 30"/>
          <p:cNvSpPr txBox="1"/>
          <p:nvPr/>
        </p:nvSpPr>
        <p:spPr>
          <a:xfrm>
            <a:off x="14326870" y="7738110"/>
            <a:ext cx="2370455" cy="3987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内容越强，数据越丰富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5642610" y="7667625"/>
            <a:ext cx="4838700" cy="469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4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大语言模型 / 图片 / 视频 / 语音 / 音乐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4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可插拔 / 可路由 / 可替换</a:t>
            </a:r>
            <a:endParaRPr lang="zh-CN" altLang="en-US" sz="14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14580870" y="3004820"/>
            <a:ext cx="21164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微软雅黑" pitchFamily="34" charset="0"/>
                <a:ea typeface="微软雅黑" pitchFamily="34" charset="0"/>
                <a:sym typeface="+mn-ea"/>
              </a:rPr>
              <a:t>双引擎</a:t>
            </a:r>
            <a:r>
              <a:rPr lang="zh-CN" sz="2000">
                <a:latin typeface="微软雅黑" pitchFamily="34" charset="0"/>
                <a:ea typeface="微软雅黑" pitchFamily="34" charset="0"/>
                <a:sym typeface="+mn-ea"/>
              </a:rPr>
              <a:t>驱动</a:t>
            </a:r>
            <a:endParaRPr lang="zh-CN" sz="20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4841220" y="3463925"/>
            <a:ext cx="1704340" cy="623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模型可以复制</a:t>
            </a:r>
            <a:endParaRPr sz="1400">
              <a:latin typeface="微软雅黑" pitchFamily="34" charset="0"/>
              <a:ea typeface="微软雅黑" pitchFamily="34" charset="0"/>
              <a:sym typeface="+mn-ea"/>
            </a:endParaRPr>
          </a:p>
          <a:p>
            <a:pPr algn="ctr"/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数据无法复制</a:t>
            </a:r>
            <a:endParaRPr lang="zh-CN" altLang="en-US" sz="14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24" name="Rounded Rectangle 75"/>
          <p:cNvSpPr/>
          <p:nvPr/>
        </p:nvSpPr>
        <p:spPr>
          <a:xfrm>
            <a:off x="14635480" y="5752465"/>
            <a:ext cx="1828800" cy="648335"/>
          </a:xfrm>
          <a:prstGeom prst="roundRect">
            <a:avLst/>
          </a:prstGeom>
          <a:solidFill>
            <a:srgbClr val="FCFBF8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4635480" y="5868035"/>
            <a:ext cx="19310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微软雅黑" pitchFamily="34" charset="0"/>
                <a:ea typeface="微软雅黑" pitchFamily="34" charset="0"/>
                <a:sym typeface="+mn-ea"/>
              </a:rPr>
              <a:t>Content</a:t>
            </a:r>
            <a:r>
              <a:rPr>
                <a:latin typeface="微软雅黑" pitchFamily="34" charset="0"/>
                <a:ea typeface="微软雅黑" pitchFamily="34" charset="0"/>
                <a:sym typeface="+mn-ea"/>
              </a:rPr>
              <a:t>Engine</a:t>
            </a:r>
            <a:endParaRPr lang="zh-CN" altLang="en-US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32" name="Rounded Rectangle 75"/>
          <p:cNvSpPr/>
          <p:nvPr/>
        </p:nvSpPr>
        <p:spPr>
          <a:xfrm>
            <a:off x="14635480" y="4261485"/>
            <a:ext cx="1828800" cy="660400"/>
          </a:xfrm>
          <a:prstGeom prst="roundRect">
            <a:avLst/>
          </a:prstGeom>
          <a:solidFill>
            <a:srgbClr val="FCFBF8"/>
          </a:solidFill>
          <a:ln w="8255">
            <a:solidFill>
              <a:srgbClr val="27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14815185" y="4415155"/>
            <a:ext cx="14998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latin typeface="微软雅黑" pitchFamily="34" charset="0"/>
                <a:ea typeface="微软雅黑" pitchFamily="34" charset="0"/>
                <a:sym typeface="+mn-ea"/>
              </a:rPr>
              <a:t>Mind</a:t>
            </a:r>
            <a:r>
              <a:rPr>
                <a:latin typeface="微软雅黑" pitchFamily="34" charset="0"/>
                <a:ea typeface="微软雅黑" pitchFamily="34" charset="0"/>
                <a:sym typeface="+mn-ea"/>
              </a:rPr>
              <a:t>Engine</a:t>
            </a:r>
            <a:endParaRPr lang="zh-CN" altLang="en-US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14208125" y="5248275"/>
            <a:ext cx="265176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Identity </a:t>
            </a:r>
            <a:r>
              <a:rPr lang="en-US" sz="1400">
                <a:latin typeface="微软雅黑" pitchFamily="34" charset="0"/>
                <a:ea typeface="微软雅黑" pitchFamily="34" charset="0"/>
                <a:sym typeface="+mn-ea"/>
              </a:rPr>
              <a:t>/ </a:t>
            </a:r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Experience Data</a:t>
            </a:r>
            <a:endParaRPr lang="zh-CN" altLang="en-US" sz="14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14312265" y="6604000"/>
            <a:ext cx="249174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Content / User Feedback</a:t>
            </a:r>
            <a:endParaRPr lang="zh-CN" altLang="en-US" sz="14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36" name="Rounded Rectangle 31"/>
          <p:cNvSpPr/>
          <p:nvPr/>
        </p:nvSpPr>
        <p:spPr>
          <a:xfrm>
            <a:off x="1078865" y="8784590"/>
            <a:ext cx="15998825" cy="1009650"/>
          </a:xfrm>
          <a:prstGeom prst="roundRect">
            <a:avLst/>
          </a:prstGeom>
          <a:solidFill>
            <a:srgbClr val="F8ECDF"/>
          </a:solidFill>
          <a:ln w="12700">
            <a:solidFill>
              <a:srgbClr val="EDA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7" name="Oval 32"/>
          <p:cNvSpPr/>
          <p:nvPr/>
        </p:nvSpPr>
        <p:spPr>
          <a:xfrm>
            <a:off x="1407795" y="8976360"/>
            <a:ext cx="621030" cy="438785"/>
          </a:xfrm>
          <a:prstGeom prst="ellipse">
            <a:avLst/>
          </a:prstGeom>
          <a:solidFill>
            <a:srgbClr val="F07C22"/>
          </a:solidFill>
          <a:ln>
            <a:solidFill>
              <a:srgbClr val="F07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8" name="TextBox 33"/>
          <p:cNvSpPr txBox="1"/>
          <p:nvPr/>
        </p:nvSpPr>
        <p:spPr>
          <a:xfrm>
            <a:off x="1480820" y="9013190"/>
            <a:ext cx="41402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rPr>
              <a:t>★</a:t>
            </a:r>
            <a:endParaRPr sz="1600">
              <a:solidFill>
                <a:srgbClr val="FFFFFF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9" name="TextBox 34"/>
          <p:cNvSpPr txBox="1"/>
          <p:nvPr/>
        </p:nvSpPr>
        <p:spPr>
          <a:xfrm>
            <a:off x="3629660" y="8949055"/>
            <a:ext cx="1268539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>
                <a:solidFill>
                  <a:srgbClr val="F07C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MindEngine</a:t>
            </a:r>
            <a:r>
              <a:rPr lang="en-US" sz="2000">
                <a:solidFill>
                  <a:srgbClr val="F07C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 </a:t>
            </a:r>
            <a:r>
              <a:rPr sz="2000">
                <a:solidFill>
                  <a:srgbClr val="2222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让角色持续成长</a:t>
            </a:r>
            <a:endParaRPr sz="2000">
              <a:solidFill>
                <a:srgbClr val="F07C22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41" name="TextBox 36"/>
          <p:cNvSpPr txBox="1"/>
          <p:nvPr/>
        </p:nvSpPr>
        <p:spPr>
          <a:xfrm>
            <a:off x="8221980" y="8949055"/>
            <a:ext cx="6145530" cy="4603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2000">
                <a:solidFill>
                  <a:srgbClr val="F07C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ContentEngine</a:t>
            </a:r>
            <a:r>
              <a:rPr lang="en-US" sz="2000">
                <a:solidFill>
                  <a:srgbClr val="F07C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</a:t>
            </a:r>
            <a:r>
              <a:rPr sz="2000">
                <a:solidFill>
                  <a:srgbClr val="2222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让成长</a:t>
            </a:r>
            <a:r>
              <a:rPr lang="zh-CN" sz="2000">
                <a:solidFill>
                  <a:srgbClr val="2222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经历</a:t>
            </a:r>
            <a:r>
              <a:rPr sz="2000">
                <a:solidFill>
                  <a:srgbClr val="222222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持续产生内容与数据。</a:t>
            </a:r>
            <a:endParaRPr lang="en-US" sz="2000">
              <a:solidFill>
                <a:srgbClr val="F07C22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43" name="TextBox 38"/>
          <p:cNvSpPr txBox="1"/>
          <p:nvPr/>
        </p:nvSpPr>
        <p:spPr>
          <a:xfrm>
            <a:off x="5261610" y="9409430"/>
            <a:ext cx="6278245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646464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Story 学会什么值得讲，Narrative 学会怎么讲更好。</a:t>
            </a:r>
            <a:endParaRPr sz="2000">
              <a:solidFill>
                <a:srgbClr val="646464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46" name="直接箭头连接符 145"/>
          <p:cNvCxnSpPr>
            <a:stCxn id="132" idx="2"/>
            <a:endCxn id="124" idx="0"/>
          </p:cNvCxnSpPr>
          <p:nvPr/>
        </p:nvCxnSpPr>
        <p:spPr>
          <a:xfrm>
            <a:off x="15549880" y="4921885"/>
            <a:ext cx="0" cy="830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>
            <a:stCxn id="124" idx="2"/>
            <a:endCxn id="135" idx="0"/>
          </p:cNvCxnSpPr>
          <p:nvPr/>
        </p:nvCxnSpPr>
        <p:spPr>
          <a:xfrm>
            <a:off x="15549880" y="6400800"/>
            <a:ext cx="8255" cy="203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8" name="文本框 147"/>
          <p:cNvSpPr txBox="1"/>
          <p:nvPr/>
        </p:nvSpPr>
        <p:spPr>
          <a:xfrm>
            <a:off x="1236980" y="5433060"/>
            <a:ext cx="143192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角色经历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情绪变化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关系变化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成长瞬间</a:t>
            </a:r>
            <a:endParaRPr sz="16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冲突事件</a:t>
            </a:r>
            <a:endParaRPr lang="zh-CN" altLang="en-US" sz="1600"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1238250" y="4087495"/>
            <a:ext cx="14433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>
                <a:latin typeface="微软雅黑" pitchFamily="34" charset="0"/>
                <a:ea typeface="微软雅黑" pitchFamily="34" charset="0"/>
                <a:sym typeface="+mn-ea"/>
              </a:rPr>
              <a:t>经历输入</a:t>
            </a:r>
            <a:endParaRPr lang="zh-CN" altLang="en-US" sz="20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334135" y="4664710"/>
            <a:ext cx="11938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Bef>
                <a:spcPts val="0"/>
              </a:spcBef>
            </a:pPr>
            <a:r>
              <a:rPr sz="1400">
                <a:latin typeface="微软雅黑" pitchFamily="34" charset="0"/>
                <a:ea typeface="微软雅黑" pitchFamily="34" charset="0"/>
                <a:sym typeface="+mn-ea"/>
              </a:rPr>
              <a:t>Experience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r>
              <a:rPr sz="900">
                <a:latin typeface="微软雅黑" pitchFamily="34" charset="0"/>
                <a:ea typeface="微软雅黑" pitchFamily="34" charset="0"/>
                <a:sym typeface="+mn-ea"/>
              </a:rPr>
              <a:t>────────────────</a:t>
            </a:r>
            <a:endParaRPr lang="zh-CN" altLang="en-US" sz="900">
              <a:latin typeface="微软雅黑" pitchFamily="34" charset="0"/>
              <a:ea typeface="微软雅黑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967a7a60a032729fb071f8111de6096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1321704" y="401638"/>
            <a:ext cx="15900621" cy="9483725"/>
            <a:chOff x="720" y="490"/>
            <a:chExt cx="17784" cy="10022"/>
          </a:xfrm>
        </p:grpSpPr>
        <p:sp>
          <p:nvSpPr>
            <p:cNvPr id="4" name="Text 0"/>
            <p:cNvSpPr/>
            <p:nvPr/>
          </p:nvSpPr>
          <p:spPr>
            <a:xfrm>
              <a:off x="720" y="490"/>
              <a:ext cx="3600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00" kern="0" spc="180" dirty="0">
                  <a:solidFill>
                    <a:srgbClr val="85847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情 感 陪 伴 合 规 策 略</a:t>
              </a:r>
              <a:endParaRPr lang="en-US" sz="1200" kern="0" spc="180" dirty="0">
                <a:solidFill>
                  <a:srgbClr val="85847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5" name="Text 1"/>
            <p:cNvSpPr/>
            <p:nvPr/>
          </p:nvSpPr>
          <p:spPr>
            <a:xfrm>
              <a:off x="720" y="1037"/>
              <a:ext cx="17136" cy="64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3600" b="1" dirty="0">
                  <a:solidFill>
                    <a:srgbClr val="16181D"/>
                  </a:solidFill>
                  <a:latin typeface="Noto Serif SC" pitchFamily="34" charset="0"/>
                  <a:ea typeface="Noto Serif SC" pitchFamily="34" charset="-122"/>
                  <a:cs typeface="Noto Serif SC" pitchFamily="34" charset="-120"/>
                  <a:sym typeface="+mn-ea"/>
                </a:rPr>
                <a:t>合规不是事后补丁，而是底层设计</a:t>
              </a:r>
              <a:endParaRPr lang="en-US" sz="36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6" name="Text 2"/>
            <p:cNvSpPr/>
            <p:nvPr/>
          </p:nvSpPr>
          <p:spPr>
            <a:xfrm>
              <a:off x="720" y="1915"/>
              <a:ext cx="1756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66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AI 从“工具”走向“关系”后，监管关注点正在从内容安全延伸到未成年人保护、情感依赖、人格边界与监护责任</a:t>
              </a:r>
              <a:endParaRPr lang="en-US" sz="1600" dirty="0">
                <a:solidFill>
                  <a:srgbClr val="77766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7" name="Shape 3"/>
            <p:cNvSpPr/>
            <p:nvPr/>
          </p:nvSpPr>
          <p:spPr>
            <a:xfrm>
              <a:off x="720" y="2563"/>
              <a:ext cx="17784" cy="0"/>
            </a:xfrm>
            <a:prstGeom prst="line">
              <a:avLst/>
            </a:prstGeom>
            <a:noFill/>
            <a:ln w="12700">
              <a:solidFill>
                <a:srgbClr val="55534F"/>
              </a:solidFill>
              <a:prstDash val="solid"/>
            </a:ln>
          </p:spPr>
        </p:sp>
        <p:sp>
          <p:nvSpPr>
            <p:cNvPr id="8" name="Shape 4"/>
            <p:cNvSpPr/>
            <p:nvPr/>
          </p:nvSpPr>
          <p:spPr>
            <a:xfrm>
              <a:off x="720" y="2923"/>
              <a:ext cx="17784" cy="950"/>
            </a:xfrm>
            <a:prstGeom prst="rect">
              <a:avLst/>
            </a:prstGeom>
            <a:solidFill>
              <a:srgbClr val="F4EFE6"/>
            </a:solidFill>
            <a:ln w="7620">
              <a:solidFill>
                <a:srgbClr val="E3DED4"/>
              </a:solidFill>
              <a:prstDash val="solid"/>
            </a:ln>
          </p:spPr>
        </p:sp>
        <p:sp>
          <p:nvSpPr>
            <p:cNvPr id="9" name="Text 5"/>
            <p:cNvSpPr/>
            <p:nvPr/>
          </p:nvSpPr>
          <p:spPr>
            <a:xfrm>
              <a:off x="1037" y="3082"/>
              <a:ext cx="4968" cy="25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监管背景｜AI 陪伴正在进入新的风险阶段</a:t>
              </a:r>
              <a:endParaRPr lang="en-US" b="1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0" name="Text 6"/>
            <p:cNvSpPr/>
            <p:nvPr/>
          </p:nvSpPr>
          <p:spPr>
            <a:xfrm>
              <a:off x="5904" y="3010"/>
              <a:ext cx="12168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dirty="0">
                  <a:solidFill>
                    <a:srgbClr val="5F5D57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传统 AI 的安全主要管理“内容”；当 AI 开始建立长期关系，安全还必须管理“关系”——与谁建立、建立什么关系、持续多久，以及是否产生不健康的情感依赖。</a:t>
              </a:r>
              <a:endParaRPr lang="en-US" dirty="0">
                <a:solidFill>
                  <a:srgbClr val="5F5D5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5904" y="3499"/>
              <a:ext cx="6048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56D6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Content Safety  →  Relationship Safety</a:t>
              </a:r>
              <a:endParaRPr lang="en-US" sz="1600" b="1" dirty="0">
                <a:solidFill>
                  <a:srgbClr val="456D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720" y="4176"/>
              <a:ext cx="10944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kern="0" spc="8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我们的判断 · 合规不是运营规则，而是 Relationship Engine 的系统约束</a:t>
              </a:r>
              <a:endParaRPr lang="en-US" sz="1600" b="1" kern="0" spc="8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3" name="Shape 9"/>
            <p:cNvSpPr/>
            <p:nvPr/>
          </p:nvSpPr>
          <p:spPr>
            <a:xfrm>
              <a:off x="720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4" name="Shape 10"/>
            <p:cNvSpPr/>
            <p:nvPr/>
          </p:nvSpPr>
          <p:spPr>
            <a:xfrm>
              <a:off x="720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15" name="Text 11"/>
            <p:cNvSpPr/>
            <p:nvPr/>
          </p:nvSpPr>
          <p:spPr>
            <a:xfrm>
              <a:off x="1152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01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6" name="Text 12"/>
            <p:cNvSpPr/>
            <p:nvPr/>
          </p:nvSpPr>
          <p:spPr>
            <a:xfrm>
              <a:off x="1613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年龄分层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7" name="Text 13"/>
            <p:cNvSpPr/>
            <p:nvPr/>
          </p:nvSpPr>
          <p:spPr>
            <a:xfrm>
              <a:off x="1152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成人与未成年人模式完整分离。</a:t>
              </a: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未成年人不提供虚拟亲密关系型服务</a:t>
              </a: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，仅开放陪伴、学习与兴趣向角色。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18" name="Shape 14"/>
            <p:cNvSpPr/>
            <p:nvPr/>
          </p:nvSpPr>
          <p:spPr>
            <a:xfrm>
              <a:off x="9864" y="463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19" name="Shape 15"/>
            <p:cNvSpPr/>
            <p:nvPr/>
          </p:nvSpPr>
          <p:spPr>
            <a:xfrm>
              <a:off x="9864" y="463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0" name="Text 16"/>
            <p:cNvSpPr/>
            <p:nvPr/>
          </p:nvSpPr>
          <p:spPr>
            <a:xfrm>
              <a:off x="10296" y="511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02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1" name="Text 17"/>
            <p:cNvSpPr/>
            <p:nvPr/>
          </p:nvSpPr>
          <p:spPr>
            <a:xfrm>
              <a:off x="10757" y="502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监护可控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2" name="Text 18"/>
            <p:cNvSpPr/>
            <p:nvPr/>
          </p:nvSpPr>
          <p:spPr>
            <a:xfrm>
              <a:off x="10296" y="567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内置监护同意流程、使用时长限制、消费额度控制与现实提醒机制，监护人可查可管可停。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3" name="Shape 19"/>
            <p:cNvSpPr/>
            <p:nvPr/>
          </p:nvSpPr>
          <p:spPr>
            <a:xfrm>
              <a:off x="720" y="7387"/>
              <a:ext cx="8640" cy="2333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 w="10160">
              <a:solidFill>
                <a:srgbClr val="D8D5CC"/>
              </a:solidFill>
              <a:prstDash val="solid"/>
            </a:ln>
          </p:spPr>
        </p:sp>
        <p:sp>
          <p:nvSpPr>
            <p:cNvPr id="24" name="Shape 20"/>
            <p:cNvSpPr/>
            <p:nvPr/>
          </p:nvSpPr>
          <p:spPr>
            <a:xfrm>
              <a:off x="720" y="7387"/>
              <a:ext cx="8640" cy="0"/>
            </a:xfrm>
            <a:prstGeom prst="line">
              <a:avLst/>
            </a:prstGeom>
            <a:noFill/>
            <a:ln w="19050">
              <a:solidFill>
                <a:srgbClr val="17191C"/>
              </a:solidFill>
              <a:prstDash val="solid"/>
            </a:ln>
          </p:spPr>
        </p:sp>
        <p:sp>
          <p:nvSpPr>
            <p:cNvPr id="25" name="Text 21"/>
            <p:cNvSpPr/>
            <p:nvPr/>
          </p:nvSpPr>
          <p:spPr>
            <a:xfrm>
              <a:off x="1152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8B887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03</a:t>
              </a:r>
              <a:endParaRPr lang="en-US" sz="1400" b="1" kern="0" spc="150" dirty="0">
                <a:solidFill>
                  <a:srgbClr val="8B88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6" name="Text 22"/>
            <p:cNvSpPr/>
            <p:nvPr/>
          </p:nvSpPr>
          <p:spPr>
            <a:xfrm>
              <a:off x="1613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内容与角色分级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7" name="Text 23"/>
            <p:cNvSpPr/>
            <p:nvPr/>
          </p:nvSpPr>
          <p:spPr>
            <a:xfrm>
              <a:off x="1152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角色人格、关系类型与可触达内容按等级授权，人格一致性模型保证边界不被提示词诱导突破。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28" name="Shape 24"/>
            <p:cNvSpPr/>
            <p:nvPr/>
          </p:nvSpPr>
          <p:spPr>
            <a:xfrm>
              <a:off x="9864" y="7387"/>
              <a:ext cx="8640" cy="2333"/>
            </a:xfrm>
            <a:prstGeom prst="rect">
              <a:avLst/>
            </a:prstGeom>
            <a:solidFill>
              <a:srgbClr val="FBF3E7"/>
            </a:solidFill>
            <a:ln w="10160">
              <a:solidFill>
                <a:srgbClr val="E6B37D"/>
              </a:solidFill>
              <a:prstDash val="solid"/>
            </a:ln>
          </p:spPr>
        </p:sp>
        <p:sp>
          <p:nvSpPr>
            <p:cNvPr id="29" name="Shape 25"/>
            <p:cNvSpPr/>
            <p:nvPr/>
          </p:nvSpPr>
          <p:spPr>
            <a:xfrm>
              <a:off x="9864" y="7387"/>
              <a:ext cx="8640" cy="0"/>
            </a:xfrm>
            <a:prstGeom prst="line">
              <a:avLst/>
            </a:prstGeom>
            <a:noFill/>
            <a:ln w="19050">
              <a:solidFill>
                <a:srgbClr val="C75C0B"/>
              </a:solidFill>
              <a:prstDash val="solid"/>
            </a:ln>
          </p:spPr>
        </p:sp>
        <p:sp>
          <p:nvSpPr>
            <p:cNvPr id="30" name="Text 26"/>
            <p:cNvSpPr/>
            <p:nvPr/>
          </p:nvSpPr>
          <p:spPr>
            <a:xfrm>
              <a:off x="10296" y="7862"/>
              <a:ext cx="36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1400" b="1" kern="0" spc="150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04</a:t>
              </a:r>
              <a:endParaRPr lang="en-US" sz="1400" b="1" kern="0" spc="150" dirty="0">
                <a:solidFill>
                  <a:srgbClr val="C75C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1" name="Text 27"/>
            <p:cNvSpPr/>
            <p:nvPr/>
          </p:nvSpPr>
          <p:spPr>
            <a:xfrm>
              <a:off x="10757" y="7776"/>
              <a:ext cx="6624" cy="3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7191C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风险识别与干预</a:t>
              </a:r>
              <a:endParaRPr lang="en-US" sz="2800" b="1" dirty="0">
                <a:solidFill>
                  <a:srgbClr val="17191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2" name="Text 28"/>
            <p:cNvSpPr/>
            <p:nvPr/>
          </p:nvSpPr>
          <p:spPr>
            <a:xfrm>
              <a:off x="10296" y="8424"/>
              <a:ext cx="7704" cy="79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对高风险内容、异常情感依赖与自伤暗示进行识别，执行</a:t>
              </a:r>
              <a:r>
                <a:rPr lang="en-US" b="1" dirty="0">
                  <a:solidFill>
                    <a:srgbClr val="C75C0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强制降级与干预</a:t>
              </a:r>
              <a:r>
                <a:rPr lang="en-US" dirty="0">
                  <a:solidFill>
                    <a:srgbClr val="5E5C56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，并引导至现实支持资源。</a:t>
              </a:r>
              <a:endParaRPr lang="en-US" dirty="0">
                <a:solidFill>
                  <a:srgbClr val="5E5C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3" name="Shape 29"/>
            <p:cNvSpPr/>
            <p:nvPr/>
          </p:nvSpPr>
          <p:spPr>
            <a:xfrm>
              <a:off x="720" y="9979"/>
              <a:ext cx="17784" cy="0"/>
            </a:xfrm>
            <a:prstGeom prst="line">
              <a:avLst/>
            </a:prstGeom>
            <a:noFill/>
            <a:ln w="7620">
              <a:solidFill>
                <a:srgbClr val="D7D3CA"/>
              </a:solidFill>
              <a:prstDash val="solid"/>
            </a:ln>
          </p:spPr>
        </p:sp>
        <p:sp>
          <p:nvSpPr>
            <p:cNvPr id="34" name="Text 30"/>
            <p:cNvSpPr/>
            <p:nvPr/>
          </p:nvSpPr>
          <p:spPr>
            <a:xfrm>
              <a:off x="720" y="10123"/>
              <a:ext cx="1764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7746D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我们不把合规交给运营侧事后审核，而是将年龄、角色边界、关系权限与风险干预直接写入 MindEngine，让“什么关系可以发生”从系统底层就受到约束。</a:t>
              </a:r>
              <a:endParaRPr lang="en-US" sz="1600" dirty="0">
                <a:solidFill>
                  <a:srgbClr val="7774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  <p:sp>
          <p:nvSpPr>
            <p:cNvPr id="35" name="Slide Number Placeholder 0"/>
            <p:cNvSpPr>
              <a:spLocks noGrp="1"/>
            </p:cNvSpPr>
            <p:nvPr/>
          </p:nvSpPr>
          <p:spPr>
            <a:xfrm>
              <a:off x="18000" y="10224"/>
              <a:ext cx="432" cy="288"/>
            </a:xfrm>
            <a:prstGeom prst="rect">
              <a:avLst/>
            </a:prstGeom>
          </p:spPr>
          <p:txBody>
            <a:bodyPr/>
            <a:lstStyle>
              <a:lvl1pPr>
                <a:defRPr sz="700">
                  <a:solidFill>
                    <a:srgbClr val="AAA69C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lvl1pPr>
            </a:lstStyle>
            <a:p>
              <a:pPr algn="l"/>
              <a:fld id="{F7021451-1387-4CA6-816F-3879F97B5CBC}" type="slidenum">
                <a:rPr lang="en-US" sz="1000" b="0"/>
              </a:fld>
              <a:endParaRPr lang="en-US" sz="1000" b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商业模式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5" name="Text 25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Noto Serif SC" pitchFamily="34" charset="-120"/>
              </a:rPr>
              <a:t>从关系建立到现实陪伴的价值阶梯</a:t>
            </a:r>
            <a:endParaRPr lang="zh-CN" altLang="en-US" sz="3450" dirty="0">
              <a:solidFill>
                <a:srgbClr val="16181D"/>
              </a:solidFill>
              <a:latin typeface="微软雅黑" pitchFamily="34" charset="0"/>
              <a:ea typeface="微软雅黑" pitchFamily="34" charset="0"/>
              <a:cs typeface="Noto Serif SC" pitchFamily="34" charset="-120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zh-CN" alt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免费领养</a:t>
            </a:r>
            <a:r>
              <a:rPr lang="en-US" altLang="zh-CN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、</a:t>
            </a:r>
            <a:r>
              <a:rPr lang="zh-CN" alt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付费</a:t>
            </a:r>
            <a:r>
              <a:rPr lang="en-US" sz="1725" dirty="0">
                <a:solidFill>
                  <a:srgbClr val="5C5C52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订阅、虚拟消费、内容衍生、硬件销售，构建多层收入结构</a:t>
            </a:r>
            <a:endParaRPr lang="en-US" sz="1725" dirty="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1198245" y="3619500"/>
            <a:ext cx="16067405" cy="5923280"/>
          </a:xfrm>
          <a:prstGeom prst="roundRect">
            <a:avLst/>
          </a:prstGeom>
          <a:solidFill>
            <a:srgbClr val="F7F6F1"/>
          </a:solidFill>
          <a:ln w="8890">
            <a:solidFill>
              <a:srgbClr val="E1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5" name="Oval 5"/>
          <p:cNvSpPr/>
          <p:nvPr/>
        </p:nvSpPr>
        <p:spPr>
          <a:xfrm>
            <a:off x="1553210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6" name="TextBox 6"/>
          <p:cNvSpPr txBox="1"/>
          <p:nvPr/>
        </p:nvSpPr>
        <p:spPr>
          <a:xfrm>
            <a:off x="1497330" y="3976370"/>
            <a:ext cx="5588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01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7" name="TextBox 7"/>
          <p:cNvSpPr txBox="1"/>
          <p:nvPr/>
        </p:nvSpPr>
        <p:spPr>
          <a:xfrm>
            <a:off x="2112010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认识世界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8" name="TextBox 8"/>
          <p:cNvSpPr txBox="1"/>
          <p:nvPr/>
        </p:nvSpPr>
        <p:spPr>
          <a:xfrm>
            <a:off x="2112010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建立关系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1414145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0" name="TextBox 10"/>
          <p:cNvSpPr txBox="1"/>
          <p:nvPr/>
        </p:nvSpPr>
        <p:spPr>
          <a:xfrm>
            <a:off x="1414145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WORLD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3" name="TextBox 13"/>
          <p:cNvSpPr txBox="1"/>
          <p:nvPr/>
        </p:nvSpPr>
        <p:spPr>
          <a:xfrm>
            <a:off x="1503045" y="6514465"/>
            <a:ext cx="260477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探索虚拟世界，认识不同 AI Pet
互动、共同经历，形成基础记忆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4" name="Rounded Rectangle 14"/>
          <p:cNvSpPr/>
          <p:nvPr/>
        </p:nvSpPr>
        <p:spPr>
          <a:xfrm>
            <a:off x="1642745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5" name="TextBox 15"/>
          <p:cNvSpPr txBox="1"/>
          <p:nvPr/>
        </p:nvSpPr>
        <p:spPr>
          <a:xfrm>
            <a:off x="1680210" y="7684770"/>
            <a:ext cx="22491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FREE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6" name="TextBox 16"/>
          <p:cNvSpPr txBox="1"/>
          <p:nvPr/>
        </p:nvSpPr>
        <p:spPr>
          <a:xfrm>
            <a:off x="1477645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目标：最大化关系形成率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77" name="Connector 17"/>
          <p:cNvCxnSpPr/>
          <p:nvPr/>
        </p:nvCxnSpPr>
        <p:spPr>
          <a:xfrm>
            <a:off x="1452245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18"/>
          <p:cNvSpPr txBox="1"/>
          <p:nvPr/>
        </p:nvSpPr>
        <p:spPr>
          <a:xfrm>
            <a:off x="1452245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D1/D7/D30 留存｜互动深度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79" name="Connector 19"/>
          <p:cNvCxnSpPr/>
          <p:nvPr/>
        </p:nvCxnSpPr>
        <p:spPr>
          <a:xfrm>
            <a:off x="4411980" y="3655060"/>
            <a:ext cx="0" cy="5850890"/>
          </a:xfrm>
          <a:prstGeom prst="line">
            <a:avLst/>
          </a:prstGeom>
          <a:ln w="889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20"/>
          <p:cNvSpPr/>
          <p:nvPr/>
        </p:nvSpPr>
        <p:spPr>
          <a:xfrm>
            <a:off x="4766945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1" name="TextBox 21"/>
          <p:cNvSpPr txBox="1"/>
          <p:nvPr/>
        </p:nvSpPr>
        <p:spPr>
          <a:xfrm>
            <a:off x="4691380" y="3976370"/>
            <a:ext cx="5207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02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2" name="TextBox 22"/>
          <p:cNvSpPr txBox="1"/>
          <p:nvPr/>
        </p:nvSpPr>
        <p:spPr>
          <a:xfrm>
            <a:off x="5325745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领养专属 Pet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3" name="TextBox 23"/>
          <p:cNvSpPr txBox="1"/>
          <p:nvPr/>
        </p:nvSpPr>
        <p:spPr>
          <a:xfrm>
            <a:off x="5325745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关系承诺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4" name="Rounded Rectangle 24"/>
          <p:cNvSpPr/>
          <p:nvPr/>
        </p:nvSpPr>
        <p:spPr>
          <a:xfrm>
            <a:off x="4627880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5" name="TextBox 25"/>
          <p:cNvSpPr txBox="1"/>
          <p:nvPr/>
        </p:nvSpPr>
        <p:spPr>
          <a:xfrm>
            <a:off x="4627880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PET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88" name="TextBox 28"/>
          <p:cNvSpPr txBox="1"/>
          <p:nvPr/>
        </p:nvSpPr>
        <p:spPr>
          <a:xfrm>
            <a:off x="4716780" y="6733540"/>
            <a:ext cx="260477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选择并领养你的专属 Pet
它开始记得你，形成专属羁绊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89" name="Rounded Rectangle 29"/>
          <p:cNvSpPr/>
          <p:nvPr/>
        </p:nvSpPr>
        <p:spPr>
          <a:xfrm>
            <a:off x="4855845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0" name="TextBox 30"/>
          <p:cNvSpPr txBox="1"/>
          <p:nvPr/>
        </p:nvSpPr>
        <p:spPr>
          <a:xfrm>
            <a:off x="4893945" y="7684770"/>
            <a:ext cx="22491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FREE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91" name="TextBox 31"/>
          <p:cNvSpPr txBox="1"/>
          <p:nvPr/>
        </p:nvSpPr>
        <p:spPr>
          <a:xfrm>
            <a:off x="4691380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目标：提升领养与留存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cxnSp>
        <p:nvCxnSpPr>
          <p:cNvPr id="92" name="Connector 32"/>
          <p:cNvCxnSpPr/>
          <p:nvPr/>
        </p:nvCxnSpPr>
        <p:spPr>
          <a:xfrm>
            <a:off x="4665345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3"/>
          <p:cNvSpPr txBox="1"/>
          <p:nvPr/>
        </p:nvSpPr>
        <p:spPr>
          <a:xfrm>
            <a:off x="4665345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领养率｜领养后留存提升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94" name="Connector 34"/>
          <p:cNvCxnSpPr/>
          <p:nvPr/>
        </p:nvCxnSpPr>
        <p:spPr>
          <a:xfrm>
            <a:off x="7625080" y="3655060"/>
            <a:ext cx="0" cy="5850890"/>
          </a:xfrm>
          <a:prstGeom prst="line">
            <a:avLst/>
          </a:prstGeom>
          <a:ln w="889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35"/>
          <p:cNvSpPr/>
          <p:nvPr/>
        </p:nvSpPr>
        <p:spPr>
          <a:xfrm>
            <a:off x="7981315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6" name="TextBox 36"/>
          <p:cNvSpPr txBox="1"/>
          <p:nvPr/>
        </p:nvSpPr>
        <p:spPr>
          <a:xfrm>
            <a:off x="7929880" y="3976370"/>
            <a:ext cx="49593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03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7" name="TextBox 37"/>
          <p:cNvSpPr txBox="1"/>
          <p:nvPr/>
        </p:nvSpPr>
        <p:spPr>
          <a:xfrm>
            <a:off x="8539480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深化陪伴关系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8" name="TextBox 38"/>
          <p:cNvSpPr txBox="1"/>
          <p:nvPr/>
        </p:nvSpPr>
        <p:spPr>
          <a:xfrm>
            <a:off x="8539480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更深的共同生活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99" name="Rounded Rectangle 39"/>
          <p:cNvSpPr/>
          <p:nvPr/>
        </p:nvSpPr>
        <p:spPr>
          <a:xfrm>
            <a:off x="7840980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0" name="TextBox 40"/>
          <p:cNvSpPr txBox="1"/>
          <p:nvPr/>
        </p:nvSpPr>
        <p:spPr>
          <a:xfrm>
            <a:off x="7840980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NIGHT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3" name="TextBox 43"/>
          <p:cNvSpPr txBox="1"/>
          <p:nvPr/>
        </p:nvSpPr>
        <p:spPr>
          <a:xfrm>
            <a:off x="7929880" y="6626225"/>
            <a:ext cx="2604770" cy="737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更完整记忆｜Daily Theater
Voice 语音｜更丰富互动
专属空间｜高级 AI 能力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4" name="Rounded Rectangle 44"/>
          <p:cNvSpPr/>
          <p:nvPr/>
        </p:nvSpPr>
        <p:spPr>
          <a:xfrm>
            <a:off x="8069580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05" name="TextBox 45"/>
          <p:cNvSpPr txBox="1"/>
          <p:nvPr/>
        </p:nvSpPr>
        <p:spPr>
          <a:xfrm>
            <a:off x="8145780" y="7579995"/>
            <a:ext cx="2249170" cy="521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SUBSCRIPTION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06" name="TextBox 46"/>
          <p:cNvSpPr txBox="1"/>
          <p:nvPr/>
        </p:nvSpPr>
        <p:spPr>
          <a:xfrm>
            <a:off x="7904480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目标：提升转化与 ARPPU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07" name="Connector 47"/>
          <p:cNvCxnSpPr/>
          <p:nvPr/>
        </p:nvCxnSpPr>
        <p:spPr>
          <a:xfrm>
            <a:off x="7879080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48"/>
          <p:cNvSpPr txBox="1"/>
          <p:nvPr/>
        </p:nvSpPr>
        <p:spPr>
          <a:xfrm>
            <a:off x="7879080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付费转化率｜ARPPU｜留存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09" name="Connector 49"/>
          <p:cNvCxnSpPr/>
          <p:nvPr/>
        </p:nvCxnSpPr>
        <p:spPr>
          <a:xfrm>
            <a:off x="10838815" y="3655060"/>
            <a:ext cx="0" cy="5850890"/>
          </a:xfrm>
          <a:prstGeom prst="line">
            <a:avLst/>
          </a:prstGeom>
          <a:ln w="889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50"/>
          <p:cNvSpPr/>
          <p:nvPr/>
        </p:nvSpPr>
        <p:spPr>
          <a:xfrm>
            <a:off x="11195050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1" name="TextBox 51"/>
          <p:cNvSpPr txBox="1"/>
          <p:nvPr/>
        </p:nvSpPr>
        <p:spPr>
          <a:xfrm>
            <a:off x="11143615" y="3976370"/>
            <a:ext cx="49593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04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2" name="TextBox 52"/>
          <p:cNvSpPr txBox="1"/>
          <p:nvPr/>
        </p:nvSpPr>
        <p:spPr>
          <a:xfrm>
            <a:off x="11752580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表达与经营关系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3" name="TextBox 53"/>
          <p:cNvSpPr txBox="1"/>
          <p:nvPr/>
        </p:nvSpPr>
        <p:spPr>
          <a:xfrm>
            <a:off x="11752580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共同生活的仪式感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4" name="Rounded Rectangle 54"/>
          <p:cNvSpPr/>
          <p:nvPr/>
        </p:nvSpPr>
        <p:spPr>
          <a:xfrm>
            <a:off x="11054715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5" name="TextBox 55"/>
          <p:cNvSpPr txBox="1"/>
          <p:nvPr/>
        </p:nvSpPr>
        <p:spPr>
          <a:xfrm>
            <a:off x="11054715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HOME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17" name="TextBox 57"/>
          <p:cNvSpPr txBox="1"/>
          <p:nvPr/>
        </p:nvSpPr>
        <p:spPr>
          <a:xfrm>
            <a:off x="11143615" y="6624955"/>
            <a:ext cx="2604770" cy="7372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家园装扮｜服装饰品｜礼物
旅行打卡｜特殊活动｜更多 Pet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18" name="Rounded Rectangle 58"/>
          <p:cNvSpPr/>
          <p:nvPr/>
        </p:nvSpPr>
        <p:spPr>
          <a:xfrm>
            <a:off x="11282680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119" name="TextBox 59"/>
          <p:cNvSpPr txBox="1"/>
          <p:nvPr/>
        </p:nvSpPr>
        <p:spPr>
          <a:xfrm>
            <a:off x="11321415" y="7579995"/>
            <a:ext cx="2249170" cy="5219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VIRTUAL GOODS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20" name="TextBox 60"/>
          <p:cNvSpPr txBox="1"/>
          <p:nvPr/>
        </p:nvSpPr>
        <p:spPr>
          <a:xfrm>
            <a:off x="11118215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目标：提升 ARPPU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21" name="Connector 61"/>
          <p:cNvCxnSpPr/>
          <p:nvPr/>
        </p:nvCxnSpPr>
        <p:spPr>
          <a:xfrm>
            <a:off x="11092815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62"/>
          <p:cNvSpPr txBox="1"/>
          <p:nvPr/>
        </p:nvSpPr>
        <p:spPr>
          <a:xfrm>
            <a:off x="11092815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ARPPU｜虚拟消费渗透率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23" name="Connector 63"/>
          <p:cNvCxnSpPr/>
          <p:nvPr/>
        </p:nvCxnSpPr>
        <p:spPr>
          <a:xfrm>
            <a:off x="14053185" y="3655060"/>
            <a:ext cx="0" cy="5850890"/>
          </a:xfrm>
          <a:prstGeom prst="line">
            <a:avLst/>
          </a:prstGeom>
          <a:ln w="889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64"/>
          <p:cNvSpPr/>
          <p:nvPr/>
        </p:nvSpPr>
        <p:spPr>
          <a:xfrm>
            <a:off x="14408150" y="3838575"/>
            <a:ext cx="444500" cy="64198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5" name="TextBox 65"/>
          <p:cNvSpPr txBox="1"/>
          <p:nvPr/>
        </p:nvSpPr>
        <p:spPr>
          <a:xfrm>
            <a:off x="14331315" y="3976370"/>
            <a:ext cx="52070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05</a:t>
            </a:r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6" name="TextBox 66"/>
          <p:cNvSpPr txBox="1"/>
          <p:nvPr/>
        </p:nvSpPr>
        <p:spPr>
          <a:xfrm>
            <a:off x="14966315" y="3872865"/>
            <a:ext cx="2134870" cy="3987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进入现实世界</a:t>
            </a:r>
            <a:endParaRPr sz="20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7" name="TextBox 67"/>
          <p:cNvSpPr txBox="1"/>
          <p:nvPr/>
        </p:nvSpPr>
        <p:spPr>
          <a:xfrm>
            <a:off x="14966315" y="4365625"/>
            <a:ext cx="21348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现实陪伴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8" name="Rounded Rectangle 68"/>
          <p:cNvSpPr/>
          <p:nvPr/>
        </p:nvSpPr>
        <p:spPr>
          <a:xfrm>
            <a:off x="14267815" y="4903470"/>
            <a:ext cx="2781300" cy="1504315"/>
          </a:xfrm>
          <a:prstGeom prst="roundRect">
            <a:avLst/>
          </a:prstGeom>
          <a:solidFill>
            <a:srgbClr val="FBF9F4"/>
          </a:solidFill>
          <a:ln w="8890">
            <a:solidFill>
              <a:srgbClr val="EBE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9" name="TextBox 69"/>
          <p:cNvSpPr txBox="1"/>
          <p:nvPr/>
        </p:nvSpPr>
        <p:spPr>
          <a:xfrm>
            <a:off x="14267815" y="5020310"/>
            <a:ext cx="278130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BODY</a:t>
            </a:r>
            <a:endParaRPr sz="28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1" name="TextBox 71"/>
          <p:cNvSpPr txBox="1"/>
          <p:nvPr/>
        </p:nvSpPr>
        <p:spPr>
          <a:xfrm>
            <a:off x="14357350" y="6733540"/>
            <a:ext cx="2604770" cy="521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同一个 Mind，进入不同 Body
让你的 Pet 来到你身边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2" name="Rounded Rectangle 72"/>
          <p:cNvSpPr/>
          <p:nvPr/>
        </p:nvSpPr>
        <p:spPr>
          <a:xfrm>
            <a:off x="14497050" y="7579995"/>
            <a:ext cx="2325370" cy="5130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33" name="TextBox 73"/>
          <p:cNvSpPr txBox="1"/>
          <p:nvPr/>
        </p:nvSpPr>
        <p:spPr>
          <a:xfrm>
            <a:off x="14535150" y="7684770"/>
            <a:ext cx="22491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商业模式： HARDWARE</a:t>
            </a:r>
            <a:endParaRPr sz="14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134" name="TextBox 74"/>
          <p:cNvSpPr txBox="1"/>
          <p:nvPr/>
        </p:nvSpPr>
        <p:spPr>
          <a:xfrm>
            <a:off x="14331315" y="8305165"/>
            <a:ext cx="2654935" cy="2749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目标：提升 LTV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cxnSp>
        <p:nvCxnSpPr>
          <p:cNvPr id="135" name="Connector 75"/>
          <p:cNvCxnSpPr/>
          <p:nvPr/>
        </p:nvCxnSpPr>
        <p:spPr>
          <a:xfrm>
            <a:off x="14307185" y="8735060"/>
            <a:ext cx="2705735" cy="0"/>
          </a:xfrm>
          <a:prstGeom prst="line">
            <a:avLst/>
          </a:prstGeom>
          <a:ln w="7620">
            <a:solidFill>
              <a:srgbClr val="E1D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76"/>
          <p:cNvSpPr txBox="1"/>
          <p:nvPr/>
        </p:nvSpPr>
        <p:spPr>
          <a:xfrm>
            <a:off x="14307185" y="8922385"/>
            <a:ext cx="2705735" cy="4597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核心指标
购买转化率｜使用频次｜LTV</a:t>
            </a:r>
            <a:endParaRPr sz="1200">
              <a:solidFill>
                <a:schemeClr val="tx1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grpSp>
        <p:nvGrpSpPr>
          <p:cNvPr id="160" name="组合 159"/>
          <p:cNvGrpSpPr/>
          <p:nvPr/>
        </p:nvGrpSpPr>
        <p:grpSpPr>
          <a:xfrm>
            <a:off x="1343660" y="2824480"/>
            <a:ext cx="15516860" cy="521970"/>
            <a:chOff x="259" y="6149"/>
            <a:chExt cx="18230" cy="691"/>
          </a:xfrm>
        </p:grpSpPr>
        <p:sp>
          <p:nvSpPr>
            <p:cNvPr id="2" name="Rounded Rectangle 77"/>
            <p:cNvSpPr/>
            <p:nvPr/>
          </p:nvSpPr>
          <p:spPr>
            <a:xfrm>
              <a:off x="259" y="6149"/>
              <a:ext cx="18230" cy="691"/>
            </a:xfrm>
            <a:prstGeom prst="roundRect">
              <a:avLst/>
            </a:prstGeom>
            <a:solidFill>
              <a:srgbClr val="F7F6F1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5" name="TextBox 78"/>
            <p:cNvSpPr txBox="1"/>
            <p:nvPr/>
          </p:nvSpPr>
          <p:spPr>
            <a:xfrm>
              <a:off x="835" y="6200"/>
              <a:ext cx="8136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♡  核心逻辑：</a:t>
              </a:r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  <a:sym typeface="+mn-ea"/>
                </a:rPr>
                <a:t>先让关系发生，再让关系创造价值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6" name="Rounded Rectangle 79"/>
            <p:cNvSpPr/>
            <p:nvPr/>
          </p:nvSpPr>
          <p:spPr>
            <a:xfrm>
              <a:off x="9432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7" name="TextBox 80"/>
            <p:cNvSpPr txBox="1"/>
            <p:nvPr/>
          </p:nvSpPr>
          <p:spPr>
            <a:xfrm>
              <a:off x="9533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◉</a:t>
              </a:r>
              <a:endParaRPr sz="2000"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" name="TextBox 81"/>
            <p:cNvSpPr txBox="1"/>
            <p:nvPr/>
          </p:nvSpPr>
          <p:spPr>
            <a:xfrm>
              <a:off x="9878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认识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" name="TextBox 82"/>
            <p:cNvSpPr txBox="1"/>
            <p:nvPr/>
          </p:nvSpPr>
          <p:spPr>
            <a:xfrm>
              <a:off x="10930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" name="Rounded Rectangle 83"/>
            <p:cNvSpPr/>
            <p:nvPr/>
          </p:nvSpPr>
          <p:spPr>
            <a:xfrm>
              <a:off x="11304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1" name="TextBox 84"/>
            <p:cNvSpPr txBox="1"/>
            <p:nvPr/>
          </p:nvSpPr>
          <p:spPr>
            <a:xfrm>
              <a:off x="11405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DF371C"/>
                  </a:solidFill>
                  <a:latin typeface="微软雅黑" pitchFamily="34" charset="0"/>
                  <a:ea typeface="微软雅黑" pitchFamily="34" charset="0"/>
                </a:rPr>
                <a:t>♥</a:t>
              </a:r>
              <a:endParaRPr sz="2000">
                <a:solidFill>
                  <a:srgbClr val="DF371C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2" name="TextBox 85"/>
            <p:cNvSpPr txBox="1"/>
            <p:nvPr/>
          </p:nvSpPr>
          <p:spPr>
            <a:xfrm>
              <a:off x="11750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陪伴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3" name="TextBox 86"/>
            <p:cNvSpPr txBox="1"/>
            <p:nvPr/>
          </p:nvSpPr>
          <p:spPr>
            <a:xfrm>
              <a:off x="12802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4" name="Rounded Rectangle 87"/>
            <p:cNvSpPr/>
            <p:nvPr/>
          </p:nvSpPr>
          <p:spPr>
            <a:xfrm>
              <a:off x="13176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5" name="TextBox 88"/>
            <p:cNvSpPr txBox="1"/>
            <p:nvPr/>
          </p:nvSpPr>
          <p:spPr>
            <a:xfrm>
              <a:off x="13277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D64C0C"/>
                  </a:solidFill>
                  <a:latin typeface="微软雅黑" pitchFamily="34" charset="0"/>
                  <a:ea typeface="微软雅黑" pitchFamily="34" charset="0"/>
                </a:rPr>
                <a:t>⌂</a:t>
              </a:r>
              <a:endParaRPr sz="2000">
                <a:solidFill>
                  <a:srgbClr val="D64C0C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6" name="TextBox 89"/>
            <p:cNvSpPr txBox="1"/>
            <p:nvPr/>
          </p:nvSpPr>
          <p:spPr>
            <a:xfrm>
              <a:off x="13622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共同生活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7" name="TextBox 90"/>
            <p:cNvSpPr txBox="1"/>
            <p:nvPr/>
          </p:nvSpPr>
          <p:spPr>
            <a:xfrm>
              <a:off x="14674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8" name="Rounded Rectangle 91"/>
            <p:cNvSpPr/>
            <p:nvPr/>
          </p:nvSpPr>
          <p:spPr>
            <a:xfrm>
              <a:off x="15048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9" name="TextBox 92"/>
            <p:cNvSpPr txBox="1"/>
            <p:nvPr/>
          </p:nvSpPr>
          <p:spPr>
            <a:xfrm>
              <a:off x="15149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654D9D"/>
                  </a:solidFill>
                  <a:latin typeface="微软雅黑" pitchFamily="34" charset="0"/>
                  <a:ea typeface="微软雅黑" pitchFamily="34" charset="0"/>
                </a:rPr>
                <a:t>▣</a:t>
              </a:r>
              <a:endParaRPr sz="2000">
                <a:solidFill>
                  <a:srgbClr val="654D9D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0" name="TextBox 93"/>
            <p:cNvSpPr txBox="1"/>
            <p:nvPr/>
          </p:nvSpPr>
          <p:spPr>
            <a:xfrm>
              <a:off x="15494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现实陪伴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1" name="TextBox 94"/>
            <p:cNvSpPr txBox="1"/>
            <p:nvPr/>
          </p:nvSpPr>
          <p:spPr>
            <a:xfrm>
              <a:off x="16546" y="6208"/>
              <a:ext cx="317" cy="4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>
                  <a:solidFill>
                    <a:srgbClr val="B08548"/>
                  </a:solidFill>
                  <a:latin typeface="微软雅黑" pitchFamily="34" charset="0"/>
                  <a:ea typeface="微软雅黑" pitchFamily="34" charset="0"/>
                </a:rPr>
                <a:t>→</a:t>
              </a:r>
              <a:endParaRPr>
                <a:solidFill>
                  <a:srgbClr val="B08548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2" name="Rounded Rectangle 95"/>
            <p:cNvSpPr/>
            <p:nvPr/>
          </p:nvSpPr>
          <p:spPr>
            <a:xfrm>
              <a:off x="16920" y="6221"/>
              <a:ext cx="1483" cy="46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1D6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3" name="TextBox 96"/>
            <p:cNvSpPr txBox="1"/>
            <p:nvPr/>
          </p:nvSpPr>
          <p:spPr>
            <a:xfrm>
              <a:off x="17021" y="6189"/>
              <a:ext cx="331" cy="5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DF371C"/>
                  </a:solidFill>
                  <a:latin typeface="微软雅黑" pitchFamily="34" charset="0"/>
                  <a:ea typeface="微软雅黑" pitchFamily="34" charset="0"/>
                </a:rPr>
                <a:t>∞</a:t>
              </a:r>
              <a:endParaRPr sz="2000">
                <a:solidFill>
                  <a:srgbClr val="DF371C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24" name="TextBox 97"/>
            <p:cNvSpPr txBox="1"/>
            <p:nvPr/>
          </p:nvSpPr>
          <p:spPr>
            <a:xfrm>
              <a:off x="17366" y="6270"/>
              <a:ext cx="936" cy="3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>
                  <a:solidFill>
                    <a:srgbClr val="1C1B19"/>
                  </a:solidFill>
                  <a:latin typeface="微软雅黑" pitchFamily="34" charset="0"/>
                  <a:ea typeface="微软雅黑" pitchFamily="34" charset="0"/>
                </a:rPr>
                <a:t>长期共生</a:t>
              </a:r>
              <a:endParaRPr sz="1200">
                <a:solidFill>
                  <a:srgbClr val="1C1B19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45" y="4903470"/>
            <a:ext cx="2655570" cy="14116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270" y="4903470"/>
            <a:ext cx="1998980" cy="15036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4903470"/>
            <a:ext cx="2654935" cy="148653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5050" y="4959350"/>
            <a:ext cx="2501265" cy="135572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0995" y="4959350"/>
            <a:ext cx="2638425" cy="1356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42"/>
          <p:cNvSpPr/>
          <p:nvPr/>
        </p:nvSpPr>
        <p:spPr>
          <a:xfrm>
            <a:off x="4704715" y="3216275"/>
            <a:ext cx="8026400" cy="6907530"/>
          </a:xfrm>
          <a:prstGeom prst="roundRect">
            <a:avLst>
              <a:gd name="adj" fmla="val 1695"/>
            </a:avLst>
          </a:prstGeom>
          <a:solidFill>
            <a:srgbClr val="FFF9F3"/>
          </a:solidFill>
          <a:ln w="11430">
            <a:solidFill>
              <a:srgbClr val="F1D5C2"/>
            </a:solidFill>
            <a:prstDash val="solid"/>
          </a:ln>
        </p:spPr>
      </p:sp>
      <p:sp>
        <p:nvSpPr>
          <p:cNvPr id="47" name="Rounded Rectangle 58"/>
          <p:cNvSpPr/>
          <p:nvPr/>
        </p:nvSpPr>
        <p:spPr>
          <a:xfrm>
            <a:off x="4970145" y="8409305"/>
            <a:ext cx="7308215" cy="1558925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3" name="Rounded Rectangle 58"/>
          <p:cNvSpPr/>
          <p:nvPr/>
        </p:nvSpPr>
        <p:spPr>
          <a:xfrm>
            <a:off x="13502005" y="8255635"/>
            <a:ext cx="4088765" cy="1868805"/>
          </a:xfrm>
          <a:prstGeom prst="roundRect">
            <a:avLst/>
          </a:prstGeom>
          <a:solidFill>
            <a:srgbClr val="FBF9F5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pic>
        <p:nvPicPr>
          <p:cNvPr id="4" name="Image 1" descr="gen-dedup-3c5612af2d3262ab637f63a645b3e5a9.png"/>
          <p:cNvPicPr>
            <a:picLocks noChangeAspect="1"/>
          </p:cNvPicPr>
          <p:nvPr/>
        </p:nvPicPr>
        <p:blipFill>
          <a:blip r:embed="rId1">
            <a:alphaModFix amt="85000"/>
          </a:blip>
          <a:srcRect t="-399" b="-399"/>
          <a:stretch>
            <a:fillRect/>
          </a:stretch>
        </p:blipFill>
        <p:spPr>
          <a:xfrm>
            <a:off x="1238098" y="2553005"/>
            <a:ext cx="15811805" cy="19202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1238098" y="838505"/>
            <a:ext cx="8572500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kern="0" spc="338" dirty="0">
                <a:solidFill>
                  <a:srgbClr val="6B6B60"/>
                </a:solidFill>
                <a:latin typeface="微软雅黑" pitchFamily="34" charset="0"/>
                <a:ea typeface="微软雅黑" pitchFamily="34" charset="0"/>
                <a:cs typeface="Noto Sans SC" pitchFamily="34" charset="-120"/>
              </a:rPr>
              <a:t>融资计划</a:t>
            </a:r>
            <a:endParaRPr lang="en-US" sz="1125" kern="0" spc="338" dirty="0">
              <a:solidFill>
                <a:srgbClr val="6B6B60"/>
              </a:solidFill>
              <a:latin typeface="微软雅黑" pitchFamily="34" charset="0"/>
              <a:ea typeface="微软雅黑" pitchFamily="34" charset="0"/>
              <a:cs typeface="Noto Sans SC" pitchFamily="34" charset="-120"/>
            </a:endParaRPr>
          </a:p>
        </p:txBody>
      </p:sp>
      <p:sp>
        <p:nvSpPr>
          <p:cNvPr id="30" name="Text 16"/>
          <p:cNvSpPr txBox="1"/>
          <p:nvPr/>
        </p:nvSpPr>
        <p:spPr>
          <a:xfrm>
            <a:off x="1238098" y="1181405"/>
            <a:ext cx="15621610" cy="62910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本轮融资计划：</a:t>
            </a:r>
            <a:r>
              <a:rPr 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用1000万</a:t>
            </a:r>
            <a:r>
              <a:rPr lang="zh-CN" alt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跑通第一阶段虚拟宠物产品</a:t>
            </a:r>
            <a:r>
              <a:rPr lang="zh-CN" altLang="en-US" sz="3450" dirty="0">
                <a:solidFill>
                  <a:srgbClr val="16181D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闭环</a:t>
            </a:r>
            <a:endParaRPr lang="zh-CN" altLang="en-US" sz="3450" dirty="0">
              <a:solidFill>
                <a:srgbClr val="16181D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31" name="Text 17"/>
          <p:cNvSpPr txBox="1"/>
          <p:nvPr/>
        </p:nvSpPr>
        <p:spPr>
          <a:xfrm>
            <a:off x="1238098" y="1962302"/>
            <a:ext cx="15621610" cy="36210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/>
            <a:r>
              <a:rPr lang="zh-CN" altLang="en-US" sz="1725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sym typeface="+mn-ea"/>
              </a:rPr>
              <a:t>聚焦关系智能与产品验证，打造高留存 </a:t>
            </a:r>
            <a:r>
              <a:rPr lang="en-US" altLang="zh-CN" sz="1725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sym typeface="+mn-ea"/>
              </a:rPr>
              <a:t>AI-Native </a:t>
            </a:r>
            <a:r>
              <a:rPr lang="zh-CN" altLang="en-US" sz="1725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sym typeface="+mn-ea"/>
              </a:rPr>
              <a:t>陪伴</a:t>
            </a:r>
            <a:endParaRPr lang="zh-CN" altLang="en-US" sz="1725">
              <a:solidFill>
                <a:srgbClr val="69665E"/>
              </a:solidFill>
              <a:latin typeface="微软雅黑" pitchFamily="34" charset="0"/>
              <a:ea typeface="微软雅黑" pitchFamily="34" charset="0"/>
              <a:sym typeface="+mn-ea"/>
            </a:endParaRPr>
          </a:p>
        </p:txBody>
      </p:sp>
      <p:sp>
        <p:nvSpPr>
          <p:cNvPr id="50" name="Rounded Rectangle 5"/>
          <p:cNvSpPr/>
          <p:nvPr/>
        </p:nvSpPr>
        <p:spPr>
          <a:xfrm>
            <a:off x="1010920" y="3122295"/>
            <a:ext cx="2835275" cy="5329555"/>
          </a:xfrm>
          <a:prstGeom prst="roundRect">
            <a:avLst/>
          </a:prstGeom>
          <a:solidFill>
            <a:srgbClr val="F9F6F0"/>
          </a:solidFill>
          <a:ln w="8890">
            <a:solidFill>
              <a:srgbClr val="E0D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1" name="TextBox 6"/>
          <p:cNvSpPr txBox="1"/>
          <p:nvPr/>
        </p:nvSpPr>
        <p:spPr>
          <a:xfrm>
            <a:off x="1344295" y="3336925"/>
            <a:ext cx="101282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TODAY</a:t>
            </a:r>
            <a:endParaRPr sz="12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2" name="TextBox 7"/>
          <p:cNvSpPr txBox="1"/>
          <p:nvPr/>
        </p:nvSpPr>
        <p:spPr>
          <a:xfrm>
            <a:off x="1344295" y="3618230"/>
            <a:ext cx="1965325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我们已走到哪里</a:t>
            </a:r>
            <a:endParaRPr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4" name="TextBox 9"/>
          <p:cNvSpPr txBox="1"/>
          <p:nvPr/>
        </p:nvSpPr>
        <p:spPr>
          <a:xfrm>
            <a:off x="1344295" y="4133850"/>
            <a:ext cx="196532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已完成 Prototype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55" name="TextBox 10"/>
          <p:cNvSpPr txBox="1"/>
          <p:nvPr/>
        </p:nvSpPr>
        <p:spPr>
          <a:xfrm>
            <a:off x="1118870" y="4993640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6" name="TextBox 11"/>
          <p:cNvSpPr txBox="1"/>
          <p:nvPr/>
        </p:nvSpPr>
        <p:spPr>
          <a:xfrm>
            <a:off x="1332865" y="4993005"/>
            <a:ext cx="249555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虚拟世界已经跑通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7" name="TextBox 12"/>
          <p:cNvSpPr txBox="1"/>
          <p:nvPr/>
        </p:nvSpPr>
        <p:spPr>
          <a:xfrm>
            <a:off x="1118870" y="5438775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58" name="TextBox 13"/>
          <p:cNvSpPr txBox="1"/>
          <p:nvPr/>
        </p:nvSpPr>
        <p:spPr>
          <a:xfrm>
            <a:off x="1332865" y="5437505"/>
            <a:ext cx="249555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Agent 可持续行动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59" name="TextBox 14"/>
          <p:cNvSpPr txBox="1"/>
          <p:nvPr/>
        </p:nvSpPr>
        <p:spPr>
          <a:xfrm>
            <a:off x="1118870" y="5882005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0" name="TextBox 15"/>
          <p:cNvSpPr txBox="1"/>
          <p:nvPr/>
        </p:nvSpPr>
        <p:spPr>
          <a:xfrm>
            <a:off x="1332865" y="5914390"/>
            <a:ext cx="249555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</a:t>
            </a:r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Engine 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基础链路完成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1" name="TextBox 16"/>
          <p:cNvSpPr txBox="1"/>
          <p:nvPr/>
        </p:nvSpPr>
        <p:spPr>
          <a:xfrm>
            <a:off x="1118870" y="6410325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2" name="TextBox 17"/>
          <p:cNvSpPr txBox="1"/>
          <p:nvPr/>
        </p:nvSpPr>
        <p:spPr>
          <a:xfrm>
            <a:off x="1332865" y="6425565"/>
            <a:ext cx="249555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</a:t>
            </a:r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Engine 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基础链路完成</a:t>
            </a:r>
            <a:endParaRPr lang="zh-CN"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63" name="TextBox 18"/>
          <p:cNvSpPr txBox="1"/>
          <p:nvPr/>
        </p:nvSpPr>
        <p:spPr>
          <a:xfrm>
            <a:off x="1118870" y="6938010"/>
            <a:ext cx="240665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▪</a:t>
            </a:r>
            <a:endParaRPr sz="16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4" name="TextBox 19"/>
          <p:cNvSpPr txBox="1"/>
          <p:nvPr/>
        </p:nvSpPr>
        <p:spPr>
          <a:xfrm>
            <a:off x="1332865" y="6937375"/>
            <a:ext cx="2495550" cy="3371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桌面版数字宠物已发布</a:t>
            </a:r>
            <a:endParaRPr sz="1600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5" name="Rounded Rectangle 20"/>
          <p:cNvSpPr/>
          <p:nvPr/>
        </p:nvSpPr>
        <p:spPr>
          <a:xfrm>
            <a:off x="1332865" y="7747000"/>
            <a:ext cx="2215515" cy="522605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4B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6" name="Oval 21"/>
          <p:cNvSpPr/>
          <p:nvPr/>
        </p:nvSpPr>
        <p:spPr>
          <a:xfrm>
            <a:off x="1522730" y="7865110"/>
            <a:ext cx="262255" cy="287655"/>
          </a:xfrm>
          <a:prstGeom prst="ellipse">
            <a:avLst/>
          </a:prstGeom>
          <a:solidFill>
            <a:srgbClr val="CF4B0A"/>
          </a:solidFill>
          <a:ln>
            <a:solidFill>
              <a:srgbClr val="C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7" name="TextBox 22"/>
          <p:cNvSpPr txBox="1"/>
          <p:nvPr/>
        </p:nvSpPr>
        <p:spPr>
          <a:xfrm>
            <a:off x="1522730" y="7870190"/>
            <a:ext cx="262255" cy="275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rPr>
              <a:t>✓</a:t>
            </a:r>
            <a:endParaRPr sz="1200">
              <a:solidFill>
                <a:srgbClr val="FFFFFF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8" name="TextBox 23"/>
          <p:cNvSpPr txBox="1"/>
          <p:nvPr/>
        </p:nvSpPr>
        <p:spPr>
          <a:xfrm>
            <a:off x="1844675" y="7847013"/>
            <a:ext cx="1703070" cy="30670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技术可行性已验证</a:t>
            </a:r>
            <a:endParaRPr sz="1400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9" name="TextBox 24"/>
          <p:cNvSpPr txBox="1"/>
          <p:nvPr/>
        </p:nvSpPr>
        <p:spPr>
          <a:xfrm>
            <a:off x="3905885" y="4729480"/>
            <a:ext cx="4165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➜</a:t>
            </a:r>
            <a:endParaRPr sz="32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1" name="TextBox 26"/>
          <p:cNvSpPr txBox="1"/>
          <p:nvPr/>
        </p:nvSpPr>
        <p:spPr>
          <a:xfrm>
            <a:off x="4907915" y="3526155"/>
            <a:ext cx="3369945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融资目标</a:t>
            </a:r>
            <a:r>
              <a:rPr lang="en-US" altLang="zh-CN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</a:t>
            </a:r>
            <a:r>
              <a:rPr 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1000</a:t>
            </a:r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万</a:t>
            </a:r>
            <a:endParaRPr lang="zh-CN" altLang="en-US" sz="2400">
              <a:solidFill>
                <a:srgbClr val="CF4B0A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2" name="TextBox 27"/>
          <p:cNvSpPr txBox="1"/>
          <p:nvPr/>
        </p:nvSpPr>
        <p:spPr>
          <a:xfrm>
            <a:off x="9537700" y="3525838"/>
            <a:ext cx="2000885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预计 </a:t>
            </a:r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8</a:t>
            </a:r>
            <a:r>
              <a:rPr lang="zh-CN" altLang="en-US" sz="2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个月</a:t>
            </a:r>
            <a:endParaRPr lang="zh-CN" altLang="en-US" sz="2400">
              <a:solidFill>
                <a:srgbClr val="CF4B0A"/>
              </a:solidFill>
              <a:latin typeface="微软雅黑" pitchFamily="34" charset="0"/>
              <a:ea typeface="微软雅黑" pitchFamily="34" charset="0"/>
              <a:cs typeface="微软雅黑" pitchFamily="34" charset="0"/>
              <a:sym typeface="+mn-ea"/>
            </a:endParaRPr>
          </a:p>
        </p:txBody>
      </p:sp>
      <p:sp>
        <p:nvSpPr>
          <p:cNvPr id="78" name="TextBox 33"/>
          <p:cNvSpPr txBox="1"/>
          <p:nvPr/>
        </p:nvSpPr>
        <p:spPr>
          <a:xfrm>
            <a:off x="5648325" y="2753995"/>
            <a:ext cx="573405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第一阶段</a:t>
            </a:r>
            <a:r>
              <a:rPr lang="en-US" alt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：</a:t>
            </a:r>
            <a:r>
              <a:rPr lang="zh-CN" altLang="en-US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虚拟宠物，跑通关系智能与软件商业闭环</a:t>
            </a:r>
            <a:endParaRPr lang="zh-CN" altLang="en-US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3515975" y="3216275"/>
            <a:ext cx="3324225" cy="4813935"/>
            <a:chOff x="21871" y="5987"/>
            <a:chExt cx="3227" cy="7323"/>
          </a:xfrm>
        </p:grpSpPr>
        <p:sp>
          <p:nvSpPr>
            <p:cNvPr id="104" name="Rounded Rectangle 58"/>
            <p:cNvSpPr/>
            <p:nvPr/>
          </p:nvSpPr>
          <p:spPr>
            <a:xfrm>
              <a:off x="21871" y="5987"/>
              <a:ext cx="3227" cy="7323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0D8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5" name="Oval 59"/>
            <p:cNvSpPr/>
            <p:nvPr/>
          </p:nvSpPr>
          <p:spPr>
            <a:xfrm>
              <a:off x="23258" y="6234"/>
              <a:ext cx="525" cy="576"/>
            </a:xfrm>
            <a:prstGeom prst="ellipse">
              <a:avLst/>
            </a:prstGeom>
            <a:solidFill>
              <a:srgbClr val="CF4B0A"/>
            </a:solidFill>
            <a:ln>
              <a:solidFill>
                <a:srgbClr val="CF4B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6" name="TextBox 60"/>
            <p:cNvSpPr txBox="1"/>
            <p:nvPr/>
          </p:nvSpPr>
          <p:spPr>
            <a:xfrm>
              <a:off x="23226" y="6286"/>
              <a:ext cx="601" cy="4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FFFFFF"/>
                  </a:solidFill>
                  <a:latin typeface="微软雅黑" pitchFamily="34" charset="0"/>
                  <a:ea typeface="微软雅黑" pitchFamily="34" charset="0"/>
                </a:rPr>
                <a:t>03</a:t>
              </a:r>
              <a:endParaRPr sz="14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7" name="TextBox 61"/>
            <p:cNvSpPr txBox="1"/>
            <p:nvPr/>
          </p:nvSpPr>
          <p:spPr>
            <a:xfrm>
              <a:off x="23034" y="6848"/>
              <a:ext cx="976" cy="107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40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◇</a:t>
              </a:r>
              <a:endParaRPr sz="40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8" name="TextBox 62"/>
            <p:cNvSpPr txBox="1"/>
            <p:nvPr/>
          </p:nvSpPr>
          <p:spPr>
            <a:xfrm>
              <a:off x="22096" y="7675"/>
              <a:ext cx="2777" cy="6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Hardware</a:t>
              </a:r>
              <a:endParaRPr sz="20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9" name="TextBox 63"/>
            <p:cNvSpPr txBox="1"/>
            <p:nvPr/>
          </p:nvSpPr>
          <p:spPr>
            <a:xfrm>
              <a:off x="22058" y="8322"/>
              <a:ext cx="2852" cy="5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AI Identity 进入现实世界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cxnSp>
          <p:nvCxnSpPr>
            <p:cNvPr id="110" name="Connector 64"/>
            <p:cNvCxnSpPr/>
            <p:nvPr/>
          </p:nvCxnSpPr>
          <p:spPr>
            <a:xfrm>
              <a:off x="22247" y="9031"/>
              <a:ext cx="2476" cy="0"/>
            </a:xfrm>
            <a:prstGeom prst="line">
              <a:avLst/>
            </a:prstGeom>
            <a:ln w="7620">
              <a:solidFill>
                <a:srgbClr val="E0D8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65"/>
            <p:cNvSpPr txBox="1"/>
            <p:nvPr/>
          </p:nvSpPr>
          <p:spPr>
            <a:xfrm>
              <a:off x="22153" y="9203"/>
              <a:ext cx="2665" cy="8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从纯软件到
硬件商业闭环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12" name="TextBox 66"/>
            <p:cNvSpPr txBox="1"/>
            <p:nvPr/>
          </p:nvSpPr>
          <p:spPr>
            <a:xfrm>
              <a:off x="22058" y="10010"/>
              <a:ext cx="2928" cy="1876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• 首款电子吧唧量产 + 销售
• 同一 AI Identity 跨设备延续
• 验证用户愿意为</a:t>
              </a:r>
              <a:r>
                <a:rPr lang="zh-CN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硬件</a:t>
              </a:r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付费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13" name="Rounded Rectangle 67"/>
            <p:cNvSpPr/>
            <p:nvPr/>
          </p:nvSpPr>
          <p:spPr>
            <a:xfrm>
              <a:off x="22114" y="12281"/>
              <a:ext cx="2739" cy="803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8CA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14" name="TextBox 68"/>
            <p:cNvSpPr txBox="1"/>
            <p:nvPr/>
          </p:nvSpPr>
          <p:spPr>
            <a:xfrm>
              <a:off x="22170" y="12241"/>
              <a:ext cx="2626" cy="4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Hardware Validation</a:t>
              </a:r>
              <a:endParaRPr sz="1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15" name="TextBox 69"/>
            <p:cNvSpPr txBox="1"/>
            <p:nvPr/>
          </p:nvSpPr>
          <p:spPr>
            <a:xfrm>
              <a:off x="22170" y="12616"/>
              <a:ext cx="2626" cy="46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验证虚实融合的商业闭环</a:t>
              </a:r>
              <a:endParaRPr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9144635" y="4133850"/>
            <a:ext cx="3413125" cy="3956685"/>
            <a:chOff x="14536" y="6496"/>
            <a:chExt cx="4699" cy="6231"/>
          </a:xfrm>
        </p:grpSpPr>
        <p:sp>
          <p:nvSpPr>
            <p:cNvPr id="91" name="Rounded Rectangle 46"/>
            <p:cNvSpPr/>
            <p:nvPr/>
          </p:nvSpPr>
          <p:spPr>
            <a:xfrm>
              <a:off x="14536" y="6496"/>
              <a:ext cx="4646" cy="6231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0D8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2" name="Oval 47"/>
            <p:cNvSpPr/>
            <p:nvPr/>
          </p:nvSpPr>
          <p:spPr>
            <a:xfrm>
              <a:off x="16537" y="6612"/>
              <a:ext cx="756" cy="576"/>
            </a:xfrm>
            <a:prstGeom prst="ellipse">
              <a:avLst/>
            </a:prstGeom>
            <a:solidFill>
              <a:srgbClr val="CF4B0A"/>
            </a:solidFill>
            <a:ln>
              <a:solidFill>
                <a:srgbClr val="CF4B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3" name="TextBox 48"/>
            <p:cNvSpPr txBox="1"/>
            <p:nvPr/>
          </p:nvSpPr>
          <p:spPr>
            <a:xfrm>
              <a:off x="16459" y="6656"/>
              <a:ext cx="865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FFFFFF"/>
                  </a:solidFill>
                  <a:latin typeface="微软雅黑" pitchFamily="34" charset="0"/>
                  <a:ea typeface="微软雅黑" pitchFamily="34" charset="0"/>
                </a:rPr>
                <a:t>02</a:t>
              </a:r>
              <a:endParaRPr sz="14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4" name="TextBox 49"/>
            <p:cNvSpPr txBox="1"/>
            <p:nvPr/>
          </p:nvSpPr>
          <p:spPr>
            <a:xfrm>
              <a:off x="16212" y="7208"/>
              <a:ext cx="1405" cy="11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40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♥</a:t>
              </a:r>
              <a:endParaRPr sz="40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5" name="TextBox 50"/>
            <p:cNvSpPr txBox="1"/>
            <p:nvPr/>
          </p:nvSpPr>
          <p:spPr>
            <a:xfrm>
              <a:off x="14861" y="8043"/>
              <a:ext cx="3998" cy="6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Relationship</a:t>
              </a:r>
              <a:endParaRPr sz="20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6" name="TextBox 51"/>
            <p:cNvSpPr txBox="1"/>
            <p:nvPr/>
          </p:nvSpPr>
          <p:spPr>
            <a:xfrm>
              <a:off x="14807" y="8689"/>
              <a:ext cx="4106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关系深度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97" name="Connector 52"/>
            <p:cNvCxnSpPr/>
            <p:nvPr/>
          </p:nvCxnSpPr>
          <p:spPr>
            <a:xfrm>
              <a:off x="15077" y="9409"/>
              <a:ext cx="3565" cy="0"/>
            </a:xfrm>
            <a:prstGeom prst="line">
              <a:avLst/>
            </a:prstGeom>
            <a:ln w="7620">
              <a:solidFill>
                <a:srgbClr val="E0D8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54"/>
            <p:cNvSpPr txBox="1"/>
            <p:nvPr/>
          </p:nvSpPr>
          <p:spPr>
            <a:xfrm>
              <a:off x="14699" y="9018"/>
              <a:ext cx="4536" cy="2943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• 关系越深，留存 / 频次 /付费意愿越高
• 验证 Relationship Depth
  是商业增长引擎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101" name="Rounded Rectangle 55"/>
            <p:cNvSpPr/>
            <p:nvPr/>
          </p:nvSpPr>
          <p:spPr>
            <a:xfrm>
              <a:off x="14889" y="11669"/>
              <a:ext cx="3943" cy="803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8CA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2" name="TextBox 56"/>
            <p:cNvSpPr txBox="1"/>
            <p:nvPr/>
          </p:nvSpPr>
          <p:spPr>
            <a:xfrm>
              <a:off x="14969" y="11621"/>
              <a:ext cx="3781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Relationship Validation</a:t>
              </a:r>
              <a:endParaRPr sz="1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103" name="TextBox 57"/>
            <p:cNvSpPr txBox="1"/>
            <p:nvPr/>
          </p:nvSpPr>
          <p:spPr>
            <a:xfrm>
              <a:off x="14969" y="11997"/>
              <a:ext cx="3781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关系驱动留存与商业化</a:t>
              </a:r>
              <a:endParaRPr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117465" y="4152900"/>
            <a:ext cx="3577043" cy="3919855"/>
            <a:chOff x="9304" y="6554"/>
            <a:chExt cx="4945" cy="6173"/>
          </a:xfrm>
        </p:grpSpPr>
        <p:sp>
          <p:nvSpPr>
            <p:cNvPr id="79" name="Rounded Rectangle 34"/>
            <p:cNvSpPr/>
            <p:nvPr/>
          </p:nvSpPr>
          <p:spPr>
            <a:xfrm>
              <a:off x="9304" y="6554"/>
              <a:ext cx="4944" cy="6173"/>
            </a:xfrm>
            <a:prstGeom prst="roundRect">
              <a:avLst/>
            </a:prstGeom>
            <a:solidFill>
              <a:srgbClr val="FBF9F5"/>
            </a:solidFill>
            <a:ln w="8890">
              <a:solidFill>
                <a:srgbClr val="E0D8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0" name="Oval 35"/>
            <p:cNvSpPr/>
            <p:nvPr/>
          </p:nvSpPr>
          <p:spPr>
            <a:xfrm>
              <a:off x="11432" y="6612"/>
              <a:ext cx="804" cy="576"/>
            </a:xfrm>
            <a:prstGeom prst="ellipse">
              <a:avLst/>
            </a:prstGeom>
            <a:solidFill>
              <a:srgbClr val="CF4B0A"/>
            </a:solidFill>
            <a:ln>
              <a:solidFill>
                <a:srgbClr val="CF4B0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1" name="TextBox 36"/>
            <p:cNvSpPr txBox="1"/>
            <p:nvPr/>
          </p:nvSpPr>
          <p:spPr>
            <a:xfrm>
              <a:off x="11303" y="6656"/>
              <a:ext cx="1065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FFFFFF"/>
                  </a:solidFill>
                  <a:latin typeface="微软雅黑" pitchFamily="34" charset="0"/>
                  <a:ea typeface="微软雅黑" pitchFamily="34" charset="0"/>
                </a:rPr>
                <a:t>01</a:t>
              </a:r>
              <a:endParaRPr sz="1400">
                <a:solidFill>
                  <a:srgbClr val="FFFFFF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2" name="TextBox 37"/>
            <p:cNvSpPr txBox="1"/>
            <p:nvPr/>
          </p:nvSpPr>
          <p:spPr>
            <a:xfrm>
              <a:off x="11086" y="7208"/>
              <a:ext cx="1495" cy="111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40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♟</a:t>
              </a:r>
              <a:endParaRPr sz="40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3" name="TextBox 38"/>
            <p:cNvSpPr txBox="1"/>
            <p:nvPr/>
          </p:nvSpPr>
          <p:spPr>
            <a:xfrm>
              <a:off x="9650" y="8043"/>
              <a:ext cx="4255" cy="62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0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Product</a:t>
              </a:r>
              <a:endParaRPr sz="20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4" name="TextBox 39"/>
            <p:cNvSpPr txBox="1"/>
            <p:nvPr/>
          </p:nvSpPr>
          <p:spPr>
            <a:xfrm>
              <a:off x="9592" y="8689"/>
              <a:ext cx="4370" cy="53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可规模化产品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cxnSp>
          <p:nvCxnSpPr>
            <p:cNvPr id="85" name="Connector 40"/>
            <p:cNvCxnSpPr/>
            <p:nvPr/>
          </p:nvCxnSpPr>
          <p:spPr>
            <a:xfrm>
              <a:off x="9879" y="9409"/>
              <a:ext cx="3794" cy="0"/>
            </a:xfrm>
            <a:prstGeom prst="line">
              <a:avLst/>
            </a:prstGeom>
            <a:ln w="7620">
              <a:solidFill>
                <a:srgbClr val="E0D8C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42"/>
            <p:cNvSpPr txBox="1"/>
            <p:nvPr/>
          </p:nvSpPr>
          <p:spPr>
            <a:xfrm>
              <a:off x="9479" y="8945"/>
              <a:ext cx="4770" cy="3015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• </a:t>
              </a:r>
              <a:r>
                <a:rPr lang="zh-CN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数字宠物</a:t>
              </a:r>
              <a:r>
                <a:rPr lang="en-US" altLang="zh-CN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+IP</a:t>
              </a:r>
              <a:r>
                <a:rPr lang="zh-CN" altLang="en-US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内容</a:t>
              </a:r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  </a:t>
              </a:r>
              <a:endPara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  <a:p>
              <a:pPr algn="l"/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 </a:t>
              </a:r>
              <a:r>
                <a:rPr lang="en-US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   </a:t>
              </a:r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形成可运营消费产品
• 核心指标验证：
  </a:t>
              </a:r>
              <a:r>
                <a:rPr lang="en-US"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  </a:t>
              </a:r>
              <a:r>
                <a:rPr sz="16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  <a:cs typeface="微软雅黑" pitchFamily="34" charset="0"/>
                </a:rPr>
                <a:t>用户规模 / DAU/MAU</a:t>
              </a:r>
              <a:endParaRPr lang="zh-CN" altLang="en-US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endParaRPr>
            </a:p>
          </p:txBody>
        </p:sp>
        <p:sp>
          <p:nvSpPr>
            <p:cNvPr id="88" name="Rounded Rectangle 43"/>
            <p:cNvSpPr/>
            <p:nvPr/>
          </p:nvSpPr>
          <p:spPr>
            <a:xfrm>
              <a:off x="9678" y="11669"/>
              <a:ext cx="4197" cy="803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8CA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89" name="TextBox 44"/>
            <p:cNvSpPr txBox="1"/>
            <p:nvPr/>
          </p:nvSpPr>
          <p:spPr>
            <a:xfrm>
              <a:off x="9765" y="11621"/>
              <a:ext cx="4023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CF4B0A"/>
                  </a:solidFill>
                  <a:latin typeface="微软雅黑" pitchFamily="34" charset="0"/>
                  <a:ea typeface="微软雅黑" pitchFamily="34" charset="0"/>
                </a:rPr>
                <a:t>Product Validation</a:t>
              </a:r>
              <a:endParaRPr sz="14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90" name="TextBox 45"/>
            <p:cNvSpPr txBox="1"/>
            <p:nvPr/>
          </p:nvSpPr>
          <p:spPr>
            <a:xfrm>
              <a:off x="9765" y="11997"/>
              <a:ext cx="4023" cy="48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用户愿意长期回来</a:t>
              </a:r>
              <a:endParaRPr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sp>
        <p:nvSpPr>
          <p:cNvPr id="116" name="TextBox 70"/>
          <p:cNvSpPr txBox="1"/>
          <p:nvPr/>
        </p:nvSpPr>
        <p:spPr>
          <a:xfrm>
            <a:off x="8723630" y="5763260"/>
            <a:ext cx="365760" cy="4603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>
                <a:solidFill>
                  <a:srgbClr val="E1D8C9"/>
                </a:solidFill>
                <a:latin typeface="微软雅黑" pitchFamily="34" charset="0"/>
                <a:ea typeface="微软雅黑" pitchFamily="34" charset="0"/>
              </a:rPr>
              <a:t>➜</a:t>
            </a:r>
            <a:endParaRPr sz="2400">
              <a:solidFill>
                <a:srgbClr val="E1D8C9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6" name="TextBox 31"/>
          <p:cNvSpPr txBox="1"/>
          <p:nvPr/>
        </p:nvSpPr>
        <p:spPr>
          <a:xfrm>
            <a:off x="13085445" y="5198110"/>
            <a:ext cx="416560" cy="5835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➜</a:t>
            </a:r>
            <a:endParaRPr sz="3200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22" name="TextBox 98"/>
          <p:cNvSpPr txBox="1"/>
          <p:nvPr/>
        </p:nvSpPr>
        <p:spPr>
          <a:xfrm>
            <a:off x="13790295" y="8437880"/>
            <a:ext cx="3801110" cy="14166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zh-CN" b="1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本轮融资</a:t>
            </a:r>
            <a:r>
              <a:rPr b="1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资金</a:t>
            </a:r>
            <a:r>
              <a:rPr lang="zh-CN" b="1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用途</a:t>
            </a:r>
            <a:r>
              <a:rPr b="1">
                <a:solidFill>
                  <a:srgbClr val="FF0000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：</a:t>
            </a:r>
            <a:endParaRPr b="1">
              <a:solidFill>
                <a:srgbClr val="FF0000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zh-CN" alt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数字宠物产品化</a:t>
            </a:r>
            <a:r>
              <a:rPr 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- 30%</a:t>
            </a:r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 </a:t>
            </a:r>
            <a:endParaRPr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MindEngine</a:t>
            </a:r>
            <a:r>
              <a:rPr lang="zh-CN" alt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研发</a:t>
            </a:r>
            <a:r>
              <a:rPr lang="en-US" altLang="zh-CN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- 25%</a:t>
            </a:r>
            <a:endParaRPr lang="zh-CN" altLang="en-US"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 lang="en-US" altLang="zh-CN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Content Engine</a:t>
            </a:r>
            <a:r>
              <a:rPr lang="zh-CN" alt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研发</a:t>
            </a:r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</a:t>
            </a:r>
            <a:r>
              <a:rPr 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- 25%</a:t>
            </a:r>
            <a:endParaRPr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marL="285750" indent="-285750" algn="l">
              <a:buFont typeface="Arial" panose="020B0604020202090204" pitchFamily="34" charset="0"/>
              <a:buChar char="•"/>
            </a:pPr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团队建设与运营增长</a:t>
            </a:r>
            <a:r>
              <a:rPr lang="en-US"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- 20%</a:t>
            </a:r>
            <a:r>
              <a:rPr>
                <a:solidFill>
                  <a:srgbClr val="69665E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 </a:t>
            </a:r>
            <a:endParaRPr>
              <a:solidFill>
                <a:srgbClr val="69665E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3" name="TextBox 33"/>
          <p:cNvSpPr txBox="1"/>
          <p:nvPr/>
        </p:nvSpPr>
        <p:spPr>
          <a:xfrm>
            <a:off x="13143230" y="2770505"/>
            <a:ext cx="3920490" cy="368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第二阶段</a:t>
            </a:r>
            <a:r>
              <a:rPr lang="en-US" alt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：</a:t>
            </a:r>
            <a:r>
              <a:rPr lang="zh-CN" altLang="en-US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硬件扩张</a:t>
            </a:r>
            <a:r>
              <a:rPr lang="en-US" altLang="zh-CN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，</a:t>
            </a:r>
            <a:r>
              <a:rPr lang="zh-CN" altLang="en-US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rPr>
              <a:t>实现物理陪伴</a:t>
            </a:r>
            <a:endParaRPr lang="zh-CN" altLang="en-US">
              <a:solidFill>
                <a:srgbClr val="18191B"/>
              </a:solidFill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0001885" y="8551545"/>
            <a:ext cx="1393825" cy="582930"/>
            <a:chOff x="8258" y="13751"/>
            <a:chExt cx="2442" cy="1104"/>
          </a:xfrm>
        </p:grpSpPr>
        <p:sp>
          <p:nvSpPr>
            <p:cNvPr id="38" name="Rounded Rectangle 20"/>
            <p:cNvSpPr/>
            <p:nvPr/>
          </p:nvSpPr>
          <p:spPr>
            <a:xfrm>
              <a:off x="8258" y="13751"/>
              <a:ext cx="2442" cy="1104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4B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1" name="TextBox 23"/>
            <p:cNvSpPr txBox="1"/>
            <p:nvPr/>
          </p:nvSpPr>
          <p:spPr>
            <a:xfrm>
              <a:off x="8714" y="14039"/>
              <a:ext cx="1606" cy="531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lang="zh-CN"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广告收入</a:t>
              </a:r>
              <a:endParaRPr lang="zh-CN"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sp>
        <p:nvSpPr>
          <p:cNvPr id="42" name="Rounded Rectangle 20"/>
          <p:cNvSpPr/>
          <p:nvPr/>
        </p:nvSpPr>
        <p:spPr>
          <a:xfrm>
            <a:off x="8024495" y="8551545"/>
            <a:ext cx="1800225" cy="1266825"/>
          </a:xfrm>
          <a:prstGeom prst="roundRect">
            <a:avLst/>
          </a:prstGeom>
          <a:solidFill>
            <a:srgbClr val="F6EFE5"/>
          </a:solidFill>
          <a:ln w="8890">
            <a:solidFill>
              <a:srgbClr val="E4B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43" name="TextBox 23"/>
          <p:cNvSpPr txBox="1"/>
          <p:nvPr/>
        </p:nvSpPr>
        <p:spPr>
          <a:xfrm>
            <a:off x="8265160" y="8729980"/>
            <a:ext cx="1412875" cy="24574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en-US" altLang="zh-CN">
                <a:solidFill>
                  <a:srgbClr val="FF0000"/>
                </a:solidFill>
                <a:latin typeface="微软雅黑" pitchFamily="34" charset="0"/>
                <a:ea typeface="微软雅黑" pitchFamily="34" charset="0"/>
              </a:rPr>
              <a:t>IP</a:t>
            </a:r>
            <a:r>
              <a:rPr lang="zh-CN" altLang="en-US">
                <a:solidFill>
                  <a:srgbClr val="FF0000"/>
                </a:solidFill>
                <a:latin typeface="微软雅黑" pitchFamily="34" charset="0"/>
                <a:ea typeface="微软雅黑" pitchFamily="34" charset="0"/>
              </a:rPr>
              <a:t>内容消费</a:t>
            </a:r>
            <a:endParaRPr lang="zh-CN" altLang="en-US">
              <a:solidFill>
                <a:srgbClr val="FF0000"/>
              </a:solidFill>
              <a:latin typeface="微软雅黑" pitchFamily="34" charset="0"/>
              <a:ea typeface="微软雅黑" pitchFamily="34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0023475" y="9257665"/>
            <a:ext cx="1412875" cy="518160"/>
            <a:chOff x="16318" y="13751"/>
            <a:chExt cx="2496" cy="990"/>
          </a:xfrm>
        </p:grpSpPr>
        <p:sp>
          <p:nvSpPr>
            <p:cNvPr id="44" name="Rounded Rectangle 20"/>
            <p:cNvSpPr/>
            <p:nvPr/>
          </p:nvSpPr>
          <p:spPr>
            <a:xfrm>
              <a:off x="16318" y="13751"/>
              <a:ext cx="2496" cy="990"/>
            </a:xfrm>
            <a:prstGeom prst="roundRect">
              <a:avLst/>
            </a:prstGeom>
            <a:solidFill>
              <a:srgbClr val="F6EFE5"/>
            </a:solidFill>
            <a:ln w="8890">
              <a:solidFill>
                <a:srgbClr val="E4BE9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微软雅黑" pitchFamily="34" charset="0"/>
                <a:ea typeface="微软雅黑" pitchFamily="34" charset="0"/>
              </a:endParaRPr>
            </a:p>
          </p:txBody>
        </p:sp>
        <p:sp>
          <p:nvSpPr>
            <p:cNvPr id="45" name="TextBox 23"/>
            <p:cNvSpPr txBox="1"/>
            <p:nvPr/>
          </p:nvSpPr>
          <p:spPr>
            <a:xfrm>
              <a:off x="16878" y="13922"/>
              <a:ext cx="1606" cy="531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l"/>
              <a:r>
                <a:rPr lang="zh-CN"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数字</a:t>
              </a:r>
              <a:r>
                <a:rPr lang="zh-CN" sz="1400">
                  <a:solidFill>
                    <a:srgbClr val="18191B"/>
                  </a:solidFill>
                  <a:latin typeface="微软雅黑" pitchFamily="34" charset="0"/>
                  <a:ea typeface="微软雅黑" pitchFamily="34" charset="0"/>
                </a:rPr>
                <a:t>增值</a:t>
              </a:r>
              <a:endParaRPr lang="zh-CN" sz="14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</a:endParaRPr>
            </a:p>
          </p:txBody>
        </p:sp>
      </p:grpSp>
      <p:sp>
        <p:nvSpPr>
          <p:cNvPr id="46" name="TextBox 66"/>
          <p:cNvSpPr txBox="1"/>
          <p:nvPr/>
        </p:nvSpPr>
        <p:spPr>
          <a:xfrm>
            <a:off x="8274050" y="8983980"/>
            <a:ext cx="1404620" cy="83375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zh-CN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日记</a:t>
            </a:r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  <a:sym typeface="+mn-ea"/>
              </a:rPr>
              <a:t>• </a:t>
            </a:r>
            <a:r>
              <a:rPr lang="zh-CN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视频</a:t>
            </a:r>
            <a:endParaRPr lang="zh-CN"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  <a:p>
            <a:pPr algn="l"/>
            <a:r>
              <a:rPr lang="zh-CN" altLang="en-US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漫画</a:t>
            </a:r>
            <a:r>
              <a:rPr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• </a:t>
            </a:r>
            <a:r>
              <a:rPr lang="zh-CN" sz="1600">
                <a:solidFill>
                  <a:srgbClr val="18191B"/>
                </a:solidFill>
                <a:latin typeface="微软雅黑" pitchFamily="34" charset="0"/>
                <a:ea typeface="微软雅黑" pitchFamily="34" charset="0"/>
                <a:cs typeface="微软雅黑" pitchFamily="34" charset="0"/>
              </a:rPr>
              <a:t>动态</a:t>
            </a:r>
            <a:endParaRPr lang="zh-CN" sz="1600">
              <a:solidFill>
                <a:srgbClr val="18191B"/>
              </a:solidFill>
              <a:latin typeface="微软雅黑" pitchFamily="34" charset="0"/>
              <a:ea typeface="微软雅黑" pitchFamily="34" charset="0"/>
              <a:cs typeface="微软雅黑" pitchFamily="34" charset="0"/>
            </a:endParaRPr>
          </a:p>
        </p:txBody>
      </p:sp>
      <p:sp>
        <p:nvSpPr>
          <p:cNvPr id="74" name="TextBox 56"/>
          <p:cNvSpPr txBox="1"/>
          <p:nvPr/>
        </p:nvSpPr>
        <p:spPr>
          <a:xfrm>
            <a:off x="5131435" y="8606155"/>
            <a:ext cx="2216150" cy="10191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zh-CN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核心商业化验证</a:t>
            </a:r>
            <a:r>
              <a:rPr lang="en-US" altLang="zh-CN">
                <a:solidFill>
                  <a:srgbClr val="CF4B0A"/>
                </a:solidFill>
                <a:latin typeface="微软雅黑" pitchFamily="34" charset="0"/>
                <a:ea typeface="微软雅黑" pitchFamily="34" charset="0"/>
              </a:rPr>
              <a:t>：</a:t>
            </a:r>
            <a:endParaRPr lang="en-US" altLang="zh-CN">
              <a:solidFill>
                <a:srgbClr val="CF4B0A"/>
              </a:solidFill>
              <a:latin typeface="微软雅黑" pitchFamily="34" charset="0"/>
              <a:ea typeface="微软雅黑" pitchFamily="34" charset="0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itchFamily="34" charset="0"/>
                <a:ea typeface="微软雅黑" pitchFamily="34" charset="0"/>
              </a:rPr>
              <a:t>用户愿意为“属于我和它的故事”付费</a:t>
            </a:r>
            <a:endParaRPr lang="zh-CN" altLang="en-US" sz="1400"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77" name="Chevron 25"/>
          <p:cNvSpPr/>
          <p:nvPr/>
        </p:nvSpPr>
        <p:spPr>
          <a:xfrm rot="5400000">
            <a:off x="6687820" y="7989570"/>
            <a:ext cx="233680" cy="46736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00" name="Chevron 25"/>
          <p:cNvSpPr/>
          <p:nvPr/>
        </p:nvSpPr>
        <p:spPr>
          <a:xfrm rot="5400000">
            <a:off x="10658475" y="8028940"/>
            <a:ext cx="233680" cy="467360"/>
          </a:xfrm>
          <a:prstGeom prst="chevron">
            <a:avLst/>
          </a:prstGeom>
          <a:solidFill>
            <a:srgbClr val="F9D5B1"/>
          </a:solidFill>
          <a:ln>
            <a:solidFill>
              <a:srgbClr val="F9D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itchFamily="34" charset="0"/>
              <a:ea typeface="微软雅黑" pitchFamily="34" charset="0"/>
            </a:endParaRPr>
          </a:p>
        </p:txBody>
      </p:sp>
      <p:sp>
        <p:nvSpPr>
          <p:cNvPr id="122" name="右箭头 121"/>
          <p:cNvSpPr/>
          <p:nvPr/>
        </p:nvSpPr>
        <p:spPr>
          <a:xfrm>
            <a:off x="12731115" y="8975725"/>
            <a:ext cx="628650" cy="466090"/>
          </a:xfrm>
          <a:prstGeom prst="rightArrow">
            <a:avLst/>
          </a:prstGeom>
          <a:solidFill>
            <a:schemeClr val="accent2"/>
          </a:solidFill>
          <a:ln w="12700" cap="flat" cmpd="sng">
            <a:solidFill>
              <a:schemeClr val="accent1">
                <a:shade val="50000"/>
              </a:schemeClr>
            </a:solidFill>
            <a:prstDash val="sysDot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6663</Words>
  <Application>WPS 文字</Application>
  <PresentationFormat>On-screen Show (16:9)</PresentationFormat>
  <Paragraphs>1008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48" baseType="lpstr">
      <vt:lpstr>Arial</vt:lpstr>
      <vt:lpstr>宋体</vt:lpstr>
      <vt:lpstr>Wingdings</vt:lpstr>
      <vt:lpstr>Noto Sans SC</vt:lpstr>
      <vt:lpstr>苹方-简</vt:lpstr>
      <vt:lpstr>Noto Sans SC</vt:lpstr>
      <vt:lpstr>Noto Sans SC</vt:lpstr>
      <vt:lpstr>Noto Serif SC</vt:lpstr>
      <vt:lpstr>Noto Serif SC</vt:lpstr>
      <vt:lpstr>Noto Serif SC</vt:lpstr>
      <vt:lpstr>Noto Sans CJK SC</vt:lpstr>
      <vt:lpstr>Noto Sans SC</vt:lpstr>
      <vt:lpstr>Noto Sans CJK SC</vt:lpstr>
      <vt:lpstr>Noto Sans CJK SC</vt:lpstr>
      <vt:lpstr>Noto Sans CJK SC</vt:lpstr>
      <vt:lpstr>Wingdings</vt:lpstr>
      <vt:lpstr>Arial</vt:lpstr>
      <vt:lpstr>Noto Serif SC</vt:lpstr>
      <vt:lpstr>Aptos</vt:lpstr>
      <vt:lpstr>Helvetica Neue</vt:lpstr>
      <vt:lpstr>微软雅黑</vt:lpstr>
      <vt:lpstr>汉仪旗黑</vt:lpstr>
      <vt:lpstr>微软雅黑</vt:lpstr>
      <vt:lpstr>微软雅黑</vt:lpstr>
      <vt:lpstr>微软雅黑</vt:lpstr>
      <vt:lpstr>Calibri</vt:lpstr>
      <vt:lpstr>Thonburi</vt:lpstr>
      <vt:lpstr>等线</vt:lpstr>
      <vt:lpstr>汉仪中等线KW</vt:lpstr>
      <vt:lpstr>宋体</vt:lpstr>
      <vt:lpstr>汉仪书宋二KW</vt:lpstr>
      <vt:lpstr>Arial Unicode MS</vt:lpstr>
      <vt:lpstr>Aptos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微信用户</cp:lastModifiedBy>
  <cp:revision>239</cp:revision>
  <dcterms:created xsi:type="dcterms:W3CDTF">2026-08-29T17:24:40Z</dcterms:created>
  <dcterms:modified xsi:type="dcterms:W3CDTF">2026-08-29T17:24:40Z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EA6611061B4BC8D93313936AF1488CAF_43</vt:lpwstr>
  </property>
</Properties>
</file>