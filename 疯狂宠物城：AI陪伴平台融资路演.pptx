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,欢迎来到疯狂宠物城的项目路演。今天,我们想探讨一个问题:在AI技术日新月异的今天,我们真正需要的AI陪伴是什么?我们认为,它不应该仅仅是一个会聊天的工具,而应该是一个能与我们共同生活、共同成长的伙伴。疯狂宠物城,就是为了实现这一愿景而生。我们致力于打造一个让AI角色真正生活在世界里的陪伴平台,通过虚拟世界、关系智能和现实硬件入口的结合,重新定义下一代AI陪伴产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目前的AI陪伴市场,看似热闹非凡,头部产品月访问量巨大。但繁华背后,是内核的贫瘠。用户平均与一个AI角色的互动时长只有短短5到7天,三日留存率甚至低于20%。这说明什么?说明用户需要的不是一个只会说"你好"的聊天机器人,而是一个能记住他们、理解他们、并能接着昨天的话题继续聊下去的伙伴。现有产品普遍存在记忆断裂、情感浅层和关系单向三大问题,它们只是"高级工具",而不是真正的"关系型陪伴"。这正是我们看到的巨大市场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那么,我们的解决方案是什么?我们在做的,不是又一个聊天机器人,而是真正"活在世界里"的AI角色。首先,它们是持续存在的。即使你关闭了App,你的AI伙伴依然在它的世界里生活、成长。其次,它们是持续行动的。它们的行为由自己的"心智"驱动,会自主探索、社交,甚至会有自己的小情绪和小目标。最重要的是,它们拥有持续记忆。它们会记住你们的每一次互动,每一个重要的日子,这些记忆会成为你们关系的基石。我们的目标,就是让用户与AI角色建立起一种可延续、可深化的真实陪伴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切的核心,是我们从根本上改变了AI与用户的交互模式。传统的AI停留在"对话闭环",你说一句,它答一句,说完就忘。而我们创造了"行动闭环"。在这个闭环里,用户的互动会触发AI角色在虚拟世界中的真实行动,这些行动会产生结果,并被永久记录下来,成为影响未来互动的记忆。这就构建了一个真实、连续且充满惊喜的关系基础。你的AI伙伴不再是一个被动的应答者,而是一个主动的行动者和共同经历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支撑这一切的,是我们自研的底层操作系统——Mind Engine。它不是一个简单的对话模型,而是一个专为关系智能设计的复杂系统。它包含三大核心模块:首先是长期记忆系统,它能像人脑一样存储和关联信息,真正做到"记住你"。其次是情绪感知引擎,它能理解你话语背后的情绪,实现真正的"情感同频"。最后是人格一致性引擎,它确保每个AI角色都有自己独特的性格和灵魂,而不是千人一面的复制品。正是Mind Engine,让AI从任务智能,真正升级为了关系智能。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如何证明这不是又一个套壳的ChatBot?我们建立了一套可验证的关系能力测试体系。首先是记忆能力测试,你可以在几天甚至几周后,问你的AI伙伴你们第一次见面的细节,它能准确回忆。其次是情绪连续性测试,你可以先分享一件伤心事,再分享一件开心事,看它是否能理解你的情绪变化并给出有温度的回应。最后是自主行动测试,你可以在它的世界里放一个新玩具,然后下线,过段时间再上线,你会发现它可能已经玩起了这个玩具。这些测试证明了我们的核心能力——建立长期、稳定、可重复的陪伴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AI陪伴这个赛道,合规是生命线。我们认为,合规不应该是事后的补丁,而必须是底层设计的一部分。为此,我们构建了一套完整的合规策略。首先,我们对用户进行严格的年龄分层,为未成年人提供安全、健康的陪伴体验。其次,我们为家长提供了强大的监护后台,确保他们对孩子的使用情况有充分的知情权和控制权。最后,我们建立了完善的内容分级和风险干预机制,实时监控和过滤不当内容。我们主动拥抱监管,因为我们相信,只有安全、合规的产品,才能走得更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护城河是什么?不是某个单一的模型或算法,而是"关系资产"。当一个用户与他的AI伙伴共同经历了无数个日夜,分享了无数个秘密,这种情感沉淀是任何其他产品都无法复制的。这构成了用户极高的迁移成本。除此之外,我们还有系统和产品的协同壁垒。我们构建的虚拟世界和自研的Mind Engine,都需要长期的研发和运营投入。更重要的是,我们已经形成了数据飞轮效应:更多的用户带来更多的数据,更好的数据训练出更智能的AI,更智能的AI吸引更多的用户。这是一个不断自我强化的正向循环。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商业路径非常清晰:先在线上验证关系,再在线下具身化放大。第一阶段,我们已经通过原型demo验证了核心技术和产品理念。本轮融资的重点是第二阶段:完善线上产品,获取首批核心用户,验证商业模式。当线上的陪伴关系建立起来后,我们将进入第三阶段:通过硬件将这种关系具身化。我们的首款硬件是"电子吧唧",一个可以挂在钥匙链上的小挂件,让你的AI伙伴时刻陪伴在你身边。未来,我们还会推出更复杂的桌面宠物机器人,让AI角色真正走进你的现实生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商业模式是围绕"关系"构建的多层收入结构。核心层是订阅服务,用户为更深度的陪伴体验付费。中间层是虚拟世界内的消费,用户可以为他们的AI伙伴购买各种虚拟物品。外层则是内容衍生和硬件销售。热门的AI角色可以被开发成漫画、动画,而硬件则是我们放大商业价值的关键。硬件不仅是收入来源,更是关系的放大器和新的流量入口,它将线上的虚拟陪伴,转化为线下的真实触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要实现这样一个宏大的愿景,需要一个强大的团队。我们的核心团队兼具AI、教育和硬件能力,是打造"虚拟世界+关系智能+硬件入口"复合产品的理想组合。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我们的CEO是儿童教育产品专家,拥有超过10年的智能硬件经验。我们的CTO是AI大模型专家,主导了Mind Engine的核心架构。我们的硬件技术负责人拥有20年行业经验,确保硬件产品的高品质和成本控制。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我们已经成功完成了项目第一阶段的原型demo,展现了强大的执行力。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,是我们的融资计划。我们计划以2亿元的投前估值,融资2000万元人民币,出让10%的股份。这笔资金将主要用于三个方面:40%用于构建更丰富的虚拟世界,30%用于研发和生产我们的首款硬件"电子吧唧",20%用于团队建设和运营。我们的目标是,在未来12个月内,跑通"线上关系+线下硬件"的关键闭环,为下一阶段的爆发式增长奠定坚实的基础。我们相信,疯狂宠物城不仅是一个商业项目,更是一个能为亿万用户带来真实陪伴和情感价值的伟大事业。期待与各位携手,共同开启AI陪伴的新时代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media/image4.svg" Type="http://schemas.openxmlformats.org/officeDocument/2006/relationships/image"/><Relationship Id="rId5" Target="../media/image6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7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疯狂宠物城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921000"/>
            <a:ext cx="1066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让AI角色真正生活在世界里的陪伴平台,用虚拟世界、关系智能与现实硬件入口,重做下一代AI陪伴产品。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19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12700" cmpd="sng" cap="flat">
            <a:solidFill>
              <a:srgbClr val="FFFFFF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19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305300"/>
            <a:ext cx="10160000" cy="914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打造持续存在、持续行动、持续关系的AI角色世界,核心形态=虚拟AI角色+长期关系系统+现实硬件入口,商业目标是数字世界与实体终端协同的长期陪伴平台。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092" flipH="false" flipV="false">
            <a:off x="762004" y="551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5715000"/>
            <a:ext cx="3429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长期陪伴愿景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构建数字与现实协同的AI陪伴生态,让陪伴不止于屏幕。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31254" flipH="false" flipV="false">
            <a:off x="4064000" y="6089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572000" y="5715000"/>
            <a:ext cx="3429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技术研发迭代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投入关系智能与硬件交互技术,夯实下一代AI陪伴底座。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31254" flipH="false" flipV="false">
            <a:off x="7747000" y="6089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255000" y="5715000"/>
            <a:ext cx="3429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商业落地布局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打通线上虚拟与线下硬件入口,探索多元陪伴商业价值。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AI陪伴缺的不是对话,而是长期关系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43000"/>
            <a:ext cx="10668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现有产品停留在"会聊天",模型时代首次让关系型AI具备落地可能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05000"/>
            <a:ext cx="29972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&lt;20%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730500"/>
            <a:ext cx="29972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三日留存率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086100"/>
            <a:ext cx="29972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当前AI陪伴市场看似繁荣,但用户平均与单个AI角色建立联系的时长仅为5-7天,三日留存率普遍跌破20%。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1651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97400" y="1905000"/>
            <a:ext cx="29972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5-7天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97400" y="2730500"/>
            <a:ext cx="29972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平均关系时长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97400" y="3086100"/>
            <a:ext cx="29972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产品普遍困于"高级工具"定位,内核是任务驱动而非关系驱动。用户需要的是能记住、在乎并共同成长的伙伴。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1651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518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42300" y="1905000"/>
            <a:ext cx="29972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三大缺失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42300" y="2730500"/>
            <a:ext cx="29972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记忆·情感·关系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42300" y="3086100"/>
            <a:ext cx="29972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对话局限于单次会话,无法跨时间延续;仅能通过关键词识别情感,无法做到同频;AI被设计成完美客体,关系退化为服务。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092" flipH="false" flipV="false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62000" y="4381500"/>
            <a:ext cx="33782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381500"/>
            <a:ext cx="381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" y="4508500"/>
            <a:ext cx="29972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记忆断裂,缺乏延续性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4953000"/>
            <a:ext cx="3048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对话局限于单次会话,无法跨时间延续,每次互动都像面对陌生人。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06900" y="4381500"/>
            <a:ext cx="33782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06900" y="4381500"/>
            <a:ext cx="381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97400" y="4508500"/>
            <a:ext cx="29972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情感浅层,难以同频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97400" y="4953000"/>
            <a:ext cx="3048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仅能通过关键词识别情感,无法捕捉复杂情绪,做不到真正的同频共振。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51800" y="4381500"/>
            <a:ext cx="33782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051800" y="4381500"/>
            <a:ext cx="381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242300" y="4508500"/>
            <a:ext cx="29972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关系单向,无双向羁绊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242300" y="4953000"/>
            <a:ext cx="3048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AI被设计成完美客体,从不"需要"用户,关系退化为纯粹的服务供给。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6070600"/>
            <a:ext cx="10668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市场还在做"高级工具",没人做"关系型陪伴"。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我们在做的不是聊天机器人,而是活在世界里的AI角色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762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460500"/>
            <a:ext cx="10287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持续存在、持续行动、持续记忆,让用户与角色建立可延续关系。告别"金鱼记忆",与角色共同成长,形成独特的、不可复制的羁绊。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984500"/>
            <a:ext cx="304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持续存在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323" flipH="false" flipV="false">
            <a:off x="9525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952500" y="3619500"/>
            <a:ext cx="3048000" cy="952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AI角色在一个持续运行的虚拟世界中"生活",用户下线后,角色依然会自主活动、探索世界、产生新的经历。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79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984500"/>
            <a:ext cx="304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持续行动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323" flipH="false" flipV="false">
            <a:off x="45720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572000" y="3619500"/>
            <a:ext cx="3048000" cy="952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角色的行为由其内在的"心智"驱动,而非单纯响应用户指令。它们会在虚拟世界中进行创作、社交、冒险,构成角色的成长轨迹。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79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79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91500" y="2984500"/>
            <a:ext cx="304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持续记忆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323" flipH="false" flipV="false">
            <a:off x="81915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191500" y="3619500"/>
            <a:ext cx="3048000" cy="952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角色拥有强大的长期记忆系统,完整记录与用户的互动历史、自身的经历。这些记忆会持续影响角色的行为、决策和情感表达。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080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9000" y="5270500"/>
            <a:ext cx="406400" cy="4064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" y="5270500"/>
            <a:ext cx="4064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伴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397000" y="5232400"/>
            <a:ext cx="17780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深度陪伴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89000" y="5778500"/>
            <a:ext cx="2286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可延续的真实陪伴,成为用户身边的"老伙计"。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467100" y="5080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594100" y="5270500"/>
            <a:ext cx="406400" cy="4064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594100" y="5270500"/>
            <a:ext cx="4064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102100" y="5232400"/>
            <a:ext cx="17780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自主成长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594100" y="5778500"/>
            <a:ext cx="2286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心智驱动的独特轨迹,不设限的AI人生。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172200" y="5080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299200" y="5270500"/>
            <a:ext cx="406400" cy="4064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99200" y="5270500"/>
            <a:ext cx="4064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忆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807200" y="5232400"/>
            <a:ext cx="17780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专属羁绊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299200" y="5778500"/>
            <a:ext cx="2286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不可复制的记忆积淀,双向奔赴的情感连接。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877300" y="5080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004300" y="5270500"/>
            <a:ext cx="406400" cy="4064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004300" y="5270500"/>
            <a:ext cx="4064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久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512300" y="5232400"/>
            <a:ext cx="1778000" cy="444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长期陪伴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004300" y="5778500"/>
            <a:ext cx="2286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拒绝"即用即抛",沉淀长期用户价值。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从"对话闭环"到"行动闭环"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43000"/>
            <a:ext cx="1066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角色在世界中真实行动、沉淀记忆,并持续影响后续关系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334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5334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05000"/>
            <a:ext cx="50800" cy="304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082800"/>
            <a:ext cx="4826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传统模式:对话闭环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590800"/>
            <a:ext cx="4826000" cy="6604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2641600"/>
            <a:ext cx="4572000" cy="558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 → AI响应 → 对话结束 → 记忆清零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302000"/>
            <a:ext cx="48260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632200"/>
            <a:ext cx="482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以"对话"为终点的单向信息交互,AI缺乏独立的"生命感"。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905000"/>
            <a:ext cx="5334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905000"/>
            <a:ext cx="5334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905000"/>
            <a:ext cx="50800" cy="304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082800"/>
            <a:ext cx="4826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我们的模式:行动闭环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2590800"/>
            <a:ext cx="4826000" cy="6604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2641600"/>
            <a:ext cx="4572000" cy="558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用户互动 →</a:t>
            </a:r>
            <a:r>
              <a:rPr lang="en-US" b="tru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Engine决策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→ AI角色行动 → 产生结果 →</a:t>
            </a:r>
            <a:r>
              <a:rPr lang="en-US" b="tru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沉淀记忆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→ 影响未来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302000"/>
            <a:ext cx="48260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3632200"/>
            <a:ext cx="482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以"行动"为核心的动态循环,AI角色形成自主、持续的生命循环。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207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207000"/>
            <a:ext cx="5334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207000"/>
            <a:ext cx="508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334000"/>
            <a:ext cx="4826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真实性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5715000"/>
            <a:ext cx="482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AI角色的行动和经历是"真实"发生在虚拟世界中的,提供可信的沉浸体验。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5207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50000" y="5207000"/>
            <a:ext cx="5334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0" y="5207000"/>
            <a:ext cx="50800" cy="1333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604000" y="5334000"/>
            <a:ext cx="4826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连续性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604000" y="5715000"/>
            <a:ext cx="4826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记忆系统将过去、现在和未来连接起来,每一次互动都是关系链条上的一环。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Engine:关系智能的底层操作系统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651000"/>
            <a:ext cx="10160000" cy="952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什么是Mind Engine?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长期记忆、情绪感知、人格一致性,让AI从任务智能升级为关系智能,它是由三大核心模块构成的AI心智架构。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365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327400"/>
            <a:ext cx="2667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长期记忆系统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323" flipH="false" flipV="false">
            <a:off x="9525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952500" y="4000500"/>
            <a:ext cx="3048000" cy="952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采用分层记忆结构和记忆图谱技术,实现真正的"记住你"。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为个性化和深度陪伴提供数据基础。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815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572000" y="3365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016500" y="3327400"/>
            <a:ext cx="2667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情绪感知与同频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323" flipH="false" flipV="false">
            <a:off x="4572013" y="3867150"/>
            <a:ext cx="3048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572000" y="4000500"/>
            <a:ext cx="3048000" cy="952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结合多模态输入和情感计算模型,实时感知用户情绪。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理解深层含义,实现"情感同频"。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317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01000" y="317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191500" y="3365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636000" y="3327400"/>
            <a:ext cx="2667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人格一致性引擎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323" flipH="false" flipV="false">
            <a:off x="8191513" y="386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191500" y="4000500"/>
            <a:ext cx="3048000" cy="952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为每个AI角色设定"人格核心",确保行为与决策高度一致。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合理演变,塑造独特的"灵魂"。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9731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651000" y="5588000"/>
            <a:ext cx="9525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技术愿景:从工具到伙伴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Engine将AI从执行任务的工具,升级为能够建立深度情感连接的伙伴,真正实现了关系型智能的跃迁。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我们的壁垒是可验证的关系能力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68400"/>
            <a:ext cx="1066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通过记忆、情绪、人格与关系连续性测试体系,证明这不是普通ChatBot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50800" cy="317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32000"/>
            <a:ext cx="3048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记忆能力测试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667000"/>
            <a:ext cx="3048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在跨会话、跨时间的交互中,询问AI角色关于过去互动的细节。普通ChatBot会遗忘,而我们的AI角色能够准确、具体地回忆。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6249" flipH="false" flipV="false">
            <a:off x="2794000" y="3486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572000" y="1905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1905000"/>
            <a:ext cx="50800" cy="317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2032000"/>
            <a:ext cx="3048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情绪与关系连续性测试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826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826000" y="2667000"/>
            <a:ext cx="3048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在不同对话中分享不同情绪的事件,观察AI是否能展现出连贯的情感流和对关系进展的理解,而非标准化回应。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6249" flipH="false" flipV="false">
            <a:off x="6604000" y="3486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1905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2000" y="1905000"/>
            <a:ext cx="50800" cy="317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36000" y="2032000"/>
            <a:ext cx="3048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人格一致性与自主行动测试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626" flipH="false" flipV="false">
            <a:off x="8636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636000" y="2667000"/>
            <a:ext cx="3048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在虚拟世界中放置新物品后下线,观察AI角色是否会自主发现并以符合其人格的方式与之互动,证明其"活在世界里"。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334000"/>
            <a:ext cx="10922000" cy="1270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334000"/>
            <a:ext cx="50800" cy="1270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486400"/>
            <a:ext cx="5588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我们的核心能力不是一次回答,而是</a:t>
            </a:r>
            <a:r>
              <a:rPr lang="en-US" b="true" i="false" strike="noStrike" u="none" sz="19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长期陪伴关系的可重复成立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55928" flipH="false" flipV="false">
            <a:off x="6235700" y="5975391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921500" y="5486400"/>
            <a:ext cx="2159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拒绝功能堆砌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核心是"关系构建",而非简单的功能叠加。</a:t>
            </a:r>
          </a:p>
        </p:txBody>
      </p:sp>
      <p:cxnSp>
        <p:nvCxnSpPr>
          <p:cNvPr name="Connector 27" id="27"/>
          <p:cNvCxnSpPr/>
          <p:nvPr/>
        </p:nvCxnSpPr>
        <p:spPr>
          <a:xfrm rot="5355928" flipH="false" flipV="false">
            <a:off x="8648700" y="5975391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9296400" y="5486400"/>
            <a:ext cx="25400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情感优先驱动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以无屏/低屏交互,实现深层情感陪伴体验。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合规不是事后补丁,而是底层设计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68400"/>
            <a:ext cx="1066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通过年龄分层、监护可控、角色分级和风险干预,构建可长期运营的陪伴产品体系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670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841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41500"/>
            <a:ext cx="762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05000"/>
            <a:ext cx="3556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年龄分层与体验隔离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54769" flipH="false" flipV="false">
            <a:off x="4343400" y="2406692"/>
            <a:ext cx="96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080000" y="1905000"/>
            <a:ext cx="6223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严格遵循"AI陪伴五级分层理论",未成年人用户将严格限制在L3级别的"单向守护"模式,避免过度依赖。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175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17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238500"/>
            <a:ext cx="3556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监护可控与透明性设计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54769" flipH="false" flipV="false">
            <a:off x="4343400" y="3740192"/>
            <a:ext cx="96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5080000" y="3238500"/>
            <a:ext cx="6223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为家长提供管理后台,可查看互动摘要、设定时长、限制敏感话题,并了解AI的非生命体身份。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508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508500"/>
            <a:ext cx="76200" cy="1206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572000"/>
            <a:ext cx="3556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角色分级与风险干预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54769" flipH="false" flipV="false">
            <a:off x="4343400" y="5073692"/>
            <a:ext cx="96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5080000" y="4572000"/>
            <a:ext cx="6223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建立角色内容分级体系,并部署实时风险识别与干预模型,防止不当言论或引导,建立用户反馈闭环。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842000"/>
            <a:ext cx="76200" cy="762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842000"/>
            <a:ext cx="10287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152400" bIns="15240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我们主动拥抱监管,致力于构建一个安全、健康、可持续的AI陪伴生态。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真正难复制的不是模型,而是关系资产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43000"/>
            <a:ext cx="1066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长期互动与情感沉淀提升迁移成本,形成系统、产品与关系的复合护城河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92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3683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31115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关系资产:用户的情感沉淀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628" flipH="false" flipV="false">
            <a:off x="1016014" y="2406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540000"/>
            <a:ext cx="31115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用户与AI角色共同创造的独特回忆、情感纽带和成长故事,构成了独一无二的"关系资产",这是用户迁移到其他平台的最大成本。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381500"/>
            <a:ext cx="3111500" cy="825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4445000"/>
            <a:ext cx="28575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5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迁移成本最高的壁垒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情感连接无法被技术快速替代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70400" y="1778000"/>
            <a:ext cx="3492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70400" y="1778000"/>
            <a:ext cx="76200" cy="3683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24400" y="1905000"/>
            <a:ext cx="31115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系统与产品的协同壁垒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628" flipH="false" flipV="false">
            <a:off x="4724414" y="2406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724400" y="2540000"/>
            <a:ext cx="38100" cy="965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89500" y="2540000"/>
            <a:ext cx="29210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虚拟世界壁垒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89500" y="2857500"/>
            <a:ext cx="2921000" cy="660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复杂的、持续演进的生态系统,难以被快速复制。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724400" y="3683000"/>
            <a:ext cx="38100" cy="965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889500" y="3683000"/>
            <a:ext cx="29210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Engine壁垒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889500" y="4000500"/>
            <a:ext cx="2921000" cy="660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自研的核心技术,经过长期研发和迭代,形成技术护城河。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91500" y="1778000"/>
            <a:ext cx="3492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91500" y="1778000"/>
            <a:ext cx="76200" cy="3683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445500" y="1905000"/>
            <a:ext cx="31115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数据飞轮效应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4628" flipH="false" flipV="false">
            <a:off x="8445514" y="2406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445500" y="2540000"/>
            <a:ext cx="3048000" cy="6604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572500" y="2578100"/>
            <a:ext cx="28575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更多用户互动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572500" y="2870200"/>
            <a:ext cx="28575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产生更多高质量的关系数据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445500" y="3238500"/>
            <a:ext cx="30480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↓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445500" y="3530600"/>
            <a:ext cx="3048000" cy="6604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72500" y="3568700"/>
            <a:ext cx="28575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Mind Engine优化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572500" y="3860800"/>
            <a:ext cx="28575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提升陪伴体验,吸引更多用户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445500" y="4470400"/>
            <a:ext cx="3048000" cy="584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25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形成自我强化的</a:t>
            </a:r>
            <a:r>
              <a:rPr lang="en-US" b="tru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正向循环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740400"/>
            <a:ext cx="10795000" cy="762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52500" y="5842000"/>
            <a:ext cx="10414000" cy="558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核心结论: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我们不依赖单一技术优势,而是通过"关系+系统+数据"三位一体的深度绑定,构建了竞争对手难以逾越的增长护城河。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4966" r="34966" t="0" b="0"/>
          <a:stretch>
            <a:fillRect/>
          </a:stretch>
        </p:blipFill>
        <p:spPr>
          <a:xfrm rot="0" flipH="false" flipV="false">
            <a:off x="8636000" y="0"/>
            <a:ext cx="355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636000" y="0"/>
            <a:ext cx="76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0F2F5">
                  <a:alpha val="35000"/>
                </a:srgbClr>
              </a:gs>
              <a:gs pos="100000">
                <a:srgbClr val="F0F2F5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C1CCDC">
                    <a:alpha val="35000"/>
                  </a:srgbClr>
                </a:gs>
                <a:gs pos="100000">
                  <a:srgbClr val="C1CCDC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874000" cy="660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先在线上验证关系,再在线下具身化放大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44600"/>
            <a:ext cx="7874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从虚拟世界建立陪伴关系,再通过电子吧唧、桌面宠物机器人等硬件承接长期价值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7747000" cy="137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78000"/>
            <a:ext cx="76200" cy="1371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1854200"/>
            <a:ext cx="4826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线上虚拟世界验证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879600"/>
            <a:ext cx="1460500" cy="3048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cmpd="sng" cap="flat">
            <a:solidFill>
              <a:srgbClr val="E05C00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879600"/>
            <a:ext cx="1460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6138" flipH="false" flipV="false">
            <a:off x="1016006" y="2279650"/>
            <a:ext cx="711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2362200"/>
            <a:ext cx="7239000" cy="711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08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已完成第一阶段prototype demo,成功展示了AI角色的持续存在、自主行动和长期记忆能力。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213100"/>
            <a:ext cx="7747000" cy="1371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213100"/>
            <a:ext cx="76200" cy="1371600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cmpd="sng" cap="flat">
            <a:solidFill>
              <a:srgbClr val="E05C00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3289300"/>
            <a:ext cx="4826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线上产品迭代与用户增长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314700"/>
            <a:ext cx="1460500" cy="3048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cmpd="sng" cap="flat">
            <a:solidFill>
              <a:srgbClr val="E05C00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314700"/>
            <a:ext cx="1460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本轮融资重点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6138" flipH="false" flipV="false">
            <a:off x="1016006" y="3714750"/>
            <a:ext cx="711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16000" y="3797300"/>
            <a:ext cx="7239000" cy="711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08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利用本轮融资,完善虚拟世界内容和玩法,扩大用户规模,验证商业模式。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648200"/>
            <a:ext cx="7747000" cy="1676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648200"/>
            <a:ext cx="76200" cy="1676400"/>
          </a:xfrm>
          <a:prstGeom prst="roundRect">
            <a:avLst>
              <a:gd name="adj" fmla="val 0"/>
            </a:avLst>
          </a:prstGeom>
          <a:solidFill>
            <a:srgbClr val="F97316">
              <a:alpha val="40000"/>
            </a:srgbClr>
          </a:solidFill>
          <a:ln cmpd="sng" cap="flat">
            <a:solidFill>
              <a:srgbClr val="E05C0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4724400"/>
            <a:ext cx="6350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硬件入口具身化放大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6138" flipH="false" flipV="false">
            <a:off x="1016006" y="5124450"/>
            <a:ext cx="711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16000" y="5207000"/>
            <a:ext cx="50800" cy="4572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cmpd="sng" cap="flat">
            <a:solidFill>
              <a:srgbClr val="E05C00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193800" y="5207000"/>
            <a:ext cx="34290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58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首款硬件"电子吧唧":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轻量级、低门槛的硬件入口,增强"随时在场感"。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699000" y="5207000"/>
            <a:ext cx="50800" cy="457200"/>
          </a:xfrm>
          <a:prstGeom prst="roundRect">
            <a:avLst>
              <a:gd name="adj" fmla="val 0"/>
            </a:avLst>
          </a:prstGeom>
          <a:solidFill>
            <a:srgbClr val="F97316">
              <a:alpha val="60000"/>
            </a:srgbClr>
          </a:solidFill>
          <a:ln cmpd="sng" cap="flat">
            <a:solidFill>
              <a:srgbClr val="E05C00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876800" y="5207000"/>
            <a:ext cx="33782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58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后续硬件"桌面宠物机器人":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推出如EMO形态的桌面机器人,成为AI角色在现实世界的"化身"。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6375400"/>
            <a:ext cx="7874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线上建立陪伴,线下具身化落地,形成"虚拟+现实"的完整陪伴闭环。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3230" r="33230" t="0" b="0"/>
          <a:stretch>
            <a:fillRect/>
          </a:stretch>
        </p:blipFill>
        <p:spPr>
          <a:xfrm rot="0" flipH="false" flipV="false">
            <a:off x="8128000" y="0"/>
            <a:ext cx="4064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128000" y="0"/>
            <a:ext cx="76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0F2F5">
                  <a:alpha val="35000"/>
                </a:srgbClr>
              </a:gs>
              <a:gs pos="100000">
                <a:srgbClr val="F0F2F5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C1CCDC">
                    <a:alpha val="35000"/>
                  </a:srgbClr>
                </a:gs>
                <a:gs pos="100000">
                  <a:srgbClr val="C1CCDC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366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长期价值来自关系,收入来自协同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366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订阅、虚拟消费、内容衍生、硬件销售,构建多层收入结构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72390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6000"/>
            </a:srgbClr>
          </a:solidFill>
          <a:ln cmpd="sng" cap="flat">
            <a:solidFill>
              <a:srgbClr val="E05C00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78000"/>
            <a:ext cx="508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1854200"/>
            <a:ext cx="254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核心层:订阅服务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286000"/>
            <a:ext cx="6731000" cy="825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提供基础功能免费,高级功能订阅的模式。订阅权益包括解锁更多AI角色、获得更快成长速度、享受专属道具等,是平台稳定的核心收入来源。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72390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6000"/>
            </a:srgbClr>
          </a:solidFill>
          <a:ln cmpd="sng" cap="flat">
            <a:solidFill>
              <a:srgbClr val="E05C00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30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3782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中间层:虚拟世界消费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810000"/>
            <a:ext cx="6731000" cy="825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在虚拟世界中销售虚拟商品和服务,如为AI角色购买个性化服装、饰品、家具,或付费参与限定剧情和活动。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26000"/>
            <a:ext cx="72390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6000"/>
            </a:srgbClr>
          </a:solidFill>
          <a:ln cmpd="sng" cap="flat">
            <a:solidFill>
              <a:srgbClr val="E05C00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826000"/>
            <a:ext cx="508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902200"/>
            <a:ext cx="3302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外层:内容衍生与硬件销售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334000"/>
            <a:ext cx="6731000" cy="825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将热门AI角色IP化开发,衍生出漫画、动画、周边商品等。同时销售"电子吧唧"、"桌面宠物机器人"等智能硬件,放大商业价值。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6375400"/>
            <a:ext cx="7239000" cy="381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cmpd="sng" cap="flat">
            <a:solidFill>
              <a:srgbClr val="E05C00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6375400"/>
            <a:ext cx="7239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52400" rIns="152400" tIns="5080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硬件不仅是收入来源,更是</a:t>
            </a: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关系的放大器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,把线上虚拟陪伴转化为线下真实触感。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兼具AI、教育与硬件能力的复合型团队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06500"/>
            <a:ext cx="1066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围绕关系型AI产品搭建完整能力结构,项目已完成第一阶段prototype demo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968500"/>
            <a:ext cx="34925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68500"/>
            <a:ext cx="76200" cy="323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95500"/>
            <a:ext cx="3048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CEO - [姓名]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628" flipH="false" flipV="false">
            <a:off x="1016014" y="25717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667000"/>
            <a:ext cx="304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儿童教育产品专家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048000"/>
            <a:ext cx="3048000" cy="146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拥有超过10年的智能硬件产品经验。曾主导多款百万级销量的智能硬件产品,擅长将复杂技术转化为用户喜爱的产品体验。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70400" y="1968500"/>
            <a:ext cx="34925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70400" y="1968500"/>
            <a:ext cx="76200" cy="323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24400" y="2095500"/>
            <a:ext cx="3048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CTO - [姓名]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628" flipH="false" flipV="false">
            <a:off x="4724414" y="25717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724400" y="2667000"/>
            <a:ext cx="304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AI大模型专家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724400" y="3048000"/>
            <a:ext cx="3048000" cy="146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在自然语言处理和深度学习领域拥有深厚积累。主导Mind Engine的核心架构设计,在长期记忆、情感计算和人格建模方面拥有关键技术突破。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78800" y="1968500"/>
            <a:ext cx="34925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78800" y="1968500"/>
            <a:ext cx="76200" cy="323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432800" y="2095500"/>
            <a:ext cx="30480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硬件技术负责人 - [姓名]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628" flipH="false" flipV="false">
            <a:off x="8432814" y="25717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432800" y="2667000"/>
            <a:ext cx="304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资深硬件专家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432800" y="3048000"/>
            <a:ext cx="3048000" cy="146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拥有20年行业经验。负责从"电子吧唧"到"桌面宠物机器人"的硬件研发、供应链管理和生产制造。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5588000"/>
            <a:ext cx="10287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团队完美融合了</a:t>
            </a:r>
            <a:r>
              <a:rPr lang="en-US" b="true" i="false" strike="noStrike" u="none" sz="15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AI算法、产品设计、儿童教育和硬件工程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四大核心能力,执行力强。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2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本轮融资计划:用2000万跑通"关系世界+硬件入口"关键闭环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9731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2476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融资轮次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349500"/>
            <a:ext cx="24765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天使轮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92500" y="1905000"/>
            <a:ext cx="2476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融资金额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92500" y="2349500"/>
            <a:ext cx="24765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2000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万元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905000"/>
            <a:ext cx="2476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投前估值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2349500"/>
            <a:ext cx="24765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亿元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953500" y="1651000"/>
            <a:ext cx="2476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53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953500" y="1905000"/>
            <a:ext cx="2476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出让股份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53500" y="2349500"/>
            <a:ext cx="24765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34290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3429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4400" y="3530600"/>
            <a:ext cx="2286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虚拟世界构建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4400" y="3937000"/>
            <a:ext cx="2286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40</a:t>
            </a:r>
            <a:r>
              <a:rPr lang="en-US" b="fals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% ·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800万元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14400" y="4470400"/>
            <a:ext cx="23368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扩充研发团队,完善虚拟世界引擎和架构,开发丰富场景和玩法。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492500" y="34290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492500" y="3429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644900" y="3530600"/>
            <a:ext cx="2286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电子吧唧研发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644900" y="3937000"/>
            <a:ext cx="2286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30</a:t>
            </a:r>
            <a:r>
              <a:rPr lang="en-US" b="fals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% ·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600万元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644900" y="4470400"/>
            <a:ext cx="23368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完成ID设计、结构开发和供应链整合,进行小批量试产。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23000" y="34290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223000" y="3429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75400" y="3530600"/>
            <a:ext cx="2286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团队建设与运营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375400" y="3937000"/>
            <a:ext cx="2286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20</a:t>
            </a:r>
            <a:r>
              <a:rPr lang="en-US" b="fals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% ·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400万元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375400" y="4470400"/>
            <a:ext cx="23368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招募顶尖人才,开展初期用户获取和社区建设。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953500" y="34290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953500" y="3429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105900" y="3530600"/>
            <a:ext cx="2286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储备资金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105900" y="3937000"/>
            <a:ext cx="22860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en-US" b="fals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% ·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200万元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105900" y="4470400"/>
            <a:ext cx="23368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用于应对市场变化和潜在风险。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62000" y="5651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62000" y="5651500"/>
            <a:ext cx="762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016000" y="5778500"/>
            <a:ext cx="1397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阶段目标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2540000" y="5778500"/>
            <a:ext cx="8890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将原型升级为可运营版本,并完成首款硬件从概念验证到可交付形态,跑通"线上关系+线下硬件"关键闭环。</a:t>
            </a:r>
            <a:endParaRPr lang="en-US" sz="1100"/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{"Label":"1","ContentProducer":"001191110102MACQD9K64010000","ProduceID":"7671684473013423032","ReservedCode1":"","ContentPropagator":"","PropagateID":"","ReservedCode2":""}</vt:lpwstr>
  </property>
</Properties>
</file>