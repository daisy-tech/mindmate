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大家好，今天我为大家带来的项目是“伴学机器人”。它不仅仅是一个会聊天的AI，更是一个能真正记住孩子、理解孩子、并始终如一陪伴他们成长的伙伴。我们致力于打造全球首个基于Mind Engine心智引擎的L3级AI伴学机器人，为2亿中国儿童提供前所未有的情感陪伴体验。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前的AI陪伴市场存在一个巨大的痛点：产品很多，但留不住用户。数据显示，AI陪伴产品的3日留存率普遍低于20%，用户与AI建立联系的平均时长仅为一周。这背后的根本原因在于，现有产品普遍存在记忆断裂、情绪浅层和关系单向三大问题。它们更像是高级工具，而不是真正的伙伴。市场真正需要的，是能够建立长期、深度情感连接的“关系型陪伴”产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解决方案，就是打造一个真正懂情绪、记得你、始终如一的伙伴。它不是老师、家长或玩具，而是孩子的知心朋友。通过我们独创的三层引擎架构，我们在记忆、情绪和人格三个维度上实现了从L1到L3的跨越。这使得我们的产品能够在情绪树洞、伴学引导、习惯养成和睡前陪伴等多个场景中，为孩子提供深度的陪伴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来看几个具体的产品演示。当孩子感到难过时，我们的机器人能感同身受，并主动分享自己的“经历”来拉近与孩子的距离。更重要的是，三天后，机器人还记得上次的对话，并能主动提及，这就是我们的跨会话长期记忆。同时，我们为家长提供一个非监视性的周报，让他们了解孩子的情绪状态，而不会破坏孩子的隐私空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我们技术壁垒的核心，是自研的Mind Engine心智引擎。它不是简单的对话模型，而是一个专为关系型AI设计的操作系统。通过情绪加权排序的记忆检索、人格约束的记忆调用和创新的反馈闭环机制，我们解决了行业内长期存在的难题。我们的技术方案对标全球顶尖的开源架构，并在此基础上形成了明确的差异化护城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正处在一个巨大的市场机会中。全球儿童陪伴机器人市场稳步增长，而中国市场的AI渗透率正在快速提升。更重要的是，技术成熟降低了开发成本，消费心智转向“情绪价值”，以及最新的监管政策，都为我们这样的合规儿童陪伴产品创造了前所未有的蓝海。2026年，正是我们抢占用户心智的最佳时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前市场上主要有三大阵营，但它们都未能解决“关系维持”这一核心痛点。学习机工具属性太强，角色对话平台面临监管风险，而AI玩具的AI能力又过于初级。我们的定位非常清晰：我们是市场上唯一专注于儿童L3级关系型陪伴的产品，我们的核心是构建关系，而不是堆砌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商业模式是清晰的三层收入模型。初期通过免费Web端验证产品价值和留存数据；中期通过硬件销售和订阅服务实现稳定收入；长期则通过内容付费和生态合作，大幅提升用户生命周期价值。我们的用户增长路径将从种子用户开始，通过社区和口碑裂变，逐步拓展到全渠道。基于我们的财务模型，单用户LTV预计可达825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为未来一年设定了清晰的里程碑。从Alpha阶段的MVP开发，到Beta阶段的内测，再到硬件原型、众筹和最终发售，每一步都有明确的时间节点和可量化的关键指标。我们敢于将7日留存目标设定在40%，远高于行业平均水平，因为我们的核心是提升关系质量，而非简单的功能堆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核心团队在产品和技术方面已经具备了坚实的基础。目前，我们正在积极寻找具备AI产品战略、工程化落地和儿童心理研究背景的核心成员，共同打造这个伟大的产品。我们也非常荣幸能得到来自学术界和产业界资深专家的指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实现上述里程碑，我们计划进行一轮500-800万元的种子轮融资，出让15-20%的股份。融资金额将主要用于核心团队的搭建、Web端MVP的开发以及早期的用户运营。我们清晰地规划了资金用途，并对下一轮融资有明确的目标，旨在快速推进硬件量产和市场推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清醒地认识到项目面临的风险。针对技术实现、用户留存、市场竞争、硬件成本和监管变化等潜在挑战，我们都制定了详细的应对策略。例如，我们将通过分阶段迭代来降低技术难度，通过关注“关系质量”而非“打开次数”来提升留存，并通过合规设计来建立先发优势。我们有信心管理好这些风险，确保项目顺利推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想重申我们的愿景。我们不是在做又一个会聊天的AI，而是在创造一个能在时间长河中与孩子建立并维持深厚关系的存在。它是一个真正的伙伴。市场不缺AI，但缺一个能陪伴孩子成长的朋友。我们诚挚地邀请各位投资人加入我们，共同为2亿中国儿童，打造这个真正意义上的AI成长伙伴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0.svg" Type="http://schemas.openxmlformats.org/officeDocument/2006/relationships/image"/><Relationship Id="rId11" Target="../notesSlides/notesSlide5.xml" Type="http://schemas.openxmlformats.org/officeDocument/2006/relationships/notesSlide"/><Relationship Id="rId2" Target="../media/image2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7.jpeg" Type="http://schemas.openxmlformats.org/officeDocument/2006/relationships/image"/><Relationship Id="rId3" Target="../media/image38.jpeg" Type="http://schemas.openxmlformats.org/officeDocument/2006/relationships/image"/><Relationship Id="rId4" Target="../media/image39.jpeg" Type="http://schemas.openxmlformats.org/officeDocument/2006/relationships/image"/><Relationship Id="rId5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8.xml" Type="http://schemas.openxmlformats.org/officeDocument/2006/relationships/notesSlide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0.xml" Type="http://schemas.openxmlformats.org/officeDocument/2006/relationships/notesSlide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12" Target="../media/image62.svg" Type="http://schemas.openxmlformats.org/officeDocument/2006/relationships/image"/><Relationship Id="rId13" Target="../notesSlides/notesSlide11.xml" Type="http://schemas.openxmlformats.org/officeDocument/2006/relationships/notesSlid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8.png" Type="http://schemas.openxmlformats.org/officeDocument/2006/relationships/image"/><Relationship Id="rId9" Target="../media/image5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3.jpeg" Type="http://schemas.openxmlformats.org/officeDocument/2006/relationships/image"/><Relationship Id="rId3" Target="../notesSlides/notesSlide13.xml" Type="http://schemas.openxmlformats.org/officeDocument/2006/relationships/notesSlide"/><Relationship Id="rId4" Target="../media/image6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伴学机器人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921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一个“记得你、懂你、始终如一”的成长伙伴，用有温度的AI守护孩子独一无二的童年时光。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4318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2000"/>
            </a:srgbClr>
          </a:solidFill>
          <a:ln w="12700" cmpd="sng" cap="flat">
            <a:solidFill>
              <a:srgbClr val="F97316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445000"/>
            <a:ext cx="10160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Mind Engine 心智引擎</a:t>
            </a: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打造全球首款L3级AI伴学机器人，具备持续的情感记忆、个性化理解与动态成长能力，真正走进孩子的内心世界。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092" flipH="false" flipV="false">
            <a:off x="762004" y="5518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5715000"/>
            <a:ext cx="342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种子轮融资启动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开放500-800万元融资额度，用于核心算法迭代与产品研发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331254" flipH="false" flipV="false">
            <a:off x="4064000" y="6089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4572000" y="5715000"/>
            <a:ext cx="342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核心人才招募中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诚邀AI大模型专家、儿童心理学与教育场景应用工程师加入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331254" flipH="false" flipV="false">
            <a:off x="7747000" y="6089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8255000" y="5715000"/>
            <a:ext cx="342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深耕儿童陪伴蓝海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聚焦2亿中国儿童情感需求，构建有深度的AI教育新生态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痛点：市场不缺“会聊天的AI”，缺的是“能留得住的陪伴”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905000"/>
            <a:ext cx="2997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&lt;20%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921000"/>
            <a:ext cx="2997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AI陪伴产品3日留存率，用户尝鲜后极易流失，缺乏持续吸引力。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06900" y="1651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06900" y="1651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97400" y="1905000"/>
            <a:ext cx="2997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5-7天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97400" y="2921000"/>
            <a:ext cx="2997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用户与单个AI角色建立情感联系的平均时长，难以形成长期羁绊。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51800" y="1651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51800" y="1651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42300" y="1905000"/>
            <a:ext cx="2997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21.1%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42300" y="2921000"/>
            <a:ext cx="2997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AI类App年度用户留存，远低于传统App的30.7%，市场表现疲软。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4092" flipH="false" flipV="false">
            <a:off x="762004" y="405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762000" y="4381500"/>
            <a:ext cx="33782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4508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97000" y="4508500"/>
            <a:ext cx="2616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记忆断裂，缺乏延续性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9000" y="5080000"/>
            <a:ext cx="31242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会话结束即数据清零，用户每次互动都像面对“陌生人”，无法积累共同回忆，情感链接无法沉淀。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06900" y="4381500"/>
            <a:ext cx="33782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33900" y="45085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041900" y="4508500"/>
            <a:ext cx="2616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情绪浅层，难共情同频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533900" y="5080000"/>
            <a:ext cx="31242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仅能识别基础的“难过/开心”标签，无法捕捉复杂、微妙的情绪变化，做不到真正的情感共鸣与抚慰。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51800" y="4381500"/>
            <a:ext cx="33782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178800" y="45085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686800" y="4508500"/>
            <a:ext cx="2616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关系单向，无双向羁绊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178800" y="5080000"/>
            <a:ext cx="31242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AI始终处于“无限包容”的工具角色，从不向用户索取或“需要”用户，无法构建平等、依赖的双向陪伴关系。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969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12700" cmpd="sng" cap="flat">
            <a:solidFill>
              <a:srgbClr val="F9731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6070600"/>
            <a:ext cx="1066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市场还在做“高级工具”，没人做“关系型陪伴”。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解决方案：一个“懂情绪、记得你、始终如一”的伙伴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762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460500"/>
            <a:ext cx="1028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面向6-12岁儿童的L3级AI伴学机器人，精准定位“知心伙伴”角色。拒绝冰冷说教，以温暖、幽默的交互方式，成为孩子成长过程中懂他、陪伴他的专属朋友。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79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9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984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跨会话长期记忆引擎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4323" flipH="false" flipV="false">
            <a:off x="952513" y="348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952500" y="36195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传统产品仅支持会话级记忆（L1），对话断片失忆；我们实现L3级跨会话长期记忆，叠加情绪权重，能记住孩子的喜好与经历，像真人朋友一样延续话题。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279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279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2984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全链路情绪感知引擎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323" flipH="false" flipV="false">
            <a:off x="4572013" y="348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572000" y="36195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传统产品依赖简单关键词识别情绪；我们通过状态追踪、策略响应实现情绪同频，能敏锐捕捉孩子的喜怒哀乐，用共情的语言给予安慰、鼓励或疏导。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279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79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91500" y="2984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一致性人格约束引擎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4323" flipH="false" flipV="false">
            <a:off x="8191513" y="348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191500" y="36195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传统产品仅靠提示词设定松散角色，易OOC；我们通过工程化行为约束，让产品人格始终稳定如一，陪伴风格统一，建立孩子对伙伴的持久信任感。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0800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52705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397000" y="5232400"/>
            <a:ext cx="177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情绪树洞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89000" y="57785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孩子可以毫无顾忌倾诉烦恼，获得耐心倾听与温柔回应。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467100" y="50800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594100" y="52705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4102100" y="5232400"/>
            <a:ext cx="177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伴学引导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3594100" y="57785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在学习中提供启发式提问，不直接给答案，培养自主思考力。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172200" y="50800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299200" y="5270500"/>
            <a:ext cx="406400" cy="4064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6807200" y="5232400"/>
            <a:ext cx="177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习惯养成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299200" y="57785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通过趣味打卡、正向激励，潜移默化帮助孩子建立良好生活习惯。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877300" y="50800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004300" y="5270500"/>
            <a:ext cx="406400" cy="406400"/>
          </a:xfrm>
          <a:prstGeom prst="rect">
            <a:avLst/>
          </a:prstGeom>
        </p:spPr>
      </p:pic>
      <p:sp>
        <p:nvSpPr>
          <p:cNvPr name="AutoShape 35" id="35"/>
          <p:cNvSpPr/>
          <p:nvPr/>
        </p:nvSpPr>
        <p:spPr>
          <a:xfrm rot="0" flipH="false" flipV="false">
            <a:off x="9512300" y="5232400"/>
            <a:ext cx="177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睡前陪伴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004300" y="57785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讲述温馨故事、舒缓助眠内容，用温柔的声音守护孩子安然入睡。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产品演示（Demo）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19200"/>
            <a:ext cx="76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413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49400" y="24130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情绪树洞交互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429000"/>
            <a:ext cx="2921000" cy="8255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35306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“今天被老师批评了，好难过。感觉全班同学都在看我，心里特别不是滋味。”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572000"/>
            <a:ext cx="2921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被当众批评确实很难受。我小时候有一次也这样，后来鼓起勇气问老师才解开误会。要不要说说发生了什么？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842000"/>
            <a:ext cx="3429000" cy="635000"/>
          </a:xfrm>
          <a:prstGeom prst="roundRect">
            <a:avLst>
              <a:gd name="adj" fmla="val 0"/>
            </a:avLst>
          </a:prstGeom>
          <a:solidFill>
            <a:srgbClr val="F0F2F5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9000" y="5943600"/>
            <a:ext cx="317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核心亮点：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共情式倾听，主动分享“经历”拉近心理距离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815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381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2413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168900" y="24130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跨会话长期记忆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946" flipH="false" flipV="false">
            <a:off x="46355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4635500" y="3429000"/>
            <a:ext cx="2921000" cy="1397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762500" y="3530600"/>
            <a:ext cx="2667000" cy="1193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“上次你说数学最后一道大题好难，后来听说你自己查资料搞定了，特别厉害！今天有遇到什么有趣的事，或者需要我帮忙的难题吗？”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635500" y="5080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系统能留存历史对话关键信息，在后续交互中自然提及，构建持续、连贯的伙伴关系，而非一次性对话。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381500" y="5842000"/>
            <a:ext cx="3429000" cy="635000"/>
          </a:xfrm>
          <a:prstGeom prst="roundRect">
            <a:avLst>
              <a:gd name="adj" fmla="val 0"/>
            </a:avLst>
          </a:prstGeom>
          <a:solidFill>
            <a:srgbClr val="F0F2F5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508500" y="5943600"/>
            <a:ext cx="317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核心亮点：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记忆关键事件，让AI更有“温度”和连贯性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01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001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55000" y="24130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8788400" y="24130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家长端情绪周报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4946" flipH="false" flipV="false">
            <a:off x="8255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8255000" y="3429000"/>
            <a:ext cx="1371600" cy="1016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356600" y="3556000"/>
            <a:ext cx="1168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本周开心时刻😊</a:t>
            </a:r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804400" y="3429000"/>
            <a:ext cx="1371600" cy="1016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906000" y="3556000"/>
            <a:ext cx="1168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沮丧时刻(数学作业)</a:t>
            </a:r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255000" y="4699000"/>
            <a:ext cx="292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系统自动脱敏分析情绪状态，生成非监视性周报。本周沮丧情绪已由AI介入疏导，未产生持续负面情绪，无需家长额外干预。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001000" y="5842000"/>
            <a:ext cx="3429000" cy="635000"/>
          </a:xfrm>
          <a:prstGeom prst="roundRect">
            <a:avLst>
              <a:gd name="adj" fmla="val 0"/>
            </a:avLst>
          </a:prstGeom>
          <a:solidFill>
            <a:srgbClr val="F0F2F5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128000" y="5943600"/>
            <a:ext cx="317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核心亮点：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不侵犯隐私，让家长放心、孩子安心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技术壁垒：Mind Engine 心智引擎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651000"/>
            <a:ext cx="10160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 Mind Engine？</a:t>
            </a: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它是由长期记忆系统、情感感知引擎、人格控制模型构成的AI心智架构，绝非简单的“对话引擎”升级版，而是专为关系型AI打造的底层操作系统，从根本上重塑人机交互的逻辑。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17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365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327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记忆检索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4323" flipH="false" flipV="false">
            <a:off x="952513" y="386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952500" y="40005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行业现状：仅基于语义相关性进行匹配，缺乏情感与场景权重。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Mind Engine：情绪加权排序，优先唤醒高情感关联的记忆片段。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81500" y="317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81500" y="317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3365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016500" y="3327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记忆调用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323" flipH="false" flipV="false">
            <a:off x="4572013" y="386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572000" y="40005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行业现状：依赖Agent自主行为或死板规则引擎，容易出现逻辑混乱。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Mind Engine：人格约束过滤+保守策略，确保输出符合角色设定。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001000" y="317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01000" y="317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3365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636000" y="3327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反馈闭环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4323" flipH="false" flipV="false">
            <a:off x="8191513" y="386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8191500" y="40005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行业现状：缺少有效的记忆反馈机制，无法从历史交互中迭代优化。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Mind Engine：调用后果→敏感标记→策略调整，形成完整的自进化闭环。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46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12700" cmpd="sng" cap="flat">
            <a:solidFill>
              <a:srgbClr val="F9731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6515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1651000" y="5588000"/>
            <a:ext cx="952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技术验证与护城河：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系统架构已对标 Mem0、Letta、OpenClaw、SCM 等全球顶尖开源方案，在情感融入与记忆权重分配上实现关键突破，构建了难以复制的差异化技术壁垒。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市场机会：百亿级赛道，“窗口期+监管红利”双重共振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76200" cy="1651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510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全球儿童陪伴机器人市场持续扩容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167" flipH="false" flipV="false">
            <a:off x="1016008" y="2152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2860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6.4%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2025-2032年复合年增长率(CAGR)</a:t>
            </a:r>
          </a:p>
        </p:txBody>
      </p:sp>
      <p:cxnSp>
        <p:nvCxnSpPr>
          <p:cNvPr name="Connector 8" id="8"/>
          <p:cNvCxnSpPr/>
          <p:nvPr/>
        </p:nvCxnSpPr>
        <p:spPr>
          <a:xfrm rot="5331254" flipH="false" flipV="false">
            <a:off x="3111500" y="2660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3556000" y="2286000"/>
            <a:ext cx="234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11.27→17.38亿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市场规模从2025年至2032年稳步攀升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86500" y="1524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86500" y="1524000"/>
            <a:ext cx="76200" cy="1651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40500" y="16510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中国AI陪伴机器人消费渗透率爆发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167" flipH="false" flipV="false">
            <a:off x="6540508" y="2152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540500" y="22860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35.07%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2026年AI陪伴机器人消费占比</a:t>
            </a:r>
          </a:p>
        </p:txBody>
      </p:sp>
      <p:cxnSp>
        <p:nvCxnSpPr>
          <p:cNvPr name="Connector 15" id="15"/>
          <p:cNvCxnSpPr/>
          <p:nvPr/>
        </p:nvCxnSpPr>
        <p:spPr>
          <a:xfrm rot="5331254" flipH="false" flipV="false">
            <a:off x="8636000" y="2660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9080500" y="2286000"/>
            <a:ext cx="234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TOP 2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已跃升为AI玩具市场第二大核心品类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556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3683000"/>
            <a:ext cx="234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2.14亿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中国0-14岁儿童人口基数</a:t>
            </a:r>
          </a:p>
        </p:txBody>
      </p:sp>
      <p:cxnSp>
        <p:nvCxnSpPr>
          <p:cNvPr name="Connector 19" id="19"/>
          <p:cNvCxnSpPr/>
          <p:nvPr/>
        </p:nvCxnSpPr>
        <p:spPr>
          <a:xfrm rot="5342709" flipH="false" flipV="false">
            <a:off x="3009900" y="4121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3556000" y="3683000"/>
            <a:ext cx="234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1.3亿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核心家庭用户规模支撑市场需求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86500" y="3556000"/>
            <a:ext cx="527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行业爆发的三大核心驱动力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8283" flipH="false" flipV="false">
            <a:off x="6286508" y="3994150"/>
            <a:ext cx="527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9731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286500" y="4191000"/>
            <a:ext cx="16764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413500" y="43180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794500" y="4292600"/>
            <a:ext cx="1143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技术成熟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13500" y="4762500"/>
            <a:ext cx="1422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开源大模型普及，AI能力接入成本大幅下降90%，创业门槛显著降低。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077200" y="4191000"/>
            <a:ext cx="16764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204200" y="4318000"/>
            <a:ext cx="304800" cy="3048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8585200" y="4292600"/>
            <a:ext cx="1143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心智转向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204200" y="4762500"/>
            <a:ext cx="1422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近六成青年家长愿为“情绪价值”买单，产品价值从功能转向情感陪伴。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867900" y="4191000"/>
            <a:ext cx="16764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994900" y="4318000"/>
            <a:ext cx="304800" cy="3048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10375900" y="4292600"/>
            <a:ext cx="1143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监管利好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994900" y="4762500"/>
            <a:ext cx="1422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2026年7月新规严控成人向内容，合规儿童陪伴产品迎来结构性蓝海。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62000" y="5842000"/>
            <a:ext cx="10795000" cy="7112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12700" cmpd="sng" cap="flat">
            <a:solidFill>
              <a:srgbClr val="F9731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52500" y="59436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2026年是创业公司抢占儿童陪伴心智的最佳时点，窗口期与监管红利形成完美共振。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竞争分析：三大阵营均未解决“关系维持”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3846" b="3846"/>
          <a:stretch>
            <a:fillRect/>
          </a:stretch>
        </p:blipFill>
        <p:spPr>
          <a:xfrm rot="0" flipH="false" flipV="false">
            <a:off x="762000" y="1651000"/>
            <a:ext cx="3302000" cy="203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3937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937000"/>
            <a:ext cx="50800" cy="1270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4038600"/>
            <a:ext cx="29845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学习机阵营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代表：科大讯飞、作业帮 | 核心短板：强工具导向，仅聚焦知识灌输，完全缺乏深层的情感陪伴与互动联结。</a:t>
            </a:r>
          </a:p>
        </p:txBody>
      </p:sp>
      <p:cxnSp>
        <p:nvCxnSpPr>
          <p:cNvPr name="Connector 8" id="8"/>
          <p:cNvCxnSpPr/>
          <p:nvPr/>
        </p:nvCxnSpPr>
        <p:spPr>
          <a:xfrm rot="5387722" flipH="false" flipV="false">
            <a:off x="2603500" y="3422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7343" r="7343" t="0" b="0"/>
          <a:stretch>
            <a:fillRect/>
          </a:stretch>
        </p:blipFill>
        <p:spPr>
          <a:xfrm rot="0" flipH="false" flipV="false">
            <a:off x="4572000" y="1651000"/>
            <a:ext cx="3302000" cy="203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4572000" y="3937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3937000"/>
            <a:ext cx="50800" cy="1270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762500" y="4038600"/>
            <a:ext cx="29845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角色对话平台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代表：Character.AI、Replika | 核心短板：内容偏向成人化，用户留存率低，且存在难以逾越的儿童监管红线风险。</a:t>
            </a:r>
          </a:p>
        </p:txBody>
      </p:sp>
      <p:cxnSp>
        <p:nvCxnSpPr>
          <p:cNvPr name="Connector 13" id="13"/>
          <p:cNvCxnSpPr/>
          <p:nvPr/>
        </p:nvCxnSpPr>
        <p:spPr>
          <a:xfrm rot="5387722" flipH="false" flipV="false">
            <a:off x="6413500" y="3422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rcRect l="0" r="0" t="4336" b="4336"/>
          <a:stretch>
            <a:fillRect/>
          </a:stretch>
        </p:blipFill>
        <p:spPr>
          <a:xfrm rot="0" flipH="false" flipV="false">
            <a:off x="8382000" y="1651000"/>
            <a:ext cx="3302000" cy="203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3937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3937000"/>
            <a:ext cx="50800" cy="1270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572500" y="4038600"/>
            <a:ext cx="29845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AI玩具阵营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代表：BubblePal、噜咔博士 | 核心短板：硬件有体感但AI能力仅L1级，交互呆板，属于“有身体无灵魂”的初级形态。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524500"/>
            <a:ext cx="10922000" cy="1016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524500"/>
            <a:ext cx="50800" cy="1016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6515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唯一专注儿童L3级关系型陪伴的产品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填补市场空白，深耕儿童心理成长与情感联结，构建真实、持续的AI伙伴关系。</a:t>
            </a:r>
          </a:p>
        </p:txBody>
      </p:sp>
      <p:cxnSp>
        <p:nvCxnSpPr>
          <p:cNvPr name="Connector 21" id="21"/>
          <p:cNvCxnSpPr/>
          <p:nvPr/>
        </p:nvCxnSpPr>
        <p:spPr>
          <a:xfrm rot="5342709" flipH="false" flipV="false">
            <a:off x="6223000" y="6026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858000" y="5613400"/>
            <a:ext cx="190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拒绝功能堆砌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核心是“关系构建”，而非简单的功能叠加。</a:t>
            </a:r>
          </a:p>
        </p:txBody>
      </p:sp>
      <p:cxnSp>
        <p:nvCxnSpPr>
          <p:cNvPr name="Connector 23" id="23"/>
          <p:cNvCxnSpPr/>
          <p:nvPr/>
        </p:nvCxnSpPr>
        <p:spPr>
          <a:xfrm rot="5342709" flipH="false" flipV="false">
            <a:off x="8509000" y="6026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9017000" y="5613400"/>
            <a:ext cx="2540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情感优先驱动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以无屏/低屏交互，实现深层情感陪伴体验。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商业模式：硬件+订阅+生态，三层收入模型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0800" cy="2159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01 启动期：MVP验证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4946" flipH="false" flipV="false">
            <a:off x="1016014" y="221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2921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通过免费Web端产品切入市场，低成本验证核心功能与用户留存数据，打磨产品体验，积累首批核心用户画像，为后续硬件发布奠定基础。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524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1524000"/>
            <a:ext cx="50800" cy="2159000"/>
          </a:xfrm>
          <a:prstGeom prst="roundRect">
            <a:avLst>
              <a:gd name="adj" fmla="val 0"/>
            </a:avLst>
          </a:prstGeom>
          <a:solidFill>
            <a:srgbClr val="F97316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35500" y="1714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02 成长期：硬件+订阅双轮驱动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4946" flipH="false" flipV="false">
            <a:off x="4635514" y="221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35500" y="2413000"/>
            <a:ext cx="2921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硬件销售毛利率约30%，叠加20-30元/月订阅服务；目标首年出货10万台，付费转化率达30%，构建稳定的基础现金流与用户基数。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1524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1524000"/>
            <a:ext cx="50800" cy="2159000"/>
          </a:xfrm>
          <a:prstGeom prst="roundRect">
            <a:avLst>
              <a:gd name="adj" fmla="val 0"/>
            </a:avLst>
          </a:prstGeom>
          <a:solidFill>
            <a:srgbClr val="F97316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1714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03 成熟期：生态价值延伸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4946" flipH="false" flipV="false">
            <a:off x="8255014" y="221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255000" y="2413000"/>
            <a:ext cx="2921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拓展内容付费、IP衍生品及第三方服务分成，深挖用户全生命周期价值，目标将用户LTV提升3倍，实现商业模式的可持续闭环。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4092" flipH="false" flipV="false">
            <a:off x="762004" y="405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762000" y="4445000"/>
            <a:ext cx="5334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" y="4572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用户全链路增长路径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8814" flipH="false" flipV="false">
            <a:off x="952508" y="5010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952500" y="5207000"/>
            <a:ext cx="11430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333500" y="5270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种子用户</a:t>
            </a: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(内测家庭)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159000" y="5549900"/>
            <a:ext cx="203200" cy="2032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2413000" y="5207000"/>
            <a:ext cx="11430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2476500" y="52705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2794000" y="5270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KOL引爆</a:t>
            </a: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(亲子社区)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619500" y="5549900"/>
            <a:ext cx="203200" cy="2032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3873500" y="5207000"/>
            <a:ext cx="12065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3937000" y="5270500"/>
            <a:ext cx="254000" cy="2540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4254500" y="5270500"/>
            <a:ext cx="825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裂变分享</a:t>
            </a: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(全渠道拓展)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477000" y="4445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667500" y="4572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关键财务模型假设</a:t>
            </a:r>
            <a:endParaRPr lang="en-US" sz="1100"/>
          </a:p>
        </p:txBody>
      </p:sp>
      <p:cxnSp>
        <p:nvCxnSpPr>
          <p:cNvPr name="Connector 35" id="35"/>
          <p:cNvCxnSpPr/>
          <p:nvPr/>
        </p:nvCxnSpPr>
        <p:spPr>
          <a:xfrm rot="-9046" flipH="false" flipV="false">
            <a:off x="6667508" y="501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6" id="36"/>
          <p:cNvSpPr/>
          <p:nvPr/>
        </p:nvSpPr>
        <p:spPr>
          <a:xfrm rot="0" flipH="false" flipV="false">
            <a:off x="6667500" y="5207000"/>
            <a:ext cx="15240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731000" y="5270500"/>
            <a:ext cx="139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硬件单价区间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¥599-799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255000" y="5207000"/>
            <a:ext cx="15240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318500" y="5270500"/>
            <a:ext cx="139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订阅服务年费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¥240-360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842500" y="5207000"/>
            <a:ext cx="15240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906000" y="5270500"/>
            <a:ext cx="139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单用户LTV预估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≈¥825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里程碑与留存目标：用数据说话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2032000" cy="2286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1841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01 Alpha阶段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349500"/>
            <a:ext cx="177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周期：0-3个月 | Web端MVP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4554" flipH="false" flipV="false">
            <a:off x="889023" y="2787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889000" y="2921000"/>
            <a:ext cx="177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核心指标聚焦跨会话记忆召回率≥70%，用户净推荐值NPS≥50，夯实产品基础体验。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048000" y="1651000"/>
            <a:ext cx="2032000" cy="2286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048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175000" y="1841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02 Beta内测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175000" y="2349500"/>
            <a:ext cx="177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周期：4-6个月 | 200+家庭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24554" flipH="false" flipV="false">
            <a:off x="3175023" y="2787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3175000" y="2921000"/>
            <a:ext cx="177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小范围封闭内测，重点验证产品核心价值，核心目标为用户7日留存率</a:t>
            </a: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≥40%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334000" y="1651000"/>
            <a:ext cx="2032000" cy="2286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334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461000" y="1841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03 硬件原型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461000" y="2349500"/>
            <a:ext cx="177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周期：6-8个月 | 产研定型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24554" flipH="false" flipV="false">
            <a:off x="5461023" y="2787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5461000" y="2921000"/>
            <a:ext cx="177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完成工业设计定稿与供应链对接，输出可量产的硬件原型机，打通软硬结合全链路。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0" y="1651000"/>
            <a:ext cx="2032000" cy="2286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747000" y="1841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04 众筹预售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747000" y="2349500"/>
            <a:ext cx="177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周期：9-10个月 | 市场预热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24554" flipH="false" flipV="false">
            <a:off x="7747023" y="2787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7747000" y="2921000"/>
            <a:ext cx="177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在主流众筹平台开启产品预售，验证市场接受度，目标众筹金额</a:t>
            </a: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≥100万元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779000" y="1651000"/>
            <a:ext cx="2032000" cy="2286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779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906000" y="1841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05 正式发售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906000" y="2349500"/>
            <a:ext cx="177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周期：10-12个月 | 规模化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-24554" flipH="false" flipV="false">
            <a:off x="9906023" y="2787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2" id="32"/>
          <p:cNvSpPr/>
          <p:nvPr/>
        </p:nvSpPr>
        <p:spPr>
          <a:xfrm rot="0" flipH="false" flipV="false">
            <a:off x="9906000" y="2921000"/>
            <a:ext cx="177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实现产品规模化量产与全渠道销售布局，达成首年累计销量</a:t>
            </a: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≥10万台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的市场目标。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4092" flipH="false" flipV="false">
            <a:off x="762004" y="443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762000" y="4699000"/>
            <a:ext cx="5334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4889500"/>
            <a:ext cx="355600" cy="355600"/>
          </a:xfrm>
          <a:prstGeom prst="rect">
            <a:avLst/>
          </a:prstGeom>
        </p:spPr>
      </p:pic>
      <p:sp>
        <p:nvSpPr>
          <p:cNvPr name="AutoShape 36" id="36"/>
          <p:cNvSpPr/>
          <p:nvPr/>
        </p:nvSpPr>
        <p:spPr>
          <a:xfrm rot="0" flipH="false" flipV="false">
            <a:off x="1460500" y="4851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聚焦“关系质量”，而非单纯“对话时长”</a:t>
            </a:r>
            <a:endParaRPr lang="en-US" sz="1100"/>
          </a:p>
        </p:txBody>
      </p:sp>
      <p:cxnSp>
        <p:nvCxnSpPr>
          <p:cNvPr name="Connector 37" id="37"/>
          <p:cNvCxnSpPr/>
          <p:nvPr/>
        </p:nvCxnSpPr>
        <p:spPr>
          <a:xfrm rot="-8814" flipH="false" flipV="false">
            <a:off x="952508" y="5391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8" id="38"/>
          <p:cNvSpPr/>
          <p:nvPr/>
        </p:nvSpPr>
        <p:spPr>
          <a:xfrm rot="0" flipH="false" flipV="false">
            <a:off x="952500" y="5524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行业普遍痛点是用户留存低、粘性弱，我们跳出“功能比拼”的误区，将核心指标锚定在用户与产品的情感联结深度上，以高质量的关系体验驱动长效留存。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477000" y="4699000"/>
            <a:ext cx="5334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67500" y="4889500"/>
            <a:ext cx="355600" cy="355600"/>
          </a:xfrm>
          <a:prstGeom prst="rect">
            <a:avLst/>
          </a:prstGeom>
        </p:spPr>
      </p:pic>
      <p:sp>
        <p:nvSpPr>
          <p:cNvPr name="AutoShape 41" id="41"/>
          <p:cNvSpPr/>
          <p:nvPr/>
        </p:nvSpPr>
        <p:spPr>
          <a:xfrm rot="0" flipH="false" flipV="false">
            <a:off x="7175500" y="4851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对标验证：Character.AI 留存约 40%</a:t>
            </a:r>
            <a:endParaRPr lang="en-US" sz="1100"/>
          </a:p>
        </p:txBody>
      </p:sp>
      <p:cxnSp>
        <p:nvCxnSpPr>
          <p:cNvPr name="Connector 42" id="42"/>
          <p:cNvCxnSpPr/>
          <p:nvPr/>
        </p:nvCxnSpPr>
        <p:spPr>
          <a:xfrm rot="-8814" flipH="false" flipV="false">
            <a:off x="6667508" y="5391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3" id="43"/>
          <p:cNvSpPr/>
          <p:nvPr/>
        </p:nvSpPr>
        <p:spPr>
          <a:xfrm rot="0" flipH="false" flipV="false">
            <a:off x="6667500" y="5524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Character.AI 作为成人向、无监管限制的对话产品，7日留存约为40%。我们面向家庭场景，以安全、有价值的互动为核心，具备实现同等甚至更高留存的潜力。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团队：核心能力补齐中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556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968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创始人 / 产品负责人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323" flipH="false" flipV="false">
            <a:off x="1016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667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深耕互联网产品领域10年，曾任职头部科技公司，主导多款千万级用户产品从0到1的完整迭代，具备敏锐的市场洞察与产品落地能力。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191000"/>
            <a:ext cx="3556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381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技术专家 / AI算法负责人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323" flipH="false" flipV="false">
            <a:off x="1016013" y="494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1016000" y="5080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拥有8年AI算法研发经验，专注于大模型微调、推荐系统与多模态交互技术，曾主导企业级AI中台架构搭建，具备扎实的工程落地经验。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90035" flipH="false" flipV="false">
            <a:off x="2508250" y="3962409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953000" y="1778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▍关键角色招募计划</a:t>
            </a:r>
            <a:endParaRPr lang="en-US" sz="1100"/>
          </a:p>
        </p:txBody>
      </p: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4953000" y="2413000"/>
          <a:ext cx="3683000" cy="3873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89000"/>
                <a:gridCol w="1778000"/>
                <a:gridCol w="1016000"/>
              </a:tblGrid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核心角色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316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关键能力要求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316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状态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316">
                        <a:alpha val="10000"/>
                      </a:srgbClr>
                    </a:solidFill>
                  </a:tcPr>
                </a:tc>
              </a:tr>
              <a:tr h="825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CEO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AI产品战略规划、融资对接、商务拓展与品牌建设统筹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9731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待招募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5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技术负责人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负责AI架构设计、Mind Engine工程化落地及技术团队管理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9731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待招募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5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产品负责人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具备儿童心理学背景，擅长交互体验设计与用户需求挖掘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9731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待招募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5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硬件负责人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统筹供应链管理、硬件工业设计与量产交付全流程把控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后期加入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19" id="19"/>
          <p:cNvCxnSpPr/>
          <p:nvPr/>
        </p:nvCxnSpPr>
        <p:spPr>
          <a:xfrm rot="5390035" flipH="false" flipV="false">
            <a:off x="6635750" y="3962409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9017000" y="1778000"/>
            <a:ext cx="273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▍顶级顾问资源支持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017000" y="2540000"/>
            <a:ext cx="2730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144000" y="26670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525000" y="2667000"/>
            <a:ext cx="2095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学术顾问：儿童心理专家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7629" flipH="false" flipV="false">
            <a:off x="9144016" y="3105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9144000" y="3238500"/>
            <a:ext cx="2476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特聘知名高校发展与教育心理学教授，为产品的儿童心理适配、内容设计提供专业学术指导与理论支撑。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017000" y="4445000"/>
            <a:ext cx="2730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144000" y="45720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9525000" y="4572000"/>
            <a:ext cx="2095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产业顾问：硬件/供应链专家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-17629" flipH="false" flipV="false">
            <a:off x="9144016" y="5010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9144000" y="5143500"/>
            <a:ext cx="2476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邀请前头部硬件大厂高管担任顾问，在供应链整合、工业设计及生产制造环节提供实战经验与行业资源对接。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融资需求与用途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97316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2476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1841500"/>
            <a:ext cx="171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融资轮次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413000"/>
            <a:ext cx="2095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种子轮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92500" y="1651000"/>
            <a:ext cx="2476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925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683000" y="1841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127500" y="1841500"/>
            <a:ext cx="171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融资金额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83000" y="2413000"/>
            <a:ext cx="2095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500-800万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1651000"/>
            <a:ext cx="2476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13500" y="1841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858000" y="1841500"/>
            <a:ext cx="171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投后估值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13500" y="2413000"/>
            <a:ext cx="2095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3000-5000万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953500" y="1651000"/>
            <a:ext cx="2476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9535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144000" y="1841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588500" y="1841500"/>
            <a:ext cx="171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出让股份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144000" y="2413000"/>
            <a:ext cx="2095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15-20%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 flipH="false" flipV="false">
            <a:off x="762000" y="3556000"/>
            <a:ext cx="4826000" cy="1905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5" id="25"/>
          <p:cNvSpPr/>
          <p:nvPr/>
        </p:nvSpPr>
        <p:spPr>
          <a:xfrm rot="0" flipH="false" flipV="false">
            <a:off x="6223000" y="3556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0" y="3683000"/>
            <a:ext cx="4953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资金重点投向核心能力建设：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37.5%用于组建5-8人的核心技术与产品团队，夯实人才基础；25%投入Web端MVP开发，确保3个月内完成产品闭环；剩余资金合理分配于早期用户运营、硬件原型验证及法务行政等必要开支，保障项目全链路有序推进。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715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12700" cmpd="sng" cap="flat">
            <a:solidFill>
              <a:srgbClr val="F9731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52500" y="5880100"/>
            <a:ext cx="406400" cy="4064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1651000" y="5842000"/>
            <a:ext cx="952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下一轮规划：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启动Pre-A轮融资，目标金额1500-2000万元，预计投后估值1-1.5亿元，资金将专项用于硬件量产落地与全渠道市场推广，快速占领市场份额。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风险与应对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838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796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技术实现难度高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25278" flipH="false" flipV="false">
            <a:off x="4533900" y="2190819"/>
            <a:ext cx="58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5080000" y="1841500"/>
            <a:ext cx="6096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采取分阶段迭代策略，Alpha版本聚焦记忆与情绪基础能力的落地，人格塑造功能随用户反馈逐步增强，降低初期研发复杂度与试错成本。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819400"/>
            <a:ext cx="10668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819400"/>
            <a:ext cx="76200" cy="838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2921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用户留存不达预期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5325278" flipH="false" flipV="false">
            <a:off x="4533900" y="3232219"/>
            <a:ext cx="58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5080000" y="2882900"/>
            <a:ext cx="6096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将核心指标从单纯的“打开次数”转向衡量用户与产品的“关系质量”，通过持续收集交互反馈快速迭代功能，深化情感连接以提升长期留存率。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860800"/>
            <a:ext cx="10668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860800"/>
            <a:ext cx="76200" cy="838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39624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大厂入局挤压市场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5325278" flipH="false" flipV="false">
            <a:off x="4533900" y="4273619"/>
            <a:ext cx="58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5080000" y="3924300"/>
            <a:ext cx="6096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大厂优势集中在工具属性，而我们深耕情感交互领域；以用户情感数据飞轮构建先发壁垒，形成差异化竞争优势，规避同质化价格与功能战。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851400"/>
            <a:ext cx="52705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851400"/>
            <a:ext cx="76200" cy="1219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4953000"/>
            <a:ext cx="476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硬件成本失控风险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坚持“先Web后硬件”的路径，用数据验证需求后再投入硬件研发；采用轻量级芯片方案控制BOM成本，避免盲目投入带来的资源浪费。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159500" y="4851400"/>
            <a:ext cx="52705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159500" y="4851400"/>
            <a:ext cx="76200" cy="1219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13500" y="4953000"/>
            <a:ext cx="476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行业监管政策变化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已前瞻性按新规设计“单向守护”数据使用模式，确保用户隐私安全与合规；提前完成合规架构搭建，建立行业合规先发优势，规避政策风险。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1270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我们不是在做一个“会聊天的AI”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540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我们是在做一个能在时间中维持关系的存在。它不是工具，不是玩具，不是老师，</a:t>
            </a:r>
            <a:r>
              <a:rPr lang="en-US" b="false" i="false" strike="noStrike" u="none" sz="18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8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而是一个记得你、理解你、始终如一的伙伴。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461000" y="3937000"/>
            <a:ext cx="1270000" cy="254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31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市场不缺会聊天的AI，但缺一个能陪你成长的朋友。我们想把这份温暖与陪伴，带给每一个孩子。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5588000"/>
            <a:ext cx="12192000" cy="1270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5715000"/>
            <a:ext cx="736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行动号召：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让我们一起，为2亿中国儿童，打造第一个真正意义上的AI成长伙伴。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331254" flipH="false" flipV="false">
            <a:off x="8064500" y="6089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636000" y="5715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[创始人姓名] | [邮箱] | [微信]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期待与您携手同行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{"Label":"1","ContentProducer":"001191110102MACQD9K64010000","ProduceID":"7651235357708012500","ReservedCode1":"","ContentPropagator":"","PropagateID":"","ReservedCode2":""}</vt:lpwstr>
  </property>
</Properties>
</file>