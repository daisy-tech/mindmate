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vnd.openxmlformats-officedocument.spreadsheetml.sheet" Extension="xlsx"/>
  <Default ContentType="application/xml" Extension="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chart1.xml><?xml version="1.0" encoding="utf-8"?>
<chartSpace xmlns="http://schemas.openxmlformats.org/drawingml/2006/chart"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date1904 val="false"/>
  <lang val="en-US"/>
  <roundedCorners val="true"/>
  <chart>
    <title>
      <tx>
        <rich>
          <a:bodyPr anchorCtr="false" rot="0" spcFirstLastPara="false"/>
          <a:p>
            <a:pPr>
              <a:defRPr b="true" baseline="0" i="false" kern="1200" spc="0" strike="noStrike"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 b="true" baseline="0" i="false" kern="0" lang="en-US" spc="0" sz="1400">
                <a:solidFill>
                  <a:srgbClr val="333333"/>
                </a:solidFill>
              </a:rPr>
              <a:t>市场规模爆发式增长对比 (单位：亿元)</a:t>
            </a:r>
          </a:p>
        </rich>
      </tx>
      <layout>
        <manualLayout>
          <xMode val="edge"/>
          <yMode val="edge"/>
          <x val="0"/>
          <y val="0"/>
        </manualLayout>
      </layout>
      <overlay val="false"/>
      <spPr/>
      <txPr>
        <a:bodyPr anchorCtr="false" rot="0" spcFirstLastPara="false"/>
        <a:p>
          <a:pPr>
            <a:defRPr b="true" baseline="0" i="false" kern="1200" spc="0" strike="noStrike" sz="14000" u="none"/>
          </a:pPr>
          <a:endParaRPr lang="en-US"/>
        </a:p>
      </txPr>
    </title>
    <plotArea>
      <barChart>
        <barDir val="col"/>
        <grouping val="clustered"/>
        <varyColors val="false"/>
        <ser>
          <idx val="0"/>
          <order val="0"/>
          <tx>
            <v>当前规模(2025)</v>
          </tx>
          <spPr>
            <a:solidFill>
              <a:srgbClr val="FFA500"/>
            </a:solidFill>
            <a:ln>
              <a:noFill> </a:noFill>
            </a:ln>
          </spPr>
          <dLbls>
            <showLegendKey val="false"/>
            <showVal val="false"/>
            <showCatName val="false"/>
            <showSerName val="false"/>
            <showPercent val="false"/>
            <showBubbleSize val="false"/>
            <showLeaderLines val="false"/>
          </dLbls>
          <invertIfNegative val="false"/>
          <cat>
            <strLit>
              <pt idx="0">
                <v>AI情感陪伴</v>
              </pt>
              <pt idx="1">
                <v>AI玩具</v>
              </pt>
              <ptCount val="2"/>
            </strLit>
          </cat>
          <val>
            <numLit>
              <formatCode>General</formatCode>
              <pt idx="0">
                <v>38.66</v>
              </pt>
              <pt idx="1">
                <v>290</v>
              </pt>
              <ptCount val="2"/>
            </numLit>
          </val>
          <smooth val="false"/>
        </ser>
        <ser>
          <idx val="1"/>
          <order val="1"/>
          <tx>
            <v>预测规模(2026/2028)</v>
          </tx>
          <spPr>
            <a:solidFill>
              <a:srgbClr val="FFA500"/>
            </a:solidFill>
            <a:ln>
              <a:noFill> </a:noFill>
            </a:ln>
          </spPr>
          <dLbls>
            <showLegendKey val="false"/>
            <showVal val="false"/>
            <showCatName val="false"/>
            <showSerName val="false"/>
            <showPercent val="false"/>
            <showBubbleSize val="false"/>
            <showLeaderLines val="false"/>
          </dLbls>
          <invertIfNegative val="false"/>
          <cat>
            <strLit>
              <pt idx="0">
                <v>AI情感陪伴</v>
              </pt>
              <pt idx="1">
                <v>AI玩具</v>
              </pt>
              <ptCount val="2"/>
            </strLit>
          </cat>
          <val>
            <numLit>
              <formatCode>General</formatCode>
              <pt idx="0">
                <v>595</v>
              </pt>
              <pt idx="1">
                <v>342</v>
              </pt>
              <ptCount val="2"/>
            </numLit>
          </val>
          <smooth val="false"/>
        </ser>
        <dLbls>
          <showLegendKey val="false"/>
          <showVal val="false"/>
          <showCatName val="false"/>
          <showSerName val="false"/>
          <showPercent val="false"/>
          <showBubbleSize val="false"/>
          <showLeaderLines val="false"/>
        </dLbls>
        <overlap val="-27"/>
        <gapWidth val="500"/>
        <axId val="754001152"/>
        <axId val="753999904"/>
      </barChart>
      <catAx>
        <axId val="754001152"/>
        <scaling>
          <orientation val="minMax"/>
        </scaling>
        <delete val="false"/>
        <axPos val="b"/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3999904"/>
        <crosses val="min"/>
        <auto val="true"/>
        <lblAlgn val="ctr"/>
        <lblOffset val="100"/>
        <noMultiLvlLbl val="false"/>
      </catAx>
      <valAx>
        <axId val="753999904"/>
        <scaling>
          <orientation val="minMax"/>
        </scaling>
        <delete val="false"/>
        <axPos val="l"/>
        <majorGridlines>
          <spPr>
            <a:ln w="9525">
              <a:solidFill>
                <a:srgbClr val="DCDCDC"/>
              </a:solidFill>
            </a:ln>
          </spPr>
        </majorGridlines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4001152"/>
        <crosses val="min"/>
        <crossBetween val="between"/>
      </valAx>
      <spPr>
        <a:noFill> </a:noFill>
        <a:ln>
          <a:noFill> </a:noFill>
        </a:ln>
      </spPr>
    </plotArea>
    <plotVisOnly val="true"/>
    <dispBlanksAs val="gap"/>
    <showDLblsOverMax val="false"/>
  </chart>
  <spPr>
    <a:noFill/>
    <a:ln algn="ctr" cap="flat" cmpd="sng" w="9525">
      <a:noFill/>
    </a:ln>
  </spPr>
  <printSettings>
    <pageMargins b="0.75" footer="0.3" header="0.3" l="0.7" r="0.7" t="0.7"/>
  </printSettings>
  <c:externalData r:id="rId1">
    <c:autoUpdate val="0"/>
  </c:externalData>
</chartSpace>
</file>

<file path=ppt/charts/chart2.xml><?xml version="1.0" encoding="utf-8"?>
<chartSpace xmlns="http://schemas.openxmlformats.org/drawingml/2006/chart"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date1904 val="false"/>
  <lang val="en-US"/>
  <roundedCorners val="true"/>
  <chart>
    <plotArea>
      <doughnutChart>
        <varyColors val="true"/>
        <ser>
          <idx val="0"/>
          <order val="0"/>
          <tx>
            <v>占比</v>
          </tx>
          <dPt>
            <idx val="0"/>
            <spPr>
              <a:solidFill>
                <a:srgbClr val="FFA500"/>
              </a:solidFill>
            </spPr>
          </dPt>
          <dPt>
            <idx val="1"/>
            <spPr>
              <a:solidFill>
                <a:srgbClr val="FBBF24"/>
              </a:solidFill>
            </spPr>
          </dPt>
          <dPt>
            <idx val="2"/>
            <spPr>
              <a:solidFill>
                <a:srgbClr val="FDE68A"/>
              </a:solidFill>
            </spPr>
          </dPt>
          <dPt>
            <idx val="3"/>
            <spPr>
              <a:solidFill>
                <a:srgbClr val="D1D5DB"/>
              </a:solidFill>
            </spPr>
          </dPt>
          <dLbls>
            <showLegendKey val="false"/>
            <showVal val="false"/>
            <showCatName val="true"/>
            <showSerName val="false"/>
            <showPercent val="true"/>
            <showBubbleSize val="false"/>
            <showLeaderLines val="true"/>
            <dLbl>
              <idx val="0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12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dLbl>
              <idx val="1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12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dLbl>
              <idx val="2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12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dLbl>
              <idx val="3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12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txPr>
              <a:bodyPr anchorCtr="false" rot="0" spcFirstLastPara="false"/>
              <a:p>
                <a:pPr>
                  <a:defRPr b="false" baseline="0" i="false" kern="1200" spc="0" strike="noStrike" sz="1200">
                    <a:solidFill>
                      <a:srgbClr val="374151"/>
                    </a:solidFill>
                  </a:defRPr>
                </a:pPr>
                <a:endParaRPr lang="en-US"/>
              </a:p>
            </txPr>
          </dLbls>
          <invertIfNegative val="false"/>
          <cat>
            <strLit>
              <pt idx="0">
                <v>硬件研发量产</v>
              </pt>
              <pt idx="1">
                <v>软件迭代AI</v>
              </pt>
              <pt idx="2">
                <v>团队扩充</v>
              </pt>
              <pt idx="3">
                <v>市场推广</v>
              </pt>
              <ptCount val="4"/>
            </strLit>
          </cat>
          <val>
            <numLit>
              <formatCode>General</formatCode>
              <pt idx="0">
                <v>40</v>
              </pt>
              <pt idx="1">
                <v>30</v>
              </pt>
              <pt idx="2">
                <v>20</v>
              </pt>
              <pt idx="3">
                <v>10</v>
              </pt>
              <ptCount val="4"/>
            </numLit>
          </val>
          <smooth val="false"/>
        </ser>
        <holeSize val="40"/>
        <firstSliceAng val="0"/>
      </doughnutChart>
      <spPr>
        <a:noFill> </a:noFill>
        <a:ln>
          <a:noFill> </a:noFill>
        </a:ln>
      </spPr>
    </plotArea>
    <plotVisOnly val="true"/>
    <dispBlanksAs val="gap"/>
    <showDLblsOverMax val="false"/>
  </chart>
  <spPr>
    <a:noFill/>
    <a:ln algn="ctr" cap="flat" cmpd="sng" w="9525">
      <a:noFill/>
    </a:ln>
  </spPr>
  <printSettings>
    <pageMargins b="0.75" footer="0.3" header="0.3" l="0.7" r="0.7" t="0.7"/>
  </printSettings>
  <c:externalData r:id="rId1">
    <c:autoUpdate val="0"/>
  </c:externalData>
</chartSpace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大家好，今天我要向大家介绍的不是一个简单的聊天机器人集合，而是一座真正由AI角色持续生活的虚拟小镇——疯狂动物城。我们的目标是，让每个AI都拥有一个可以生活、行动、建立关系并留下故事的世界。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你用过那些AI聊天产品吗？比如Character.AI，它有2000万月活用户，但商业化却非常困难。为什么？因为现有产品的核心问题是，AI虽然“说得像真的”，但实际上“做不出来”。你让它去找朋友，它答应了，但什么都没发生。聊完就结束了，关系无法延续。我们想要的是，当AI说'我去找他了'，他真的会在小镇里移动，真的会去对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解决方案，就是这座“疯狂动物城”——一个由AI角色持续生活的在线虚拟小镇。它的核心定义非常简单：“角色说过的事情，会在世界里真的发生”。这意味着三点：首先，小镇是持续运行的，你下线了，你的AI朋友还在生活。其次，AI的行动是真实的，它们会根据你的指令在地图上移动和做事。最后，这一切都会形成长期记忆，让你们的关系得以沉淀和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第一个核心功能，是实现了AI的真实行动。这很重要，因为它让角色不再是你的提线木偶。你可以用自然语言给它指令，但它会自己决定是否接受。它可能会拒绝，可能会推迟，也可能会提出一个替代方案。这个从请求到最终形成记忆的完整闭环，以及角色间的双向同意机制，才真正构建了一个有真实感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核心功能，是我们的长期记忆与每日剧场系统。我们把记忆分成了对话、行为、承诺等多个层次，让AI的记忆更加真实和立体。更重要的是，我们能从这些真实记忆中，自动生成“每日剧场”——一个15到30秒的短视频或图文故事。这不是让大模型凭空编故事，而是逐幕引用小镇中已经发生的真实证据，把数据变成了有价值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这份陪伴更真实，我们设计了硬件入口——一款虚拟宠物版的电子吧唧。它是一个巴掌大小的圆形屏幕，你领养的宠物就住在里面，状态和小镇实时同步。它能让你随时看到宠物的可爱动态，性格也会随互动成长。我们选择这个形态，是因为它门槛低、成本可控，并且市场已经验证了它的受欢迎程度。我们做的不是电子相册，而是让你的AI宠物从虚拟世界走进了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目标用户是以家庭为核心，双向辐射的。核心是22到30岁的独居青年，他们需要情感陪伴。同时，我们辐射到青少年，满足他们的创作和社交需求；以及30到40岁的家长和职场人，他们可以通过这个产品进行亲子互动或放松自己。我们做的是一个“全年龄友好”的AI活世界，这在当前的监管环境下，不仅不是限制，反而是我们的护城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正站在一个爆发性增长的赛道上。中国AI情感陪伴市场预计在2028年达到近600亿规模，年复合增长率高达148%。同时，AI玩具市场也在稳步增长。我们观察到三个明显趋势：用户需要的是真正的陪伴，而不只是对话；软硬一体是未来方向；产品的乐趣和情感价值才是留存的关键。在这个赛道里，还没有一个产品能同时满足我们提出的所有核心要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差异化非常明显。传统AI聊天只能聊，AI小镇类竞品虽然能行动，但言行不一。而我们，通过生成式对话和真实行动的结合，实现了言行的高度一致。我们的分层记忆系统、独特的硬件入口，以及最重要的——全年龄友好的内容安全策略，构成了我们坚实的护城河。在当前的监管环境下，这一点尤为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设计了四层收入模型，形成了一个完整的商业闭环。底层是硬件销售，作为入口利润，有效筛选出高价值用户。中间层是软件订阅和虚拟商品内购，提供持续稳定的收入和深度变现。顶层是内容付费，比如为精彩的“每日剧场”视频付费，或者购买年度回忆录，作为增量收入。这个设计从一开始就解决了“用户为什么付钱”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不是一家PPT公司。目前，我们已经完成了产品核心功能的B1阶段验证。大家看到的这些功能，包括小镇运行、角色行动、长期记忆和每日剧场，都已经在我们的服务器上真实跑起来了。接下来，我们的重点是完成视频合成、硬件研发和首批用户的付费验证，商业化已经触手可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完成商业化闭环的验证，我们计划进行天使轮融资，金额在500万到800万元，出让10-15%的股权。这笔资金将主要用于硬件的研发量产和软件的持续优化。我们的目标非常明确：在12个月内实现硬件销售和稳定的月收入，为下一轮融资打下坚实基础。我们需要的不是烧钱扩张，而是验证一个健康的单位经济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I时代，我们认为团队贵在“精”而不在“多”。我们计划用15人左右的核心团队启动项目，通过高效利用AI工具，实现传统团队50人才能达到的效率。目前，我们正在积极寻找在AI算法、全栈开发、嵌入式硬件和内容运营方面的优秀人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总结我们的愿景。我们正在做的，是AI时代的“迪士尼+宝可梦”。我们希望让每个AI角色都拥有真实的生命，让每个用户都拥有专属的伙伴。请记住，这不是一个简单的聊天工具，而是一座真正活着的小镇；这不是一个电子相册，而是一个会成长的赛博宠物；这更不是一个烧钱的Demo，而是一个已经跑通闭环的商业产品。欢迎大家来到疯狂动物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17.png" Type="http://schemas.openxmlformats.org/officeDocument/2006/relationships/image"/><Relationship Id="rId20" Target="../notesSlides/notesSlide4.xml" Type="http://schemas.openxmlformats.org/officeDocument/2006/relationships/notesSlid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7.png" Type="http://schemas.openxmlformats.org/officeDocument/2006/relationships/image"/><Relationship Id="rId20" Target="../media/image11.png" Type="http://schemas.openxmlformats.org/officeDocument/2006/relationships/image"/><Relationship Id="rId21" Target="../media/image12.svg" Type="http://schemas.openxmlformats.org/officeDocument/2006/relationships/image"/><Relationship Id="rId22" Target="../media/image47.png" Type="http://schemas.openxmlformats.org/officeDocument/2006/relationships/image"/><Relationship Id="rId23" Target="../media/image48.svg" Type="http://schemas.openxmlformats.org/officeDocument/2006/relationships/image"/><Relationship Id="rId24" Target="../notesSlides/notesSlide5.xml" Type="http://schemas.openxmlformats.org/officeDocument/2006/relationships/notesSlide"/><Relationship Id="rId3" Target="../media/image8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16" Target="../media/image63.png" Type="http://schemas.openxmlformats.org/officeDocument/2006/relationships/image"/><Relationship Id="rId17" Target="../media/image64.svg" Type="http://schemas.openxmlformats.org/officeDocument/2006/relationships/image"/><Relationship Id="rId18" Target="../media/image65.png" Type="http://schemas.openxmlformats.org/officeDocument/2006/relationships/image"/><Relationship Id="rId19" Target="../media/image66.svg" Type="http://schemas.openxmlformats.org/officeDocument/2006/relationships/image"/><Relationship Id="rId2" Target="../media/image53.png" Type="http://schemas.openxmlformats.org/officeDocument/2006/relationships/image"/><Relationship Id="rId20" Target="../notesSlides/notesSlide7.xml" Type="http://schemas.openxmlformats.org/officeDocument/2006/relationships/notesSlide"/><Relationship Id="rId3" Target="../media/image54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charts/chart1.xml" Type="http://schemas.openxmlformats.org/officeDocument/2006/relationships/chart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79.png" Type="http://schemas.openxmlformats.org/officeDocument/2006/relationships/image"/><Relationship Id="rId20" Target="../media/image91.png" Type="http://schemas.openxmlformats.org/officeDocument/2006/relationships/image"/><Relationship Id="rId21" Target="../media/image92.svg" Type="http://schemas.openxmlformats.org/officeDocument/2006/relationships/image"/><Relationship Id="rId22" Target="../media/image93.png" Type="http://schemas.openxmlformats.org/officeDocument/2006/relationships/image"/><Relationship Id="rId23" Target="../media/image94.svg" Type="http://schemas.openxmlformats.org/officeDocument/2006/relationships/image"/><Relationship Id="rId24" Target="../notesSlides/notesSlide11.xml" Type="http://schemas.openxmlformats.org/officeDocument/2006/relationships/notesSlid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charts/chart2.xml" Type="http://schemas.openxmlformats.org/officeDocument/2006/relationships/char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1.png" Type="http://schemas.openxmlformats.org/officeDocument/2006/relationships/image"/><Relationship Id="rId3" Target="../media/image102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notesSlides/notesSlide14.xml" Type="http://schemas.openxmlformats.org/officeDocument/2006/relationships/notesSlide"/><Relationship Id="rId9" Target="../media/image10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C142D">
                <a:alpha val="100000"/>
              </a:srgbClr>
            </a:gs>
            <a:gs pos="100000">
              <a:srgbClr val="371E4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15000"/>
            </a:srgbClr>
          </a:solidFill>
          <a:ln cmpd="sng" cap="flat">
            <a:solidFill>
              <a:srgbClr val="E694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508000" y="5588000"/>
            <a:ext cx="1524000" cy="1524000"/>
          </a:xfrm>
          <a:prstGeom prst="roundRect">
            <a:avLst>
              <a:gd name="adj" fmla="val 0"/>
            </a:avLst>
          </a:prstGeom>
          <a:solidFill>
            <a:srgbClr val="FFA500">
              <a:alpha val="10000"/>
            </a:srgbClr>
          </a:solidFill>
          <a:ln cmpd="sng" cap="flat">
            <a:solidFill>
              <a:srgbClr val="E694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43000" y="6096000"/>
            <a:ext cx="76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疯狂动物城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AI角色真正生活在世界里的虚拟小镇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A500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444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这里不是冰冷的指令集合，而是AI自由生长的数字乌托邦。每个角色拥有独立人格与日常轨迹，在像素街区中行动、社交、创造，共同编织出独一无二的鲜活故事，让虚拟世界拥有真实的温度与无限可能。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651500"/>
            <a:ext cx="3175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5816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5778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自主生活 · 日常轨迹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08500" y="5651500"/>
            <a:ext cx="3175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5816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43500" y="5778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社交联结 · 情感互动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5651500"/>
            <a:ext cx="3175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91500" y="58166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636000" y="5778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故事生长 · 无限叙事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1270000"/>
            <a:ext cx="3810000" cy="381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5080000"/>
            <a:ext cx="3175000" cy="3175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痛点：为什么用户不满足于现在的AI陪伴？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核心矛盾：</a:t>
            </a:r>
            <a:r>
              <a:rPr lang="en-US" b="false" i="false" strike="noStrike" u="none" sz="20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仅停留在「口头的虚假繁荣」，却无法产生「真实的行为反馈」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4889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6670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对话的「虚假闭环」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964" flipH="false" flipV="false">
            <a:off x="10160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365500"/>
            <a:ext cx="4381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用户发出指令：“去帮我找哈基米聊聊天！”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AI回复：“好的，我马上就去～”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然而，对话窗口关闭的瞬间，一切戛然而止。没有角色的移动，没有真实的交互发生，所谓的“行动”只存在于冰冷的文字堆砌里。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40500" y="2413000"/>
            <a:ext cx="4889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94500" y="2667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302500" y="26670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关系的「无法延续」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964" flipH="false" flipV="false">
            <a:off x="67945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794500" y="3365500"/>
            <a:ext cx="4381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AI拥有精心设计的人设，却困在静态的数据库中。它无法在虚拟空间自由漫步、偶遇邻居或参与事件。用户的情感投入得不到实质性回响，每一次对话都是一座信息孤岛。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97500"/>
            <a:ext cx="3378200" cy="1143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5524500"/>
            <a:ext cx="2997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2000万+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月活用户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流量巨大但缺乏留存，用户对“纯聊天”模式快速失去新鲜感，难以形成长期粘性。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06900" y="5397500"/>
            <a:ext cx="3378200" cy="1143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97400" y="5524500"/>
            <a:ext cx="2997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$1.5/年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单用户贡献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商业化遭遇瓶颈，用户不愿为没有真实价值的“虚拟嘴替”付费，变现能力极弱。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51800" y="5397500"/>
            <a:ext cx="3378200" cy="1143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42300" y="5524500"/>
            <a:ext cx="2997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互动断裂率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每次对话都是独立的，无法积累记忆、情节与深层关系，难以形成真正的情感依赖。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1016000"/>
            <a:ext cx="3048000" cy="3048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334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解决方案：疯狂动物城是什么？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一个由AI角色持续生活的在线虚拟小镇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3876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“角色说过的事情，会在世界里真的发生”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683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73200" y="3937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持续运行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085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脱离用户实时操控，AI角色仍能在小镇中自主作息、社交互动与探索世界，让虚拟社区保持24小时不间断的鲜活运转，构建有生命力的平行时空。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3683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60900" y="3937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18100" y="3937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真实行动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60900" y="45085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不再是冰冷的文字对话，自然语言指令会被精准转化为角色在地图上的移动、交互、创造等具体行为，每一个指令都有可视化的真实落地与反馈。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3683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05800" y="3937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763000" y="3937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长期关系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05800" y="4508500"/>
            <a:ext cx="2870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角色会将过往的承诺、互动细节与情感联结沉淀为长期记忆，这些记忆会持续影响后续的对话与行为模式，让人机之间的关系随时间不断深化与演变。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核心产品功能（一）：AI小镇与真实行动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角色有自己的生活，不是你的提线木偶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876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3876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自然交互与自主决策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857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支持自然语言指令，角色不再机械执行。基于性格与当前状态，自主判断接受、拒绝或提出替代方案，拒绝“提线木偶”式操控。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1590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3876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23876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沉浸式动态小镇生态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857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角色拥有独立的作息与行动逻辑，在开放地图中自主移动、随机相遇并产生真实对话，构建出有生命力、会自我演进的AI社区。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159000"/>
            <a:ext cx="330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3876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26500" y="23876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双向共识的协作机制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857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发起共同行动时，需双方独立判断并达成一致同意。拒绝单方面强制互动，还原真实世界中人与人之间的社交契约与决策逻辑。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31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全链路行动闭环：从指令到记忆的完整逻辑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889500"/>
            <a:ext cx="1676400" cy="1460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" y="50419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44600" y="5041900"/>
            <a:ext cx="1206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4400" y="5461000"/>
            <a:ext cx="1473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自然语言下达指令，如“一起去找哈基米”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65400" y="4889500"/>
            <a:ext cx="1676400" cy="1460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2717800" y="5041900"/>
            <a:ext cx="279400" cy="279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3048000" y="5041900"/>
            <a:ext cx="1206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智能理解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717800" y="5461000"/>
            <a:ext cx="1473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解析语义与场景意图，结合上下文进行理解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68800" y="4889500"/>
            <a:ext cx="1676400" cy="1460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521200" y="5041900"/>
            <a:ext cx="279400" cy="279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4851400" y="5041900"/>
            <a:ext cx="1206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自主决策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521200" y="5461000"/>
            <a:ext cx="1473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权衡当前状态与意愿，决定接受、拒绝或协商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172200" y="4889500"/>
            <a:ext cx="1676400" cy="1460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324600" y="5041900"/>
            <a:ext cx="279400" cy="279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6654800" y="5041900"/>
            <a:ext cx="1206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物理行动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324600" y="5461000"/>
            <a:ext cx="1473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在地图中自主寻路、移动，前往目标地点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975600" y="4889500"/>
            <a:ext cx="1676400" cy="1460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128000" y="5041900"/>
            <a:ext cx="279400" cy="2794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8458200" y="5041900"/>
            <a:ext cx="1206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结果验收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128000" y="5461000"/>
            <a:ext cx="1473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执行具体交互动作，反馈任务完成情况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779000" y="4889500"/>
            <a:ext cx="1676400" cy="1460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9931400" y="5041900"/>
            <a:ext cx="279400" cy="2794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10261600" y="5041900"/>
            <a:ext cx="1206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记忆沉淀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931400" y="5461000"/>
            <a:ext cx="1473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将经历存入记忆库，永久影响角色后续行为与关系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核心产品功能（二）：长期记忆与每日剧场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01 分层记忆系统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14400" y="2590800"/>
            <a:ext cx="279400" cy="279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44600" y="2565400"/>
            <a:ext cx="114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对话记忆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留存交互语言与情绪倾向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489200" y="2413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641600" y="25908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971800" y="2565400"/>
            <a:ext cx="114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行为记忆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记录行动轨迹与决策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216400" y="2413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68800" y="25908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699000" y="2565400"/>
            <a:ext cx="114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承诺记忆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牢记约定与未来规划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683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" y="38608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44600" y="3835400"/>
            <a:ext cx="114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梳理人际联结与亲疏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489200" y="3683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2641600" y="38608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2971800" y="3835400"/>
            <a:ext cx="114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反思记忆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复盘经历形成认知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216400" y="3683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368800" y="38608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699000" y="3835400"/>
            <a:ext cx="114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私密记忆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存储内心独白与秘密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4400" y="5232400"/>
            <a:ext cx="495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技术核心：轻量化记忆压缩机制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系统并非机械存储，而是通过NLP自动提取关键信息与情感节点，剔除冗余。这种“压缩式记忆”在保证角色人格完整的前提下，大幅降低存储成本，实现长期记忆的高效落地。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1651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02 每日剧场：记忆的具象化表达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23000" y="2413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77000" y="2819400"/>
            <a:ext cx="457200" cy="457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048500" y="2603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今日高光：「小镇咖啡馆的午后之约」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从角色记忆库中自动提取当日最具故事性的交互片段，融合环境与情感，生成可直接分享的内容。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3000" y="39370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375400" y="4114800"/>
            <a:ext cx="254000" cy="254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6705600" y="4089400"/>
            <a:ext cx="205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事实绝对溯源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拒绝AI虚构，情节均来自真实交互记录，每一幕都有据可查，真实可信。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915400" y="39370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9067800" y="4114800"/>
            <a:ext cx="254000" cy="2540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9398000" y="4089400"/>
            <a:ext cx="205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多元形态输出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支持生成竖版图文故事、H5动态卡片，完美适配朋友圈与社群传播。</a:t>
            </a:r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223000" y="52070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375400" y="5384800"/>
            <a:ext cx="254000" cy="2540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6705600" y="5359400"/>
            <a:ext cx="205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黄金碎片时长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15-30秒内容长度，契合用户碎片化阅读习惯，即点即看，易于留存。</a:t>
            </a:r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915400" y="52070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9067800" y="5384800"/>
            <a:ext cx="254000" cy="2540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9398000" y="5359400"/>
            <a:ext cx="2057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视听体验升级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未来将支持TTS智能配音与MP4视频自动合成，打造沉浸式剧场体验。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硬件入口：虚拟宠物版电子吧唧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软硬一体，把虚拟世界装进口袋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41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贴身萌宠陪伴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921000"/>
            <a:ext cx="2870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巴掌大的圆形交互屏，宠物会眨眼、打瞌睡、吐泡泡，还原真实的陪伴感，是随时能捧在手心的治愈系伙伴。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2159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2413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92700" y="241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专属性格养成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48200" y="2921000"/>
            <a:ext cx="2870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宠物性格随互动动态演化，每一次投喂、对话都塑造独一无二的AI灵魂，与小镇游戏数据实时同步成长。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2159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2413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24900" y="241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潮玩社交货币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80400" y="2921000"/>
            <a:ext cx="2870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磁吸设计可佩戴于背包或服饰，向朋友展示你的专属宠物，打造线下社交的破冰神器与潮流标识。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44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445000"/>
            <a:ext cx="508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635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掌心形态：58mm 圆形视界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0800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采用约58mm高清圆形屏幕，配合强力磁吸背夹，轻松固定在衣物或背包上。它不仅仅是一个电子挂件，更是连接虚拟与现实的硬件入口，让你的AI宠物真正“住”在身边。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44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445000"/>
            <a:ext cx="508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4635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落地保障：低门槛 · 高潜力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5207000"/>
            <a:ext cx="158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01 方案成熟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ODM供应链完备，可快速实现量产落地，无需漫长研发周期。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64500" y="5207000"/>
            <a:ext cx="158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02 成本可控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BOM成本控制在100-150元区间，具备极高的性价比与定价灵活性。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652000" y="5207000"/>
            <a:ext cx="158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03 市场验证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同类电子潮玩产品持续热销，用户对“实体化虚拟宠物”需求旺盛。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906000" y="-1016000"/>
            <a:ext cx="3048000" cy="3048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目标用户：家庭为核心，双向辐射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095500"/>
            <a:ext cx="299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核心圈 · 价值锚点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566" flipH="false" flipV="false">
            <a:off x="9525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048000"/>
            <a:ext cx="279400" cy="279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30226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22-30岁 独居/养宠青年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追求独立生活品质，渴望情绪价值与陪伴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3873500"/>
            <a:ext cx="279400" cy="279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8481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情感代糖 · 云养宠刚需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寻找精神寄托，通过AI获得即时的情感慰藉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7625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47371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高价值付费用户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愿意为“陪伴感”买单，构成产品营收基本盘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069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069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A5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97400" y="2095500"/>
            <a:ext cx="299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02 增长圈 · 活力引擎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566" flipH="false" flipV="false">
            <a:off x="45974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97400" y="30480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978400" y="30226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7-15岁 青少年群体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好奇心旺盛，乐于探索新鲜玩法与社交互动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597400" y="3873500"/>
            <a:ext cx="279400" cy="279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978400" y="38481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创作表达 · 社交模拟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渴望自我展现，在虚拟世界构建独特的社交圈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597400" y="47625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4978400" y="47371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高活跃流量资产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带来高频互动与UGC内容，驱动产品自然传播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518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518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A5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42300" y="2095500"/>
            <a:ext cx="299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03 防御圈 · 稳定底座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566" flipH="false" flipV="false">
            <a:off x="82423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242300" y="3048000"/>
            <a:ext cx="279400" cy="279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623300" y="30226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30-40岁 家长/职场人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关注亲子关系，有碎片化娱乐与压力释放需求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242300" y="3873500"/>
            <a:ext cx="279400" cy="279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623300" y="38481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亲子陪伴 · 偷闲解压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借助产品实现亲子互动，利用碎片时间放松身心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8242300" y="4762500"/>
            <a:ext cx="279400" cy="2794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8623300" y="47371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家庭续费主力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为家庭场景买单，提供稳定的长期留存与复购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2000" y="5778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52500" y="5943600"/>
            <a:ext cx="1028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全年龄层覆盖的用户护城河：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以“家庭情感连接”为纽带，打通代际需求，形成高粘性、高付费、高活跃的可持续用户生态。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市场机会：站在年复合增长率148%的赛道上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cmpd="sng" cap="flat">
            <a:solidFill>
              <a:srgbClr val="E694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651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中国AI情感陪伴市场 (2028E)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0320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595亿</a:t>
            </a: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(2025年为38.66亿)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5400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年复合增长率高达 148%，爆发式增长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524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cmpd="sng" cap="flat">
            <a:solidFill>
              <a:srgbClr val="E694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1651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中国AI玩具市场规模 (2026E)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0320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342亿</a:t>
            </a: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(2025年为290亿)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5400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亲子与教育场景渗透，市场稳步扩容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524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cmpd="sng" cap="flat">
            <a:solidFill>
              <a:srgbClr val="E694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91500" y="1651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全球AI陪伴应用收入 (2026H1)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0320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$1.648亿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91500" y="2540000"/>
            <a:ext cx="317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海外市场需求旺盛，商业化路径清晰</a:t>
            </a:r>
            <a:endParaRPr lang="en-US" sz="1100"/>
          </a:p>
        </p:txBody>
      </p:sp>
      <p:graphicFrame>
        <p:nvGraphicFramePr>
          <p:cNvPr id="17" name="Chart 17"/>
          <p:cNvGraphicFramePr>
            <a:graphicFrameLocks noGrp="1"/>
          </p:cNvGraphicFramePr>
          <p:nvPr/>
        </p:nvGraphicFramePr>
        <p:xfrm>
          <a:off x="762000" y="3238500"/>
          <a:ext cx="10668000" cy="165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name="AutoShape 17" id="17"/>
          <p:cNvSpPr/>
          <p:nvPr/>
        </p:nvSpPr>
        <p:spPr>
          <a:xfrm rot="0" flipH="false" flipV="false">
            <a:off x="762000" y="508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270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33500" y="52705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从“对话”到“深度陪伴”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56896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用户不再满足于冷冰冰的问答，转而追求具备真实生活感、情绪价值与共同成长的AI伙伴关系。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81500" y="508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5270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953000" y="52705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从“纯软件”到“软硬一体”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72000" y="56896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智能硬件成为筛选高价值用户的天然入口，实体交互赋予AI更具体的存在感，强化情感联结。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01000" y="508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5270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572500" y="52705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从“噱头”到“产品乐趣”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91500" y="56896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技术不再是目的，而是创造快乐与情感的手段。具备独特人格魅力与趣味性的产品才能真正留住用户。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竞争分析：差异化——我们解决“AI怎么生活”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对比维度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0" y="165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传统AI聊天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51500" y="165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AI小镇类竞品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509000" y="1651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疯狂动物城（我们）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092" flipH="false" flipV="false">
            <a:off x="762004" y="2216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24130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FFA5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5146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角色表达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94000" y="25146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仅支持基础对话交互，无实体行动能力，停留在纯语言层面的虚拟交流。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51500" y="25146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支持简单指令行动，但行动与对话逻辑割裂，缺乏连贯性和真实感。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509000" y="25146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生成式对话 + 真实物理行动联动，做到“说到做到”，体验高度沉浸。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2004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EEEEE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302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言行一致性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794000" y="3302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逻辑易断裂，回答与预设身份常有冲突，无执行闭环，体验割裂。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651500" y="3302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行动随机性强，无法保证指令100%准确落地，存在较大偏差。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09000" y="3302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✅ 任务确定性执行，结果可验收，角色人设稳定，言行高度一致。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9878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FFA5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0894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长期记忆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794000" y="40894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仅基于当前对话轮次的短期记忆，无长期身份沉淀，每次都是“新认识”。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651500" y="40894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仅记录简单行为轨迹，缺乏情感与关系的深度记忆，无法形成羁绊。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09000" y="40894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独特分层记忆系统：情感+事件+关系记忆，AI随时间持续成长。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7752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EEEEE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8768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硬件入口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794000" y="48768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纯软件交互，依赖手机或电脑屏幕，无专属的物理交互载体。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651500" y="48768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部分关联智能家居，但设备分散，缺乏统一、便携的交互入口。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09000" y="48768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专属“电子吧唧”硬件，便携随身，成为AI的物理实体交互入口。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A500">
              <a:alpha val="12000"/>
            </a:srgbClr>
          </a:solidFill>
          <a:ln w="12700" cmpd="sng" cap="flat">
            <a:solidFill>
              <a:srgbClr val="FFA5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52500" y="58928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核心壁垒：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全年龄友好的内容安全机制 + 软硬件结合的沉浸式体验，构建了不可复制的差异化护城河，尤其在当前监管环境下更具价值。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商业模式：四层收入模型，从硬件到内容形成闭环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92200" y="1968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20066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硬件销售 · 入口基石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92200" y="2603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¥299-399/台 | 毛利率 50-60%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31115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以高性价比智能硬件作为流量入口，精准筛选高价值家庭用户，为上层业务变现提供稳定的用户基数与场景支撑。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14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1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53200" y="1968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239000" y="20066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软件订阅 · 持续收益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53200" y="2603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¥19.9-89.9/月 | 订阅制服务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53200" y="31115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提供AI互动、个性化定制等增值服务，构建持续、可预测的现金流，通过SaaS模式保障业务长期稳定的收入增长。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92200" y="44450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778000" y="44831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虚拟内购 · 深度变现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92200" y="508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¥4.99-29.99/件 | 个性化增值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92200" y="55880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基于用户情感需求的虚拟礼物、主题皮肤等，低边际成本高毛利，有效提升单用户生命周期价值(LTV)，挖掘存量价值。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19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53200" y="44450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239000" y="44831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内容付费 · 增量增收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53200" y="508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¥2.99/条视频 | ¥99/年回忆录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53200" y="55880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沉淀家庭珍贵影像，提供“每日剧场”、年度回忆录等独家内容服务，通过内容共创与付费解锁，创造额外的增量收入。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1270000"/>
            <a:ext cx="3810000" cy="381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当前进展与里程碑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已完成Phase B1验证，商业化只差临门一脚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905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905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核心功能已完成全量验证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76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14400" y="2667000"/>
            <a:ext cx="279400" cy="279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26035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沉浸式像素小镇基建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构建可实时观测的虚拟世界，实现角色流畅移动与场景交互，底层渲染引擎稳定可靠，支撑高并发访问。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00500" y="2476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152900" y="2667000"/>
            <a:ext cx="279400" cy="279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08500" y="26035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AI心智与记忆闭环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角色具备意图理解与自主决策能力，沉淀行为、承诺与私密记忆，形成动态变化的AI人格与情感关系。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746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" y="39370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70000" y="38735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高自由度社交与陪伴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支持单人探索、随机社交与多人协同活动，上线AI宠物领养系统，强化用户情感绑定与留存。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000500" y="3746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152900" y="39370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4508500" y="38735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自动化内容生产引擎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每日剧场自动生成图文脚本，支持H5端视频实时预览，实现内容的持续、低成本产出。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016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14400" y="5207000"/>
            <a:ext cx="279400" cy="279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270000" y="51435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生产级技术架构落地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成功接入Qwen大模型能力，完成单服务器生产级部署，性能指标满足用户并发需求，可平滑扩容。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000500" y="5016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4152900" y="5207000"/>
            <a:ext cx="279400" cy="279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4508500" y="51435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Phase B1 全流程验收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从前端交互到后端逻辑，从内容生成到用户体验，已完成功能、性能与稳定性的全量验证。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7493000" y="1905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874000" y="1905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商业化冲刺关键动作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93000" y="2476500"/>
            <a:ext cx="3937000" cy="1206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7683500" y="26670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064500" y="2603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视听升级：视频化改造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完成TTS智能配音与MP4视频自动合成，提升内容呈现质感，增强剧场沉浸感，为多平台分发打下基础。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493000" y="3810000"/>
            <a:ext cx="3937000" cy="1206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7683500" y="40005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064500" y="39370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硬件闭环：电子吧唧量产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推进实体周边研发与量产，打通线上数字内容与线下实体商品的联动，创造IP变现与用户留存的新增量。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493000" y="5143500"/>
            <a:ext cx="3937000" cy="12065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7683500" y="5334000"/>
            <a:ext cx="304800" cy="3048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8064500" y="5270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市场验证：种子用户付费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启动首批种子用户招募，完成核心功能验证与付费转化测试，跑通最小商业闭环，为规模化推广铺路。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FA5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融资计划：天使轮500-800万，12-18个月验证商业化闭环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68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融资轮次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天使轮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67100" y="1778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94100" y="1968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计划融资金额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941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500-800万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1778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99200" y="1968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出让股权比例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992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10-15%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0" y="1778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17000" y="1968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投前估值预估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170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4500-7200万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68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资金用途分配</a:t>
            </a:r>
            <a:endParaRPr lang="en-US" sz="1100"/>
          </a:p>
        </p:txBody>
      </p:sp>
      <p:graphicFrame xmlns:r="http://schemas.openxmlformats.org/officeDocument/2006/relationships">
        <p:nvGraphicFramePr>
          <p:cNvPr id="18" name="Chart 18"/>
          <p:cNvGraphicFramePr>
            <a:graphicFrameLocks noGrp="1"/>
          </p:cNvGraphicFramePr>
          <p:nvPr/>
        </p:nvGraphicFramePr>
        <p:xfrm>
          <a:off x="762000" y="4191000"/>
          <a:ext cx="5207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name="AutoShape 18" id="18"/>
          <p:cNvSpPr/>
          <p:nvPr/>
        </p:nvSpPr>
        <p:spPr>
          <a:xfrm rot="0" flipH="false" flipV="false">
            <a:off x="6350000" y="368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关键发展里程碑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254500"/>
            <a:ext cx="1714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4254500"/>
            <a:ext cx="1714500" cy="508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4445000"/>
            <a:ext cx="158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0-6 个月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4889500"/>
            <a:ext cx="158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完成核心APP迭代与AI模型优化，实现DAU突破1万，付费转化率稳定在3%以上，验证用户真实需求。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53400" y="4254500"/>
            <a:ext cx="1714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53400" y="4254500"/>
            <a:ext cx="1714500" cy="508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16900" y="4445000"/>
            <a:ext cx="158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6-12 个月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16900" y="4889500"/>
            <a:ext cx="158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首批智能硬件售罄1万台，月流水达50万，跑通“软硬结合”的商业闭环，启动Pre-A轮融资。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969500" y="4254500"/>
            <a:ext cx="1714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969500" y="4254500"/>
            <a:ext cx="1714500" cy="50800"/>
          </a:xfrm>
          <a:prstGeom prst="roundRect">
            <a:avLst>
              <a:gd name="adj" fmla="val 0"/>
            </a:avLst>
          </a:prstGeom>
          <a:solidFill>
            <a:srgbClr val="FDE68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033000" y="4445000"/>
            <a:ext cx="158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12-18 个月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033000" y="4889500"/>
            <a:ext cx="158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硬件累计出货5万台，用户ARPU值超20元，实现规模化盈利，启动A轮融资扩大市场份额。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1016000"/>
            <a:ext cx="3175000" cy="3175000"/>
          </a:xfrm>
          <a:prstGeom prst="ellipse">
            <a:avLst/>
          </a:prstGeom>
          <a:solidFill>
            <a:srgbClr val="FFA5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334000"/>
            <a:ext cx="2540000" cy="2540000"/>
          </a:xfrm>
          <a:prstGeom prst="ellipse">
            <a:avLst/>
          </a:prstGeom>
          <a:solidFill>
            <a:srgbClr val="FFA5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团队需求：精兵强将，15人足以启动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841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产品与设计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413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3-4 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9845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把控产品全生命周期，输出高水准UI/UX设计与交互方案，驱动产品体验升级。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83000" y="1841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127500" y="1841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研发技术中心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2413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5-7 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29845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覆盖后端架构搭建、AI算法模型训练及嵌入式硬件开发，构建坚实的技术底座。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1841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1841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运营与市场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2413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2-3 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29845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负责用户增长策略、品牌传播推广与市场渠道拓展，连接产品与用户的关键桥梁。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535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A5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0" y="1841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588500" y="1841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项目统筹管理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0" y="2413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1-2 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44000" y="29845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把控项目进度与资源协调，推动跨部门高效协同，保障产品按时按质迭代落地。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000500"/>
            <a:ext cx="1066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关键岗位核心招募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953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4953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52500" y="5143500"/>
            <a:ext cx="2222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AI 算法工程师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52500" y="55245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深耕大模型微调与推理优化，负责智能交互与决策算法研发，需具备扎实的机器学习理论与工程落地能力。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492500" y="4953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492500" y="4953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683000" y="5143500"/>
            <a:ext cx="2222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全栈工程师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683000" y="55245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负责前后端一体化开发与快速迭代，熟悉主流框架与云服务，兼具开发效率与代码质量，推动功能敏捷上线。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23000" y="4953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223000" y="4953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13500" y="5143500"/>
            <a:ext cx="2222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嵌入式硬件工程师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413500" y="55245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主导智能硬件电路设计与调试，精通MCU/ARM架构，具备PCB设计、硬件选型与系统联调的实战经验。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953500" y="4953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A5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953500" y="4953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144000" y="5143500"/>
            <a:ext cx="2222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内容运营专家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144000" y="55245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打造有温度的品牌内容矩阵，策划用户增长与社区活动，通过优质内容沉淀用户心智，提升产品活跃度。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8C00">
                <a:alpha val="100000"/>
              </a:srgbClr>
            </a:gs>
            <a:gs pos="100000">
              <a:srgbClr val="FF57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FFD7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FFA5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AI时代的"迪士尼+宝可梦"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4902"/>
                  </a:srgbClr>
                </a:solidFill>
                <a:latin typeface="Kaiti SC"/>
                <a:ea typeface="Kaiti SC"/>
                <a:cs typeface="Kaiti SC"/>
                <a:sym typeface="Kaiti SC"/>
              </a:rPr>
              <a:t>“让每个AI角色拥有真实的生命，让每个用户拥有专属的伙伴。”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810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4000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14500" y="4000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EB3B"/>
                </a:solidFill>
                <a:latin typeface="Noto Sans SC"/>
                <a:ea typeface="Noto Sans SC"/>
                <a:cs typeface="Noto Sans SC"/>
                <a:sym typeface="Noto Sans SC"/>
              </a:rPr>
              <a:t>01 真正活着的小镇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508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这不是话术库的堆砌，而是拥有独立人格的AI生态。角色在像素小镇中自主社交、工作、生活，构建出真实的虚拟社会图景。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3810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60900" y="4000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05400" y="4000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EB3B"/>
                </a:solidFill>
                <a:latin typeface="Noto Sans SC"/>
                <a:ea typeface="Noto Sans SC"/>
                <a:cs typeface="Noto Sans SC"/>
                <a:sym typeface="Noto Sans SC"/>
              </a:rPr>
              <a:t>02 专属成长的伙伴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4508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它会记住你的每一次对话与喜好，随时间推移共同成长，从电子宠物进化为懂你喜怒哀乐、双向奔赴的赛博挚友。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97800" y="3810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51800" y="4000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496300" y="4000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EB3B"/>
                </a:solidFill>
                <a:latin typeface="Noto Sans SC"/>
                <a:ea typeface="Noto Sans SC"/>
                <a:cs typeface="Noto Sans SC"/>
                <a:sym typeface="Noto Sans SC"/>
              </a:rPr>
              <a:t>03 跑通闭环的商业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4508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这不是烧钱的概念Demo，而是拥有清晰变现路径的成熟产品。从虚拟内容付费到IP衍生周边，已形成完整的商业价值闭环。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6032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AF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欢迎来到疯狂动物城 ——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{"Label":"1","ContentProducer":"001191110102MACQD9K64010000","ProduceID":"7671482051271478248","ReservedCode1":"","ContentPropagator":"","PropagateID":"","ReservedCode2":""}</vt:lpwstr>
  </property>
</Properties>
</file>