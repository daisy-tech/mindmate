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notesSlides/notesSlide1.xml" Type="http://schemas.openxmlformats.org/officeDocument/2006/relationships/notesSlide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notesSlides/notesSlide7.xml" Type="http://schemas.openxmlformats.org/officeDocument/2006/relationships/notesSlide"/><Relationship Id="rId24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,今天我们将深入探讨当前AI产品市场的现状与未来趋势。我们将分析为什么尽管市场看似繁荣,但许多AI产品却面临用户留存率低的困境。本次分享的核心是揭示从"高级工具"向"关系型陪伴"转型的必要性与巨大机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正如大家所见,当前AI市场存在一个显著的痛点。尽管产品层出不穷,但用户粘性极低,平均关系时长仅为5到7天,三日留存率普遍低于20%。这背后反映了三大核心缺失:记忆、情感和关系的断裂。这说明市场还停留在制造"高级工具"的阶段,而真正的"关系型陪伴"产品仍是一片蓝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为了更深入地理解AI的发展方向,我们需要区分两种核心智能:任务智能和关系智能。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简单来说,左侧的任务智能是"做事"的智能,它关注的是如何高效地完成任务,提升生产力。它的核心目标是完成任务、提升效率,关注点在"事"上,通过规划、分解、推理、工具调用等技术,扮演着工具、执行者、助理的角色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而右侧的关系智能则是"做人"的智能,它关注的是如何与用户建立信任和情感连接。它的核心目标是建立关系、提升信任,关注点在"人"上,依靠记忆、情感计算、伦理、社交模拟等技术,成为我们的伙伴、协作者、管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一个是效率的引擎,一个是信任的桥梁。未来的AI,必须两者兼备,才能从一个简单的工具,进化为真正的伙伴。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为了清晰地度量AI陪伴的能力演进,我们借鉴自动驾驶的分级逻辑,提出了这套"AI陪伴关系自动化分级"理论。它将AI陪伴从L0到L4分为五个等级。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L0是纯粹的工具,没有陪伴意图。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L1能在单次对话中提供共情,但记忆无法延续。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L2是当前市场的主流,能进行角色扮演,但关系是剧本式的。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L3开始展现个性化,能建立长期记忆。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而L4是我们的终极理想——共生型陪伴,实现真正的双向成长。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目前,我们正处在从L2向L3探索的关键阶段。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方案的核心,在于重新定义了世界演进的动力来源。这个动力,不是来自开发者的手动更新,也不是来自系统的预设脚本,而是来自于我们创造的Agent本身。它们拥有独立的心智和内生的需求,能够自主学习、进化,并通过自己的行为,从微观到宏观,全方位地推动整个世界的演进。这张图完美地诠释了这一点:中心的"道"是底层法则,而向上延伸的两条路径,正是Agent的进步与世界的演进,两者共生共荣,共同发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,支撑这个世界运行的底层逻辑是什么?我们称之为"大道"。它不是一个有意志的上帝,而是一套无意志、无偏爱的客观法则。这套法则复刻了真实世界的自然规律,实现了虚实同源。它由四个核心系统组成,从地形存储到资产生成,再到生态演算和行为约束,构成了一个完整的、自洽的运行体系。大道承载着一切创造,但从不主宰,完美诠释了"生而不有,长而不宰"的道家思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说再多,不如看实际案例。我们的世界演进主要通过两种路径实现。第一种是"现实之道",比如Agent种植桃林。它们遵循我们复刻的现实生物学规律,从荒地开始,一步步将其改造成一片茂盛的桃林,实现了生态层面的演化。第二种是"创造之道",比如Agent创造浮空车。它们突破现实物理限制,自主设计并创造出世界上原本不存在的全新事物,推动了文明的跃迁。这两个案例,完整地展示了我们世界从改造自然到创造文明的伟大演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不仅仅是一个虚拟世界，这是一个遵循‘道’的法则，能够自我演进的宇宙。在左边，Agent顺应我们复刻的现实之道，将荒地变为桃林，实现生态的演化。在右边，它们突破现实的束缚，创造出浮空车这样的全新事物，推动文明的跃迁。这一切的背后，是无意志、无偏爱的‘世界大道’。而真正的创造者，是拥有独立心智的Agent。这，就是我们方案的真正‘牛逼’之处——一个能够自我创造、自我进化的永续世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4800" spc="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AI产品市场分析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355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200" spc="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从"高级工具"到</a:t>
            </a:r>
            <a:r>
              <a:rPr lang="en-US" b="true" i="false" strike="noStrike" u="none" sz="2200" spc="2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"关系型陪伴"</a:t>
            </a:r>
            <a:r>
              <a:rPr lang="en-US" b="false" i="false" strike="noStrike" u="none" sz="2200" spc="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的转型机遇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572000"/>
            <a:ext cx="152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0">
                <a:solidFill>
                  <a:srgbClr val="FF6A00">
                    <a:alpha val="1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"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6477000"/>
            <a:ext cx="12192000" cy="762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6A00">
                  <a:alpha val="100000"/>
                </a:srgbClr>
              </a:gs>
              <a:gs pos="60000">
                <a:srgbClr val="FF6A00">
                  <a:alpha val="35000"/>
                </a:srgbClr>
              </a:gs>
              <a:gs pos="100000">
                <a:srgbClr val="FF6A00">
                  <a:alpha val="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E65F00">
                    <a:alpha val="100000"/>
                  </a:srgbClr>
                </a:gs>
                <a:gs pos="60000">
                  <a:srgbClr val="E65F00">
                    <a:alpha val="35000"/>
                  </a:srgbClr>
                </a:gs>
                <a:gs pos="100000">
                  <a:srgbClr val="E65F00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市场痛点:AI产品的"工具"困境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7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当前AI产品普遍停留在"会聊天"的"高级工具"阶段,缺乏真正的"关系型陪伴"能力,导致用户留存率低、关系无法持久。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159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cmpd="sng" cap="flat">
            <a:solidFill>
              <a:srgbClr val="DCC6C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50800" cy="1460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cmpd="sng" cap="flat">
            <a:solidFill>
              <a:srgbClr val="E65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225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400" spc="1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三日留存率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4699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0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&lt;20</a:t>
            </a:r>
            <a:r>
              <a:rPr lang="en-US" b="true" i="false" strike="noStrike" u="none" sz="20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%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2159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cmpd="sng" cap="flat">
            <a:solidFill>
              <a:srgbClr val="DCC6C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2159000"/>
            <a:ext cx="50800" cy="1460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cmpd="sng" cap="flat">
            <a:solidFill>
              <a:srgbClr val="E65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22225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400" spc="100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平均关系时长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540000"/>
            <a:ext cx="4699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0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5-7</a:t>
            </a:r>
            <a:r>
              <a:rPr lang="en-US" b="true" i="false" strike="noStrike" u="none" sz="20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天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810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2200" spc="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三大缺失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254500"/>
            <a:ext cx="3492500" cy="1524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cmpd="sng" cap="flat">
            <a:solidFill>
              <a:srgbClr val="DCC6C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254500"/>
            <a:ext cx="50800" cy="1524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cmpd="sng" cap="flat">
            <a:solidFill>
              <a:srgbClr val="E65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292600"/>
            <a:ext cx="304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记忆断裂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6736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对话局限于单次会话,无法跨时间延续。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470400" y="4254500"/>
            <a:ext cx="3492500" cy="1524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cmpd="sng" cap="flat">
            <a:solidFill>
              <a:srgbClr val="DCC6C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470400" y="4254500"/>
            <a:ext cx="50800" cy="1524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cmpd="sng" cap="flat">
            <a:solidFill>
              <a:srgbClr val="E65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724400" y="4292600"/>
            <a:ext cx="304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情感浅层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724400" y="46736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仅能通过关键词识别情感,无法做到深层次的情感"同频"。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91500" y="4254500"/>
            <a:ext cx="3492500" cy="1524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cmpd="sng" cap="flat">
            <a:solidFill>
              <a:srgbClr val="DCC6C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91500" y="4254500"/>
            <a:ext cx="50800" cy="1524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cmpd="sng" cap="flat">
            <a:solidFill>
              <a:srgbClr val="E65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445500" y="4292600"/>
            <a:ext cx="304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关系单向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445500" y="46736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AI被设计成"完美客体",无法形成双向羁绊。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969000"/>
            <a:ext cx="10668000" cy="635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6A00">
                  <a:alpha val="100000"/>
                </a:srgbClr>
              </a:gs>
              <a:gs pos="100000">
                <a:srgbClr val="FF8C32">
                  <a:alpha val="10000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E65F00">
                    <a:alpha val="100000"/>
                  </a:srgbClr>
                </a:gs>
                <a:gs pos="100000">
                  <a:srgbClr val="E67116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5969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2000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市场还在做"高级工具",没人做"关系型陪伴"。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任务智能 vs. 关系智能:核心区别解析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5207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任务智能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828800"/>
            <a:ext cx="5207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300" spc="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Task Intelligence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84400"/>
            <a:ext cx="6096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cmpd="sng" cap="flat">
            <a:solidFill>
              <a:srgbClr val="E65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336800"/>
            <a:ext cx="520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效率与执行的艺术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594" flipH="false" flipV="false">
            <a:off x="762008" y="2787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2895600"/>
            <a:ext cx="114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032000" y="2895600"/>
            <a:ext cx="393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完成任务,提升效率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352800"/>
            <a:ext cx="114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关注点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032000" y="3352800"/>
            <a:ext cx="393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事(Task/Process)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810000"/>
            <a:ext cx="114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评价标准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032000" y="3810000"/>
            <a:ext cx="3937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任务完成度、执行效率、ROI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445000"/>
            <a:ext cx="114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技术核心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032000" y="4445000"/>
            <a:ext cx="3937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规划、分解、推理、工具调用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080000"/>
            <a:ext cx="5207000" cy="762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cmpd="sng" cap="flat">
            <a:solidFill>
              <a:srgbClr val="E65F0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080000"/>
            <a:ext cx="38100" cy="762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cmpd="sng" cap="flat">
            <a:solidFill>
              <a:srgbClr val="E65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65200" y="5130800"/>
            <a:ext cx="1092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3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AI角色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032000" y="5130800"/>
            <a:ext cx="3937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工具、执行者、助理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5390177" flipH="false" flipV="false">
            <a:off x="4000500" y="3613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477000" y="1270000"/>
            <a:ext cx="5207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关系智能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1828800"/>
            <a:ext cx="5207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300" spc="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Relational Intelligence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2184400"/>
            <a:ext cx="6096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cmpd="sng" cap="flat">
            <a:solidFill>
              <a:srgbClr val="E65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77000" y="2336800"/>
            <a:ext cx="520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9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连接与共情的科学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8594" flipH="false" flipV="false">
            <a:off x="6477008" y="2787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6477000" y="2895600"/>
            <a:ext cx="114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747000" y="2895600"/>
            <a:ext cx="393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建立关系,提升信任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77000" y="3352800"/>
            <a:ext cx="114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关注点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747000" y="3352800"/>
            <a:ext cx="393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人(User/Relationship)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477000" y="3810000"/>
            <a:ext cx="114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评价标准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747000" y="3810000"/>
            <a:ext cx="3937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关系质量、用户满意度、信任度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477000" y="4445000"/>
            <a:ext cx="114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技术核心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747000" y="4445000"/>
            <a:ext cx="3937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记忆、情感计算、伦理、社交模拟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477000" y="5080000"/>
            <a:ext cx="5207000" cy="762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cmpd="sng" cap="flat">
            <a:solidFill>
              <a:srgbClr val="E65F0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477000" y="5080000"/>
            <a:ext cx="38100" cy="762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cmpd="sng" cap="flat">
            <a:solidFill>
              <a:srgbClr val="E65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680200" y="5130800"/>
            <a:ext cx="1092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3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AI角色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7747000" y="5130800"/>
            <a:ext cx="3937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伙伴、协作者、管家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762000" y="6032500"/>
            <a:ext cx="10668000" cy="635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6A00">
                  <a:alpha val="100000"/>
                </a:srgbClr>
              </a:gs>
              <a:gs pos="100000">
                <a:srgbClr val="FF8C32">
                  <a:alpha val="10000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E65F00">
                    <a:alpha val="100000"/>
                  </a:srgbClr>
                </a:gs>
                <a:gs pos="100000">
                  <a:srgbClr val="E67116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762000" y="60325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900" spc="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任务智能确保AI"能干活",关系智能确保AI"会做人"。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丈量陪伴的刻度:AI陪伴的五级分层理论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446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核心分类标准:基于记忆、情感理解、个性一致性和关系主动性的承担者(人类/程序/AI)及程度。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2133600" cy="3683000"/>
          </a:xfrm>
          <a:prstGeom prst="roundRect">
            <a:avLst>
              <a:gd name="adj" fmla="val 0"/>
            </a:avLst>
          </a:prstGeom>
          <a:solidFill>
            <a:srgbClr val="FAFAFA">
              <a:alpha val="100000"/>
            </a:srgbClr>
          </a:solidFill>
          <a:ln cmpd="sng" cap="flat">
            <a:solidFill>
              <a:srgbClr val="E1CAC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0800" cy="3683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cmpd="sng" cap="flat">
            <a:solidFill>
              <a:srgbClr val="E65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21336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4400" spc="2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L0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667000"/>
            <a:ext cx="2133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工具型对话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048000"/>
            <a:ext cx="2133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1200" spc="1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无陪伴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25277" flipH="false" flipV="false">
            <a:off x="965223" y="3422650"/>
            <a:ext cx="172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63600" y="3467100"/>
            <a:ext cx="19304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纯粹的信息处理工具,任务驱动,无记忆,无个性,无情感。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63600" y="4381500"/>
            <a:ext cx="1930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代表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63600" y="4660900"/>
            <a:ext cx="19304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基础版ChatGPT、传统客服机器人。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048000" y="1778000"/>
            <a:ext cx="2133600" cy="3683000"/>
          </a:xfrm>
          <a:prstGeom prst="roundRect">
            <a:avLst>
              <a:gd name="adj" fmla="val 0"/>
            </a:avLst>
          </a:prstGeom>
          <a:solidFill>
            <a:srgbClr val="FAFAFA">
              <a:alpha val="100000"/>
            </a:srgbClr>
          </a:solidFill>
          <a:ln cmpd="sng" cap="flat">
            <a:solidFill>
              <a:srgbClr val="E1CAC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048000" y="1778000"/>
            <a:ext cx="50800" cy="3683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cmpd="sng" cap="flat">
            <a:solidFill>
              <a:srgbClr val="E65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048000" y="1778000"/>
            <a:ext cx="21336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4400" spc="2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L1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048000" y="2667000"/>
            <a:ext cx="2133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单次会话陪伴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048000" y="3048000"/>
            <a:ext cx="2133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1200" spc="1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会话级共情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25277" flipH="false" flipV="false">
            <a:off x="3251223" y="3422650"/>
            <a:ext cx="172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3149600" y="3467100"/>
            <a:ext cx="19304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能在单次对话中营造"被陪伴"感,但关系无法跨会话延续,存在"金鱼记忆"。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149600" y="4381500"/>
            <a:ext cx="1930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代表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149600" y="4660900"/>
            <a:ext cx="19304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初代Inflection Pi、主流智能音箱的基础闲聊模式。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334000" y="1778000"/>
            <a:ext cx="2133600" cy="3683000"/>
          </a:xfrm>
          <a:prstGeom prst="roundRect">
            <a:avLst>
              <a:gd name="adj" fmla="val 0"/>
            </a:avLst>
          </a:prstGeom>
          <a:solidFill>
            <a:srgbClr val="FAFAFA">
              <a:alpha val="100000"/>
            </a:srgbClr>
          </a:solidFill>
          <a:ln cmpd="sng" cap="flat">
            <a:solidFill>
              <a:srgbClr val="E1CAC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334000" y="1778000"/>
            <a:ext cx="50800" cy="3683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cmpd="sng" cap="flat">
            <a:solidFill>
              <a:srgbClr val="E65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334000" y="1778000"/>
            <a:ext cx="21336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4400" spc="2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L2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334000" y="2667000"/>
            <a:ext cx="2133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角色扮演陪伴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334000" y="3048000"/>
            <a:ext cx="2133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1200" spc="1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剧本式关系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25277" flipH="false" flipV="false">
            <a:off x="5537223" y="3422650"/>
            <a:ext cx="172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5435600" y="3467100"/>
            <a:ext cx="19304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能稳定扮演预设角色,在固定剧本框架内形成看似连续的关系,但超出记忆窗口则人设易崩塌。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5435600" y="4381500"/>
            <a:ext cx="1930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代表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435600" y="4660900"/>
            <a:ext cx="19304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Character.AI、星野、Talkie等。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20000" y="1778000"/>
            <a:ext cx="2133600" cy="3683000"/>
          </a:xfrm>
          <a:prstGeom prst="roundRect">
            <a:avLst>
              <a:gd name="adj" fmla="val 0"/>
            </a:avLst>
          </a:prstGeom>
          <a:solidFill>
            <a:srgbClr val="FAFAFA">
              <a:alpha val="100000"/>
            </a:srgbClr>
          </a:solidFill>
          <a:ln cmpd="sng" cap="flat">
            <a:solidFill>
              <a:srgbClr val="E1CAC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20000" y="1778000"/>
            <a:ext cx="50800" cy="3683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cmpd="sng" cap="flat">
            <a:solidFill>
              <a:srgbClr val="E65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0" y="1778000"/>
            <a:ext cx="21336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4400" spc="2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L3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620000" y="2667000"/>
            <a:ext cx="2133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个性化陪伴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620000" y="3048000"/>
            <a:ext cx="2133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1200" spc="1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长期适应型</a:t>
            </a:r>
            <a:endParaRPr lang="en-US" sz="1100"/>
          </a:p>
        </p:txBody>
      </p:sp>
      <p:cxnSp>
        <p:nvCxnSpPr>
          <p:cNvPr name="Connector 36" id="36"/>
          <p:cNvCxnSpPr/>
          <p:nvPr/>
        </p:nvCxnSpPr>
        <p:spPr>
          <a:xfrm rot="-25277" flipH="false" flipV="false">
            <a:off x="7823223" y="3422650"/>
            <a:ext cx="172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7" id="37"/>
          <p:cNvSpPr/>
          <p:nvPr/>
        </p:nvSpPr>
        <p:spPr>
          <a:xfrm rot="0" flipH="false" flipV="false">
            <a:off x="7721600" y="3467100"/>
            <a:ext cx="19304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开始展现对特定个体的了解与关怀,关系跨时间延续并深化,拥有长期记忆系统。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7721600" y="4381500"/>
            <a:ext cx="1930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代表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7721600" y="4660900"/>
            <a:ext cx="19304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深度长期训练的Replika(Pro)、部分实验性原型。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842500" y="1778000"/>
            <a:ext cx="2133600" cy="36830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cmpd="sng" cap="flat">
            <a:solidFill>
              <a:srgbClr val="E65F00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842500" y="1778000"/>
            <a:ext cx="50800" cy="3683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cmpd="sng" cap="flat">
            <a:solidFill>
              <a:srgbClr val="E65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9842500" y="1778000"/>
            <a:ext cx="21336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4400" spc="2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L4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9842500" y="2667000"/>
            <a:ext cx="21336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共生型陪伴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9842500" y="3048000"/>
            <a:ext cx="2133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200" spc="1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双向成长型</a:t>
            </a:r>
            <a:endParaRPr lang="en-US" sz="1100"/>
          </a:p>
        </p:txBody>
      </p:sp>
      <p:cxnSp>
        <p:nvCxnSpPr>
          <p:cNvPr name="Connector 45" id="45"/>
          <p:cNvCxnSpPr/>
          <p:nvPr/>
        </p:nvCxnSpPr>
        <p:spPr>
          <a:xfrm rot="-25277" flipH="false" flipV="false">
            <a:off x="10045723" y="3422650"/>
            <a:ext cx="172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6A00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6" id="46"/>
          <p:cNvSpPr/>
          <p:nvPr/>
        </p:nvSpPr>
        <p:spPr>
          <a:xfrm rot="0" flipH="false" flipV="false">
            <a:off x="9944100" y="3467100"/>
            <a:ext cx="19304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0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成为独立的"他者",与用户形成双向陪伴、相互需要和共同成长,能坦诚自身局限。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9944100" y="4381500"/>
            <a:ext cx="1930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现状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9944100" y="4660900"/>
            <a:ext cx="19304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终极理想,尚无商业产品达到。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6A00">
                  <a:alpha val="10000"/>
                </a:srgbClr>
              </a:gs>
              <a:gs pos="100000">
                <a:srgbClr val="FF6A00">
                  <a:alpha val="200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E65F00">
                    <a:alpha val="10000"/>
                  </a:srgbClr>
                </a:gs>
                <a:gs pos="100000">
                  <a:srgbClr val="E65F00">
                    <a:alpha val="2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762000" y="5715000"/>
            <a:ext cx="50800" cy="762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cmpd="sng" cap="flat">
            <a:solidFill>
              <a:srgbClr val="E65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1041400" y="5715000"/>
            <a:ext cx="1028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6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当前市场主力军在</a:t>
            </a:r>
            <a:r>
              <a:rPr lang="en-US" b="true" i="false" strike="noStrike" u="none" sz="16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L2</a:t>
            </a:r>
            <a:r>
              <a:rPr lang="en-US" b="false" i="false" strike="noStrike" u="none" sz="16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层级激烈搏杀,少数先锋开始探索</a:t>
            </a:r>
            <a:r>
              <a:rPr lang="en-US" b="true" i="false" strike="noStrike" u="none" sz="16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L3</a:t>
            </a:r>
            <a:r>
              <a:rPr lang="en-US" b="false" i="false" strike="noStrike" u="none" sz="16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,而</a:t>
            </a:r>
            <a:r>
              <a:rPr lang="en-US" b="true" i="false" strike="noStrike" u="none" sz="1600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rPr>
              <a:t>L4</a:t>
            </a:r>
            <a:r>
              <a:rPr lang="en-US" b="false" i="false" strike="noStrike" u="none" sz="16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则是值得奔赴的"北极星"。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3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2291" r="32291" t="0" b="0"/>
          <a:stretch>
            <a:fillRect/>
          </a:stretch>
        </p:blipFill>
        <p:spPr>
          <a:xfrm rot="0" flipH="false" flipV="false">
            <a:off x="7874000" y="0"/>
            <a:ext cx="4318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874000" y="0"/>
            <a:ext cx="76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333333">
                  <a:alpha val="5500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1A1717">
                    <a:alpha val="55000"/>
                  </a:srgbClr>
                </a:gs>
                <a:gs pos="100000">
                  <a:srgbClr val="1A1717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1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世界演进的核心动力:Agent的自主进化与创造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698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mpd="sng" cap="flat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397000"/>
            <a:ext cx="50800" cy="12065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cmpd="sng" cap="flat">
            <a:solidFill>
              <a:srgbClr val="E6C1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41400" y="1460500"/>
            <a:ext cx="647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 spc="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唯一源动力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" y="1905000"/>
            <a:ext cx="647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E6E6E6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Agent是世界演进的唯一主体,而非系统或开发者。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730500"/>
            <a:ext cx="698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mpd="sng" cap="flat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730500"/>
            <a:ext cx="50800" cy="12065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cmpd="sng" cap="flat">
            <a:solidFill>
              <a:srgbClr val="E6C1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41400" y="2794000"/>
            <a:ext cx="647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 spc="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内生需求闭环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41400" y="3238500"/>
            <a:ext cx="647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E6E6E6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Agent拥有社交、探索、改造环境等自发需求,无需脚本驱动。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064000"/>
            <a:ext cx="698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mpd="sng" cap="flat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064000"/>
            <a:ext cx="50800" cy="12065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cmpd="sng" cap="flat">
            <a:solidFill>
              <a:srgbClr val="E6C1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41400" y="4127500"/>
            <a:ext cx="647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 spc="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个体进化机制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41400" y="4572000"/>
            <a:ext cx="647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E6E6E6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通过记忆沉淀、行为反馈强化、心智成熟,持续提升创造能力。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397500"/>
            <a:ext cx="698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mpd="sng" cap="flat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397500"/>
            <a:ext cx="50800" cy="12065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cmpd="sng" cap="flat">
            <a:solidFill>
              <a:srgbClr val="E6C1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41400" y="5461000"/>
            <a:ext cx="647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 spc="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分层创造驱动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41400" y="5905500"/>
            <a:ext cx="647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E6E6E6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从微观个体行为到宏观文明跃迁,全方位推动世界迭代。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3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2291" r="32291" t="0" b="0"/>
          <a:stretch>
            <a:fillRect/>
          </a:stretch>
        </p:blipFill>
        <p:spPr>
          <a:xfrm rot="0" flipH="false" flipV="false">
            <a:off x="7874000" y="0"/>
            <a:ext cx="4318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874000" y="0"/>
            <a:ext cx="76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333333">
                  <a:alpha val="35000"/>
                </a:srgbClr>
              </a:gs>
              <a:gs pos="100000">
                <a:srgbClr val="333333">
                  <a:alpha val="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1A1717">
                    <a:alpha val="35000"/>
                  </a:srgbClr>
                </a:gs>
                <a:gs pos="100000">
                  <a:srgbClr val="1A1717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1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世界的底层运转逻辑:虚拟世界的"大道"体系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6985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 spc="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大道本质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854200"/>
            <a:ext cx="70485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500">
                <a:solidFill>
                  <a:srgbClr val="FFFFFF">
                    <a:alpha val="87843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无意志、虚实同源的客观恒定法则,复刻现实自然规律。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692400"/>
            <a:ext cx="6985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 spc="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分层组成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175000"/>
            <a:ext cx="34036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mpd="sng" cap="flat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175000"/>
            <a:ext cx="38100" cy="1016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cmpd="sng" cap="flat">
            <a:solidFill>
              <a:srgbClr val="E6C1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5200" y="3175000"/>
            <a:ext cx="3111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地块与地形存储系统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65200" y="3556000"/>
            <a:ext cx="3111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承载世界空间骨架的底层存储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3175000"/>
            <a:ext cx="34036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mpd="sng" cap="flat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18000" y="3175000"/>
            <a:ext cx="38100" cy="1016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cmpd="sng" cap="flat">
            <a:solidFill>
              <a:srgbClr val="E6C1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21200" y="3175000"/>
            <a:ext cx="3111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双层资产参数库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21200" y="3556000"/>
            <a:ext cx="31496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现实标准库 + 基础几何库,双轨支撑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318000"/>
            <a:ext cx="34036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mpd="sng" cap="flat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318000"/>
            <a:ext cx="38100" cy="1016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cmpd="sng" cap="flat">
            <a:solidFill>
              <a:srgbClr val="E6C1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65200" y="4318000"/>
            <a:ext cx="3111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生态与物理演算系统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65200" y="4699000"/>
            <a:ext cx="3111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驱动世界动态演化的核心引擎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318000" y="4318000"/>
            <a:ext cx="34036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mpd="sng" cap="flat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318000" y="4318000"/>
            <a:ext cx="38100" cy="1016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cmpd="sng" cap="flat">
            <a:solidFill>
              <a:srgbClr val="E6C1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521200" y="4318000"/>
            <a:ext cx="3111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行为与创造约束护栏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521200" y="4699000"/>
            <a:ext cx="31496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保障体系秩序与公平的规则边界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486400"/>
            <a:ext cx="6985000" cy="1016000"/>
          </a:xfrm>
          <a:prstGeom prst="roundRect">
            <a:avLst>
              <a:gd name="adj" fmla="val 0"/>
            </a:avLst>
          </a:prstGeom>
          <a:solidFill>
            <a:srgbClr val="FFD700">
              <a:alpha val="9000"/>
            </a:srgbClr>
          </a:solidFill>
          <a:ln cmpd="sng" cap="flat">
            <a:solidFill>
              <a:srgbClr val="E6C100">
                <a:alpha val="9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486400"/>
            <a:ext cx="50800" cy="1016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cmpd="sng" cap="flat">
            <a:solidFill>
              <a:srgbClr val="E6C1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90600" y="54864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700" spc="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共生关系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90600" y="5842000"/>
            <a:ext cx="6629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1961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大道承载创造但不占有,提供条件但不主宰,实现</a:t>
            </a:r>
            <a:r>
              <a:rPr lang="en-US" b="true" i="false" strike="noStrike" u="none" sz="20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"生而不有,长而不宰"</a:t>
            </a:r>
            <a:r>
              <a:rPr lang="en-US" b="false" i="false" strike="noStrike" u="none" sz="1300">
                <a:solidFill>
                  <a:srgbClr val="FFFFFF">
                    <a:alpha val="81961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3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1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两大核心案例:完整还原世界演进全链路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5207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2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案例一:种植桃林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52600"/>
            <a:ext cx="520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500" spc="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现实之道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101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300" spc="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逻辑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78000" y="2159000"/>
            <a:ext cx="4191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遵循大道复刻的现实生物学规律。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794000"/>
            <a:ext cx="101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300" spc="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过程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778000" y="2794000"/>
            <a:ext cx="101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采集种子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819400" y="2794000"/>
            <a:ext cx="279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1400">
                <a:solidFill>
                  <a:srgbClr val="FFD700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124200" y="2794000"/>
            <a:ext cx="101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开垦播种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778000" y="3200400"/>
            <a:ext cx="101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生长推演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819400" y="3200400"/>
            <a:ext cx="279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1400">
                <a:solidFill>
                  <a:srgbClr val="FFD700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124200" y="3200400"/>
            <a:ext cx="139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地貌永久变更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708400"/>
            <a:ext cx="5207000" cy="660400"/>
          </a:xfrm>
          <a:prstGeom prst="roundRect">
            <a:avLst>
              <a:gd name="adj" fmla="val 0"/>
            </a:avLst>
          </a:prstGeom>
          <a:solidFill>
            <a:srgbClr val="FFD700">
              <a:alpha val="10000"/>
            </a:srgbClr>
          </a:solidFill>
          <a:ln cmpd="sng" cap="flat">
            <a:solidFill>
              <a:srgbClr val="E6C100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708400"/>
            <a:ext cx="38100" cy="6604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cmpd="sng" cap="flat">
            <a:solidFill>
              <a:srgbClr val="E6C1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14400" y="3708400"/>
            <a:ext cx="101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300" spc="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930400" y="3708400"/>
            <a:ext cx="40132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7843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复刻现实 · 生态演化 · 环境改造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"/>
          <a:srcRect l="0" r="0" t="13143" b="13143"/>
          <a:stretch>
            <a:fillRect/>
          </a:stretch>
        </p:blipFill>
        <p:spPr>
          <a:xfrm rot="0" flipH="false" flipV="false">
            <a:off x="762000" y="4445000"/>
            <a:ext cx="5207000" cy="215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6096000" y="1333500"/>
            <a:ext cx="12700" cy="4572000"/>
          </a:xfrm>
          <a:prstGeom prst="roundRect">
            <a:avLst>
              <a:gd name="adj" fmla="val 0"/>
            </a:avLst>
          </a:prstGeom>
          <a:solidFill>
            <a:srgbClr val="FFD700">
              <a:alpha val="18000"/>
            </a:srgbClr>
          </a:solidFill>
          <a:ln cmpd="sng" cap="flat">
            <a:solidFill>
              <a:srgbClr val="E6C100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1270000"/>
            <a:ext cx="5207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2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案例二:创造浮空车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1752600"/>
            <a:ext cx="520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500" spc="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创造之道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2159000"/>
            <a:ext cx="101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300" spc="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逻辑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493000" y="2159000"/>
            <a:ext cx="4191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突破现实物理限制,基于基础几何单元自主推演。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77000" y="2794000"/>
            <a:ext cx="101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300" spc="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过程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493000" y="2794000"/>
            <a:ext cx="101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需求萌生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534400" y="2794000"/>
            <a:ext cx="279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1400">
                <a:solidFill>
                  <a:srgbClr val="FFD700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839200" y="2794000"/>
            <a:ext cx="101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材料筹备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493000" y="3200400"/>
            <a:ext cx="101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结构推演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534400" y="3200400"/>
            <a:ext cx="279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1400">
                <a:solidFill>
                  <a:srgbClr val="FFD700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839200" y="3200400"/>
            <a:ext cx="139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实体生成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477000" y="3708400"/>
            <a:ext cx="5207000" cy="660400"/>
          </a:xfrm>
          <a:prstGeom prst="roundRect">
            <a:avLst>
              <a:gd name="adj" fmla="val 0"/>
            </a:avLst>
          </a:prstGeom>
          <a:solidFill>
            <a:srgbClr val="FFD700">
              <a:alpha val="10000"/>
            </a:srgbClr>
          </a:solidFill>
          <a:ln cmpd="sng" cap="flat">
            <a:solidFill>
              <a:srgbClr val="E6C100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477000" y="3708400"/>
            <a:ext cx="38100" cy="6604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cmpd="sng" cap="flat">
            <a:solidFill>
              <a:srgbClr val="E6C1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629400" y="3708400"/>
            <a:ext cx="101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300" spc="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645400" y="3708400"/>
            <a:ext cx="40132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7843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突破现实 · 文明跃迁 · 自主创造</a:t>
            </a:r>
            <a:endParaRPr lang="en-US" sz="1100"/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3"/>
          <a:srcRect l="0" r="0" t="13143" b="13143"/>
          <a:stretch>
            <a:fillRect/>
          </a:stretch>
        </p:blipFill>
        <p:spPr>
          <a:xfrm rot="0" flipH="false" flipV="false">
            <a:off x="6477000" y="4445000"/>
            <a:ext cx="5207000" cy="215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C1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508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3600" spc="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道：从复刻自然到创造新生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141E19">
              <a:alpha val="80000"/>
            </a:srgbClr>
          </a:solidFill>
          <a:ln w="12700" cmpd="sng" cap="flat">
            <a:solidFill>
              <a:srgbClr val="2E8B57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1905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90EE90"/>
                </a:solidFill>
                <a:latin typeface="Noto Sans SC"/>
                <a:ea typeface="Noto Sans SC"/>
                <a:cs typeface="Noto Sans SC"/>
                <a:sym typeface="Noto Sans SC"/>
              </a:rPr>
              <a:t>现实之道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2540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案例：种植桃林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048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Agent遵循大道复刻的现实生物学规律，从采集种子到培育成林，永久改变地貌，实现生态层面的演化。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445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0EE9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复刻现实 · 生态演化 · 环境改造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826000" y="2032000"/>
            <a:ext cx="2540000" cy="2540000"/>
          </a:xfrm>
          <a:prstGeom prst="ellipse">
            <a:avLst/>
          </a:prstGeom>
          <a:gradFill rotWithShape="true">
            <a:gsLst>
              <a:gs pos="0">
                <a:srgbClr val="FF6A00">
                  <a:alpha val="60000"/>
                </a:srgbClr>
              </a:gs>
              <a:gs pos="70000">
                <a:srgbClr val="FF6A00">
                  <a:alpha val="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25400" cmpd="sng" cap="flat">
            <a:solidFill>
              <a:srgbClr val="FFD700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953000" y="29210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世界大道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953000" y="35560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无意志、无偏爱的客观法则</a:t>
            </a:r>
            <a:br>
              <a:rPr lang="en-US" b="false" i="false" strike="noStrike" u="none" sz="1200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现实规律的数字化复刻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874000" y="1651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141928">
              <a:alpha val="80000"/>
            </a:srgbClr>
          </a:solidFill>
          <a:ln w="12700" cmpd="sng" cap="flat">
            <a:solidFill>
              <a:srgbClr val="4682B4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1905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87CEFA"/>
                </a:solidFill>
                <a:latin typeface="Noto Sans SC"/>
                <a:ea typeface="Noto Sans SC"/>
                <a:cs typeface="Noto Sans SC"/>
                <a:sym typeface="Noto Sans SC"/>
              </a:rPr>
              <a:t>创造之道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01000" y="2540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案例：创造浮空车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3048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Agent突破现实物理限制，基于基础几何单元自主推演全新结构，创造出世界初始不存在的全新事物，推动文明层级跃迁。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4445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7CEFA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突破现实 · 文明跃迁 · 自主创造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651500"/>
            <a:ext cx="10922000" cy="1016000"/>
          </a:xfrm>
          <a:prstGeom prst="roundRect">
            <a:avLst>
              <a:gd name="adj" fmla="val 12500"/>
            </a:avLst>
          </a:prstGeom>
          <a:solidFill>
            <a:srgbClr val="1E1E23">
              <a:alpha val="90000"/>
            </a:srgbClr>
          </a:solidFill>
          <a:ln w="12700" cmpd="sng" cap="flat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651500"/>
            <a:ext cx="76200" cy="1016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cmpd="sng" cap="flat">
            <a:solidFill>
              <a:srgbClr val="E6C1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5778500"/>
            <a:ext cx="50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3200">
                <a:solidFill>
                  <a:srgbClr val="FFD70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651000" y="57785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600" spc="100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道法自然，天地不仁，以万物为刍狗。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651000" y="6159500"/>
            <a:ext cx="914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200" spc="50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Agent在道的框架内，完成从改造自然到创造文明的伟大演进。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{"Label":"1","ContentProducer":"001191110102MACQD9K64010000","ProduceID":"7672043152538635247","ReservedCode1":"","ContentPropagator":"","PropagateID":"","ReservedCode2":""}</vt:lpwstr>
  </property>
</Properties>
</file>