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8" r:id="rId5"/>
    <p:sldId id="279" r:id="rId6"/>
    <p:sldId id="258" r:id="rId7"/>
    <p:sldId id="266" r:id="rId8"/>
    <p:sldId id="260" r:id="rId9"/>
    <p:sldId id="271" r:id="rId10"/>
    <p:sldId id="275" r:id="rId11"/>
    <p:sldId id="262" r:id="rId12"/>
    <p:sldId id="264" r:id="rId13"/>
    <p:sldId id="280" r:id="rId14"/>
    <p:sldId id="267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① 它有自己的人生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你不在线，它继续生活。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② 它记得你们共同经历过什么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关系不会随着 </a:t>
            </a:r>
            <a:r>
              <a:rPr lang="en-US" altLang="zh-CN" dirty="0"/>
              <a:t>Session </a:t>
            </a:r>
            <a:r>
              <a:rPr lang="zh-CN" altLang="en-US" dirty="0"/>
              <a:t>结束。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③ 它会因为这些经历而改变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今天发生的事情会影响明天的它。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然后说：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“所以我们不是让 </a:t>
            </a:r>
            <a:r>
              <a:rPr lang="en-US" altLang="zh-CN" dirty="0"/>
              <a:t>AI </a:t>
            </a:r>
            <a:r>
              <a:rPr lang="zh-CN" altLang="en-US" dirty="0"/>
              <a:t>更像人说话，而是第一次让 </a:t>
            </a:r>
            <a:r>
              <a:rPr lang="en-US" altLang="zh-CN" dirty="0"/>
              <a:t>AI </a:t>
            </a:r>
            <a:r>
              <a:rPr lang="zh-CN" altLang="en-US" dirty="0"/>
              <a:t>拥有连续的人生。”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5836" y="9534525"/>
            <a:ext cx="3200567" cy="547688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686544" y="9534525"/>
            <a:ext cx="4343626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30312" y="9534525"/>
            <a:ext cx="3200567" cy="54768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gen-dedup-4e954339e028d100677b67e529cb06d3.png"/>
          <p:cNvPicPr>
            <a:picLocks noChangeAspect="1"/>
          </p:cNvPicPr>
          <p:nvPr/>
        </p:nvPicPr>
        <p:blipFill>
          <a:blip r:embed="rId1"/>
          <a:srcRect l="-2083" r="-2083"/>
          <a:stretch>
            <a:fillRect/>
          </a:stretch>
        </p:blipFill>
        <p:spPr>
          <a:xfrm>
            <a:off x="1238098" y="5848502"/>
            <a:ext cx="8572500" cy="9144"/>
          </a:xfrm>
          <a:prstGeom prst="rect">
            <a:avLst/>
          </a:prstGeom>
        </p:spPr>
      </p:pic>
      <p:pic>
        <p:nvPicPr>
          <p:cNvPr id="7" name="Image 3" descr="gen-dedup-292c198aa7f5b9dbeebc2add1bd9d48a.png"/>
          <p:cNvPicPr>
            <a:picLocks noChangeAspect="1"/>
          </p:cNvPicPr>
          <p:nvPr/>
        </p:nvPicPr>
        <p:blipFill>
          <a:blip r:embed="rId2"/>
          <a:srcRect t="-2083" b="-2083"/>
          <a:stretch>
            <a:fillRect/>
          </a:stretch>
        </p:blipFill>
        <p:spPr>
          <a:xfrm>
            <a:off x="11239805" y="0"/>
            <a:ext cx="9144" cy="10287000"/>
          </a:xfrm>
          <a:prstGeom prst="rect">
            <a:avLst/>
          </a:prstGeom>
        </p:spPr>
      </p:pic>
      <p:pic>
        <p:nvPicPr>
          <p:cNvPr id="17" name="Image 8" descr="gen-dedup-44e588de7fa6c03f7f513974a6fe718a.png"/>
          <p:cNvPicPr>
            <a:picLocks noChangeAspect="1"/>
          </p:cNvPicPr>
          <p:nvPr/>
        </p:nvPicPr>
        <p:blipFill>
          <a:blip r:embed="rId3"/>
          <a:srcRect l="-429" r="-429"/>
          <a:stretch>
            <a:fillRect/>
          </a:stretch>
        </p:blipFill>
        <p:spPr>
          <a:xfrm>
            <a:off x="1238098" y="1429207"/>
            <a:ext cx="609905" cy="28346"/>
          </a:xfrm>
          <a:prstGeom prst="rect">
            <a:avLst/>
          </a:prstGeom>
        </p:spPr>
      </p:pic>
      <p:sp>
        <p:nvSpPr>
          <p:cNvPr id="19" name="Text 8"/>
          <p:cNvSpPr txBox="1"/>
          <p:nvPr/>
        </p:nvSpPr>
        <p:spPr>
          <a:xfrm>
            <a:off x="1238098" y="1714500"/>
            <a:ext cx="857250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kern="0" spc="36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疯狂宠物城 · AI 陪伴</a:t>
            </a:r>
            <a:endParaRPr lang="en-US" sz="1125" dirty="0"/>
          </a:p>
        </p:txBody>
      </p:sp>
      <p:sp>
        <p:nvSpPr>
          <p:cNvPr id="20" name="Text 9"/>
          <p:cNvSpPr txBox="1"/>
          <p:nvPr/>
        </p:nvSpPr>
        <p:spPr>
          <a:xfrm>
            <a:off x="1238098" y="2495398"/>
            <a:ext cx="9144000" cy="1905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45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疯狂宠物城</a:t>
            </a:r>
            <a:endParaRPr lang="en-US" sz="450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  <a:p>
            <a:pPr marL="0" indent="0" algn="l">
              <a:lnSpc>
                <a:spcPct val="134000"/>
              </a:lnSpc>
              <a:buNone/>
            </a:pPr>
            <a:r>
              <a:rPr lang="en-US" sz="45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让AI角色</a:t>
            </a:r>
            <a:r>
              <a:rPr lang="en-US" sz="45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真正生活在世界里</a:t>
            </a:r>
            <a:endParaRPr lang="zh-CN" altLang="en-US" sz="450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21" name="Text 10"/>
          <p:cNvSpPr txBox="1"/>
          <p:nvPr/>
        </p:nvSpPr>
        <p:spPr>
          <a:xfrm>
            <a:off x="1238098" y="4608576"/>
            <a:ext cx="8382305" cy="8019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65"/>
              </a:lnSpc>
              <a:buNone/>
            </a:pPr>
            <a:r>
              <a:rPr lang="en-US" sz="195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用虚拟世界、关系智能与硬件</a:t>
            </a:r>
            <a:r>
              <a:rPr lang="zh-CN" altLang="en-US" sz="195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载体</a:t>
            </a:r>
            <a:r>
              <a:rPr lang="en-US" sz="195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入口</a:t>
            </a:r>
            <a:endParaRPr lang="en-US" sz="1950" b="0" i="0" dirty="0">
              <a:solidFill>
                <a:srgbClr val="5C5C52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marL="0" indent="0" algn="l">
              <a:lnSpc>
                <a:spcPts val="2965"/>
              </a:lnSpc>
              <a:buNone/>
            </a:pPr>
            <a:r>
              <a:rPr lang="en-US" sz="195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做新一代AI陪伴产品</a:t>
            </a:r>
            <a:endParaRPr lang="en-US" sz="1950" dirty="0"/>
          </a:p>
        </p:txBody>
      </p:sp>
      <p:grpSp>
        <p:nvGrpSpPr>
          <p:cNvPr id="58" name="组合 57"/>
          <p:cNvGrpSpPr/>
          <p:nvPr/>
        </p:nvGrpSpPr>
        <p:grpSpPr>
          <a:xfrm>
            <a:off x="693420" y="7145655"/>
            <a:ext cx="7905115" cy="1734820"/>
            <a:chOff x="1468" y="11253"/>
            <a:chExt cx="11340" cy="2333"/>
          </a:xfrm>
        </p:grpSpPr>
        <p:sp>
          <p:nvSpPr>
            <p:cNvPr id="16" name="Oval 11"/>
            <p:cNvSpPr/>
            <p:nvPr/>
          </p:nvSpPr>
          <p:spPr>
            <a:xfrm>
              <a:off x="1576" y="11426"/>
              <a:ext cx="864" cy="864"/>
            </a:xfrm>
            <a:prstGeom prst="ellipse">
              <a:avLst/>
            </a:prstGeom>
            <a:solidFill>
              <a:srgbClr val="FBFAF7"/>
            </a:solidFill>
            <a:ln w="20320">
              <a:solidFill>
                <a:srgbClr val="C5530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/>
            </a:p>
          </p:txBody>
        </p:sp>
        <p:sp>
          <p:nvSpPr>
            <p:cNvPr id="30" name="Oval 14"/>
            <p:cNvSpPr/>
            <p:nvPr/>
          </p:nvSpPr>
          <p:spPr>
            <a:xfrm>
              <a:off x="1840" y="11820"/>
              <a:ext cx="76" cy="76"/>
            </a:xfrm>
            <a:prstGeom prst="ellipse">
              <a:avLst/>
            </a:prstGeom>
            <a:solidFill>
              <a:srgbClr val="C553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/>
            </a:p>
          </p:txBody>
        </p:sp>
        <p:sp>
          <p:nvSpPr>
            <p:cNvPr id="31" name="Oval 15"/>
            <p:cNvSpPr/>
            <p:nvPr/>
          </p:nvSpPr>
          <p:spPr>
            <a:xfrm>
              <a:off x="2100" y="11820"/>
              <a:ext cx="76" cy="76"/>
            </a:xfrm>
            <a:prstGeom prst="ellipse">
              <a:avLst/>
            </a:prstGeom>
            <a:solidFill>
              <a:srgbClr val="C553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/>
            </a:p>
          </p:txBody>
        </p:sp>
        <p:sp>
          <p:nvSpPr>
            <p:cNvPr id="32" name="TextBox 16"/>
            <p:cNvSpPr txBox="1"/>
            <p:nvPr/>
          </p:nvSpPr>
          <p:spPr>
            <a:xfrm>
              <a:off x="1468" y="12444"/>
              <a:ext cx="2296" cy="51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875" b="1">
                  <a:solidFill>
                    <a:srgbClr val="171B1F"/>
                  </a:solidFill>
                  <a:latin typeface="Noto Sans CJK SC"/>
                </a:rPr>
                <a:t>Agent 角色</a:t>
              </a:r>
              <a:endParaRPr sz="1875" b="1">
                <a:solidFill>
                  <a:srgbClr val="171B1F"/>
                </a:solidFill>
                <a:latin typeface="Noto Sans CJK SC"/>
              </a:endParaRPr>
            </a:p>
          </p:txBody>
        </p:sp>
        <p:sp>
          <p:nvSpPr>
            <p:cNvPr id="33" name="TextBox 17"/>
            <p:cNvSpPr txBox="1"/>
            <p:nvPr/>
          </p:nvSpPr>
          <p:spPr>
            <a:xfrm>
              <a:off x="1468" y="13059"/>
              <a:ext cx="2052" cy="44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575" b="0">
                  <a:solidFill>
                    <a:srgbClr val="5C5C58"/>
                  </a:solidFill>
                  <a:latin typeface="Noto Sans CJK SC"/>
                </a:rPr>
                <a:t>持续存在</a:t>
              </a:r>
              <a:endParaRPr sz="1575" b="0">
                <a:solidFill>
                  <a:srgbClr val="5C5C58"/>
                </a:solidFill>
                <a:latin typeface="Noto Sans CJK SC"/>
              </a:endParaRPr>
            </a:p>
          </p:txBody>
        </p:sp>
        <p:cxnSp>
          <p:nvCxnSpPr>
            <p:cNvPr id="34" name="Connector 18"/>
            <p:cNvCxnSpPr/>
            <p:nvPr/>
          </p:nvCxnSpPr>
          <p:spPr>
            <a:xfrm>
              <a:off x="3779" y="11253"/>
              <a:ext cx="0" cy="2333"/>
            </a:xfrm>
            <a:prstGeom prst="line">
              <a:avLst/>
            </a:prstGeom>
            <a:ln w="8890">
              <a:solidFill>
                <a:srgbClr val="D8D5C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Heart 19"/>
            <p:cNvSpPr/>
            <p:nvPr/>
          </p:nvSpPr>
          <p:spPr>
            <a:xfrm>
              <a:off x="4643" y="11296"/>
              <a:ext cx="907" cy="907"/>
            </a:xfrm>
            <a:prstGeom prst="heart">
              <a:avLst/>
            </a:prstGeom>
            <a:noFill/>
            <a:ln w="21590">
              <a:solidFill>
                <a:srgbClr val="F15D7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/>
            </a:p>
          </p:txBody>
        </p:sp>
        <p:sp>
          <p:nvSpPr>
            <p:cNvPr id="36" name="TextBox 20"/>
            <p:cNvSpPr txBox="1"/>
            <p:nvPr/>
          </p:nvSpPr>
          <p:spPr>
            <a:xfrm>
              <a:off x="4535" y="12444"/>
              <a:ext cx="2052" cy="51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875" b="1">
                  <a:solidFill>
                    <a:srgbClr val="171B1F"/>
                  </a:solidFill>
                  <a:latin typeface="Noto Sans CJK SC"/>
                </a:rPr>
                <a:t>关系智能</a:t>
              </a:r>
              <a:endParaRPr sz="1875" b="1">
                <a:solidFill>
                  <a:srgbClr val="171B1F"/>
                </a:solidFill>
                <a:latin typeface="Noto Sans CJK SC"/>
              </a:endParaRPr>
            </a:p>
          </p:txBody>
        </p:sp>
        <p:sp>
          <p:nvSpPr>
            <p:cNvPr id="37" name="TextBox 21"/>
            <p:cNvSpPr txBox="1"/>
            <p:nvPr/>
          </p:nvSpPr>
          <p:spPr>
            <a:xfrm>
              <a:off x="4535" y="13059"/>
              <a:ext cx="2052" cy="44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575" b="0">
                  <a:solidFill>
                    <a:srgbClr val="5C5C58"/>
                  </a:solidFill>
                  <a:latin typeface="Noto Sans CJK SC"/>
                </a:rPr>
                <a:t>持续成长</a:t>
              </a:r>
              <a:endParaRPr sz="1575" b="0">
                <a:solidFill>
                  <a:srgbClr val="5C5C58"/>
                </a:solidFill>
                <a:latin typeface="Noto Sans CJK SC"/>
              </a:endParaRPr>
            </a:p>
          </p:txBody>
        </p:sp>
        <p:cxnSp>
          <p:nvCxnSpPr>
            <p:cNvPr id="38" name="Connector 22"/>
            <p:cNvCxnSpPr/>
            <p:nvPr/>
          </p:nvCxnSpPr>
          <p:spPr>
            <a:xfrm>
              <a:off x="6846" y="11253"/>
              <a:ext cx="0" cy="2333"/>
            </a:xfrm>
            <a:prstGeom prst="line">
              <a:avLst/>
            </a:prstGeom>
            <a:ln w="8890">
              <a:solidFill>
                <a:srgbClr val="D8D5C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23"/>
            <p:cNvSpPr/>
            <p:nvPr/>
          </p:nvSpPr>
          <p:spPr>
            <a:xfrm>
              <a:off x="7797" y="11296"/>
              <a:ext cx="907" cy="907"/>
            </a:xfrm>
            <a:prstGeom prst="ellipse">
              <a:avLst/>
            </a:prstGeom>
            <a:solidFill>
              <a:srgbClr val="FBFAF7"/>
            </a:solidFill>
            <a:ln w="19050">
              <a:solidFill>
                <a:srgbClr val="3D6FC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/>
            </a:p>
          </p:txBody>
        </p:sp>
        <p:cxnSp>
          <p:nvCxnSpPr>
            <p:cNvPr id="44" name="Connector 24"/>
            <p:cNvCxnSpPr/>
            <p:nvPr/>
          </p:nvCxnSpPr>
          <p:spPr>
            <a:xfrm>
              <a:off x="7797" y="11750"/>
              <a:ext cx="907" cy="0"/>
            </a:xfrm>
            <a:prstGeom prst="line">
              <a:avLst/>
            </a:prstGeom>
            <a:ln w="12700">
              <a:solidFill>
                <a:srgbClr val="3D6FC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25"/>
            <p:cNvCxnSpPr/>
            <p:nvPr/>
          </p:nvCxnSpPr>
          <p:spPr>
            <a:xfrm>
              <a:off x="8250" y="11296"/>
              <a:ext cx="0" cy="907"/>
            </a:xfrm>
            <a:prstGeom prst="line">
              <a:avLst/>
            </a:prstGeom>
            <a:ln w="12700">
              <a:solidFill>
                <a:srgbClr val="3D6FC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26"/>
            <p:cNvSpPr txBox="1"/>
            <p:nvPr/>
          </p:nvSpPr>
          <p:spPr>
            <a:xfrm>
              <a:off x="7689" y="12444"/>
              <a:ext cx="2052" cy="51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875" b="1">
                  <a:solidFill>
                    <a:srgbClr val="171B1F"/>
                  </a:solidFill>
                  <a:latin typeface="Noto Sans CJK SC"/>
                </a:rPr>
                <a:t>虚拟世界</a:t>
              </a:r>
              <a:endParaRPr sz="1875" b="1">
                <a:solidFill>
                  <a:srgbClr val="171B1F"/>
                </a:solidFill>
                <a:latin typeface="Noto Sans CJK SC"/>
              </a:endParaRPr>
            </a:p>
          </p:txBody>
        </p:sp>
        <p:sp>
          <p:nvSpPr>
            <p:cNvPr id="52" name="TextBox 27"/>
            <p:cNvSpPr txBox="1"/>
            <p:nvPr/>
          </p:nvSpPr>
          <p:spPr>
            <a:xfrm>
              <a:off x="7689" y="13059"/>
              <a:ext cx="2052" cy="44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575" b="0">
                  <a:solidFill>
                    <a:srgbClr val="5C5C58"/>
                  </a:solidFill>
                  <a:latin typeface="Noto Sans CJK SC"/>
                </a:rPr>
                <a:t>持续运行</a:t>
              </a:r>
              <a:endParaRPr sz="1575" b="0">
                <a:solidFill>
                  <a:srgbClr val="5C5C58"/>
                </a:solidFill>
                <a:latin typeface="Noto Sans CJK SC"/>
              </a:endParaRPr>
            </a:p>
          </p:txBody>
        </p:sp>
        <p:cxnSp>
          <p:nvCxnSpPr>
            <p:cNvPr id="53" name="Connector 28"/>
            <p:cNvCxnSpPr/>
            <p:nvPr/>
          </p:nvCxnSpPr>
          <p:spPr>
            <a:xfrm>
              <a:off x="10000" y="11253"/>
              <a:ext cx="0" cy="2333"/>
            </a:xfrm>
            <a:prstGeom prst="line">
              <a:avLst/>
            </a:prstGeom>
            <a:ln w="8890">
              <a:solidFill>
                <a:srgbClr val="D8D5C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ounded Rectangle 29"/>
            <p:cNvSpPr/>
            <p:nvPr/>
          </p:nvSpPr>
          <p:spPr>
            <a:xfrm>
              <a:off x="11037" y="11275"/>
              <a:ext cx="540" cy="929"/>
            </a:xfrm>
            <a:prstGeom prst="roundRect">
              <a:avLst/>
            </a:prstGeom>
            <a:noFill/>
            <a:ln w="20320">
              <a:solidFill>
                <a:srgbClr val="46A4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/>
            </a:p>
          </p:txBody>
        </p:sp>
        <p:sp>
          <p:nvSpPr>
            <p:cNvPr id="55" name="TextBox 30"/>
            <p:cNvSpPr txBox="1"/>
            <p:nvPr/>
          </p:nvSpPr>
          <p:spPr>
            <a:xfrm>
              <a:off x="10756" y="12444"/>
              <a:ext cx="2052" cy="51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875" b="1">
                  <a:solidFill>
                    <a:srgbClr val="171B1F"/>
                  </a:solidFill>
                  <a:latin typeface="Noto Sans CJK SC"/>
                </a:rPr>
                <a:t>硬件入口</a:t>
              </a:r>
              <a:endParaRPr sz="1875" b="1">
                <a:solidFill>
                  <a:srgbClr val="171B1F"/>
                </a:solidFill>
                <a:latin typeface="Noto Sans CJK SC"/>
              </a:endParaRPr>
            </a:p>
          </p:txBody>
        </p:sp>
        <p:sp>
          <p:nvSpPr>
            <p:cNvPr id="56" name="TextBox 31"/>
            <p:cNvSpPr txBox="1"/>
            <p:nvPr/>
          </p:nvSpPr>
          <p:spPr>
            <a:xfrm>
              <a:off x="10756" y="13059"/>
              <a:ext cx="2052" cy="44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575" b="0">
                  <a:solidFill>
                    <a:srgbClr val="5C5C58"/>
                  </a:solidFill>
                  <a:latin typeface="Noto Sans CJK SC"/>
                </a:rPr>
                <a:t>跨设备陪伴</a:t>
              </a:r>
              <a:endParaRPr sz="1575" b="0">
                <a:solidFill>
                  <a:srgbClr val="5C5C58"/>
                </a:solidFill>
                <a:latin typeface="Noto Sans CJK SC"/>
              </a:endParaRPr>
            </a:p>
          </p:txBody>
        </p:sp>
      </p:grpSp>
      <p:pic>
        <p:nvPicPr>
          <p:cNvPr id="57" name="图片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6675" y="1016000"/>
            <a:ext cx="9267825" cy="85782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问题与机会</a:t>
            </a:r>
            <a:endParaRPr lang="en-US" sz="1125" dirty="0"/>
          </a:p>
        </p:txBody>
      </p:sp>
      <p:sp>
        <p:nvSpPr>
          <p:cNvPr id="46" name="Text 34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AI陪伴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不等于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对话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智能</a:t>
            </a:r>
            <a:endParaRPr lang="zh-CN" altLang="en-US" sz="345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47" name="Text 35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陪伴硬件</a:t>
            </a:r>
            <a:r>
              <a:rPr 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市场还在做"高级工具",</a:t>
            </a: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不是在</a:t>
            </a:r>
            <a:r>
              <a:rPr 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做"</a:t>
            </a: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长期关系型</a:t>
            </a:r>
            <a:r>
              <a:rPr 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陪伴"。</a:t>
            </a:r>
            <a:endParaRPr lang="en-US" sz="1725" dirty="0"/>
          </a:p>
        </p:txBody>
      </p:sp>
      <p:pic>
        <p:nvPicPr>
          <p:cNvPr id="55" name="Picture 55"/>
          <p:cNvPicPr/>
          <p:nvPr/>
        </p:nvPicPr>
        <p:blipFill>
          <a:blip r:embed="rId2"/>
          <a:stretch>
            <a:fillRect/>
          </a:stretch>
        </p:blipFill>
        <p:spPr>
          <a:xfrm>
            <a:off x="1212215" y="2696845"/>
            <a:ext cx="5564505" cy="3404870"/>
          </a:xfrm>
          <a:prstGeom prst="rect">
            <a:avLst/>
          </a:prstGeom>
        </p:spPr>
      </p:pic>
      <p:grpSp>
        <p:nvGrpSpPr>
          <p:cNvPr id="115" name="组合 114"/>
          <p:cNvGrpSpPr/>
          <p:nvPr/>
        </p:nvGrpSpPr>
        <p:grpSpPr>
          <a:xfrm>
            <a:off x="1206500" y="6261743"/>
            <a:ext cx="6837680" cy="3855077"/>
            <a:chOff x="17059" y="6655"/>
            <a:chExt cx="7618" cy="5081"/>
          </a:xfrm>
        </p:grpSpPr>
        <p:sp>
          <p:nvSpPr>
            <p:cNvPr id="89" name="TextBox 6"/>
            <p:cNvSpPr txBox="1"/>
            <p:nvPr/>
          </p:nvSpPr>
          <p:spPr>
            <a:xfrm>
              <a:off x="17059" y="6655"/>
              <a:ext cx="4409" cy="43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Autofit/>
            </a:bodyPr>
            <a:lstStyle/>
            <a:p>
              <a:pPr lvl="0" algn="l">
                <a:lnSpc>
                  <a:spcPct val="125000"/>
                </a:lnSpc>
                <a:buClrTx/>
                <a:buSzTx/>
                <a:buFontTx/>
                <a:defRPr/>
              </a:pPr>
              <a:r>
                <a:rPr lang="zh-CN" altLang="en-US" sz="1700" b="1">
                  <a:solidFill>
                    <a:srgbClr val="F97316"/>
                  </a:solidFill>
                  <a:latin typeface="Noto Sans SC"/>
                  <a:ea typeface="Noto Sans SC"/>
                  <a:cs typeface="Noto Sans SC"/>
                  <a:sym typeface="+mn-ea"/>
                </a:rPr>
                <a:t>需求已经被验证（软件 + 硬件同时爆发）</a:t>
              </a:r>
              <a:endPara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+mn-ea"/>
              </a:endParaRPr>
            </a:p>
          </p:txBody>
        </p:sp>
        <p:sp>
          <p:nvSpPr>
            <p:cNvPr id="90" name="Rounded Rectangle 7"/>
            <p:cNvSpPr/>
            <p:nvPr/>
          </p:nvSpPr>
          <p:spPr>
            <a:xfrm>
              <a:off x="17059" y="7229"/>
              <a:ext cx="2347" cy="3096"/>
            </a:xfrm>
            <a:prstGeom prst="roundRect">
              <a:avLst/>
            </a:prstGeom>
            <a:solidFill>
              <a:srgbClr val="FBFAF7"/>
            </a:solidFill>
            <a:ln w="12700">
              <a:solidFill>
                <a:srgbClr val="E2DCD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91" name="Oval 8"/>
            <p:cNvSpPr/>
            <p:nvPr/>
          </p:nvSpPr>
          <p:spPr>
            <a:xfrm>
              <a:off x="17894" y="7531"/>
              <a:ext cx="677" cy="677"/>
            </a:xfrm>
            <a:prstGeom prst="ellipse">
              <a:avLst/>
            </a:prstGeom>
            <a:solidFill>
              <a:srgbClr val="FAF4EB"/>
            </a:solidFill>
            <a:ln>
              <a:solidFill>
                <a:srgbClr val="EEDEC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92" name="TextBox 9"/>
            <p:cNvSpPr txBox="1"/>
            <p:nvPr/>
          </p:nvSpPr>
          <p:spPr>
            <a:xfrm>
              <a:off x="17894" y="7608"/>
              <a:ext cx="677" cy="52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>
                  <a:solidFill>
                    <a:srgbClr val="E26018"/>
                  </a:solidFill>
                  <a:latin typeface="Noto Sans CJK SC"/>
                </a:rPr>
                <a:t>↓</a:t>
              </a:r>
              <a:endParaRPr sz="2000" b="1">
                <a:solidFill>
                  <a:srgbClr val="E26018"/>
                </a:solidFill>
                <a:latin typeface="Noto Sans CJK SC"/>
              </a:endParaRPr>
            </a:p>
          </p:txBody>
        </p:sp>
        <p:sp>
          <p:nvSpPr>
            <p:cNvPr id="93" name="TextBox 10"/>
            <p:cNvSpPr txBox="1"/>
            <p:nvPr/>
          </p:nvSpPr>
          <p:spPr>
            <a:xfrm>
              <a:off x="17203" y="8222"/>
              <a:ext cx="2059" cy="60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400" b="1">
                  <a:solidFill>
                    <a:srgbClr val="E26018"/>
                  </a:solidFill>
                  <a:latin typeface="Noto Sans CJK SC"/>
                </a:rPr>
                <a:t>2.2 亿次</a:t>
              </a:r>
              <a:endParaRPr sz="2400" b="1">
                <a:solidFill>
                  <a:srgbClr val="E26018"/>
                </a:solidFill>
                <a:latin typeface="Noto Sans CJK SC"/>
              </a:endParaRPr>
            </a:p>
          </p:txBody>
        </p:sp>
        <p:sp>
          <p:nvSpPr>
            <p:cNvPr id="94" name="TextBox 11"/>
            <p:cNvSpPr txBox="1"/>
            <p:nvPr/>
          </p:nvSpPr>
          <p:spPr>
            <a:xfrm>
              <a:off x="17203" y="8762"/>
              <a:ext cx="2059" cy="85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0">
                  <a:solidFill>
                    <a:srgbClr val="191B1E"/>
                  </a:solidFill>
                  <a:latin typeface="Noto Sans CJK SC"/>
                </a:rPr>
                <a:t>全球 AI Companion App
累计下载量</a:t>
              </a:r>
              <a:endParaRPr sz="1200" b="0">
                <a:solidFill>
                  <a:srgbClr val="191B1E"/>
                </a:solidFill>
                <a:latin typeface="Noto Sans CJK SC"/>
              </a:endParaRPr>
            </a:p>
          </p:txBody>
        </p:sp>
        <p:sp>
          <p:nvSpPr>
            <p:cNvPr id="95" name="TextBox 12"/>
            <p:cNvSpPr txBox="1"/>
            <p:nvPr/>
          </p:nvSpPr>
          <p:spPr>
            <a:xfrm>
              <a:off x="17203" y="9592"/>
              <a:ext cx="2059" cy="28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800" b="0">
                  <a:solidFill>
                    <a:srgbClr val="6F6D65"/>
                  </a:solidFill>
                  <a:latin typeface="Noto Sans CJK SC"/>
                </a:rPr>
                <a:t>截至 2025 年 7 月</a:t>
              </a:r>
              <a:endParaRPr sz="800" b="0">
                <a:solidFill>
                  <a:srgbClr val="6F6D65"/>
                </a:solidFill>
                <a:latin typeface="Noto Sans CJK SC"/>
              </a:endParaRPr>
            </a:p>
          </p:txBody>
        </p:sp>
        <p:sp>
          <p:nvSpPr>
            <p:cNvPr id="96" name="TextBox 13"/>
            <p:cNvSpPr txBox="1"/>
            <p:nvPr/>
          </p:nvSpPr>
          <p:spPr>
            <a:xfrm>
              <a:off x="17174" y="9952"/>
              <a:ext cx="2117" cy="25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670" b="0">
                  <a:solidFill>
                    <a:srgbClr val="6F6D65"/>
                  </a:solidFill>
                  <a:latin typeface="Noto Sans CJK SC"/>
                </a:rPr>
                <a:t>Source: TechCrunch / Appfigures</a:t>
              </a:r>
              <a:endParaRPr sz="670" b="0">
                <a:solidFill>
                  <a:srgbClr val="6F6D65"/>
                </a:solidFill>
                <a:latin typeface="Noto Sans CJK SC"/>
              </a:endParaRPr>
            </a:p>
          </p:txBody>
        </p:sp>
        <p:sp>
          <p:nvSpPr>
            <p:cNvPr id="97" name="Rounded Rectangle 14"/>
            <p:cNvSpPr/>
            <p:nvPr/>
          </p:nvSpPr>
          <p:spPr>
            <a:xfrm>
              <a:off x="19694" y="7229"/>
              <a:ext cx="2347" cy="3096"/>
            </a:xfrm>
            <a:prstGeom prst="roundRect">
              <a:avLst/>
            </a:prstGeom>
            <a:solidFill>
              <a:srgbClr val="FBFAF7"/>
            </a:solidFill>
            <a:ln w="12700">
              <a:solidFill>
                <a:srgbClr val="E2DCD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98" name="Oval 15"/>
            <p:cNvSpPr/>
            <p:nvPr/>
          </p:nvSpPr>
          <p:spPr>
            <a:xfrm>
              <a:off x="20529" y="7531"/>
              <a:ext cx="677" cy="677"/>
            </a:xfrm>
            <a:prstGeom prst="ellipse">
              <a:avLst/>
            </a:prstGeom>
            <a:solidFill>
              <a:srgbClr val="FAF4EB"/>
            </a:solidFill>
            <a:ln>
              <a:solidFill>
                <a:srgbClr val="EEDEC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99" name="TextBox 16"/>
            <p:cNvSpPr txBox="1"/>
            <p:nvPr/>
          </p:nvSpPr>
          <p:spPr>
            <a:xfrm>
              <a:off x="20529" y="7608"/>
              <a:ext cx="677" cy="52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>
                  <a:solidFill>
                    <a:srgbClr val="DC4B68"/>
                  </a:solidFill>
                  <a:latin typeface="Noto Sans CJK SC"/>
                </a:rPr>
                <a:t>↗</a:t>
              </a:r>
              <a:endParaRPr sz="2000" b="1">
                <a:solidFill>
                  <a:srgbClr val="DC4B68"/>
                </a:solidFill>
                <a:latin typeface="Noto Sans CJK SC"/>
              </a:endParaRPr>
            </a:p>
          </p:txBody>
        </p:sp>
        <p:sp>
          <p:nvSpPr>
            <p:cNvPr id="100" name="TextBox 17"/>
            <p:cNvSpPr txBox="1"/>
            <p:nvPr/>
          </p:nvSpPr>
          <p:spPr>
            <a:xfrm>
              <a:off x="19838" y="8222"/>
              <a:ext cx="2059" cy="60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400" b="1">
                  <a:solidFill>
                    <a:srgbClr val="DC4B68"/>
                  </a:solidFill>
                  <a:latin typeface="Noto Sans CJK SC"/>
                </a:rPr>
                <a:t>+88%</a:t>
              </a:r>
              <a:endParaRPr sz="2400" b="1">
                <a:solidFill>
                  <a:srgbClr val="DC4B68"/>
                </a:solidFill>
                <a:latin typeface="Noto Sans CJK SC"/>
              </a:endParaRPr>
            </a:p>
          </p:txBody>
        </p:sp>
        <p:sp>
          <p:nvSpPr>
            <p:cNvPr id="101" name="TextBox 18"/>
            <p:cNvSpPr txBox="1"/>
            <p:nvPr/>
          </p:nvSpPr>
          <p:spPr>
            <a:xfrm>
              <a:off x="19838" y="8884"/>
              <a:ext cx="2059" cy="60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0">
                  <a:solidFill>
                    <a:srgbClr val="191B1E"/>
                  </a:solidFill>
                  <a:latin typeface="Noto Sans CJK SC"/>
                </a:rPr>
                <a:t>2025 H1 下载量
同比增长</a:t>
              </a:r>
              <a:endParaRPr sz="1200" b="0">
                <a:solidFill>
                  <a:srgbClr val="191B1E"/>
                </a:solidFill>
                <a:latin typeface="Noto Sans CJK SC"/>
              </a:endParaRPr>
            </a:p>
          </p:txBody>
        </p:sp>
        <p:sp>
          <p:nvSpPr>
            <p:cNvPr id="102" name="TextBox 19"/>
            <p:cNvSpPr txBox="1"/>
            <p:nvPr/>
          </p:nvSpPr>
          <p:spPr>
            <a:xfrm>
              <a:off x="19838" y="9592"/>
              <a:ext cx="2059" cy="28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800" b="0">
                  <a:solidFill>
                    <a:srgbClr val="6F6D65"/>
                  </a:solidFill>
                  <a:latin typeface="Noto Sans CJK SC"/>
                </a:rPr>
                <a:t>2025 H1</a:t>
              </a:r>
              <a:endParaRPr sz="800" b="0">
                <a:solidFill>
                  <a:srgbClr val="6F6D65"/>
                </a:solidFill>
                <a:latin typeface="Noto Sans CJK SC"/>
              </a:endParaRPr>
            </a:p>
          </p:txBody>
        </p:sp>
        <p:sp>
          <p:nvSpPr>
            <p:cNvPr id="103" name="TextBox 20"/>
            <p:cNvSpPr txBox="1"/>
            <p:nvPr/>
          </p:nvSpPr>
          <p:spPr>
            <a:xfrm>
              <a:off x="19809" y="9952"/>
              <a:ext cx="2117" cy="25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670" b="0">
                  <a:solidFill>
                    <a:srgbClr val="6F6D65"/>
                  </a:solidFill>
                  <a:latin typeface="Noto Sans CJK SC"/>
                </a:rPr>
                <a:t>Source: TechCrunch / Appfigures</a:t>
              </a:r>
              <a:endParaRPr sz="670" b="0">
                <a:solidFill>
                  <a:srgbClr val="6F6D65"/>
                </a:solidFill>
                <a:latin typeface="Noto Sans CJK SC"/>
              </a:endParaRPr>
            </a:p>
          </p:txBody>
        </p:sp>
        <p:sp>
          <p:nvSpPr>
            <p:cNvPr id="104" name="Rounded Rectangle 21"/>
            <p:cNvSpPr/>
            <p:nvPr/>
          </p:nvSpPr>
          <p:spPr>
            <a:xfrm>
              <a:off x="22329" y="7229"/>
              <a:ext cx="2347" cy="3096"/>
            </a:xfrm>
            <a:prstGeom prst="roundRect">
              <a:avLst/>
            </a:prstGeom>
            <a:solidFill>
              <a:srgbClr val="FBFAF7"/>
            </a:solidFill>
            <a:ln w="12700">
              <a:solidFill>
                <a:srgbClr val="E2DCD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05" name="Oval 22"/>
            <p:cNvSpPr/>
            <p:nvPr/>
          </p:nvSpPr>
          <p:spPr>
            <a:xfrm>
              <a:off x="23164" y="7531"/>
              <a:ext cx="677" cy="677"/>
            </a:xfrm>
            <a:prstGeom prst="ellipse">
              <a:avLst/>
            </a:prstGeom>
            <a:solidFill>
              <a:srgbClr val="FAF4EB"/>
            </a:solidFill>
            <a:ln>
              <a:solidFill>
                <a:srgbClr val="EEDEC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06" name="TextBox 23"/>
            <p:cNvSpPr txBox="1"/>
            <p:nvPr/>
          </p:nvSpPr>
          <p:spPr>
            <a:xfrm>
              <a:off x="23164" y="7608"/>
              <a:ext cx="677" cy="52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>
                  <a:solidFill>
                    <a:srgbClr val="308954"/>
                  </a:solidFill>
                  <a:latin typeface="Noto Sans CJK SC"/>
                </a:rPr>
                <a:t>●</a:t>
              </a:r>
              <a:endParaRPr sz="2000" b="1">
                <a:solidFill>
                  <a:srgbClr val="308954"/>
                </a:solidFill>
                <a:latin typeface="Noto Sans CJK SC"/>
              </a:endParaRPr>
            </a:p>
          </p:txBody>
        </p:sp>
        <p:sp>
          <p:nvSpPr>
            <p:cNvPr id="107" name="TextBox 24"/>
            <p:cNvSpPr txBox="1"/>
            <p:nvPr/>
          </p:nvSpPr>
          <p:spPr>
            <a:xfrm>
              <a:off x="22473" y="8222"/>
              <a:ext cx="2059" cy="60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400" b="1">
                  <a:solidFill>
                    <a:srgbClr val="308954"/>
                  </a:solidFill>
                  <a:latin typeface="Noto Sans CJK SC"/>
                </a:rPr>
                <a:t>290 亿元</a:t>
              </a:r>
              <a:endParaRPr sz="2400" b="1">
                <a:solidFill>
                  <a:srgbClr val="308954"/>
                </a:solidFill>
                <a:latin typeface="Noto Sans CJK SC"/>
              </a:endParaRPr>
            </a:p>
          </p:txBody>
        </p:sp>
        <p:sp>
          <p:nvSpPr>
            <p:cNvPr id="108" name="TextBox 25"/>
            <p:cNvSpPr txBox="1"/>
            <p:nvPr/>
          </p:nvSpPr>
          <p:spPr>
            <a:xfrm>
              <a:off x="22473" y="8884"/>
              <a:ext cx="2059" cy="60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0">
                  <a:solidFill>
                    <a:srgbClr val="191B1E"/>
                  </a:solidFill>
                  <a:latin typeface="Noto Sans CJK SC"/>
                </a:rPr>
                <a:t>2025 中国 AI 玩具市场
预计规模</a:t>
              </a:r>
              <a:endParaRPr sz="1200" b="0">
                <a:solidFill>
                  <a:srgbClr val="191B1E"/>
                </a:solidFill>
                <a:latin typeface="Noto Sans CJK SC"/>
              </a:endParaRPr>
            </a:p>
          </p:txBody>
        </p:sp>
        <p:sp>
          <p:nvSpPr>
            <p:cNvPr id="109" name="TextBox 26"/>
            <p:cNvSpPr txBox="1"/>
            <p:nvPr/>
          </p:nvSpPr>
          <p:spPr>
            <a:xfrm>
              <a:off x="22473" y="9592"/>
              <a:ext cx="2059" cy="28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800" b="0">
                  <a:solidFill>
                    <a:srgbClr val="6F6D65"/>
                  </a:solidFill>
                  <a:latin typeface="Noto Sans CJK SC"/>
                </a:rPr>
                <a:t>2025E</a:t>
              </a:r>
              <a:endParaRPr sz="800" b="0">
                <a:solidFill>
                  <a:srgbClr val="6F6D65"/>
                </a:solidFill>
                <a:latin typeface="Noto Sans CJK SC"/>
              </a:endParaRPr>
            </a:p>
          </p:txBody>
        </p:sp>
        <p:sp>
          <p:nvSpPr>
            <p:cNvPr id="110" name="TextBox 27"/>
            <p:cNvSpPr txBox="1"/>
            <p:nvPr/>
          </p:nvSpPr>
          <p:spPr>
            <a:xfrm>
              <a:off x="22444" y="9952"/>
              <a:ext cx="2117" cy="25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670" b="0">
                  <a:solidFill>
                    <a:srgbClr val="6F6D65"/>
                  </a:solidFill>
                  <a:latin typeface="Noto Sans CJK SC"/>
                </a:rPr>
                <a:t>Source: CCTV / 工信部公开信息</a:t>
              </a:r>
              <a:endParaRPr sz="670" b="0">
                <a:solidFill>
                  <a:srgbClr val="6F6D65"/>
                </a:solidFill>
                <a:latin typeface="Noto Sans CJK SC"/>
              </a:endParaRPr>
            </a:p>
          </p:txBody>
        </p:sp>
        <p:sp>
          <p:nvSpPr>
            <p:cNvPr id="111" name="Rounded Rectangle 28"/>
            <p:cNvSpPr/>
            <p:nvPr/>
          </p:nvSpPr>
          <p:spPr>
            <a:xfrm>
              <a:off x="17059" y="10642"/>
              <a:ext cx="7618" cy="1094"/>
            </a:xfrm>
            <a:prstGeom prst="roundRect">
              <a:avLst/>
            </a:prstGeom>
            <a:solidFill>
              <a:srgbClr val="FAF6EF"/>
            </a:solidFill>
            <a:ln w="12700">
              <a:solidFill>
                <a:srgbClr val="E9DAC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12" name="Oval 29"/>
            <p:cNvSpPr/>
            <p:nvPr/>
          </p:nvSpPr>
          <p:spPr>
            <a:xfrm>
              <a:off x="17376" y="10930"/>
              <a:ext cx="518" cy="518"/>
            </a:xfrm>
            <a:prstGeom prst="ellipse">
              <a:avLst/>
            </a:prstGeom>
            <a:solidFill>
              <a:srgbClr val="FCEFDD"/>
            </a:solidFill>
            <a:ln>
              <a:solidFill>
                <a:srgbClr val="FCEFD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13" name="TextBox 30"/>
            <p:cNvSpPr txBox="1"/>
            <p:nvPr/>
          </p:nvSpPr>
          <p:spPr>
            <a:xfrm>
              <a:off x="17376" y="10945"/>
              <a:ext cx="518" cy="4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b="1">
                  <a:solidFill>
                    <a:srgbClr val="E26018"/>
                  </a:solidFill>
                  <a:latin typeface="Noto Sans CJK SC"/>
                </a:rPr>
                <a:t>♥</a:t>
              </a:r>
              <a:endParaRPr b="1">
                <a:solidFill>
                  <a:srgbClr val="E26018"/>
                </a:solidFill>
                <a:latin typeface="Noto Sans CJK SC"/>
              </a:endParaRPr>
            </a:p>
          </p:txBody>
        </p:sp>
        <p:sp>
          <p:nvSpPr>
            <p:cNvPr id="114" name="TextBox 31"/>
            <p:cNvSpPr txBox="1"/>
            <p:nvPr/>
          </p:nvSpPr>
          <p:spPr>
            <a:xfrm>
              <a:off x="18081" y="10857"/>
              <a:ext cx="6264" cy="60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200" b="0">
                  <a:solidFill>
                    <a:srgbClr val="191B1E"/>
                  </a:solidFill>
                  <a:latin typeface="Noto Sans CJK SC"/>
                </a:rPr>
                <a:t>用户已经证明：愿意与 AI 交流、建立情感连接，
并为“有角色感的 AI”付费。</a:t>
              </a:r>
              <a:endParaRPr sz="1200" b="0">
                <a:solidFill>
                  <a:srgbClr val="191B1E"/>
                </a:solidFill>
                <a:latin typeface="Noto Sans CJK SC"/>
              </a:endParaRPr>
            </a:p>
          </p:txBody>
        </p:sp>
      </p:grpSp>
      <p:grpSp>
        <p:nvGrpSpPr>
          <p:cNvPr id="116" name="组合 115"/>
          <p:cNvGrpSpPr/>
          <p:nvPr/>
        </p:nvGrpSpPr>
        <p:grpSpPr>
          <a:xfrm>
            <a:off x="8144510" y="2927350"/>
            <a:ext cx="9352280" cy="6675755"/>
            <a:chOff x="8957" y="2909"/>
            <a:chExt cx="9374" cy="5472"/>
          </a:xfrm>
        </p:grpSpPr>
        <p:cxnSp>
          <p:nvCxnSpPr>
            <p:cNvPr id="117" name="Connector 32"/>
            <p:cNvCxnSpPr/>
            <p:nvPr/>
          </p:nvCxnSpPr>
          <p:spPr>
            <a:xfrm>
              <a:off x="8957" y="2909"/>
              <a:ext cx="0" cy="5414"/>
            </a:xfrm>
            <a:prstGeom prst="line">
              <a:avLst/>
            </a:prstGeom>
            <a:ln w="10160">
              <a:solidFill>
                <a:srgbClr val="C8C6B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33"/>
            <p:cNvSpPr txBox="1"/>
            <p:nvPr/>
          </p:nvSpPr>
          <p:spPr>
            <a:xfrm>
              <a:off x="11022" y="3005"/>
              <a:ext cx="7050" cy="3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lvl="0" algn="l">
                <a:lnSpc>
                  <a:spcPts val="2965"/>
                </a:lnSpc>
                <a:buClrTx/>
                <a:buSzTx/>
                <a:buFontTx/>
              </a:pPr>
              <a:r>
                <a:rPr lang="en-US" sz="1950" dirty="0">
                  <a:solidFill>
                    <a:srgbClr val="5C5C52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  <a:sym typeface="+mn-ea"/>
                </a:rPr>
                <a:t>但今天的“陪伴”仍然是割裂的，长期关系尚未解决</a:t>
              </a:r>
              <a:endParaRPr lang="en-US" sz="195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endParaRPr>
            </a:p>
          </p:txBody>
        </p:sp>
        <p:sp>
          <p:nvSpPr>
            <p:cNvPr id="119" name="Rounded Rectangle 34"/>
            <p:cNvSpPr/>
            <p:nvPr/>
          </p:nvSpPr>
          <p:spPr>
            <a:xfrm>
              <a:off x="9360" y="3528"/>
              <a:ext cx="2059" cy="3557"/>
            </a:xfrm>
            <a:prstGeom prst="roundRect">
              <a:avLst/>
            </a:prstGeom>
            <a:solidFill>
              <a:srgbClr val="FAF9F7"/>
            </a:solidFill>
            <a:ln w="12700">
              <a:solidFill>
                <a:srgbClr val="DAD2E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20" name="Oval 35"/>
            <p:cNvSpPr/>
            <p:nvPr/>
          </p:nvSpPr>
          <p:spPr>
            <a:xfrm>
              <a:off x="10037" y="4147"/>
              <a:ext cx="706" cy="706"/>
            </a:xfrm>
            <a:prstGeom prst="ellipse">
              <a:avLst/>
            </a:prstGeom>
            <a:solidFill>
              <a:srgbClr val="F5F1F9"/>
            </a:solidFill>
            <a:ln>
              <a:solidFill>
                <a:srgbClr val="E6DE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21" name="TextBox 36"/>
            <p:cNvSpPr txBox="1"/>
            <p:nvPr/>
          </p:nvSpPr>
          <p:spPr>
            <a:xfrm>
              <a:off x="10037" y="4389"/>
              <a:ext cx="706" cy="22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1">
                  <a:solidFill>
                    <a:srgbClr val="5B329E"/>
                  </a:solidFill>
                  <a:latin typeface="Noto Sans CJK SC"/>
                </a:rPr>
                <a:t>CHAT</a:t>
              </a:r>
              <a:endParaRPr sz="1200" b="1">
                <a:solidFill>
                  <a:srgbClr val="5B329E"/>
                </a:solidFill>
                <a:latin typeface="Noto Sans CJK SC"/>
              </a:endParaRPr>
            </a:p>
          </p:txBody>
        </p:sp>
        <p:sp>
          <p:nvSpPr>
            <p:cNvPr id="122" name="TextBox 37"/>
            <p:cNvSpPr txBox="1"/>
            <p:nvPr/>
          </p:nvSpPr>
          <p:spPr>
            <a:xfrm>
              <a:off x="9475" y="3748"/>
              <a:ext cx="1829" cy="25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>
                  <a:solidFill>
                    <a:srgbClr val="5B329E"/>
                  </a:solidFill>
                  <a:latin typeface="Noto Sans CJK SC"/>
                </a:rPr>
                <a:t>AI Companion App</a:t>
              </a:r>
              <a:endParaRPr sz="1400" b="1">
                <a:solidFill>
                  <a:srgbClr val="5B329E"/>
                </a:solidFill>
                <a:latin typeface="Noto Sans CJK SC"/>
              </a:endParaRPr>
            </a:p>
          </p:txBody>
        </p:sp>
        <p:sp>
          <p:nvSpPr>
            <p:cNvPr id="123" name="TextBox 38"/>
            <p:cNvSpPr txBox="1"/>
            <p:nvPr/>
          </p:nvSpPr>
          <p:spPr>
            <a:xfrm>
              <a:off x="9504" y="5125"/>
              <a:ext cx="1771" cy="60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0">
                  <a:solidFill>
                    <a:srgbClr val="191B1E"/>
                  </a:solidFill>
                  <a:latin typeface="Noto Sans CJK SC"/>
                </a:rPr>
                <a:t>会聊天、开始有记忆
人格化角色</a:t>
              </a:r>
              <a:endParaRPr sz="1400" b="0">
                <a:solidFill>
                  <a:srgbClr val="191B1E"/>
                </a:solidFill>
                <a:latin typeface="Noto Sans CJK SC"/>
              </a:endParaRPr>
            </a:p>
          </p:txBody>
        </p:sp>
        <p:sp>
          <p:nvSpPr>
            <p:cNvPr id="124" name="Rounded Rectangle 39"/>
            <p:cNvSpPr/>
            <p:nvPr/>
          </p:nvSpPr>
          <p:spPr>
            <a:xfrm>
              <a:off x="9504" y="6091"/>
              <a:ext cx="1771" cy="720"/>
            </a:xfrm>
            <a:prstGeom prst="roundRect">
              <a:avLst/>
            </a:prstGeom>
            <a:solidFill>
              <a:srgbClr val="F2EDF9"/>
            </a:solidFill>
            <a:ln w="12700">
              <a:solidFill>
                <a:srgbClr val="E1D8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25" name="TextBox 40"/>
            <p:cNvSpPr txBox="1"/>
            <p:nvPr/>
          </p:nvSpPr>
          <p:spPr>
            <a:xfrm>
              <a:off x="9576" y="6248"/>
              <a:ext cx="1627" cy="3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1">
                  <a:solidFill>
                    <a:srgbClr val="5B329E"/>
                  </a:solidFill>
                  <a:latin typeface="Noto Sans CJK SC"/>
                </a:rPr>
                <a:t>被困在聊天框中
无法真正进入生活</a:t>
              </a:r>
              <a:endParaRPr sz="1200" b="1">
                <a:solidFill>
                  <a:srgbClr val="5B329E"/>
                </a:solidFill>
                <a:latin typeface="Noto Sans CJK SC"/>
              </a:endParaRPr>
            </a:p>
          </p:txBody>
        </p:sp>
        <p:sp>
          <p:nvSpPr>
            <p:cNvPr id="126" name="Rounded Rectangle 41"/>
            <p:cNvSpPr/>
            <p:nvPr/>
          </p:nvSpPr>
          <p:spPr>
            <a:xfrm>
              <a:off x="11664" y="3528"/>
              <a:ext cx="2059" cy="3557"/>
            </a:xfrm>
            <a:prstGeom prst="roundRect">
              <a:avLst/>
            </a:prstGeom>
            <a:solidFill>
              <a:srgbClr val="FAF9F7"/>
            </a:solidFill>
            <a:ln w="12700">
              <a:solidFill>
                <a:srgbClr val="DAD2E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29" name="TextBox 44"/>
            <p:cNvSpPr txBox="1"/>
            <p:nvPr/>
          </p:nvSpPr>
          <p:spPr>
            <a:xfrm>
              <a:off x="11779" y="3748"/>
              <a:ext cx="1829" cy="25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>
                  <a:solidFill>
                    <a:srgbClr val="5B329E"/>
                  </a:solidFill>
                  <a:latin typeface="Noto Sans CJK SC"/>
                </a:rPr>
                <a:t>AI 玩具</a:t>
              </a:r>
              <a:endParaRPr sz="1400" b="1">
                <a:solidFill>
                  <a:srgbClr val="5B329E"/>
                </a:solidFill>
                <a:latin typeface="Noto Sans CJK SC"/>
              </a:endParaRPr>
            </a:p>
          </p:txBody>
        </p:sp>
        <p:sp>
          <p:nvSpPr>
            <p:cNvPr id="130" name="TextBox 45"/>
            <p:cNvSpPr txBox="1"/>
            <p:nvPr/>
          </p:nvSpPr>
          <p:spPr>
            <a:xfrm>
              <a:off x="11808" y="5214"/>
              <a:ext cx="1771" cy="4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0">
                  <a:solidFill>
                    <a:srgbClr val="191B1E"/>
                  </a:solidFill>
                  <a:latin typeface="Noto Sans CJK SC"/>
                </a:rPr>
                <a:t>有实体、有角色感
可互动</a:t>
              </a:r>
              <a:endParaRPr sz="1400" b="0">
                <a:solidFill>
                  <a:srgbClr val="191B1E"/>
                </a:solidFill>
                <a:latin typeface="Noto Sans CJK SC"/>
              </a:endParaRPr>
            </a:p>
          </p:txBody>
        </p:sp>
        <p:sp>
          <p:nvSpPr>
            <p:cNvPr id="131" name="Rounded Rectangle 46"/>
            <p:cNvSpPr/>
            <p:nvPr/>
          </p:nvSpPr>
          <p:spPr>
            <a:xfrm>
              <a:off x="11808" y="6091"/>
              <a:ext cx="1771" cy="720"/>
            </a:xfrm>
            <a:prstGeom prst="roundRect">
              <a:avLst/>
            </a:prstGeom>
            <a:solidFill>
              <a:srgbClr val="F2EDF9"/>
            </a:solidFill>
            <a:ln w="12700">
              <a:solidFill>
                <a:srgbClr val="E1D8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32" name="TextBox 47"/>
            <p:cNvSpPr txBox="1"/>
            <p:nvPr/>
          </p:nvSpPr>
          <p:spPr>
            <a:xfrm>
              <a:off x="11880" y="6248"/>
              <a:ext cx="1627" cy="3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1">
                  <a:solidFill>
                    <a:srgbClr val="5B329E"/>
                  </a:solidFill>
                  <a:latin typeface="Noto Sans CJK SC"/>
                </a:rPr>
                <a:t>关系和记忆较浅
长期成长有限</a:t>
              </a:r>
              <a:endParaRPr sz="1200" b="1">
                <a:solidFill>
                  <a:srgbClr val="5B329E"/>
                </a:solidFill>
                <a:latin typeface="Noto Sans CJK SC"/>
              </a:endParaRPr>
            </a:p>
          </p:txBody>
        </p:sp>
        <p:sp>
          <p:nvSpPr>
            <p:cNvPr id="133" name="Rounded Rectangle 48"/>
            <p:cNvSpPr/>
            <p:nvPr/>
          </p:nvSpPr>
          <p:spPr>
            <a:xfrm>
              <a:off x="13968" y="3528"/>
              <a:ext cx="2059" cy="3557"/>
            </a:xfrm>
            <a:prstGeom prst="roundRect">
              <a:avLst/>
            </a:prstGeom>
            <a:solidFill>
              <a:srgbClr val="FAF9F7"/>
            </a:solidFill>
            <a:ln w="12700">
              <a:solidFill>
                <a:srgbClr val="DAD2E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36" name="TextBox 51"/>
            <p:cNvSpPr txBox="1"/>
            <p:nvPr/>
          </p:nvSpPr>
          <p:spPr>
            <a:xfrm>
              <a:off x="14083" y="3748"/>
              <a:ext cx="1829" cy="25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>
                  <a:solidFill>
                    <a:srgbClr val="5B329E"/>
                  </a:solidFill>
                  <a:latin typeface="Noto Sans CJK SC"/>
                </a:rPr>
                <a:t>智能音箱</a:t>
              </a:r>
              <a:endParaRPr sz="1400" b="1">
                <a:solidFill>
                  <a:srgbClr val="5B329E"/>
                </a:solidFill>
                <a:latin typeface="Noto Sans CJK SC"/>
              </a:endParaRPr>
            </a:p>
          </p:txBody>
        </p:sp>
        <p:sp>
          <p:nvSpPr>
            <p:cNvPr id="137" name="TextBox 52"/>
            <p:cNvSpPr txBox="1"/>
            <p:nvPr/>
          </p:nvSpPr>
          <p:spPr>
            <a:xfrm>
              <a:off x="14112" y="5214"/>
              <a:ext cx="1771" cy="4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0">
                  <a:solidFill>
                    <a:srgbClr val="191B1E"/>
                  </a:solidFill>
                  <a:latin typeface="Noto Sans CJK SC"/>
                </a:rPr>
                <a:t>全天候存在
家庭入口</a:t>
              </a:r>
              <a:endParaRPr sz="1400" b="0">
                <a:solidFill>
                  <a:srgbClr val="191B1E"/>
                </a:solidFill>
                <a:latin typeface="Noto Sans CJK SC"/>
              </a:endParaRPr>
            </a:p>
          </p:txBody>
        </p:sp>
        <p:sp>
          <p:nvSpPr>
            <p:cNvPr id="138" name="Rounded Rectangle 53"/>
            <p:cNvSpPr/>
            <p:nvPr/>
          </p:nvSpPr>
          <p:spPr>
            <a:xfrm>
              <a:off x="14112" y="6091"/>
              <a:ext cx="1771" cy="720"/>
            </a:xfrm>
            <a:prstGeom prst="roundRect">
              <a:avLst/>
            </a:prstGeom>
            <a:solidFill>
              <a:srgbClr val="F2EDF9"/>
            </a:solidFill>
            <a:ln w="12700">
              <a:solidFill>
                <a:srgbClr val="E1D8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39" name="TextBox 54"/>
            <p:cNvSpPr txBox="1"/>
            <p:nvPr/>
          </p:nvSpPr>
          <p:spPr>
            <a:xfrm>
              <a:off x="14184" y="6248"/>
              <a:ext cx="1627" cy="3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1">
                  <a:solidFill>
                    <a:srgbClr val="5B329E"/>
                  </a:solidFill>
                  <a:latin typeface="Noto Sans CJK SC"/>
                </a:rPr>
                <a:t>仍然是 Assistant
工具属性强</a:t>
              </a:r>
              <a:endParaRPr sz="1200" b="1">
                <a:solidFill>
                  <a:srgbClr val="5B329E"/>
                </a:solidFill>
                <a:latin typeface="Noto Sans CJK SC"/>
              </a:endParaRPr>
            </a:p>
          </p:txBody>
        </p:sp>
        <p:sp>
          <p:nvSpPr>
            <p:cNvPr id="140" name="Rounded Rectangle 55"/>
            <p:cNvSpPr/>
            <p:nvPr/>
          </p:nvSpPr>
          <p:spPr>
            <a:xfrm>
              <a:off x="16272" y="3528"/>
              <a:ext cx="2059" cy="3557"/>
            </a:xfrm>
            <a:prstGeom prst="roundRect">
              <a:avLst/>
            </a:prstGeom>
            <a:solidFill>
              <a:srgbClr val="FAF9F7"/>
            </a:solidFill>
            <a:ln w="12700">
              <a:solidFill>
                <a:srgbClr val="DAD2E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43" name="TextBox 58"/>
            <p:cNvSpPr txBox="1"/>
            <p:nvPr/>
          </p:nvSpPr>
          <p:spPr>
            <a:xfrm>
              <a:off x="16387" y="3748"/>
              <a:ext cx="1829" cy="25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>
                  <a:solidFill>
                    <a:srgbClr val="5B329E"/>
                  </a:solidFill>
                  <a:latin typeface="Noto Sans CJK SC"/>
                </a:rPr>
                <a:t>桌面机器人 / AI Pet</a:t>
              </a:r>
              <a:endParaRPr sz="1400" b="1">
                <a:solidFill>
                  <a:srgbClr val="5B329E"/>
                </a:solidFill>
                <a:latin typeface="Noto Sans CJK SC"/>
              </a:endParaRPr>
            </a:p>
          </p:txBody>
        </p:sp>
        <p:sp>
          <p:nvSpPr>
            <p:cNvPr id="144" name="TextBox 59"/>
            <p:cNvSpPr txBox="1"/>
            <p:nvPr/>
          </p:nvSpPr>
          <p:spPr>
            <a:xfrm>
              <a:off x="16416" y="5125"/>
              <a:ext cx="1771" cy="60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0">
                  <a:solidFill>
                    <a:srgbClr val="191B1E"/>
                  </a:solidFill>
                  <a:latin typeface="Noto Sans CJK SC"/>
                </a:rPr>
                <a:t>有身体、有 Presence
情感表达更丰富</a:t>
              </a:r>
              <a:endParaRPr sz="1400" b="0">
                <a:solidFill>
                  <a:srgbClr val="191B1E"/>
                </a:solidFill>
                <a:latin typeface="Noto Sans CJK SC"/>
              </a:endParaRPr>
            </a:p>
          </p:txBody>
        </p:sp>
        <p:sp>
          <p:nvSpPr>
            <p:cNvPr id="145" name="Rounded Rectangle 60"/>
            <p:cNvSpPr/>
            <p:nvPr/>
          </p:nvSpPr>
          <p:spPr>
            <a:xfrm>
              <a:off x="16416" y="6091"/>
              <a:ext cx="1771" cy="720"/>
            </a:xfrm>
            <a:prstGeom prst="roundRect">
              <a:avLst/>
            </a:prstGeom>
            <a:solidFill>
              <a:srgbClr val="F2EDF9"/>
            </a:solidFill>
            <a:ln w="12700">
              <a:solidFill>
                <a:srgbClr val="E1D8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46" name="TextBox 61"/>
            <p:cNvSpPr txBox="1"/>
            <p:nvPr/>
          </p:nvSpPr>
          <p:spPr>
            <a:xfrm>
              <a:off x="16488" y="6247"/>
              <a:ext cx="1627" cy="3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1">
                  <a:solidFill>
                    <a:srgbClr val="5B329E"/>
                  </a:solidFill>
                  <a:latin typeface="Noto Sans CJK SC"/>
                </a:rPr>
                <a:t>成本高、体验碎片化
关系体系弱</a:t>
              </a:r>
              <a:endParaRPr sz="1200" b="1">
                <a:solidFill>
                  <a:srgbClr val="5B329E"/>
                </a:solidFill>
                <a:latin typeface="Noto Sans CJK SC"/>
              </a:endParaRPr>
            </a:p>
          </p:txBody>
        </p:sp>
        <p:sp>
          <p:nvSpPr>
            <p:cNvPr id="147" name="Rounded Rectangle 62"/>
            <p:cNvSpPr/>
            <p:nvPr/>
          </p:nvSpPr>
          <p:spPr>
            <a:xfrm>
              <a:off x="9360" y="7344"/>
              <a:ext cx="8971" cy="1037"/>
            </a:xfrm>
            <a:prstGeom prst="roundRect">
              <a:avLst/>
            </a:prstGeom>
            <a:solidFill>
              <a:srgbClr val="F5F1F9"/>
            </a:solidFill>
            <a:ln w="12700">
              <a:solidFill>
                <a:srgbClr val="DED6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48" name="Oval 63"/>
            <p:cNvSpPr/>
            <p:nvPr/>
          </p:nvSpPr>
          <p:spPr>
            <a:xfrm>
              <a:off x="9734" y="7589"/>
              <a:ext cx="518" cy="518"/>
            </a:xfrm>
            <a:prstGeom prst="ellipse">
              <a:avLst/>
            </a:prstGeom>
            <a:solidFill>
              <a:srgbClr val="ECE4F7"/>
            </a:solidFill>
            <a:ln>
              <a:solidFill>
                <a:srgbClr val="ECE4F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49" name="TextBox 64"/>
            <p:cNvSpPr txBox="1"/>
            <p:nvPr/>
          </p:nvSpPr>
          <p:spPr>
            <a:xfrm>
              <a:off x="9734" y="7635"/>
              <a:ext cx="518" cy="4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>
                  <a:solidFill>
                    <a:srgbClr val="5B329E"/>
                  </a:solidFill>
                  <a:latin typeface="Noto Sans CJK SC"/>
                </a:rPr>
                <a:t>✦</a:t>
              </a:r>
              <a:endParaRPr sz="2800" b="1">
                <a:solidFill>
                  <a:srgbClr val="5B329E"/>
                </a:solidFill>
                <a:latin typeface="Noto Sans CJK SC"/>
              </a:endParaRPr>
            </a:p>
          </p:txBody>
        </p:sp>
        <p:sp>
          <p:nvSpPr>
            <p:cNvPr id="150" name="TextBox 65"/>
            <p:cNvSpPr txBox="1"/>
            <p:nvPr/>
          </p:nvSpPr>
          <p:spPr>
            <a:xfrm>
              <a:off x="10469" y="7480"/>
              <a:ext cx="7416" cy="3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lvl="0" algn="l">
                <a:lnSpc>
                  <a:spcPts val="2965"/>
                </a:lnSpc>
                <a:buClrTx/>
                <a:buSzTx/>
                <a:buFontTx/>
              </a:pPr>
              <a:r>
                <a:rPr lang="en-US" sz="1950" dirty="0">
                  <a:solidFill>
                    <a:srgbClr val="5C5C52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  <a:sym typeface="+mn-ea"/>
                </a:rPr>
                <a:t>今天市场不缺 AI Companion，缺的是一个“持续存在的 AI </a:t>
              </a:r>
              <a:r>
                <a:rPr lang="zh-CN" altLang="en-US" sz="1950" dirty="0">
                  <a:solidFill>
                    <a:srgbClr val="5C5C52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  <a:sym typeface="+mn-ea"/>
                </a:rPr>
                <a:t>伙伴</a:t>
              </a:r>
              <a:r>
                <a:rPr lang="en-US" sz="1950" dirty="0">
                  <a:solidFill>
                    <a:srgbClr val="5C5C52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  <a:sym typeface="+mn-ea"/>
                </a:rPr>
                <a:t>”。</a:t>
              </a:r>
              <a:endParaRPr lang="en-US" sz="195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endParaRPr>
            </a:p>
          </p:txBody>
        </p:sp>
        <p:sp>
          <p:nvSpPr>
            <p:cNvPr id="151" name="TextBox 66"/>
            <p:cNvSpPr txBox="1"/>
            <p:nvPr/>
          </p:nvSpPr>
          <p:spPr>
            <a:xfrm>
              <a:off x="10469" y="7826"/>
              <a:ext cx="7416" cy="3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400" b="1">
                  <a:solidFill>
                    <a:srgbClr val="5B329E"/>
                  </a:solidFill>
                  <a:latin typeface="Noto Sans Syriac" panose="020B0502040504020204" charset="0"/>
                </a:rPr>
                <a:t>对话创造互动，关系创造陪伴。</a:t>
              </a:r>
              <a:endParaRPr sz="2400" b="1">
                <a:solidFill>
                  <a:srgbClr val="5B329E"/>
                </a:solidFill>
                <a:latin typeface="Noto Sans Syriac" panose="020B0502040504020204" charset="0"/>
              </a:endParaRPr>
            </a:p>
          </p:txBody>
        </p:sp>
      </p:grpSp>
      <p:pic>
        <p:nvPicPr>
          <p:cNvPr id="152" name="图片 1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965" y="4342765"/>
            <a:ext cx="1676400" cy="1244600"/>
          </a:xfrm>
          <a:prstGeom prst="rect">
            <a:avLst/>
          </a:prstGeom>
        </p:spPr>
      </p:pic>
      <p:pic>
        <p:nvPicPr>
          <p:cNvPr id="153" name="图片 1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9810" y="4360545"/>
            <a:ext cx="1460500" cy="1270000"/>
          </a:xfrm>
          <a:prstGeom prst="rect">
            <a:avLst/>
          </a:prstGeom>
        </p:spPr>
      </p:pic>
      <p:pic>
        <p:nvPicPr>
          <p:cNvPr id="154" name="图片 15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34695" y="4342765"/>
            <a:ext cx="1384300" cy="1257300"/>
          </a:xfrm>
          <a:prstGeom prst="rect">
            <a:avLst/>
          </a:prstGeom>
        </p:spPr>
      </p:pic>
      <p:pic>
        <p:nvPicPr>
          <p:cNvPr id="155" name="图片 1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57830" y="4342765"/>
            <a:ext cx="1536700" cy="1282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-28574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3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问题与机会</a:t>
            </a:r>
            <a:endParaRPr lang="en-US" sz="1125" dirty="0"/>
          </a:p>
        </p:txBody>
      </p:sp>
      <p:sp>
        <p:nvSpPr>
          <p:cNvPr id="46" name="Text 34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sz="3200" b="1">
                <a:solidFill>
                  <a:srgbClr val="16181D"/>
                </a:solidFill>
                <a:cs typeface="Noto Serif SC"/>
              </a:rPr>
              <a:t>AI</a:t>
            </a:r>
            <a:r>
              <a:rPr sz="3200" b="1">
                <a:solidFill>
                  <a:srgbClr val="16181D"/>
                </a:solidFill>
                <a:cs typeface="Noto Serif SC"/>
              </a:rPr>
              <a:t>陪</a:t>
            </a:r>
            <a:r>
              <a:rPr sz="3200" b="1">
                <a:solidFill>
                  <a:srgbClr val="16181D"/>
                </a:solidFill>
                <a:cs typeface="Noto Serif SC"/>
              </a:rPr>
              <a:t>伴</a:t>
            </a:r>
            <a:r>
              <a:rPr sz="3200" b="1">
                <a:solidFill>
                  <a:srgbClr val="16181D"/>
                </a:solidFill>
                <a:cs typeface="Noto Serif SC"/>
              </a:rPr>
              <a:t>正</a:t>
            </a:r>
            <a:r>
              <a:rPr sz="3200" b="1">
                <a:solidFill>
                  <a:srgbClr val="16181D"/>
                </a:solidFill>
                <a:cs typeface="Noto Serif SC"/>
              </a:rPr>
              <a:t>在</a:t>
            </a:r>
            <a:r>
              <a:rPr sz="3200" b="1">
                <a:solidFill>
                  <a:srgbClr val="16181D"/>
                </a:solidFill>
                <a:cs typeface="Noto Serif SC"/>
              </a:rPr>
              <a:t>从</a:t>
            </a:r>
            <a:r>
              <a:rPr sz="3200" b="1">
                <a:solidFill>
                  <a:srgbClr val="16181D"/>
                </a:solidFill>
                <a:cs typeface="Noto Serif SC"/>
              </a:rPr>
              <a:t> </a:t>
            </a:r>
            <a:r>
              <a:rPr sz="3200" b="1">
                <a:solidFill>
                  <a:srgbClr val="16181D"/>
                </a:solidFill>
                <a:cs typeface="Noto Serif SC"/>
              </a:rPr>
              <a:t>Conversation</a:t>
            </a:r>
            <a:r>
              <a:rPr sz="3200" b="1">
                <a:solidFill>
                  <a:srgbClr val="16181D"/>
                </a:solidFill>
                <a:cs typeface="Noto Serif SC"/>
              </a:rPr>
              <a:t> </a:t>
            </a:r>
            <a:r>
              <a:rPr sz="3200" b="1">
                <a:solidFill>
                  <a:srgbClr val="16181D"/>
                </a:solidFill>
                <a:cs typeface="Noto Serif SC"/>
              </a:rPr>
              <a:t>→</a:t>
            </a:r>
            <a:r>
              <a:rPr sz="3200" b="1">
                <a:solidFill>
                  <a:srgbClr val="16181D"/>
                </a:solidFill>
                <a:cs typeface="Noto Serif SC"/>
              </a:rPr>
              <a:t> </a:t>
            </a:r>
            <a:r>
              <a:rPr sz="3200" b="1">
                <a:solidFill>
                  <a:srgbClr val="16181D"/>
                </a:solidFill>
                <a:cs typeface="Noto Serif SC"/>
              </a:rPr>
              <a:t> </a:t>
            </a:r>
            <a:r>
              <a:rPr sz="3200" b="1">
                <a:solidFill>
                  <a:srgbClr val="16181D"/>
                </a:solidFill>
                <a:cs typeface="Noto Serif SC"/>
              </a:rPr>
              <a:t>Relationship</a:t>
            </a:r>
            <a:r>
              <a:rPr sz="3200" b="1">
                <a:solidFill>
                  <a:srgbClr val="16181D"/>
                </a:solidFill>
                <a:cs typeface="Noto Serif SC"/>
              </a:rPr>
              <a:t> </a:t>
            </a:r>
            <a:r>
              <a:rPr sz="3200" b="1">
                <a:solidFill>
                  <a:srgbClr val="16181D"/>
                </a:solidFill>
                <a:cs typeface="Noto Serif SC"/>
              </a:rPr>
              <a:t>→</a:t>
            </a:r>
            <a:r>
              <a:rPr sz="3200" b="1">
                <a:solidFill>
                  <a:srgbClr val="16181D"/>
                </a:solidFill>
                <a:cs typeface="Noto Serif SC"/>
              </a:rPr>
              <a:t> </a:t>
            </a:r>
            <a:r>
              <a:rPr sz="3200" b="1">
                <a:solidFill>
                  <a:srgbClr val="16181D"/>
                </a:solidFill>
                <a:cs typeface="Noto Serif SC"/>
              </a:rPr>
              <a:t> </a:t>
            </a:r>
            <a:r>
              <a:rPr sz="3200" b="1">
                <a:solidFill>
                  <a:srgbClr val="16181D"/>
                </a:solidFill>
                <a:cs typeface="Noto Serif SC"/>
              </a:rPr>
              <a:t>Life</a:t>
            </a:r>
          </a:p>
        </p:txBody>
      </p:sp>
      <p:sp>
        <p:nvSpPr>
          <p:cNvPr id="47" name="Text 35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+mn-ea"/>
              </a:rPr>
              <a:t>这件事以前做不了，现在刚刚能做</a:t>
            </a:r>
            <a:endParaRPr lang="zh-CN" altLang="en-US" sz="1700" b="1">
              <a:solidFill>
                <a:srgbClr val="F97316"/>
              </a:solidFill>
              <a:latin typeface="Noto Sans SC"/>
              <a:ea typeface="Noto Sans SC"/>
              <a:cs typeface="Noto Sans SC"/>
              <a:sym typeface="+mn-ea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1238098" y="2553005"/>
            <a:ext cx="15811805" cy="2913075"/>
            <a:chOff x="1950" y="4020"/>
            <a:chExt cx="24900" cy="4588"/>
          </a:xfrm>
        </p:grpSpPr>
        <p:pic>
          <p:nvPicPr>
            <p:cNvPr id="4" name="Image 1" descr="gen-dedup-3c5612af2d3262ab637f63a645b3e5a9.png"/>
            <p:cNvPicPr>
              <a:picLocks noChangeAspect="1"/>
            </p:cNvPicPr>
            <p:nvPr/>
          </p:nvPicPr>
          <p:blipFill>
            <a:blip r:embed="rId1">
              <a:alphaModFix amt="85000"/>
            </a:blip>
            <a:srcRect t="-399" b="-399"/>
            <a:stretch>
              <a:fillRect/>
            </a:stretch>
          </p:blipFill>
          <p:spPr>
            <a:xfrm>
              <a:off x="1950" y="4020"/>
              <a:ext cx="24900" cy="30"/>
            </a:xfrm>
            <a:prstGeom prst="rect">
              <a:avLst/>
            </a:prstGeom>
          </p:spPr>
        </p:pic>
        <p:sp>
          <p:nvSpPr>
            <p:cNvPr id="7" name="Rounded Rectangle 6"/>
            <p:cNvSpPr/>
            <p:nvPr/>
          </p:nvSpPr>
          <p:spPr>
            <a:xfrm>
              <a:off x="1950" y="4492"/>
              <a:ext cx="4192" cy="4116"/>
            </a:xfrm>
            <a:prstGeom prst="roundRect">
              <a:avLst/>
            </a:prstGeom>
            <a:solidFill>
              <a:srgbClr val="FAF9F6"/>
            </a:solidFill>
            <a:ln w="12700">
              <a:solidFill>
                <a:srgbClr val="DCDA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199" y="4699"/>
              <a:ext cx="3693" cy="53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 b="0">
                  <a:solidFill>
                    <a:srgbClr val="6F6D65"/>
                  </a:solidFill>
                  <a:latin typeface="Noto Sans CJK SC"/>
                </a:rPr>
                <a:t>2014–2021</a:t>
              </a:r>
              <a:endParaRPr sz="1600" b="0">
                <a:solidFill>
                  <a:srgbClr val="6F6D65"/>
                </a:solidFill>
                <a:latin typeface="Noto Sans CJK SC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157" y="5354"/>
              <a:ext cx="3777" cy="6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>
                  <a:solidFill>
                    <a:srgbClr val="2D5EAA"/>
                  </a:solidFill>
                  <a:latin typeface="Noto Sans CJK SC"/>
                </a:rPr>
                <a:t>Voice Assistant</a:t>
              </a:r>
              <a:endParaRPr sz="2000" b="1">
                <a:solidFill>
                  <a:srgbClr val="2D5EAA"/>
                </a:solidFill>
                <a:latin typeface="Noto Sans CJK SC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157" y="6066"/>
              <a:ext cx="3777" cy="53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 b="1">
                  <a:solidFill>
                    <a:srgbClr val="2D5EAA"/>
                  </a:solidFill>
                  <a:latin typeface="Noto Sans CJK SC"/>
                </a:rPr>
                <a:t>“听得懂命令”</a:t>
              </a:r>
              <a:endParaRPr sz="1600" b="1">
                <a:solidFill>
                  <a:srgbClr val="2D5EAA"/>
                </a:solidFill>
                <a:latin typeface="Noto Sans CJK SC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157" y="6982"/>
              <a:ext cx="3777" cy="48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0">
                  <a:solidFill>
                    <a:srgbClr val="191B1E"/>
                  </a:solidFill>
                  <a:latin typeface="Noto Sans CJK SC"/>
                </a:rPr>
                <a:t>Siri / Alexa</a:t>
              </a:r>
              <a:endParaRPr sz="1400" b="0">
                <a:solidFill>
                  <a:srgbClr val="191B1E"/>
                </a:solidFill>
                <a:latin typeface="Noto Sans CJK SC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157" y="7828"/>
              <a:ext cx="3777" cy="48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sz="1400" b="0">
                  <a:solidFill>
                    <a:srgbClr val="6F6D65"/>
                  </a:solidFill>
                  <a:latin typeface="Noto Sans CJK SC"/>
                </a:rPr>
                <a:t>指令</a:t>
              </a:r>
              <a:r>
                <a:rPr sz="1400" b="0">
                  <a:solidFill>
                    <a:srgbClr val="6F6D65"/>
                  </a:solidFill>
                  <a:latin typeface="Noto Sans CJK SC"/>
                </a:rPr>
                <a:t>→ </a:t>
              </a:r>
              <a:r>
                <a:rPr lang="zh-CN" sz="1400" b="0">
                  <a:solidFill>
                    <a:srgbClr val="6F6D65"/>
                  </a:solidFill>
                  <a:latin typeface="Noto Sans CJK SC"/>
                </a:rPr>
                <a:t>反馈</a:t>
              </a:r>
              <a:endParaRPr lang="zh-CN" sz="1400" b="0">
                <a:solidFill>
                  <a:srgbClr val="6F6D65"/>
                </a:solidFill>
                <a:latin typeface="Noto Sans CJK SC"/>
              </a:endParaRPr>
            </a:p>
          </p:txBody>
        </p:sp>
        <p:sp>
          <p:nvSpPr>
            <p:cNvPr id="13" name="Right Arrow 12"/>
            <p:cNvSpPr/>
            <p:nvPr/>
          </p:nvSpPr>
          <p:spPr>
            <a:xfrm>
              <a:off x="6182" y="5998"/>
              <a:ext cx="746" cy="518"/>
            </a:xfrm>
            <a:prstGeom prst="rightArrow">
              <a:avLst/>
            </a:prstGeom>
            <a:solidFill>
              <a:srgbClr val="2D5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7054" y="4492"/>
              <a:ext cx="4192" cy="4116"/>
            </a:xfrm>
            <a:prstGeom prst="roundRect">
              <a:avLst/>
            </a:prstGeom>
            <a:solidFill>
              <a:srgbClr val="FAF9F6"/>
            </a:solidFill>
            <a:ln w="12700">
              <a:solidFill>
                <a:srgbClr val="DCDA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303" y="4699"/>
              <a:ext cx="3693" cy="53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 b="0">
                  <a:solidFill>
                    <a:srgbClr val="6F6D65"/>
                  </a:solidFill>
                  <a:latin typeface="Noto Sans CJK SC"/>
                </a:rPr>
                <a:t>2022–2024</a:t>
              </a:r>
              <a:endParaRPr sz="1600" b="0">
                <a:solidFill>
                  <a:srgbClr val="6F6D65"/>
                </a:solidFill>
                <a:latin typeface="Noto Sans CJK SC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61" y="5354"/>
              <a:ext cx="3777" cy="6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>
                  <a:solidFill>
                    <a:srgbClr val="28898B"/>
                  </a:solidFill>
                  <a:latin typeface="Noto Sans CJK SC"/>
                </a:rPr>
                <a:t>Generative AI</a:t>
              </a:r>
              <a:endParaRPr sz="2000" b="1">
                <a:solidFill>
                  <a:srgbClr val="28898B"/>
                </a:solidFill>
                <a:latin typeface="Noto Sans CJK SC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261" y="6066"/>
              <a:ext cx="3777" cy="53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 b="1">
                  <a:solidFill>
                    <a:srgbClr val="28898B"/>
                  </a:solidFill>
                  <a:latin typeface="Noto Sans CJK SC"/>
                </a:rPr>
                <a:t>“会聊天”</a:t>
              </a:r>
              <a:endParaRPr sz="1600" b="1">
                <a:solidFill>
                  <a:srgbClr val="28898B"/>
                </a:solidFill>
                <a:latin typeface="Noto Sans CJK SC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261" y="6814"/>
              <a:ext cx="3777" cy="82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0">
                  <a:solidFill>
                    <a:srgbClr val="191B1E"/>
                  </a:solidFill>
                  <a:latin typeface="Noto Sans CJK SC"/>
                </a:rPr>
                <a:t>ChatGPT / Character.AI / Replika</a:t>
              </a:r>
              <a:endParaRPr sz="1400" b="0">
                <a:solidFill>
                  <a:srgbClr val="191B1E"/>
                </a:solidFill>
                <a:latin typeface="Noto Sans CJK SC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261" y="7826"/>
              <a:ext cx="3777" cy="48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sz="1400" b="0">
                  <a:solidFill>
                    <a:srgbClr val="6F6D65"/>
                  </a:solidFill>
                  <a:latin typeface="Noto Sans CJK SC"/>
                </a:rPr>
                <a:t>对话</a:t>
              </a:r>
              <a:endParaRPr lang="zh-CN" sz="1400" b="0">
                <a:solidFill>
                  <a:srgbClr val="6F6D65"/>
                </a:solidFill>
                <a:latin typeface="Noto Sans CJK SC"/>
              </a:endParaRPr>
            </a:p>
          </p:txBody>
        </p:sp>
        <p:sp>
          <p:nvSpPr>
            <p:cNvPr id="20" name="Right Arrow 19"/>
            <p:cNvSpPr/>
            <p:nvPr/>
          </p:nvSpPr>
          <p:spPr>
            <a:xfrm>
              <a:off x="11287" y="5998"/>
              <a:ext cx="746" cy="518"/>
            </a:xfrm>
            <a:prstGeom prst="rightArrow">
              <a:avLst/>
            </a:prstGeom>
            <a:solidFill>
              <a:srgbClr val="28898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2159" y="4492"/>
              <a:ext cx="4192" cy="4116"/>
            </a:xfrm>
            <a:prstGeom prst="roundRect">
              <a:avLst/>
            </a:prstGeom>
            <a:solidFill>
              <a:srgbClr val="FAF9F6"/>
            </a:solidFill>
            <a:ln w="12700">
              <a:solidFill>
                <a:srgbClr val="DCDA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2407" y="4699"/>
              <a:ext cx="3693" cy="53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 b="0">
                  <a:solidFill>
                    <a:srgbClr val="6F6D65"/>
                  </a:solidFill>
                  <a:latin typeface="Noto Sans CJK SC"/>
                </a:rPr>
                <a:t>2024–2026</a:t>
              </a:r>
              <a:endParaRPr sz="1600" b="0">
                <a:solidFill>
                  <a:srgbClr val="6F6D65"/>
                </a:solidFill>
                <a:latin typeface="Noto Sans CJK SC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2366" y="5354"/>
              <a:ext cx="3777" cy="6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>
                  <a:solidFill>
                    <a:srgbClr val="308954"/>
                  </a:solidFill>
                  <a:latin typeface="Noto Sans CJK SC"/>
                </a:rPr>
                <a:t>AI Companion</a:t>
              </a:r>
              <a:endParaRPr sz="2000" b="1">
                <a:solidFill>
                  <a:srgbClr val="308954"/>
                </a:solidFill>
                <a:latin typeface="Noto Sans CJK SC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2366" y="6066"/>
              <a:ext cx="3777" cy="53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 b="1">
                  <a:solidFill>
                    <a:srgbClr val="308954"/>
                  </a:solidFill>
                  <a:latin typeface="Noto Sans CJK SC"/>
                </a:rPr>
                <a:t>“记得你、有性格”</a:t>
              </a:r>
              <a:endParaRPr sz="1600" b="1">
                <a:solidFill>
                  <a:srgbClr val="308954"/>
                </a:solidFill>
                <a:latin typeface="Noto Sans CJK SC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2366" y="6814"/>
              <a:ext cx="3777" cy="82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0">
                  <a:solidFill>
                    <a:srgbClr val="191B1E"/>
                  </a:solidFill>
                  <a:latin typeface="Noto Sans CJK SC"/>
                </a:rPr>
                <a:t>Personality + Memory + Voice</a:t>
              </a:r>
              <a:endParaRPr sz="1400" b="0">
                <a:solidFill>
                  <a:srgbClr val="191B1E"/>
                </a:solidFill>
                <a:latin typeface="Noto Sans CJK SC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2366" y="7826"/>
              <a:ext cx="3777" cy="48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sz="1400" b="0">
                  <a:solidFill>
                    <a:srgbClr val="6F6D65"/>
                  </a:solidFill>
                  <a:latin typeface="Noto Sans CJK SC"/>
                </a:rPr>
                <a:t>长期记忆</a:t>
              </a:r>
              <a:r>
                <a:rPr lang="en-US" altLang="zh-CN" sz="1400" b="0">
                  <a:solidFill>
                    <a:srgbClr val="6F6D65"/>
                  </a:solidFill>
                  <a:latin typeface="Noto Sans CJK SC"/>
                </a:rPr>
                <a:t>+</a:t>
              </a:r>
              <a:r>
                <a:rPr lang="zh-CN" altLang="en-US" sz="1400" b="0">
                  <a:solidFill>
                    <a:srgbClr val="6F6D65"/>
                  </a:solidFill>
                  <a:latin typeface="Noto Sans CJK SC"/>
                </a:rPr>
                <a:t>个性化</a:t>
              </a:r>
              <a:endParaRPr lang="zh-CN" altLang="en-US" sz="1400" b="0">
                <a:solidFill>
                  <a:srgbClr val="6F6D65"/>
                </a:solidFill>
                <a:latin typeface="Noto Sans CJK SC"/>
              </a:endParaRPr>
            </a:p>
          </p:txBody>
        </p:sp>
        <p:sp>
          <p:nvSpPr>
            <p:cNvPr id="27" name="Right Arrow 26"/>
            <p:cNvSpPr/>
            <p:nvPr/>
          </p:nvSpPr>
          <p:spPr>
            <a:xfrm>
              <a:off x="16391" y="5998"/>
              <a:ext cx="746" cy="518"/>
            </a:xfrm>
            <a:prstGeom prst="rightArrow">
              <a:avLst/>
            </a:prstGeom>
            <a:solidFill>
              <a:srgbClr val="30895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7263" y="4492"/>
              <a:ext cx="4192" cy="4116"/>
            </a:xfrm>
            <a:prstGeom prst="roundRect">
              <a:avLst/>
            </a:prstGeom>
            <a:solidFill>
              <a:srgbClr val="FAF9F6"/>
            </a:solidFill>
            <a:ln w="12700">
              <a:solidFill>
                <a:srgbClr val="DCDA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7512" y="4699"/>
              <a:ext cx="3693" cy="53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 b="0">
                  <a:solidFill>
                    <a:srgbClr val="E26018"/>
                  </a:solidFill>
                  <a:latin typeface="Noto Sans CJK SC"/>
                </a:rPr>
                <a:t>Now</a:t>
              </a:r>
              <a:endParaRPr sz="1600" b="0">
                <a:solidFill>
                  <a:srgbClr val="E26018"/>
                </a:solidFill>
                <a:latin typeface="Noto Sans CJK SC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7470" y="5112"/>
              <a:ext cx="3777" cy="111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>
                  <a:solidFill>
                    <a:srgbClr val="E26018"/>
                  </a:solidFill>
                  <a:latin typeface="Noto Sans CJK SC"/>
                </a:rPr>
                <a:t>Embodied Companion</a:t>
              </a:r>
              <a:endParaRPr sz="2000" b="1">
                <a:solidFill>
                  <a:srgbClr val="E26018"/>
                </a:solidFill>
                <a:latin typeface="Noto Sans CJK SC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7470" y="6066"/>
              <a:ext cx="3777" cy="53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 b="1">
                  <a:solidFill>
                    <a:srgbClr val="E26018"/>
                  </a:solidFill>
                  <a:latin typeface="Noto Sans CJK SC"/>
                </a:rPr>
                <a:t>“开始进入现实世界”</a:t>
              </a:r>
              <a:endParaRPr sz="1600" b="1">
                <a:solidFill>
                  <a:srgbClr val="E26018"/>
                </a:solidFill>
                <a:latin typeface="Noto Sans CJK SC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7470" y="6814"/>
              <a:ext cx="3777" cy="82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0">
                  <a:solidFill>
                    <a:srgbClr val="191B1E"/>
                  </a:solidFill>
                  <a:latin typeface="Noto Sans CJK SC"/>
                </a:rPr>
                <a:t>AI Toy / AI Pet / Speaker / Robot</a:t>
              </a:r>
              <a:endParaRPr sz="1400" b="0">
                <a:solidFill>
                  <a:srgbClr val="191B1E"/>
                </a:solidFill>
                <a:latin typeface="Noto Sans CJK SC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7470" y="7826"/>
              <a:ext cx="3777" cy="48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sz="1400" b="0">
                  <a:solidFill>
                    <a:srgbClr val="6F6D65"/>
                  </a:solidFill>
                  <a:latin typeface="Noto Sans CJK SC"/>
                </a:rPr>
                <a:t>角色</a:t>
              </a:r>
              <a:r>
                <a:rPr sz="1400" b="0">
                  <a:solidFill>
                    <a:srgbClr val="6F6D65"/>
                  </a:solidFill>
                  <a:latin typeface="Noto Sans CJK SC"/>
                </a:rPr>
                <a:t>+ </a:t>
              </a:r>
              <a:r>
                <a:rPr lang="zh-CN" sz="1400" b="0">
                  <a:solidFill>
                    <a:srgbClr val="6F6D65"/>
                  </a:solidFill>
                  <a:latin typeface="Noto Sans CJK SC"/>
                </a:rPr>
                <a:t>硬件</a:t>
              </a:r>
              <a:endParaRPr lang="zh-CN" sz="1400" b="0">
                <a:solidFill>
                  <a:srgbClr val="6F6D65"/>
                </a:solidFill>
                <a:latin typeface="Noto Sans CJK SC"/>
              </a:endParaRPr>
            </a:p>
          </p:txBody>
        </p:sp>
        <p:sp>
          <p:nvSpPr>
            <p:cNvPr id="34" name="Right Arrow 33"/>
            <p:cNvSpPr/>
            <p:nvPr/>
          </p:nvSpPr>
          <p:spPr>
            <a:xfrm>
              <a:off x="21496" y="5998"/>
              <a:ext cx="746" cy="518"/>
            </a:xfrm>
            <a:prstGeom prst="rightArrow">
              <a:avLst/>
            </a:prstGeom>
            <a:solidFill>
              <a:srgbClr val="E2601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22366" y="4492"/>
              <a:ext cx="4192" cy="4116"/>
            </a:xfrm>
            <a:prstGeom prst="roundRect">
              <a:avLst/>
            </a:prstGeom>
            <a:solidFill>
              <a:srgbClr val="FAF9F6"/>
            </a:solidFill>
            <a:ln w="12700">
              <a:solidFill>
                <a:srgbClr val="DCDA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2616" y="4699"/>
              <a:ext cx="3693" cy="53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 b="0">
                  <a:solidFill>
                    <a:srgbClr val="5B329E"/>
                  </a:solidFill>
                  <a:latin typeface="Noto Sans CJK SC"/>
                </a:rPr>
                <a:t>Next</a:t>
              </a:r>
              <a:endParaRPr sz="1600" b="0">
                <a:solidFill>
                  <a:srgbClr val="5B329E"/>
                </a:solidFill>
                <a:latin typeface="Noto Sans CJK SC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2574" y="5354"/>
              <a:ext cx="3777" cy="6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>
                  <a:solidFill>
                    <a:srgbClr val="5B329E"/>
                  </a:solidFill>
                  <a:latin typeface="Noto Sans CJK SC"/>
                </a:rPr>
                <a:t>AI LIFE</a:t>
              </a:r>
              <a:endParaRPr sz="2000" b="1">
                <a:solidFill>
                  <a:srgbClr val="5B329E"/>
                </a:solidFill>
                <a:latin typeface="Noto Sans CJK SC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2574" y="5875"/>
              <a:ext cx="3777" cy="91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 b="1">
                  <a:solidFill>
                    <a:srgbClr val="5B329E"/>
                  </a:solidFill>
                  <a:latin typeface="Noto Sans CJK SC"/>
                </a:rPr>
                <a:t>“一个持续存在的 AI 生命”</a:t>
              </a:r>
              <a:endParaRPr sz="1600" b="1">
                <a:solidFill>
                  <a:srgbClr val="5B329E"/>
                </a:solidFill>
                <a:latin typeface="Noto Sans CJK SC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2574" y="6812"/>
              <a:ext cx="3777" cy="82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0">
                  <a:solidFill>
                    <a:srgbClr val="191B1E"/>
                  </a:solidFill>
                  <a:latin typeface="Noto Sans CJK SC"/>
                </a:rPr>
                <a:t>Agent + World + Relationship + Hardware</a:t>
              </a:r>
              <a:endParaRPr sz="1400" b="0">
                <a:solidFill>
                  <a:srgbClr val="191B1E"/>
                </a:solidFill>
                <a:latin typeface="Noto Sans CJK SC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2574" y="7826"/>
              <a:ext cx="3777" cy="48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sz="1400" b="0">
                  <a:solidFill>
                    <a:srgbClr val="6F6D65"/>
                  </a:solidFill>
                  <a:latin typeface="Noto Sans CJK SC"/>
                </a:rPr>
                <a:t>持续存在的个体</a:t>
              </a:r>
              <a:endParaRPr lang="zh-CN" sz="1400" b="0">
                <a:solidFill>
                  <a:srgbClr val="6F6D65"/>
                </a:solidFill>
                <a:latin typeface="Noto Sans CJK SC"/>
              </a:endParaRPr>
            </a:p>
          </p:txBody>
        </p:sp>
      </p:grpSp>
      <p:sp>
        <p:nvSpPr>
          <p:cNvPr id="42" name="Rounded Rectangle 41"/>
          <p:cNvSpPr/>
          <p:nvPr/>
        </p:nvSpPr>
        <p:spPr>
          <a:xfrm>
            <a:off x="1238250" y="5869940"/>
            <a:ext cx="15810865" cy="2717165"/>
          </a:xfrm>
          <a:prstGeom prst="roundRect">
            <a:avLst/>
          </a:prstGeom>
          <a:solidFill>
            <a:srgbClr val="F9F9F7"/>
          </a:solidFill>
          <a:ln w="12700">
            <a:solidFill>
              <a:srgbClr val="D6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43" name="TextBox 42"/>
          <p:cNvSpPr txBox="1"/>
          <p:nvPr/>
        </p:nvSpPr>
        <p:spPr>
          <a:xfrm>
            <a:off x="1633220" y="6043295"/>
            <a:ext cx="830072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2D5EAA"/>
                </a:solidFill>
                <a:latin typeface="Noto Sans CJK SC"/>
              </a:rPr>
              <a:t>为什么是现在？ 四大技术拐点同时跨越产品化临界点</a:t>
            </a:r>
            <a:endParaRPr sz="2000" b="1">
              <a:solidFill>
                <a:srgbClr val="2D5EAA"/>
              </a:solidFill>
              <a:latin typeface="Noto Sans CJK SC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1633220" y="6677025"/>
            <a:ext cx="3359785" cy="1572260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0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" name="Oval 44"/>
          <p:cNvSpPr/>
          <p:nvPr/>
        </p:nvSpPr>
        <p:spPr>
          <a:xfrm>
            <a:off x="1791970" y="6915785"/>
            <a:ext cx="553720" cy="627380"/>
          </a:xfrm>
          <a:prstGeom prst="ellipse">
            <a:avLst/>
          </a:prstGeom>
          <a:solidFill>
            <a:srgbClr val="F4F4F1"/>
          </a:solidFill>
          <a:ln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" name="TextBox 45"/>
          <p:cNvSpPr txBox="1"/>
          <p:nvPr/>
        </p:nvSpPr>
        <p:spPr>
          <a:xfrm>
            <a:off x="1791970" y="6997700"/>
            <a:ext cx="55372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2D5EAA"/>
                </a:solidFill>
                <a:latin typeface="Noto Sans CJK SC"/>
              </a:rPr>
              <a:t>AI</a:t>
            </a:r>
            <a:endParaRPr sz="2400" b="1">
              <a:solidFill>
                <a:srgbClr val="2D5EAA"/>
              </a:solidFill>
              <a:latin typeface="Noto Sans CJK SC"/>
            </a:endParaRPr>
          </a:p>
        </p:txBody>
      </p:sp>
      <p:sp>
        <p:nvSpPr>
          <p:cNvPr id="6" name="TextBox 46"/>
          <p:cNvSpPr txBox="1"/>
          <p:nvPr/>
        </p:nvSpPr>
        <p:spPr>
          <a:xfrm>
            <a:off x="2476500" y="6714490"/>
            <a:ext cx="2345055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2D5EAA"/>
                </a:solidFill>
                <a:latin typeface="Noto Sans CJK SC"/>
              </a:rPr>
              <a:t>Intelligence ↑</a:t>
            </a:r>
            <a:endParaRPr sz="2000" b="1">
              <a:solidFill>
                <a:srgbClr val="2D5EAA"/>
              </a:solidFill>
              <a:latin typeface="Noto Sans CJK SC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476500" y="7377430"/>
            <a:ext cx="2345055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91B1E"/>
                </a:solidFill>
                <a:latin typeface="Noto Sans CJK SC"/>
              </a:rPr>
              <a:t>模型能力跨过可用临界点</a:t>
            </a:r>
            <a:endParaRPr sz="1400" b="1">
              <a:solidFill>
                <a:srgbClr val="191B1E"/>
              </a:solidFill>
              <a:latin typeface="Noto Sans CJK SC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791970" y="7771765"/>
            <a:ext cx="3029585" cy="33718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0">
                <a:solidFill>
                  <a:srgbClr val="6F6D65"/>
                </a:solidFill>
                <a:latin typeface="Noto Sans CJK SC"/>
              </a:rPr>
              <a:t>开放理解 / 推理 / 人格</a:t>
            </a:r>
            <a:endParaRPr sz="1400" b="0">
              <a:solidFill>
                <a:srgbClr val="6F6D65"/>
              </a:solidFill>
              <a:latin typeface="Noto Sans CJK SC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5559425" y="6677025"/>
            <a:ext cx="3359785" cy="1572260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0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1" name="Oval 50"/>
          <p:cNvSpPr/>
          <p:nvPr/>
        </p:nvSpPr>
        <p:spPr>
          <a:xfrm>
            <a:off x="5718175" y="6915785"/>
            <a:ext cx="553720" cy="627380"/>
          </a:xfrm>
          <a:prstGeom prst="ellipse">
            <a:avLst/>
          </a:prstGeom>
          <a:solidFill>
            <a:srgbClr val="F4F4F1"/>
          </a:solidFill>
          <a:ln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2" name="TextBox 51"/>
          <p:cNvSpPr txBox="1"/>
          <p:nvPr/>
        </p:nvSpPr>
        <p:spPr>
          <a:xfrm>
            <a:off x="5718175" y="6997700"/>
            <a:ext cx="55372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308954"/>
                </a:solidFill>
                <a:latin typeface="Noto Sans CJK SC"/>
              </a:rPr>
              <a:t>$</a:t>
            </a:r>
            <a:endParaRPr sz="2400" b="1">
              <a:solidFill>
                <a:srgbClr val="308954"/>
              </a:solidFill>
              <a:latin typeface="Noto Sans CJK SC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403340" y="6714490"/>
            <a:ext cx="2345055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08954"/>
                </a:solidFill>
                <a:latin typeface="Noto Sans CJK SC"/>
              </a:rPr>
              <a:t>Cost ↓</a:t>
            </a:r>
            <a:endParaRPr sz="2000" b="1">
              <a:solidFill>
                <a:srgbClr val="308954"/>
              </a:solidFill>
              <a:latin typeface="Noto Sans CJK SC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403340" y="7376160"/>
            <a:ext cx="2345055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91B1E"/>
                </a:solidFill>
                <a:latin typeface="Noto Sans CJK SC"/>
              </a:rPr>
              <a:t>同等智能推理成本</a:t>
            </a:r>
            <a:r>
              <a:rPr lang="zh-CN" sz="1400" b="1">
                <a:solidFill>
                  <a:srgbClr val="191B1E"/>
                </a:solidFill>
                <a:latin typeface="Noto Sans CJK SC"/>
              </a:rPr>
              <a:t>大幅</a:t>
            </a:r>
            <a:r>
              <a:rPr sz="1400" b="1">
                <a:solidFill>
                  <a:srgbClr val="191B1E"/>
                </a:solidFill>
                <a:latin typeface="Noto Sans CJK SC"/>
              </a:rPr>
              <a:t>下降 </a:t>
            </a:r>
            <a:endParaRPr sz="1400" b="1">
              <a:solidFill>
                <a:srgbClr val="191B1E"/>
              </a:solidFill>
              <a:latin typeface="Noto Sans CJK SC"/>
            </a:endParaRPr>
          </a:p>
        </p:txBody>
      </p:sp>
      <p:sp>
        <p:nvSpPr>
          <p:cNvPr id="56" name="TextBox 54"/>
          <p:cNvSpPr txBox="1"/>
          <p:nvPr/>
        </p:nvSpPr>
        <p:spPr>
          <a:xfrm>
            <a:off x="5718810" y="7643495"/>
            <a:ext cx="3029585" cy="57277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0">
                <a:solidFill>
                  <a:srgbClr val="6F6D65"/>
                </a:solidFill>
                <a:latin typeface="Noto Sans CJK SC"/>
              </a:rPr>
              <a:t>让长期、高频陪伴第一次经济可行</a:t>
            </a:r>
            <a:endParaRPr sz="1400" b="0">
              <a:solidFill>
                <a:srgbClr val="6F6D65"/>
              </a:solidFill>
              <a:latin typeface="Noto Sans CJK SC"/>
            </a:endParaRPr>
          </a:p>
        </p:txBody>
      </p:sp>
      <p:sp>
        <p:nvSpPr>
          <p:cNvPr id="57" name="Rounded Rectangle 55"/>
          <p:cNvSpPr/>
          <p:nvPr/>
        </p:nvSpPr>
        <p:spPr>
          <a:xfrm>
            <a:off x="9485630" y="6677025"/>
            <a:ext cx="3359785" cy="1572260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0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8" name="Oval 56"/>
          <p:cNvSpPr/>
          <p:nvPr/>
        </p:nvSpPr>
        <p:spPr>
          <a:xfrm>
            <a:off x="9644380" y="6915785"/>
            <a:ext cx="553720" cy="627380"/>
          </a:xfrm>
          <a:prstGeom prst="ellipse">
            <a:avLst/>
          </a:prstGeom>
          <a:solidFill>
            <a:srgbClr val="F4F4F1"/>
          </a:solidFill>
          <a:ln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9" name="TextBox 57"/>
          <p:cNvSpPr txBox="1"/>
          <p:nvPr/>
        </p:nvSpPr>
        <p:spPr>
          <a:xfrm>
            <a:off x="9644380" y="6997700"/>
            <a:ext cx="55372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E26018"/>
                </a:solidFill>
                <a:latin typeface="Noto Sans CJK SC"/>
              </a:rPr>
              <a:t>◖</a:t>
            </a:r>
            <a:endParaRPr sz="2400" b="1">
              <a:solidFill>
                <a:srgbClr val="E26018"/>
              </a:solidFill>
              <a:latin typeface="Noto Sans CJK SC"/>
            </a:endParaRPr>
          </a:p>
        </p:txBody>
      </p:sp>
      <p:sp>
        <p:nvSpPr>
          <p:cNvPr id="60" name="TextBox 58"/>
          <p:cNvSpPr txBox="1"/>
          <p:nvPr/>
        </p:nvSpPr>
        <p:spPr>
          <a:xfrm>
            <a:off x="10329545" y="6714490"/>
            <a:ext cx="2345055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E26018"/>
                </a:solidFill>
                <a:latin typeface="Noto Sans CJK SC"/>
              </a:rPr>
              <a:t>Realtime ↑</a:t>
            </a:r>
            <a:endParaRPr sz="2000" b="1">
              <a:solidFill>
                <a:srgbClr val="E26018"/>
              </a:solidFill>
              <a:latin typeface="Noto Sans CJK SC"/>
            </a:endParaRPr>
          </a:p>
        </p:txBody>
      </p:sp>
      <p:sp>
        <p:nvSpPr>
          <p:cNvPr id="61" name="TextBox 59"/>
          <p:cNvSpPr txBox="1"/>
          <p:nvPr/>
        </p:nvSpPr>
        <p:spPr>
          <a:xfrm>
            <a:off x="10329545" y="7377430"/>
            <a:ext cx="2345055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91B1E"/>
                </a:solidFill>
                <a:latin typeface="Noto Sans CJK SC"/>
              </a:rPr>
              <a:t>Voice + Multimodal 成熟</a:t>
            </a:r>
            <a:endParaRPr sz="1400" b="1">
              <a:solidFill>
                <a:srgbClr val="191B1E"/>
              </a:solidFill>
              <a:latin typeface="Noto Sans CJK SC"/>
            </a:endParaRPr>
          </a:p>
        </p:txBody>
      </p:sp>
      <p:sp>
        <p:nvSpPr>
          <p:cNvPr id="62" name="TextBox 60"/>
          <p:cNvSpPr txBox="1"/>
          <p:nvPr/>
        </p:nvSpPr>
        <p:spPr>
          <a:xfrm>
            <a:off x="9645015" y="7643495"/>
            <a:ext cx="3029585" cy="57277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0">
                <a:solidFill>
                  <a:srgbClr val="6F6D65"/>
                </a:solidFill>
                <a:latin typeface="Noto Sans CJK SC"/>
              </a:rPr>
              <a:t>AI 从“输入框”进入自然交互</a:t>
            </a:r>
            <a:endParaRPr sz="1400" b="0">
              <a:solidFill>
                <a:srgbClr val="6F6D65"/>
              </a:solidFill>
              <a:latin typeface="Noto Sans CJK SC"/>
            </a:endParaRPr>
          </a:p>
        </p:txBody>
      </p:sp>
      <p:sp>
        <p:nvSpPr>
          <p:cNvPr id="63" name="Rounded Rectangle 61"/>
          <p:cNvSpPr/>
          <p:nvPr/>
        </p:nvSpPr>
        <p:spPr>
          <a:xfrm>
            <a:off x="13411835" y="6677025"/>
            <a:ext cx="3359785" cy="1572260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0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4" name="Oval 62"/>
          <p:cNvSpPr/>
          <p:nvPr/>
        </p:nvSpPr>
        <p:spPr>
          <a:xfrm>
            <a:off x="13570585" y="6915785"/>
            <a:ext cx="553720" cy="627380"/>
          </a:xfrm>
          <a:prstGeom prst="ellipse">
            <a:avLst/>
          </a:prstGeom>
          <a:solidFill>
            <a:srgbClr val="F4F4F1"/>
          </a:solidFill>
          <a:ln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5" name="TextBox 63"/>
          <p:cNvSpPr txBox="1"/>
          <p:nvPr/>
        </p:nvSpPr>
        <p:spPr>
          <a:xfrm>
            <a:off x="13570585" y="6997700"/>
            <a:ext cx="55372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5B329E"/>
                </a:solidFill>
                <a:latin typeface="Noto Sans CJK SC"/>
              </a:rPr>
              <a:t>∞</a:t>
            </a:r>
            <a:endParaRPr sz="2400" b="1">
              <a:solidFill>
                <a:srgbClr val="5B329E"/>
              </a:solidFill>
              <a:latin typeface="Noto Sans CJK SC"/>
            </a:endParaRPr>
          </a:p>
        </p:txBody>
      </p:sp>
      <p:sp>
        <p:nvSpPr>
          <p:cNvPr id="66" name="TextBox 64"/>
          <p:cNvSpPr txBox="1"/>
          <p:nvPr/>
        </p:nvSpPr>
        <p:spPr>
          <a:xfrm>
            <a:off x="14255750" y="6714808"/>
            <a:ext cx="266192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5B329E"/>
                </a:solidFill>
                <a:latin typeface="Noto Sans CJK SC"/>
              </a:rPr>
              <a:t>Agent + Memory ↑</a:t>
            </a:r>
            <a:endParaRPr sz="2000" b="1">
              <a:solidFill>
                <a:srgbClr val="5B329E"/>
              </a:solidFill>
              <a:latin typeface="Noto Sans CJK SC"/>
            </a:endParaRPr>
          </a:p>
        </p:txBody>
      </p:sp>
      <p:sp>
        <p:nvSpPr>
          <p:cNvPr id="67" name="TextBox 65"/>
          <p:cNvSpPr txBox="1"/>
          <p:nvPr/>
        </p:nvSpPr>
        <p:spPr>
          <a:xfrm>
            <a:off x="14255750" y="7267258"/>
            <a:ext cx="2345055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91B1E"/>
                </a:solidFill>
                <a:latin typeface="Noto Sans CJK SC"/>
              </a:rPr>
              <a:t>AI 从 Session 走向 Persistent Agent</a:t>
            </a:r>
            <a:endParaRPr sz="1400" b="1">
              <a:solidFill>
                <a:srgbClr val="191B1E"/>
              </a:solidFill>
              <a:latin typeface="Noto Sans CJK SC"/>
            </a:endParaRPr>
          </a:p>
        </p:txBody>
      </p:sp>
      <p:sp>
        <p:nvSpPr>
          <p:cNvPr id="68" name="TextBox 66"/>
          <p:cNvSpPr txBox="1"/>
          <p:nvPr/>
        </p:nvSpPr>
        <p:spPr>
          <a:xfrm>
            <a:off x="13571220" y="7643495"/>
            <a:ext cx="3029585" cy="57277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400" b="0">
                <a:solidFill>
                  <a:srgbClr val="6F6D65"/>
                </a:solidFill>
                <a:latin typeface="Noto Sans CJK SC"/>
              </a:rPr>
              <a:t>记住过去 + 持续行动 + 长期存在</a:t>
            </a:r>
            <a:endParaRPr sz="1400" b="0">
              <a:solidFill>
                <a:srgbClr val="6F6D65"/>
              </a:solidFill>
              <a:latin typeface="Noto Sans CJK SC"/>
            </a:endParaRPr>
          </a:p>
        </p:txBody>
      </p:sp>
      <p:sp>
        <p:nvSpPr>
          <p:cNvPr id="69" name="Rounded Rectangle 67"/>
          <p:cNvSpPr/>
          <p:nvPr/>
        </p:nvSpPr>
        <p:spPr>
          <a:xfrm>
            <a:off x="1238250" y="9081135"/>
            <a:ext cx="15810865" cy="807085"/>
          </a:xfrm>
          <a:prstGeom prst="roundRect">
            <a:avLst/>
          </a:prstGeom>
          <a:solidFill>
            <a:srgbClr val="EFF3F9"/>
          </a:solidFill>
          <a:ln w="12700"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0" name="TextBox 68"/>
          <p:cNvSpPr txBox="1"/>
          <p:nvPr/>
        </p:nvSpPr>
        <p:spPr>
          <a:xfrm>
            <a:off x="1711960" y="9223375"/>
            <a:ext cx="685165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2D5EAA"/>
                </a:solidFill>
                <a:latin typeface="Noto Sans CJK SC"/>
              </a:rPr>
              <a:t>➜  </a:t>
            </a:r>
            <a:r>
              <a:rPr b="1">
                <a:solidFill>
                  <a:srgbClr val="2D5EAA"/>
                </a:solidFill>
                <a:latin typeface="Noto Sans CJK SC"/>
                <a:sym typeface="+mn-ea"/>
              </a:rPr>
              <a:t>AI 陪伴正在从 Chat 走向真正的 Relationship，最终走向 Life。</a:t>
            </a:r>
            <a:endParaRPr lang="en-US" altLang="zh-CN" b="1">
              <a:solidFill>
                <a:srgbClr val="2D5EAA"/>
              </a:solidFill>
              <a:latin typeface="Noto Sans CJK SC"/>
            </a:endParaRPr>
          </a:p>
        </p:txBody>
      </p:sp>
      <p:sp>
        <p:nvSpPr>
          <p:cNvPr id="72" name="TextBox 69"/>
          <p:cNvSpPr txBox="1"/>
          <p:nvPr/>
        </p:nvSpPr>
        <p:spPr>
          <a:xfrm>
            <a:off x="8392795" y="9274175"/>
            <a:ext cx="8103235" cy="2762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>
                <a:solidFill>
                  <a:srgbClr val="2D5EAA"/>
                </a:solidFill>
                <a:latin typeface="Noto Sans CJK SC"/>
              </a:rPr>
              <a:t>2024–2026，模型、成本、实时交互、Memory 与 Agent 第一次同时跨越产品化临界点。</a:t>
            </a:r>
            <a:endParaRPr sz="1200" b="0">
              <a:solidFill>
                <a:srgbClr val="2D5EAA"/>
              </a:solidFill>
              <a:latin typeface="Noto Sans CJK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95550"/>
            <a:ext cx="15811805" cy="19202"/>
          </a:xfrm>
          <a:prstGeom prst="rect">
            <a:avLst/>
          </a:prstGeom>
        </p:spPr>
      </p:pic>
      <p:pic>
        <p:nvPicPr>
          <p:cNvPr id="7" name="Image 4" descr="gen-dedup-347972c4979d0ab87ced4f92d607a412.png"/>
          <p:cNvPicPr>
            <a:picLocks noChangeAspect="1"/>
          </p:cNvPicPr>
          <p:nvPr/>
        </p:nvPicPr>
        <p:blipFill>
          <a:blip r:embed="rId2"/>
          <a:srcRect l="-2083" r="-2083"/>
          <a:stretch>
            <a:fillRect/>
          </a:stretch>
        </p:blipFill>
        <p:spPr>
          <a:xfrm>
            <a:off x="1989938" y="9272270"/>
            <a:ext cx="15811805" cy="9144"/>
          </a:xfrm>
          <a:prstGeom prst="rect">
            <a:avLst/>
          </a:prstGeom>
        </p:spPr>
      </p:pic>
      <p:sp>
        <p:nvSpPr>
          <p:cNvPr id="29" name="Text 14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解决方案</a:t>
            </a:r>
            <a:endParaRPr lang="en-US" sz="1125" dirty="0"/>
          </a:p>
        </p:txBody>
      </p:sp>
      <p:sp>
        <p:nvSpPr>
          <p:cNvPr id="30" name="Text 15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我们在做的不是聊天机器人，而是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真实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着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的Agent角色 - 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共生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型陪伴</a:t>
            </a:r>
            <a:endParaRPr lang="zh-CN" altLang="en-US" sz="345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31" name="Text 16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在虚拟与现实世界之间共生</a:t>
            </a:r>
            <a:r>
              <a:rPr lang="en-US" altLang="zh-CN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持续存在、持续行动、持续记忆，</a:t>
            </a:r>
            <a:r>
              <a:rPr lang="zh-CN" alt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</a:t>
            </a: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用户建立可延续关系:          </a:t>
            </a:r>
            <a:r>
              <a:rPr lang="en-US" altLang="zh-CN" sz="1725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endParaRPr lang="en-US" altLang="zh-CN" sz="1725" dirty="0">
              <a:solidFill>
                <a:schemeClr val="accent1"/>
              </a:solidFill>
            </a:endParaRPr>
          </a:p>
        </p:txBody>
      </p:sp>
      <p:sp>
        <p:nvSpPr>
          <p:cNvPr id="47" name="AutoShape 16"/>
          <p:cNvSpPr/>
          <p:nvPr/>
        </p:nvSpPr>
        <p:spPr>
          <a:xfrm>
            <a:off x="12240260" y="4671060"/>
            <a:ext cx="5022850" cy="2933700"/>
          </a:xfrm>
          <a:prstGeom prst="roundRect">
            <a:avLst>
              <a:gd name="adj" fmla="val 12500"/>
            </a:avLst>
          </a:prstGeom>
        </p:spPr>
        <p:style>
          <a:lnRef idx="2">
            <a:schemeClr val="accent6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grpSp>
        <p:nvGrpSpPr>
          <p:cNvPr id="13" name="组合 12"/>
          <p:cNvGrpSpPr/>
          <p:nvPr/>
        </p:nvGrpSpPr>
        <p:grpSpPr>
          <a:xfrm rot="0">
            <a:off x="12785725" y="5502910"/>
            <a:ext cx="3854450" cy="1899920"/>
            <a:chOff x="2295" y="10895"/>
            <a:chExt cx="10954" cy="4791"/>
          </a:xfrm>
        </p:grpSpPr>
        <p:pic>
          <p:nvPicPr>
            <p:cNvPr id="5" name="Image 2" descr="gen-dedup-f70524bbc0962bb78a1f6f13a19f2a13.png"/>
            <p:cNvPicPr>
              <a:picLocks noChangeAspect="1"/>
            </p:cNvPicPr>
            <p:nvPr/>
          </p:nvPicPr>
          <p:blipFill>
            <a:blip r:embed="rId3"/>
            <a:srcRect l="-2083" r="-2083"/>
            <a:stretch>
              <a:fillRect/>
            </a:stretch>
          </p:blipFill>
          <p:spPr>
            <a:xfrm>
              <a:off x="2299" y="11617"/>
              <a:ext cx="10950" cy="14"/>
            </a:xfrm>
            <a:prstGeom prst="rect">
              <a:avLst/>
            </a:prstGeom>
          </p:spPr>
        </p:pic>
        <p:pic>
          <p:nvPicPr>
            <p:cNvPr id="6" name="Image 3" descr="gen-dedup-f70524bbc0962bb78a1f6f13a19f2a13.png"/>
            <p:cNvPicPr>
              <a:picLocks noChangeAspect="1"/>
            </p:cNvPicPr>
            <p:nvPr/>
          </p:nvPicPr>
          <p:blipFill>
            <a:blip r:embed="rId3"/>
            <a:srcRect l="-2083" r="-2083"/>
            <a:stretch>
              <a:fillRect/>
            </a:stretch>
          </p:blipFill>
          <p:spPr>
            <a:xfrm>
              <a:off x="2296" y="13416"/>
              <a:ext cx="10950" cy="14"/>
            </a:xfrm>
            <a:prstGeom prst="rect">
              <a:avLst/>
            </a:prstGeom>
          </p:spPr>
        </p:pic>
        <p:sp>
          <p:nvSpPr>
            <p:cNvPr id="33" name="Text 18"/>
            <p:cNvSpPr txBox="1"/>
            <p:nvPr/>
          </p:nvSpPr>
          <p:spPr>
            <a:xfrm>
              <a:off x="2295" y="10895"/>
              <a:ext cx="10951" cy="58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342900" indent="-342900" algn="l">
                <a:buFont typeface="Wingdings" panose="05000000000000000000" charset="0"/>
                <a:buChar char=""/>
              </a:pPr>
              <a:r>
                <a:rPr lang="zh-CN" altLang="en-US" dirty="0">
                  <a:solidFill>
                    <a:schemeClr val="accent1"/>
                  </a:solidFill>
                  <a:sym typeface="+mn-ea"/>
                </a:rPr>
                <a:t>它有自己的人生</a:t>
              </a:r>
              <a:endParaRPr lang="zh-CN" altLang="en-US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endParaRPr>
            </a:p>
          </p:txBody>
        </p:sp>
        <p:sp>
          <p:nvSpPr>
            <p:cNvPr id="34" name="Text 19"/>
            <p:cNvSpPr txBox="1"/>
            <p:nvPr/>
          </p:nvSpPr>
          <p:spPr>
            <a:xfrm>
              <a:off x="2295" y="11651"/>
              <a:ext cx="10951" cy="481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200" dirty="0">
                  <a:solidFill>
                    <a:schemeClr val="accent1"/>
                  </a:solidFill>
                  <a:sym typeface="+mn-ea"/>
                </a:rPr>
                <a:t>你不在线，它继续生活。</a:t>
              </a:r>
              <a:endParaRPr lang="zh-CN" altLang="en-US" sz="1200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endParaRPr>
            </a:p>
          </p:txBody>
        </p:sp>
        <p:sp>
          <p:nvSpPr>
            <p:cNvPr id="36" name="Text 21"/>
            <p:cNvSpPr txBox="1"/>
            <p:nvPr/>
          </p:nvSpPr>
          <p:spPr>
            <a:xfrm>
              <a:off x="2299" y="12653"/>
              <a:ext cx="10951" cy="58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342900" indent="-342900" algn="l">
                <a:buFont typeface="Wingdings" panose="05000000000000000000" charset="0"/>
                <a:buChar char=""/>
              </a:pPr>
              <a:r>
                <a:rPr lang="zh-CN" altLang="en-US" dirty="0">
                  <a:solidFill>
                    <a:schemeClr val="accent1"/>
                  </a:solidFill>
                  <a:sym typeface="+mn-ea"/>
                </a:rPr>
                <a:t>它记得你们共同经历过什么</a:t>
              </a:r>
              <a:endParaRPr lang="zh-CN" altLang="en-US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endParaRPr>
            </a:p>
          </p:txBody>
        </p:sp>
        <p:sp>
          <p:nvSpPr>
            <p:cNvPr id="37" name="Text 22"/>
            <p:cNvSpPr txBox="1"/>
            <p:nvPr/>
          </p:nvSpPr>
          <p:spPr>
            <a:xfrm>
              <a:off x="2299" y="13407"/>
              <a:ext cx="10951" cy="481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200" dirty="0">
                  <a:solidFill>
                    <a:schemeClr val="accent1"/>
                  </a:solidFill>
                  <a:sym typeface="+mn-ea"/>
                </a:rPr>
                <a:t>关系不会随着 </a:t>
              </a:r>
              <a:r>
                <a:rPr lang="en-US" altLang="zh-CN" sz="1200" dirty="0">
                  <a:solidFill>
                    <a:schemeClr val="accent1"/>
                  </a:solidFill>
                  <a:sym typeface="+mn-ea"/>
                </a:rPr>
                <a:t>Session </a:t>
              </a:r>
              <a:r>
                <a:rPr lang="zh-CN" altLang="en-US" sz="1200" dirty="0">
                  <a:solidFill>
                    <a:schemeClr val="accent1"/>
                  </a:solidFill>
                  <a:sym typeface="+mn-ea"/>
                </a:rPr>
                <a:t>结束。</a:t>
              </a:r>
              <a:endParaRPr lang="zh-CN" altLang="en-US" sz="1200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endParaRPr>
            </a:p>
          </p:txBody>
        </p:sp>
        <p:sp>
          <p:nvSpPr>
            <p:cNvPr id="39" name="Text 24"/>
            <p:cNvSpPr txBox="1"/>
            <p:nvPr/>
          </p:nvSpPr>
          <p:spPr>
            <a:xfrm>
              <a:off x="2296" y="14451"/>
              <a:ext cx="10951" cy="58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342900" indent="-342900" algn="l">
                <a:buFont typeface="Wingdings" panose="05000000000000000000" charset="0"/>
                <a:buChar char=""/>
              </a:pPr>
              <a:r>
                <a:rPr lang="zh-CN" altLang="en-US" dirty="0">
                  <a:solidFill>
                    <a:schemeClr val="accent1"/>
                  </a:solidFill>
                  <a:sym typeface="+mn-ea"/>
                </a:rPr>
                <a:t>它会因为这些经历而改变</a:t>
              </a:r>
              <a:endParaRPr lang="zh-CN" altLang="en-US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endParaRPr>
            </a:p>
          </p:txBody>
        </p:sp>
        <p:sp>
          <p:nvSpPr>
            <p:cNvPr id="40" name="Text 25"/>
            <p:cNvSpPr txBox="1"/>
            <p:nvPr/>
          </p:nvSpPr>
          <p:spPr>
            <a:xfrm>
              <a:off x="2296" y="15206"/>
              <a:ext cx="10951" cy="481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200" dirty="0">
                  <a:solidFill>
                    <a:schemeClr val="accent1"/>
                  </a:solidFill>
                  <a:sym typeface="+mn-ea"/>
                </a:rPr>
                <a:t>今天发生的事情会影响明天的它。</a:t>
              </a:r>
              <a:endParaRPr lang="zh-CN" altLang="en-US" sz="1200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8105" y="2807335"/>
            <a:ext cx="10152380" cy="461391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430" y="7974330"/>
            <a:ext cx="10539095" cy="202374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30810" y="7753985"/>
            <a:ext cx="3093085" cy="253301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2397740" y="3007360"/>
            <a:ext cx="3694430" cy="17938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725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主页：</a:t>
            </a:r>
            <a:endParaRPr lang="zh-CN" altLang="en-US" sz="1725" dirty="0">
              <a:solidFill>
                <a:srgbClr val="FF0000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r>
              <a:rPr lang="en-US" altLang="zh-CN" dirty="0">
                <a:solidFill>
                  <a:schemeClr val="accent1"/>
                </a:solidFill>
                <a:sym typeface="+mn-ea"/>
              </a:rPr>
              <a:t>https://www.aixiaobai.com.cn</a:t>
            </a:r>
            <a:endParaRPr lang="en-US" altLang="zh-CN" dirty="0">
              <a:solidFill>
                <a:schemeClr val="accent1"/>
              </a:solidFill>
              <a:sym typeface="+mn-ea"/>
            </a:endParaRPr>
          </a:p>
          <a:p>
            <a:endParaRPr lang="en-US" altLang="zh-CN" dirty="0">
              <a:solidFill>
                <a:schemeClr val="accent1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1725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移动端：</a:t>
            </a:r>
            <a:endParaRPr lang="zh-CN" altLang="en-US" sz="1725" dirty="0">
              <a:solidFill>
                <a:srgbClr val="FF0000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https://mobile.aixiaobai.com.cn/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85" name="AutoShape 49"/>
          <p:cNvSpPr/>
          <p:nvPr/>
        </p:nvSpPr>
        <p:spPr>
          <a:xfrm>
            <a:off x="12235180" y="2755900"/>
            <a:ext cx="5347335" cy="179451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6A00">
                  <a:alpha val="10000"/>
                </a:srgbClr>
              </a:gs>
              <a:gs pos="100000">
                <a:srgbClr val="FF6A00">
                  <a:alpha val="2000"/>
                </a:srgbClr>
              </a:gs>
            </a:gsLst>
            <a:lin ang="0"/>
          </a:gradFill>
          <a:ln cap="flat" cmpd="sng">
            <a:gradFill rotWithShape="1">
              <a:gsLst>
                <a:gs pos="0">
                  <a:srgbClr val="E65F00">
                    <a:alpha val="10000"/>
                  </a:srgbClr>
                </a:gs>
                <a:gs pos="100000">
                  <a:srgbClr val="E65F00">
                    <a:alpha val="2000"/>
                  </a:srgbClr>
                </a:gs>
              </a:gsLst>
              <a:lin ang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Text 18"/>
          <p:cNvSpPr txBox="1"/>
          <p:nvPr/>
        </p:nvSpPr>
        <p:spPr>
          <a:xfrm>
            <a:off x="12672864" y="4910312"/>
            <a:ext cx="3853465" cy="23241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indent="0" algn="l"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一个有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Life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的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Agent</a:t>
            </a:r>
            <a:endParaRPr lang="en-US" altLang="zh-CN" sz="20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团队</a:t>
            </a:r>
            <a:endParaRPr lang="en-US" sz="1125" dirty="0"/>
          </a:p>
        </p:txBody>
      </p:sp>
      <p:sp>
        <p:nvSpPr>
          <p:cNvPr id="23" name="Text 16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AI产品 × Agent工程 × 消费硬件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的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完整创始团队</a:t>
            </a:r>
            <a:endParaRPr lang="en-US" sz="345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  <a:sym typeface="+mn-ea"/>
            </a:endParaRPr>
          </a:p>
        </p:txBody>
      </p:sp>
      <p:sp>
        <p:nvSpPr>
          <p:cNvPr id="24" name="Text 17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rPr>
              <a:t>从 AI Identity、虚拟世界到硬件量产，核心能力均由创始团队内部闭环</a:t>
            </a:r>
            <a:endParaRPr lang="zh-CN" altLang="en-US" sz="1725" dirty="0">
              <a:solidFill>
                <a:srgbClr val="5C5C52"/>
              </a:solidFill>
              <a:latin typeface="Noto Sans SC" pitchFamily="34" charset="0"/>
              <a:ea typeface="Noto Sans SC" pitchFamily="34" charset="-122"/>
              <a:cs typeface="Noto Sans SC" pitchFamily="34" charset="-120"/>
              <a:sym typeface="+mn-ea"/>
            </a:endParaRPr>
          </a:p>
        </p:txBody>
      </p:sp>
      <p:grpSp>
        <p:nvGrpSpPr>
          <p:cNvPr id="97" name="组合 96"/>
          <p:cNvGrpSpPr/>
          <p:nvPr/>
        </p:nvGrpSpPr>
        <p:grpSpPr>
          <a:xfrm>
            <a:off x="1238250" y="2721419"/>
            <a:ext cx="15812135" cy="7044125"/>
            <a:chOff x="2794" y="5587"/>
            <a:chExt cx="17856" cy="7358"/>
          </a:xfrm>
        </p:grpSpPr>
        <p:sp>
          <p:nvSpPr>
            <p:cNvPr id="44" name="Rectangle 5"/>
            <p:cNvSpPr/>
            <p:nvPr/>
          </p:nvSpPr>
          <p:spPr>
            <a:xfrm>
              <a:off x="2794" y="5587"/>
              <a:ext cx="5558" cy="5131"/>
            </a:xfrm>
            <a:prstGeom prst="rect">
              <a:avLst/>
            </a:prstGeom>
            <a:solidFill>
              <a:srgbClr val="FBFAF7"/>
            </a:solidFill>
            <a:ln w="1016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45" name="Rectangle 6"/>
            <p:cNvSpPr/>
            <p:nvPr/>
          </p:nvSpPr>
          <p:spPr>
            <a:xfrm>
              <a:off x="2794" y="5587"/>
              <a:ext cx="5558" cy="26"/>
            </a:xfrm>
            <a:prstGeom prst="rect">
              <a:avLst/>
            </a:prstGeom>
            <a:solidFill>
              <a:srgbClr val="191A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46" name="Rectangle 7"/>
            <p:cNvSpPr/>
            <p:nvPr/>
          </p:nvSpPr>
          <p:spPr>
            <a:xfrm>
              <a:off x="3269" y="6192"/>
              <a:ext cx="1123" cy="1123"/>
            </a:xfrm>
            <a:prstGeom prst="rect">
              <a:avLst/>
            </a:prstGeom>
            <a:solidFill>
              <a:srgbClr val="F1F1EC"/>
            </a:solidFill>
            <a:ln w="7620">
              <a:solidFill>
                <a:srgbClr val="A5A3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47" name="Oval 8"/>
            <p:cNvSpPr/>
            <p:nvPr/>
          </p:nvSpPr>
          <p:spPr>
            <a:xfrm>
              <a:off x="3685" y="6394"/>
              <a:ext cx="292" cy="292"/>
            </a:xfrm>
            <a:prstGeom prst="ellipse">
              <a:avLst/>
            </a:prstGeom>
            <a:noFill/>
            <a:ln w="12700">
              <a:solidFill>
                <a:srgbClr val="A5A3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48" name="Rounded Rectangle 9"/>
            <p:cNvSpPr/>
            <p:nvPr/>
          </p:nvSpPr>
          <p:spPr>
            <a:xfrm>
              <a:off x="3516" y="6843"/>
              <a:ext cx="629" cy="270"/>
            </a:xfrm>
            <a:prstGeom prst="roundRect">
              <a:avLst/>
            </a:prstGeom>
            <a:noFill/>
            <a:ln w="12700">
              <a:solidFill>
                <a:srgbClr val="A5A3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49" name="TextBox 10"/>
            <p:cNvSpPr txBox="1"/>
            <p:nvPr/>
          </p:nvSpPr>
          <p:spPr>
            <a:xfrm>
              <a:off x="3269" y="7414"/>
              <a:ext cx="2160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1">
                  <a:solidFill>
                    <a:srgbClr val="CB4A0A"/>
                  </a:solidFill>
                  <a:latin typeface="Noto Sans CJK SC"/>
                </a:rPr>
                <a:t>CEO</a:t>
              </a:r>
              <a:endParaRPr sz="1400" b="1">
                <a:solidFill>
                  <a:srgbClr val="CB4A0A"/>
                </a:solidFill>
                <a:latin typeface="Noto Sans CJK SC"/>
              </a:endParaRPr>
            </a:p>
          </p:txBody>
        </p:sp>
        <p:sp>
          <p:nvSpPr>
            <p:cNvPr id="50" name="TextBox 11"/>
            <p:cNvSpPr txBox="1"/>
            <p:nvPr/>
          </p:nvSpPr>
          <p:spPr>
            <a:xfrm>
              <a:off x="3269" y="7810"/>
              <a:ext cx="4536" cy="48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2400" b="1">
                  <a:solidFill>
                    <a:srgbClr val="191A1C"/>
                  </a:solidFill>
                  <a:latin typeface="Noto Sans CJK SC"/>
                </a:rPr>
                <a:t>AI 产品 × 消费硬件商业化</a:t>
              </a:r>
              <a:endParaRPr sz="2400" b="1">
                <a:solidFill>
                  <a:srgbClr val="191A1C"/>
                </a:solidFill>
                <a:latin typeface="Noto Sans CJK SC"/>
              </a:endParaRPr>
            </a:p>
          </p:txBody>
        </p:sp>
        <p:sp>
          <p:nvSpPr>
            <p:cNvPr id="51" name="TextBox 12"/>
            <p:cNvSpPr txBox="1"/>
            <p:nvPr/>
          </p:nvSpPr>
          <p:spPr>
            <a:xfrm>
              <a:off x="3269" y="8336"/>
              <a:ext cx="2592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0">
                  <a:solidFill>
                    <a:srgbClr val="69665E"/>
                  </a:solidFill>
                  <a:latin typeface="Noto Sans CJK SC"/>
                </a:rPr>
                <a:t>丁小晶</a:t>
              </a:r>
              <a:endParaRPr sz="1400" b="0">
                <a:solidFill>
                  <a:srgbClr val="69665E"/>
                </a:solidFill>
                <a:latin typeface="Noto Sans CJK SC"/>
              </a:endParaRPr>
            </a:p>
          </p:txBody>
        </p:sp>
        <p:cxnSp>
          <p:nvCxnSpPr>
            <p:cNvPr id="52" name="Connector 13"/>
            <p:cNvCxnSpPr/>
            <p:nvPr/>
          </p:nvCxnSpPr>
          <p:spPr>
            <a:xfrm>
              <a:off x="3269" y="8726"/>
              <a:ext cx="504" cy="0"/>
            </a:xfrm>
            <a:prstGeom prst="line">
              <a:avLst/>
            </a:prstGeom>
            <a:ln w="7620">
              <a:solidFill>
                <a:srgbClr val="DDD9C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14"/>
            <p:cNvSpPr txBox="1"/>
            <p:nvPr/>
          </p:nvSpPr>
          <p:spPr>
            <a:xfrm>
              <a:off x="3269" y="8904"/>
              <a:ext cx="4493" cy="3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rgbClr val="191A1C"/>
                  </a:solidFill>
                  <a:latin typeface="Noto Sans CJK SC"/>
                </a:rPr>
                <a:t>10+ 年 AI 消费硬件产品经验</a:t>
              </a:r>
              <a:endParaRPr sz="1600" b="1">
                <a:solidFill>
                  <a:srgbClr val="191A1C"/>
                </a:solidFill>
                <a:latin typeface="Noto Sans CJK SC"/>
              </a:endParaRPr>
            </a:p>
          </p:txBody>
        </p:sp>
        <p:sp>
          <p:nvSpPr>
            <p:cNvPr id="54" name="TextBox 15"/>
            <p:cNvSpPr txBox="1"/>
            <p:nvPr/>
          </p:nvSpPr>
          <p:spPr>
            <a:xfrm>
              <a:off x="3269" y="9349"/>
              <a:ext cx="4522" cy="77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0">
                  <a:solidFill>
                    <a:srgbClr val="69665E"/>
                  </a:solidFill>
                  <a:latin typeface="Noto Sans CJK SC"/>
                </a:rPr>
                <a:t>小度教育副总经理 &amp; 产品负责人
曾负责智能音箱 / 学习机 / 机器人等产品
覆盖产品定义、用户场景与整体商业推进</a:t>
              </a:r>
              <a:endParaRPr sz="1400" b="0">
                <a:solidFill>
                  <a:srgbClr val="69665E"/>
                </a:solidFill>
                <a:latin typeface="Noto Sans CJK SC"/>
              </a:endParaRPr>
            </a:p>
          </p:txBody>
        </p:sp>
        <p:sp>
          <p:nvSpPr>
            <p:cNvPr id="55" name="Rounded Rectangle 16"/>
            <p:cNvSpPr/>
            <p:nvPr/>
          </p:nvSpPr>
          <p:spPr>
            <a:xfrm>
              <a:off x="3226" y="10339"/>
              <a:ext cx="4680" cy="331"/>
            </a:xfrm>
            <a:prstGeom prst="roundRect">
              <a:avLst/>
            </a:prstGeom>
            <a:solidFill>
              <a:srgbClr val="F5F1E9"/>
            </a:solidFill>
            <a:ln w="635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56" name="TextBox 17"/>
            <p:cNvSpPr txBox="1"/>
            <p:nvPr/>
          </p:nvSpPr>
          <p:spPr>
            <a:xfrm>
              <a:off x="3341" y="10361"/>
              <a:ext cx="4435" cy="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1">
                  <a:solidFill>
                    <a:srgbClr val="191A1C"/>
                  </a:solidFill>
                  <a:latin typeface="Noto Sans CJK SC"/>
                </a:rPr>
                <a:t>把 AI 做成用户愿意长期使用的消费产品</a:t>
              </a:r>
              <a:endParaRPr sz="1200" b="1">
                <a:solidFill>
                  <a:srgbClr val="191A1C"/>
                </a:solidFill>
                <a:latin typeface="Noto Sans CJK SC"/>
              </a:endParaRPr>
            </a:p>
          </p:txBody>
        </p:sp>
        <p:sp>
          <p:nvSpPr>
            <p:cNvPr id="57" name="Rectangle 18"/>
            <p:cNvSpPr/>
            <p:nvPr/>
          </p:nvSpPr>
          <p:spPr>
            <a:xfrm>
              <a:off x="8900" y="5587"/>
              <a:ext cx="5558" cy="5131"/>
            </a:xfrm>
            <a:prstGeom prst="rect">
              <a:avLst/>
            </a:prstGeom>
            <a:solidFill>
              <a:srgbClr val="FBFAF7"/>
            </a:solidFill>
            <a:ln w="1016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58" name="Rectangle 19"/>
            <p:cNvSpPr/>
            <p:nvPr/>
          </p:nvSpPr>
          <p:spPr>
            <a:xfrm>
              <a:off x="8900" y="5587"/>
              <a:ext cx="5558" cy="26"/>
            </a:xfrm>
            <a:prstGeom prst="rect">
              <a:avLst/>
            </a:prstGeom>
            <a:solidFill>
              <a:srgbClr val="191A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59" name="Rectangle 20"/>
            <p:cNvSpPr/>
            <p:nvPr/>
          </p:nvSpPr>
          <p:spPr>
            <a:xfrm>
              <a:off x="9375" y="6192"/>
              <a:ext cx="1123" cy="1123"/>
            </a:xfrm>
            <a:prstGeom prst="rect">
              <a:avLst/>
            </a:prstGeom>
            <a:solidFill>
              <a:srgbClr val="F1F1EC"/>
            </a:solidFill>
            <a:ln w="7620">
              <a:solidFill>
                <a:srgbClr val="A5A3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60" name="Oval 21"/>
            <p:cNvSpPr/>
            <p:nvPr/>
          </p:nvSpPr>
          <p:spPr>
            <a:xfrm>
              <a:off x="9790" y="6394"/>
              <a:ext cx="292" cy="292"/>
            </a:xfrm>
            <a:prstGeom prst="ellipse">
              <a:avLst/>
            </a:prstGeom>
            <a:noFill/>
            <a:ln w="12700">
              <a:solidFill>
                <a:srgbClr val="A5A3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61" name="Rounded Rectangle 22"/>
            <p:cNvSpPr/>
            <p:nvPr/>
          </p:nvSpPr>
          <p:spPr>
            <a:xfrm>
              <a:off x="9622" y="6843"/>
              <a:ext cx="629" cy="270"/>
            </a:xfrm>
            <a:prstGeom prst="roundRect">
              <a:avLst/>
            </a:prstGeom>
            <a:noFill/>
            <a:ln w="12700">
              <a:solidFill>
                <a:srgbClr val="A5A3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62" name="TextBox 23"/>
            <p:cNvSpPr txBox="1"/>
            <p:nvPr/>
          </p:nvSpPr>
          <p:spPr>
            <a:xfrm>
              <a:off x="9375" y="7414"/>
              <a:ext cx="2160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1">
                  <a:solidFill>
                    <a:srgbClr val="CB4A0A"/>
                  </a:solidFill>
                  <a:latin typeface="Noto Sans CJK SC"/>
                </a:rPr>
                <a:t>CTO</a:t>
              </a:r>
              <a:endParaRPr sz="1400" b="1">
                <a:solidFill>
                  <a:srgbClr val="CB4A0A"/>
                </a:solidFill>
                <a:latin typeface="Noto Sans CJK SC"/>
              </a:endParaRPr>
            </a:p>
          </p:txBody>
        </p:sp>
        <p:sp>
          <p:nvSpPr>
            <p:cNvPr id="63" name="TextBox 24"/>
            <p:cNvSpPr txBox="1"/>
            <p:nvPr/>
          </p:nvSpPr>
          <p:spPr>
            <a:xfrm>
              <a:off x="9375" y="7617"/>
              <a:ext cx="4536" cy="86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2400" b="1">
                  <a:solidFill>
                    <a:srgbClr val="191A1C"/>
                  </a:solidFill>
                  <a:latin typeface="Noto Sans CJK SC"/>
                </a:rPr>
                <a:t>Agent × </a:t>
              </a:r>
              <a:r>
                <a:rPr lang="en-US" sz="2400" b="1">
                  <a:solidFill>
                    <a:srgbClr val="191A1C"/>
                  </a:solidFill>
                  <a:latin typeface="Noto Sans CJK SC"/>
                </a:rPr>
                <a:t>Mind</a:t>
              </a:r>
              <a:r>
                <a:rPr sz="2400" b="1">
                  <a:solidFill>
                    <a:srgbClr val="191A1C"/>
                  </a:solidFill>
                  <a:latin typeface="Noto Sans CJK SC"/>
                </a:rPr>
                <a:t>× World Engine</a:t>
              </a:r>
              <a:endParaRPr sz="2400" b="1">
                <a:solidFill>
                  <a:srgbClr val="191A1C"/>
                </a:solidFill>
                <a:latin typeface="Noto Sans CJK SC"/>
              </a:endParaRPr>
            </a:p>
          </p:txBody>
        </p:sp>
        <p:sp>
          <p:nvSpPr>
            <p:cNvPr id="64" name="TextBox 25"/>
            <p:cNvSpPr txBox="1"/>
            <p:nvPr/>
          </p:nvSpPr>
          <p:spPr>
            <a:xfrm>
              <a:off x="9375" y="8336"/>
              <a:ext cx="2592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lang="zh-CN" sz="1400" b="0">
                  <a:solidFill>
                    <a:srgbClr val="69665E"/>
                  </a:solidFill>
                  <a:latin typeface="Noto Sans CJK SC"/>
                </a:rPr>
                <a:t>陶</a:t>
              </a:r>
              <a:r>
                <a:rPr sz="1400" b="0">
                  <a:solidFill>
                    <a:srgbClr val="69665E"/>
                  </a:solidFill>
                  <a:latin typeface="Noto Sans CJK SC"/>
                </a:rPr>
                <a:t>×</a:t>
              </a:r>
              <a:endParaRPr sz="1400" b="0">
                <a:solidFill>
                  <a:srgbClr val="69665E"/>
                </a:solidFill>
                <a:latin typeface="Noto Sans CJK SC"/>
              </a:endParaRPr>
            </a:p>
          </p:txBody>
        </p:sp>
        <p:cxnSp>
          <p:nvCxnSpPr>
            <p:cNvPr id="65" name="Connector 26"/>
            <p:cNvCxnSpPr/>
            <p:nvPr/>
          </p:nvCxnSpPr>
          <p:spPr>
            <a:xfrm>
              <a:off x="9375" y="8726"/>
              <a:ext cx="504" cy="0"/>
            </a:xfrm>
            <a:prstGeom prst="line">
              <a:avLst/>
            </a:prstGeom>
            <a:ln w="7620">
              <a:solidFill>
                <a:srgbClr val="DDD9C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27"/>
            <p:cNvSpPr txBox="1"/>
            <p:nvPr/>
          </p:nvSpPr>
          <p:spPr>
            <a:xfrm>
              <a:off x="9375" y="8904"/>
              <a:ext cx="4493" cy="3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rgbClr val="191A1C"/>
                  </a:solidFill>
                  <a:latin typeface="Noto Sans CJK SC"/>
                </a:rPr>
                <a:t>核心 AI Infra / Agent 工程经验</a:t>
              </a:r>
              <a:endParaRPr sz="1600" b="1">
                <a:solidFill>
                  <a:srgbClr val="191A1C"/>
                </a:solidFill>
                <a:latin typeface="Noto Sans CJK SC"/>
              </a:endParaRPr>
            </a:p>
          </p:txBody>
        </p:sp>
        <p:sp>
          <p:nvSpPr>
            <p:cNvPr id="67" name="TextBox 28"/>
            <p:cNvSpPr txBox="1"/>
            <p:nvPr/>
          </p:nvSpPr>
          <p:spPr>
            <a:xfrm>
              <a:off x="9375" y="9349"/>
              <a:ext cx="4522" cy="77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0">
                  <a:solidFill>
                    <a:srgbClr val="69665E"/>
                  </a:solidFill>
                  <a:latin typeface="Noto Sans CJK SC"/>
                </a:rPr>
                <a:t>美团 &amp; 蔚来自动驾驶 AI Infra 技术负责人
负责 Agent 架构、长期记忆与关系能力建设
主导 Mind &amp; World Engine 的工程实现</a:t>
              </a:r>
              <a:endParaRPr sz="1400" b="0">
                <a:solidFill>
                  <a:srgbClr val="69665E"/>
                </a:solidFill>
                <a:latin typeface="Noto Sans CJK SC"/>
              </a:endParaRPr>
            </a:p>
          </p:txBody>
        </p:sp>
        <p:sp>
          <p:nvSpPr>
            <p:cNvPr id="68" name="Rounded Rectangle 29"/>
            <p:cNvSpPr/>
            <p:nvPr/>
          </p:nvSpPr>
          <p:spPr>
            <a:xfrm>
              <a:off x="9332" y="10339"/>
              <a:ext cx="4680" cy="331"/>
            </a:xfrm>
            <a:prstGeom prst="roundRect">
              <a:avLst/>
            </a:prstGeom>
            <a:solidFill>
              <a:srgbClr val="F5F1E9"/>
            </a:solidFill>
            <a:ln w="635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69" name="TextBox 30"/>
            <p:cNvSpPr txBox="1"/>
            <p:nvPr/>
          </p:nvSpPr>
          <p:spPr>
            <a:xfrm>
              <a:off x="9447" y="10361"/>
              <a:ext cx="4435" cy="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1">
                  <a:solidFill>
                    <a:srgbClr val="191A1C"/>
                  </a:solidFill>
                  <a:latin typeface="Noto Sans CJK SC"/>
                </a:rPr>
                <a:t>把“持续存在的 AI 关系”真正工程化</a:t>
              </a:r>
              <a:endParaRPr sz="1200" b="1">
                <a:solidFill>
                  <a:srgbClr val="191A1C"/>
                </a:solidFill>
                <a:latin typeface="Noto Sans CJK SC"/>
              </a:endParaRPr>
            </a:p>
          </p:txBody>
        </p:sp>
        <p:sp>
          <p:nvSpPr>
            <p:cNvPr id="70" name="Rectangle 31"/>
            <p:cNvSpPr/>
            <p:nvPr/>
          </p:nvSpPr>
          <p:spPr>
            <a:xfrm>
              <a:off x="15005" y="5587"/>
              <a:ext cx="5558" cy="5131"/>
            </a:xfrm>
            <a:prstGeom prst="rect">
              <a:avLst/>
            </a:prstGeom>
            <a:solidFill>
              <a:srgbClr val="FBFAF7"/>
            </a:solidFill>
            <a:ln w="1016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71" name="Rectangle 32"/>
            <p:cNvSpPr/>
            <p:nvPr/>
          </p:nvSpPr>
          <p:spPr>
            <a:xfrm>
              <a:off x="15005" y="5587"/>
              <a:ext cx="5558" cy="26"/>
            </a:xfrm>
            <a:prstGeom prst="rect">
              <a:avLst/>
            </a:prstGeom>
            <a:solidFill>
              <a:srgbClr val="CB4A0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72" name="Rectangle 33"/>
            <p:cNvSpPr/>
            <p:nvPr/>
          </p:nvSpPr>
          <p:spPr>
            <a:xfrm>
              <a:off x="15480" y="6192"/>
              <a:ext cx="1123" cy="1123"/>
            </a:xfrm>
            <a:prstGeom prst="rect">
              <a:avLst/>
            </a:prstGeom>
            <a:solidFill>
              <a:srgbClr val="FAF1E7"/>
            </a:solidFill>
            <a:ln w="7620">
              <a:solidFill>
                <a:srgbClr val="DA914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73" name="Oval 34"/>
            <p:cNvSpPr/>
            <p:nvPr/>
          </p:nvSpPr>
          <p:spPr>
            <a:xfrm>
              <a:off x="15896" y="6394"/>
              <a:ext cx="292" cy="292"/>
            </a:xfrm>
            <a:prstGeom prst="ellipse">
              <a:avLst/>
            </a:prstGeom>
            <a:noFill/>
            <a:ln w="12700">
              <a:solidFill>
                <a:srgbClr val="DA914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74" name="Rounded Rectangle 35"/>
            <p:cNvSpPr/>
            <p:nvPr/>
          </p:nvSpPr>
          <p:spPr>
            <a:xfrm>
              <a:off x="15728" y="6843"/>
              <a:ext cx="629" cy="270"/>
            </a:xfrm>
            <a:prstGeom prst="roundRect">
              <a:avLst/>
            </a:prstGeom>
            <a:noFill/>
            <a:ln w="12700">
              <a:solidFill>
                <a:srgbClr val="DA914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75" name="TextBox 36"/>
            <p:cNvSpPr txBox="1"/>
            <p:nvPr/>
          </p:nvSpPr>
          <p:spPr>
            <a:xfrm>
              <a:off x="15480" y="7414"/>
              <a:ext cx="2160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1">
                  <a:solidFill>
                    <a:srgbClr val="CB4A0A"/>
                  </a:solidFill>
                  <a:latin typeface="Noto Sans CJK SC"/>
                </a:rPr>
                <a:t>HARDWARE LEAD</a:t>
              </a:r>
              <a:endParaRPr sz="1400" b="1">
                <a:solidFill>
                  <a:srgbClr val="CB4A0A"/>
                </a:solidFill>
                <a:latin typeface="Noto Sans CJK SC"/>
              </a:endParaRPr>
            </a:p>
          </p:txBody>
        </p:sp>
        <p:sp>
          <p:nvSpPr>
            <p:cNvPr id="76" name="TextBox 37"/>
            <p:cNvSpPr txBox="1"/>
            <p:nvPr/>
          </p:nvSpPr>
          <p:spPr>
            <a:xfrm>
              <a:off x="15480" y="7809"/>
              <a:ext cx="4536" cy="48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2400" b="1">
                  <a:solidFill>
                    <a:srgbClr val="191A1C"/>
                  </a:solidFill>
                  <a:latin typeface="Noto Sans CJK SC"/>
                </a:rPr>
                <a:t>消费电子 × 供应链量产</a:t>
              </a:r>
              <a:endParaRPr sz="2400" b="1">
                <a:solidFill>
                  <a:srgbClr val="191A1C"/>
                </a:solidFill>
                <a:latin typeface="Noto Sans CJK SC"/>
              </a:endParaRPr>
            </a:p>
          </p:txBody>
        </p:sp>
        <p:sp>
          <p:nvSpPr>
            <p:cNvPr id="77" name="TextBox 38"/>
            <p:cNvSpPr txBox="1"/>
            <p:nvPr/>
          </p:nvSpPr>
          <p:spPr>
            <a:xfrm>
              <a:off x="15480" y="8336"/>
              <a:ext cx="2592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0">
                  <a:solidFill>
                    <a:srgbClr val="69665E"/>
                  </a:solidFill>
                  <a:latin typeface="Noto Sans CJK SC"/>
                </a:rPr>
                <a:t>田××</a:t>
              </a:r>
              <a:endParaRPr sz="1400" b="0">
                <a:solidFill>
                  <a:srgbClr val="69665E"/>
                </a:solidFill>
                <a:latin typeface="Noto Sans CJK SC"/>
              </a:endParaRPr>
            </a:p>
          </p:txBody>
        </p:sp>
        <p:cxnSp>
          <p:nvCxnSpPr>
            <p:cNvPr id="78" name="Connector 39"/>
            <p:cNvCxnSpPr/>
            <p:nvPr/>
          </p:nvCxnSpPr>
          <p:spPr>
            <a:xfrm>
              <a:off x="15480" y="8726"/>
              <a:ext cx="504" cy="0"/>
            </a:xfrm>
            <a:prstGeom prst="line">
              <a:avLst/>
            </a:prstGeom>
            <a:ln w="7620">
              <a:solidFill>
                <a:srgbClr val="DDD9C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40"/>
            <p:cNvSpPr txBox="1"/>
            <p:nvPr/>
          </p:nvSpPr>
          <p:spPr>
            <a:xfrm>
              <a:off x="15480" y="8904"/>
              <a:ext cx="4493" cy="3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rgbClr val="191A1C"/>
                  </a:solidFill>
                  <a:latin typeface="Noto Sans CJK SC"/>
                </a:rPr>
                <a:t>20 年消费电子 / 教育硬件经验</a:t>
              </a:r>
              <a:endParaRPr sz="1600" b="1">
                <a:solidFill>
                  <a:srgbClr val="191A1C"/>
                </a:solidFill>
                <a:latin typeface="Noto Sans CJK SC"/>
              </a:endParaRPr>
            </a:p>
          </p:txBody>
        </p:sp>
        <p:sp>
          <p:nvSpPr>
            <p:cNvPr id="80" name="TextBox 41"/>
            <p:cNvSpPr txBox="1"/>
            <p:nvPr/>
          </p:nvSpPr>
          <p:spPr>
            <a:xfrm>
              <a:off x="15480" y="9349"/>
              <a:ext cx="4522" cy="77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0">
                  <a:solidFill>
                    <a:srgbClr val="69665E"/>
                  </a:solidFill>
                  <a:latin typeface="Noto Sans CJK SC"/>
                </a:rPr>
                <a:t>小度教育硬件负责人
负责首款硬件工程化、供应链与量产落地
覆盖成本、品质与规模交付</a:t>
              </a:r>
              <a:endParaRPr sz="1400" b="0">
                <a:solidFill>
                  <a:srgbClr val="69665E"/>
                </a:solidFill>
                <a:latin typeface="Noto Sans CJK SC"/>
              </a:endParaRPr>
            </a:p>
          </p:txBody>
        </p:sp>
        <p:sp>
          <p:nvSpPr>
            <p:cNvPr id="81" name="Rounded Rectangle 42"/>
            <p:cNvSpPr/>
            <p:nvPr/>
          </p:nvSpPr>
          <p:spPr>
            <a:xfrm>
              <a:off x="15437" y="10339"/>
              <a:ext cx="4680" cy="331"/>
            </a:xfrm>
            <a:prstGeom prst="roundRect">
              <a:avLst/>
            </a:prstGeom>
            <a:solidFill>
              <a:srgbClr val="F5F1E9"/>
            </a:solidFill>
            <a:ln w="635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82" name="TextBox 43"/>
            <p:cNvSpPr txBox="1"/>
            <p:nvPr/>
          </p:nvSpPr>
          <p:spPr>
            <a:xfrm>
              <a:off x="15552" y="10361"/>
              <a:ext cx="4435" cy="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1">
                  <a:solidFill>
                    <a:srgbClr val="CB4A0A"/>
                  </a:solidFill>
                  <a:latin typeface="Noto Sans CJK SC"/>
                </a:rPr>
                <a:t>把 AI Identity 从虚拟世界带进现实</a:t>
              </a:r>
              <a:endParaRPr sz="1200" b="1">
                <a:solidFill>
                  <a:srgbClr val="CB4A0A"/>
                </a:solidFill>
                <a:latin typeface="Noto Sans CJK SC"/>
              </a:endParaRPr>
            </a:p>
          </p:txBody>
        </p:sp>
        <p:sp>
          <p:nvSpPr>
            <p:cNvPr id="83" name="Rounded Rectangle 44"/>
            <p:cNvSpPr/>
            <p:nvPr/>
          </p:nvSpPr>
          <p:spPr>
            <a:xfrm>
              <a:off x="2794" y="10886"/>
              <a:ext cx="17856" cy="1037"/>
            </a:xfrm>
            <a:prstGeom prst="roundRect">
              <a:avLst/>
            </a:prstGeom>
            <a:solidFill>
              <a:srgbClr val="F7F6F2"/>
            </a:solidFill>
            <a:ln w="889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84" name="TextBox 45"/>
            <p:cNvSpPr txBox="1"/>
            <p:nvPr/>
          </p:nvSpPr>
          <p:spPr>
            <a:xfrm>
              <a:off x="3183" y="11043"/>
              <a:ext cx="1757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1">
                  <a:solidFill>
                    <a:srgbClr val="69665E"/>
                  </a:solidFill>
                  <a:latin typeface="Noto Sans CJK SC"/>
                </a:rPr>
                <a:t>核心能力闭环</a:t>
              </a:r>
              <a:endParaRPr sz="1400" b="1">
                <a:solidFill>
                  <a:srgbClr val="69665E"/>
                </a:solidFill>
                <a:latin typeface="Noto Sans CJK SC"/>
              </a:endParaRPr>
            </a:p>
          </p:txBody>
        </p:sp>
        <p:sp>
          <p:nvSpPr>
            <p:cNvPr id="85" name="Rounded Rectangle 46"/>
            <p:cNvSpPr/>
            <p:nvPr/>
          </p:nvSpPr>
          <p:spPr>
            <a:xfrm>
              <a:off x="5170" y="11030"/>
              <a:ext cx="3888" cy="518"/>
            </a:xfrm>
            <a:prstGeom prst="roundRect">
              <a:avLst/>
            </a:prstGeom>
            <a:solidFill>
              <a:srgbClr val="F5F1E9"/>
            </a:solidFill>
            <a:ln w="762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86" name="TextBox 47"/>
            <p:cNvSpPr txBox="1"/>
            <p:nvPr/>
          </p:nvSpPr>
          <p:spPr>
            <a:xfrm>
              <a:off x="5285" y="11130"/>
              <a:ext cx="3658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>
                  <a:solidFill>
                    <a:srgbClr val="191A1C"/>
                  </a:solidFill>
                  <a:latin typeface="Noto Sans CJK SC"/>
                </a:rPr>
                <a:t>AI产品 / 用户 / 商业化</a:t>
              </a:r>
              <a:endParaRPr sz="1400" b="1">
                <a:solidFill>
                  <a:srgbClr val="191A1C"/>
                </a:solidFill>
                <a:latin typeface="Noto Sans CJK SC"/>
              </a:endParaRPr>
            </a:p>
          </p:txBody>
        </p:sp>
        <p:sp>
          <p:nvSpPr>
            <p:cNvPr id="87" name="Rounded Rectangle 48"/>
            <p:cNvSpPr/>
            <p:nvPr/>
          </p:nvSpPr>
          <p:spPr>
            <a:xfrm>
              <a:off x="9850" y="11030"/>
              <a:ext cx="4608" cy="518"/>
            </a:xfrm>
            <a:prstGeom prst="roundRect">
              <a:avLst/>
            </a:prstGeom>
            <a:solidFill>
              <a:srgbClr val="F5F1E9"/>
            </a:solidFill>
            <a:ln w="762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88" name="TextBox 49"/>
            <p:cNvSpPr txBox="1"/>
            <p:nvPr/>
          </p:nvSpPr>
          <p:spPr>
            <a:xfrm>
              <a:off x="9965" y="11130"/>
              <a:ext cx="4378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>
                  <a:solidFill>
                    <a:srgbClr val="191A1C"/>
                  </a:solidFill>
                  <a:latin typeface="Noto Sans CJK SC"/>
                </a:rPr>
                <a:t>Agent / Memory / Relationship / World</a:t>
              </a:r>
              <a:endParaRPr sz="1400" b="1">
                <a:solidFill>
                  <a:srgbClr val="191A1C"/>
                </a:solidFill>
                <a:latin typeface="Noto Sans CJK SC"/>
              </a:endParaRPr>
            </a:p>
          </p:txBody>
        </p:sp>
        <p:sp>
          <p:nvSpPr>
            <p:cNvPr id="89" name="Rounded Rectangle 50"/>
            <p:cNvSpPr/>
            <p:nvPr/>
          </p:nvSpPr>
          <p:spPr>
            <a:xfrm>
              <a:off x="15250" y="11030"/>
              <a:ext cx="3888" cy="518"/>
            </a:xfrm>
            <a:prstGeom prst="roundRect">
              <a:avLst/>
            </a:prstGeom>
            <a:solidFill>
              <a:srgbClr val="F5F1E9"/>
            </a:solidFill>
            <a:ln w="762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90" name="TextBox 51"/>
            <p:cNvSpPr txBox="1"/>
            <p:nvPr/>
          </p:nvSpPr>
          <p:spPr>
            <a:xfrm>
              <a:off x="15365" y="11130"/>
              <a:ext cx="3658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>
                  <a:solidFill>
                    <a:srgbClr val="191A1C"/>
                  </a:solidFill>
                  <a:latin typeface="Noto Sans CJK SC"/>
                </a:rPr>
                <a:t>硬件工程 / 供应链 / 量产</a:t>
              </a:r>
              <a:endParaRPr sz="1400" b="1">
                <a:solidFill>
                  <a:srgbClr val="191A1C"/>
                </a:solidFill>
                <a:latin typeface="Noto Sans CJK SC"/>
              </a:endParaRPr>
            </a:p>
          </p:txBody>
        </p:sp>
        <p:sp>
          <p:nvSpPr>
            <p:cNvPr id="91" name="TextBox 52"/>
            <p:cNvSpPr txBox="1"/>
            <p:nvPr/>
          </p:nvSpPr>
          <p:spPr>
            <a:xfrm>
              <a:off x="9159" y="11049"/>
              <a:ext cx="432" cy="48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400" b="1">
                  <a:solidFill>
                    <a:srgbClr val="CB4A0A"/>
                  </a:solidFill>
                  <a:latin typeface="Noto Sans CJK SC"/>
                </a:rPr>
                <a:t>→</a:t>
              </a:r>
              <a:endParaRPr sz="2400" b="1">
                <a:solidFill>
                  <a:srgbClr val="CB4A0A"/>
                </a:solidFill>
                <a:latin typeface="Noto Sans CJK SC"/>
              </a:endParaRPr>
            </a:p>
          </p:txBody>
        </p:sp>
        <p:sp>
          <p:nvSpPr>
            <p:cNvPr id="92" name="TextBox 53"/>
            <p:cNvSpPr txBox="1"/>
            <p:nvPr/>
          </p:nvSpPr>
          <p:spPr>
            <a:xfrm>
              <a:off x="14674" y="11049"/>
              <a:ext cx="432" cy="48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400" b="1">
                  <a:solidFill>
                    <a:srgbClr val="CB4A0A"/>
                  </a:solidFill>
                  <a:latin typeface="Noto Sans CJK SC"/>
                </a:rPr>
                <a:t>→</a:t>
              </a:r>
              <a:endParaRPr sz="2400" b="1">
                <a:solidFill>
                  <a:srgbClr val="CB4A0A"/>
                </a:solidFill>
                <a:latin typeface="Noto Sans CJK SC"/>
              </a:endParaRPr>
            </a:p>
          </p:txBody>
        </p:sp>
        <p:sp>
          <p:nvSpPr>
            <p:cNvPr id="93" name="Rounded Rectangle 54"/>
            <p:cNvSpPr/>
            <p:nvPr/>
          </p:nvSpPr>
          <p:spPr>
            <a:xfrm>
              <a:off x="2794" y="12110"/>
              <a:ext cx="17856" cy="835"/>
            </a:xfrm>
            <a:prstGeom prst="roundRect">
              <a:avLst/>
            </a:prstGeom>
            <a:solidFill>
              <a:srgbClr val="F9F7F1"/>
            </a:solidFill>
            <a:ln w="889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/>
            </a:p>
          </p:txBody>
        </p:sp>
        <p:sp>
          <p:nvSpPr>
            <p:cNvPr id="94" name="TextBox 55"/>
            <p:cNvSpPr txBox="1"/>
            <p:nvPr/>
          </p:nvSpPr>
          <p:spPr>
            <a:xfrm>
              <a:off x="3226" y="12262"/>
              <a:ext cx="403" cy="41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>
                  <a:solidFill>
                    <a:srgbClr val="CB4A0A"/>
                  </a:solidFill>
                  <a:latin typeface="Noto Sans CJK SC"/>
                </a:rPr>
                <a:t>✓</a:t>
              </a:r>
              <a:endParaRPr sz="2000" b="1">
                <a:solidFill>
                  <a:srgbClr val="CB4A0A"/>
                </a:solidFill>
                <a:latin typeface="Noto Sans CJK SC"/>
              </a:endParaRPr>
            </a:p>
          </p:txBody>
        </p:sp>
        <p:sp>
          <p:nvSpPr>
            <p:cNvPr id="95" name="TextBox 56"/>
            <p:cNvSpPr txBox="1"/>
            <p:nvPr/>
          </p:nvSpPr>
          <p:spPr>
            <a:xfrm>
              <a:off x="3730" y="12237"/>
              <a:ext cx="11016" cy="3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rgbClr val="191A1C"/>
                  </a:solidFill>
                  <a:latin typeface="Noto Sans CJK SC"/>
                </a:rPr>
                <a:t>核心团队已共同完成第一阶段 Prototype：虚拟世界、Agent 行为、Mind Engine 核心链路已跑通</a:t>
              </a:r>
              <a:endParaRPr sz="1600" b="1">
                <a:solidFill>
                  <a:srgbClr val="191A1C"/>
                </a:solidFill>
                <a:latin typeface="Noto Sans CJK SC"/>
              </a:endParaRPr>
            </a:p>
          </p:txBody>
        </p:sp>
        <p:sp>
          <p:nvSpPr>
            <p:cNvPr id="96" name="TextBox 57"/>
            <p:cNvSpPr txBox="1"/>
            <p:nvPr/>
          </p:nvSpPr>
          <p:spPr>
            <a:xfrm>
              <a:off x="14230" y="12237"/>
              <a:ext cx="5772" cy="3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 b="1">
                  <a:solidFill>
                    <a:srgbClr val="CB4A0A"/>
                  </a:solidFill>
                  <a:latin typeface="Noto Sans CJK SC"/>
                </a:rPr>
                <a:t>AI Identity → Relationship → World → Hardware</a:t>
              </a:r>
              <a:endParaRPr sz="1600" b="1">
                <a:solidFill>
                  <a:srgbClr val="CB4A0A"/>
                </a:solidFill>
                <a:latin typeface="Noto Sans CJK SC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pic>
        <p:nvPicPr>
          <p:cNvPr id="6" name="Image 2" descr="gen-dedup-347972c4979d0ab87ced4f92d607a412.png"/>
          <p:cNvPicPr>
            <a:picLocks noChangeAspect="1"/>
          </p:cNvPicPr>
          <p:nvPr/>
        </p:nvPicPr>
        <p:blipFill>
          <a:blip r:embed="rId2"/>
          <a:srcRect l="-2083" r="-2083"/>
          <a:stretch>
            <a:fillRect/>
          </a:stretch>
        </p:blipFill>
        <p:spPr>
          <a:xfrm>
            <a:off x="1276198" y="9923780"/>
            <a:ext cx="15811805" cy="9144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技术壁垒</a:t>
            </a:r>
            <a:endParaRPr lang="en-US" sz="1125" dirty="0"/>
          </a:p>
        </p:txBody>
      </p:sp>
      <p:sp>
        <p:nvSpPr>
          <p:cNvPr id="32" name="Text 22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Mind Engine：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从任务智能到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关系智能</a:t>
            </a:r>
            <a:endParaRPr lang="en-US" sz="3450" dirty="0"/>
          </a:p>
        </p:txBody>
      </p:sp>
      <p:sp>
        <p:nvSpPr>
          <p:cNvPr id="33" name="Text 23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长期记忆、情绪感知、人格一致性，让AI从任务智能升级为关系智能</a:t>
            </a:r>
            <a:endParaRPr lang="en-US" sz="1725" dirty="0"/>
          </a:p>
        </p:txBody>
      </p:sp>
      <p:grpSp>
        <p:nvGrpSpPr>
          <p:cNvPr id="77" name="组合 76"/>
          <p:cNvGrpSpPr/>
          <p:nvPr/>
        </p:nvGrpSpPr>
        <p:grpSpPr>
          <a:xfrm>
            <a:off x="1238250" y="2887980"/>
            <a:ext cx="7396480" cy="4796790"/>
            <a:chOff x="1200" y="800"/>
            <a:chExt cx="17200" cy="8400"/>
          </a:xfrm>
        </p:grpSpPr>
        <p:sp>
          <p:nvSpPr>
            <p:cNvPr id="78" name="AutoShape 2"/>
            <p:cNvSpPr/>
            <p:nvPr/>
          </p:nvSpPr>
          <p:spPr>
            <a:xfrm>
              <a:off x="1200" y="800"/>
              <a:ext cx="16800" cy="10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3200" b="1" i="0" u="none" strike="noStrike" spc="100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任务智能 vs. 关系智能</a:t>
              </a:r>
              <a:endParaRPr lang="en-US" sz="1100"/>
            </a:p>
          </p:txBody>
        </p:sp>
        <p:sp>
          <p:nvSpPr>
            <p:cNvPr id="79" name="AutoShape 3"/>
            <p:cNvSpPr/>
            <p:nvPr/>
          </p:nvSpPr>
          <p:spPr>
            <a:xfrm>
              <a:off x="1200" y="2000"/>
              <a:ext cx="8200" cy="8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26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任务智能</a:t>
              </a:r>
              <a:endParaRPr lang="en-US" sz="1100"/>
            </a:p>
          </p:txBody>
        </p:sp>
        <p:sp>
          <p:nvSpPr>
            <p:cNvPr id="80" name="AutoShape 4"/>
            <p:cNvSpPr/>
            <p:nvPr/>
          </p:nvSpPr>
          <p:spPr>
            <a:xfrm>
              <a:off x="1200" y="2880"/>
              <a:ext cx="820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0" i="0" u="none" strike="noStrike" spc="2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Task Intelligence</a:t>
              </a:r>
              <a:endParaRPr lang="en-US" sz="1100"/>
            </a:p>
          </p:txBody>
        </p:sp>
        <p:sp>
          <p:nvSpPr>
            <p:cNvPr id="81" name="AutoShape 5"/>
            <p:cNvSpPr/>
            <p:nvPr/>
          </p:nvSpPr>
          <p:spPr>
            <a:xfrm>
              <a:off x="1200" y="3440"/>
              <a:ext cx="960" cy="8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82" name="AutoShape 6"/>
            <p:cNvSpPr/>
            <p:nvPr/>
          </p:nvSpPr>
          <p:spPr>
            <a:xfrm>
              <a:off x="1200" y="3680"/>
              <a:ext cx="82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9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效率与执行</a:t>
              </a:r>
              <a:endParaRPr lang="en-US" sz="1100"/>
            </a:p>
          </p:txBody>
        </p:sp>
        <p:cxnSp>
          <p:nvCxnSpPr>
            <p:cNvPr id="83" name="Connector 7"/>
            <p:cNvCxnSpPr/>
            <p:nvPr/>
          </p:nvCxnSpPr>
          <p:spPr>
            <a:xfrm rot="-8594">
              <a:off x="1200" y="4390"/>
              <a:ext cx="80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6E6E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4" name="AutoShape 8"/>
            <p:cNvSpPr/>
            <p:nvPr/>
          </p:nvSpPr>
          <p:spPr>
            <a:xfrm>
              <a:off x="1200" y="456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核心目标</a:t>
              </a:r>
              <a:endParaRPr lang="en-US" sz="1100"/>
            </a:p>
          </p:txBody>
        </p:sp>
        <p:sp>
          <p:nvSpPr>
            <p:cNvPr id="85" name="AutoShape 9"/>
            <p:cNvSpPr/>
            <p:nvPr/>
          </p:nvSpPr>
          <p:spPr>
            <a:xfrm>
              <a:off x="3200" y="4560"/>
              <a:ext cx="6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完成任务,提升效率</a:t>
              </a:r>
              <a:endParaRPr lang="en-US" sz="1100"/>
            </a:p>
          </p:txBody>
        </p:sp>
        <p:sp>
          <p:nvSpPr>
            <p:cNvPr id="86" name="AutoShape 10"/>
            <p:cNvSpPr/>
            <p:nvPr/>
          </p:nvSpPr>
          <p:spPr>
            <a:xfrm>
              <a:off x="1200" y="528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关注点</a:t>
              </a:r>
              <a:endParaRPr lang="en-US" sz="1100"/>
            </a:p>
          </p:txBody>
        </p:sp>
        <p:sp>
          <p:nvSpPr>
            <p:cNvPr id="87" name="AutoShape 11"/>
            <p:cNvSpPr/>
            <p:nvPr/>
          </p:nvSpPr>
          <p:spPr>
            <a:xfrm>
              <a:off x="3200" y="5280"/>
              <a:ext cx="6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事(Task/Process)</a:t>
              </a:r>
              <a:endParaRPr lang="en-US" sz="1100"/>
            </a:p>
          </p:txBody>
        </p:sp>
        <p:sp>
          <p:nvSpPr>
            <p:cNvPr id="88" name="AutoShape 12"/>
            <p:cNvSpPr/>
            <p:nvPr/>
          </p:nvSpPr>
          <p:spPr>
            <a:xfrm>
              <a:off x="1200" y="600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评价标准</a:t>
              </a:r>
              <a:endParaRPr lang="en-US" sz="1100"/>
            </a:p>
          </p:txBody>
        </p:sp>
        <p:sp>
          <p:nvSpPr>
            <p:cNvPr id="89" name="AutoShape 13"/>
            <p:cNvSpPr/>
            <p:nvPr/>
          </p:nvSpPr>
          <p:spPr>
            <a:xfrm>
              <a:off x="3200" y="6000"/>
              <a:ext cx="62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任务完成度、执行效率、ROI</a:t>
              </a:r>
              <a:endParaRPr lang="en-US" sz="1100"/>
            </a:p>
          </p:txBody>
        </p:sp>
        <p:sp>
          <p:nvSpPr>
            <p:cNvPr id="90" name="AutoShape 14"/>
            <p:cNvSpPr/>
            <p:nvPr/>
          </p:nvSpPr>
          <p:spPr>
            <a:xfrm>
              <a:off x="1200" y="700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技术核心</a:t>
              </a:r>
              <a:endParaRPr lang="en-US" sz="1100"/>
            </a:p>
          </p:txBody>
        </p:sp>
        <p:sp>
          <p:nvSpPr>
            <p:cNvPr id="91" name="AutoShape 15"/>
            <p:cNvSpPr/>
            <p:nvPr/>
          </p:nvSpPr>
          <p:spPr>
            <a:xfrm>
              <a:off x="3200" y="7000"/>
              <a:ext cx="62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规划、分解、推理、工具调用</a:t>
              </a:r>
              <a:endParaRPr lang="en-US" sz="1100"/>
            </a:p>
          </p:txBody>
        </p:sp>
        <p:sp>
          <p:nvSpPr>
            <p:cNvPr id="92" name="AutoShape 16"/>
            <p:cNvSpPr/>
            <p:nvPr/>
          </p:nvSpPr>
          <p:spPr>
            <a:xfrm>
              <a:off x="1200" y="8000"/>
              <a:ext cx="820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8000"/>
              </a:srgbClr>
            </a:solidFill>
            <a:ln cap="flat" cmpd="sng">
              <a:solidFill>
                <a:srgbClr val="E65F00">
                  <a:alpha val="8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93" name="AutoShape 17"/>
            <p:cNvSpPr/>
            <p:nvPr/>
          </p:nvSpPr>
          <p:spPr>
            <a:xfrm>
              <a:off x="1200" y="8000"/>
              <a:ext cx="6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94" name="AutoShape 18"/>
            <p:cNvSpPr/>
            <p:nvPr/>
          </p:nvSpPr>
          <p:spPr>
            <a:xfrm>
              <a:off x="1520" y="8080"/>
              <a:ext cx="172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AI角色</a:t>
              </a:r>
              <a:endParaRPr lang="en-US" sz="1100"/>
            </a:p>
          </p:txBody>
        </p:sp>
        <p:sp>
          <p:nvSpPr>
            <p:cNvPr id="95" name="AutoShape 19"/>
            <p:cNvSpPr/>
            <p:nvPr/>
          </p:nvSpPr>
          <p:spPr>
            <a:xfrm>
              <a:off x="3200" y="8080"/>
              <a:ext cx="6200" cy="9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工具、执行者、助理</a:t>
              </a:r>
              <a:endParaRPr lang="en-US" sz="1100"/>
            </a:p>
          </p:txBody>
        </p:sp>
        <p:cxnSp>
          <p:nvCxnSpPr>
            <p:cNvPr id="96" name="Connector 20"/>
            <p:cNvCxnSpPr/>
            <p:nvPr/>
          </p:nvCxnSpPr>
          <p:spPr>
            <a:xfrm rot="5390177">
              <a:off x="6300" y="5690"/>
              <a:ext cx="70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6E6E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7" name="AutoShape 21"/>
            <p:cNvSpPr/>
            <p:nvPr/>
          </p:nvSpPr>
          <p:spPr>
            <a:xfrm>
              <a:off x="10200" y="2000"/>
              <a:ext cx="8200" cy="8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2600" b="1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关系智能</a:t>
              </a:r>
              <a:endParaRPr lang="en-US" sz="1100"/>
            </a:p>
          </p:txBody>
        </p:sp>
        <p:sp>
          <p:nvSpPr>
            <p:cNvPr id="98" name="AutoShape 22"/>
            <p:cNvSpPr/>
            <p:nvPr/>
          </p:nvSpPr>
          <p:spPr>
            <a:xfrm>
              <a:off x="10200" y="2880"/>
              <a:ext cx="820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0" i="0" u="none" strike="noStrike" spc="200">
                  <a:solidFill>
                    <a:srgbClr val="99999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Relational Intelligence</a:t>
              </a:r>
              <a:endParaRPr lang="en-US" sz="1100"/>
            </a:p>
          </p:txBody>
        </p:sp>
        <p:sp>
          <p:nvSpPr>
            <p:cNvPr id="99" name="AutoShape 23"/>
            <p:cNvSpPr/>
            <p:nvPr/>
          </p:nvSpPr>
          <p:spPr>
            <a:xfrm>
              <a:off x="10200" y="3440"/>
              <a:ext cx="960" cy="8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00" name="AutoShape 24"/>
            <p:cNvSpPr/>
            <p:nvPr/>
          </p:nvSpPr>
          <p:spPr>
            <a:xfrm>
              <a:off x="10200" y="3680"/>
              <a:ext cx="820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9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连接与共情</a:t>
              </a:r>
              <a:endParaRPr lang="en-US" sz="1100"/>
            </a:p>
          </p:txBody>
        </p:sp>
        <p:cxnSp>
          <p:nvCxnSpPr>
            <p:cNvPr id="101" name="Connector 25"/>
            <p:cNvCxnSpPr/>
            <p:nvPr/>
          </p:nvCxnSpPr>
          <p:spPr>
            <a:xfrm rot="-8594">
              <a:off x="10200" y="4390"/>
              <a:ext cx="80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6E6E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2" name="AutoShape 26"/>
            <p:cNvSpPr/>
            <p:nvPr/>
          </p:nvSpPr>
          <p:spPr>
            <a:xfrm>
              <a:off x="10200" y="456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核心目标</a:t>
              </a:r>
              <a:endParaRPr lang="en-US" sz="1100"/>
            </a:p>
          </p:txBody>
        </p:sp>
        <p:sp>
          <p:nvSpPr>
            <p:cNvPr id="103" name="AutoShape 27"/>
            <p:cNvSpPr/>
            <p:nvPr/>
          </p:nvSpPr>
          <p:spPr>
            <a:xfrm>
              <a:off x="12200" y="4560"/>
              <a:ext cx="6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建立关系,提升信任</a:t>
              </a:r>
              <a:endParaRPr lang="en-US" sz="1100"/>
            </a:p>
          </p:txBody>
        </p:sp>
        <p:sp>
          <p:nvSpPr>
            <p:cNvPr id="104" name="AutoShape 28"/>
            <p:cNvSpPr/>
            <p:nvPr/>
          </p:nvSpPr>
          <p:spPr>
            <a:xfrm>
              <a:off x="10200" y="528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关注点</a:t>
              </a:r>
              <a:endParaRPr lang="en-US" sz="1100"/>
            </a:p>
          </p:txBody>
        </p:sp>
        <p:sp>
          <p:nvSpPr>
            <p:cNvPr id="105" name="AutoShape 29"/>
            <p:cNvSpPr/>
            <p:nvPr/>
          </p:nvSpPr>
          <p:spPr>
            <a:xfrm>
              <a:off x="12200" y="5280"/>
              <a:ext cx="62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人(User/Relationship)</a:t>
              </a:r>
              <a:endParaRPr lang="en-US" sz="1100"/>
            </a:p>
          </p:txBody>
        </p:sp>
        <p:sp>
          <p:nvSpPr>
            <p:cNvPr id="106" name="AutoShape 30"/>
            <p:cNvSpPr/>
            <p:nvPr/>
          </p:nvSpPr>
          <p:spPr>
            <a:xfrm>
              <a:off x="10200" y="600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评价标准</a:t>
              </a:r>
              <a:endParaRPr lang="en-US" sz="1100"/>
            </a:p>
          </p:txBody>
        </p:sp>
        <p:sp>
          <p:nvSpPr>
            <p:cNvPr id="107" name="AutoShape 31"/>
            <p:cNvSpPr/>
            <p:nvPr/>
          </p:nvSpPr>
          <p:spPr>
            <a:xfrm>
              <a:off x="12200" y="6000"/>
              <a:ext cx="62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关系质量、用户满意度、信任度</a:t>
              </a:r>
              <a:endParaRPr lang="en-US" sz="1100"/>
            </a:p>
          </p:txBody>
        </p:sp>
        <p:sp>
          <p:nvSpPr>
            <p:cNvPr id="108" name="AutoShape 32"/>
            <p:cNvSpPr/>
            <p:nvPr/>
          </p:nvSpPr>
          <p:spPr>
            <a:xfrm>
              <a:off x="10200" y="7000"/>
              <a:ext cx="1800" cy="4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技术核心</a:t>
              </a:r>
              <a:endParaRPr lang="en-US" sz="1100"/>
            </a:p>
          </p:txBody>
        </p:sp>
        <p:sp>
          <p:nvSpPr>
            <p:cNvPr id="109" name="AutoShape 33"/>
            <p:cNvSpPr/>
            <p:nvPr/>
          </p:nvSpPr>
          <p:spPr>
            <a:xfrm>
              <a:off x="12200" y="7000"/>
              <a:ext cx="6200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5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记忆、情感计算、伦理、社交模拟</a:t>
              </a:r>
              <a:endParaRPr lang="en-US" sz="1100"/>
            </a:p>
          </p:txBody>
        </p:sp>
        <p:sp>
          <p:nvSpPr>
            <p:cNvPr id="110" name="AutoShape 34"/>
            <p:cNvSpPr/>
            <p:nvPr/>
          </p:nvSpPr>
          <p:spPr>
            <a:xfrm>
              <a:off x="10200" y="8000"/>
              <a:ext cx="820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8000"/>
              </a:srgbClr>
            </a:solidFill>
            <a:ln cap="flat" cmpd="sng">
              <a:solidFill>
                <a:srgbClr val="E65F00">
                  <a:alpha val="8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1" name="AutoShape 35"/>
            <p:cNvSpPr/>
            <p:nvPr/>
          </p:nvSpPr>
          <p:spPr>
            <a:xfrm>
              <a:off x="10200" y="8000"/>
              <a:ext cx="60" cy="120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2" name="AutoShape 36"/>
            <p:cNvSpPr/>
            <p:nvPr/>
          </p:nvSpPr>
          <p:spPr>
            <a:xfrm>
              <a:off x="10520" y="8080"/>
              <a:ext cx="1720" cy="4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en-US" sz="13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AI角色</a:t>
              </a:r>
              <a:endParaRPr lang="en-US" sz="1100"/>
            </a:p>
          </p:txBody>
        </p:sp>
        <p:sp>
          <p:nvSpPr>
            <p:cNvPr id="113" name="AutoShape 37"/>
            <p:cNvSpPr/>
            <p:nvPr/>
          </p:nvSpPr>
          <p:spPr>
            <a:xfrm>
              <a:off x="12200" y="8080"/>
              <a:ext cx="6200" cy="9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伙伴、</a:t>
              </a:r>
              <a:r>
                <a:rPr lang="zh-CN" altLang="en-US" sz="16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情绪价值</a:t>
              </a:r>
              <a:r>
                <a:rPr lang="zh-CN" altLang="en-US" sz="1600" b="0" i="0" u="none" strike="noStrike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提供者</a:t>
              </a:r>
              <a:endParaRPr lang="zh-CN" altLang="en-US" sz="16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1264285" y="8208010"/>
            <a:ext cx="7369810" cy="1181100"/>
            <a:chOff x="15939" y="13260"/>
            <a:chExt cx="11606" cy="1860"/>
          </a:xfrm>
        </p:grpSpPr>
        <p:sp>
          <p:nvSpPr>
            <p:cNvPr id="115" name="AutoShape 16"/>
            <p:cNvSpPr/>
            <p:nvPr/>
          </p:nvSpPr>
          <p:spPr>
            <a:xfrm>
              <a:off x="15939" y="13260"/>
              <a:ext cx="11607" cy="1861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8000"/>
              </a:srgbClr>
            </a:solidFill>
            <a:ln cap="flat" cmpd="sng">
              <a:solidFill>
                <a:srgbClr val="E65F00">
                  <a:alpha val="8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6" name="AutoShape 17"/>
            <p:cNvSpPr/>
            <p:nvPr/>
          </p:nvSpPr>
          <p:spPr>
            <a:xfrm>
              <a:off x="15939" y="13338"/>
              <a:ext cx="120" cy="1080"/>
            </a:xfrm>
            <a:prstGeom prst="roundRect">
              <a:avLst>
                <a:gd name="adj" fmla="val 0"/>
              </a:avLst>
            </a:prstGeom>
            <a:solidFill>
              <a:srgbClr val="FF6A00">
                <a:alpha val="100000"/>
              </a:srgbClr>
            </a:solidFill>
            <a:ln cap="flat" cmpd="sng">
              <a:solidFill>
                <a:srgbClr val="E65F00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7" name="AutoShape 18"/>
            <p:cNvSpPr/>
            <p:nvPr/>
          </p:nvSpPr>
          <p:spPr>
            <a:xfrm>
              <a:off x="16177" y="13292"/>
              <a:ext cx="1085" cy="39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83000"/>
                </a:lnSpc>
                <a:defRPr/>
              </a:pPr>
              <a:r>
                <a:rPr lang="zh-CN" altLang="en-US" sz="1300" b="1" i="0" u="none" strike="noStrike">
                  <a:solidFill>
                    <a:srgbClr val="FF6A0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案例</a:t>
              </a:r>
              <a:endParaRPr lang="zh-CN" altLang="en-US" sz="1300" b="1" i="0" u="none" strike="noStrike">
                <a:solidFill>
                  <a:srgbClr val="FF6A00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  <p:sp>
          <p:nvSpPr>
            <p:cNvPr id="118" name="AutoShape 19"/>
            <p:cNvSpPr/>
            <p:nvPr/>
          </p:nvSpPr>
          <p:spPr>
            <a:xfrm>
              <a:off x="17059" y="13420"/>
              <a:ext cx="10317" cy="149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altLang="en-US" sz="1600" dirty="0">
                  <a:sym typeface="+mn-ea"/>
                </a:rPr>
                <a:t>用户说</a:t>
              </a:r>
              <a:r>
                <a:rPr lang="en-US" altLang="zh-CN" sz="1600" dirty="0">
                  <a:sym typeface="+mn-ea"/>
                </a:rPr>
                <a:t>：</a:t>
              </a:r>
              <a:r>
                <a:rPr lang="zh-CN" altLang="en-US" sz="1600" dirty="0">
                  <a:sym typeface="+mn-ea"/>
                </a:rPr>
                <a:t>最近期末了考试压力大</a:t>
              </a:r>
              <a:r>
                <a:rPr lang="en-US" altLang="zh-CN" sz="1600" dirty="0">
                  <a:sym typeface="+mn-ea"/>
                </a:rPr>
                <a:t>，</a:t>
              </a:r>
              <a:r>
                <a:rPr lang="zh-CN" altLang="en-US" sz="1600" dirty="0">
                  <a:sym typeface="+mn-ea"/>
                </a:rPr>
                <a:t>我英语都不知道怎么复习</a:t>
              </a:r>
              <a:r>
                <a:rPr lang="en-US" altLang="zh-CN" sz="1600" dirty="0">
                  <a:sym typeface="+mn-ea"/>
                </a:rPr>
                <a:t>，</a:t>
              </a:r>
              <a:r>
                <a:rPr lang="zh-CN" altLang="en-US" sz="1600" dirty="0">
                  <a:sym typeface="+mn-ea"/>
                </a:rPr>
                <a:t>肯定要挂了</a:t>
              </a:r>
              <a:endParaRPr lang="zh-CN" altLang="en-US" sz="1600" dirty="0"/>
            </a:p>
            <a:p>
              <a:pPr marL="0" indent="0" algn="l">
                <a:lnSpc>
                  <a:spcPct val="125000"/>
                </a:lnSpc>
                <a:defRPr/>
              </a:pPr>
              <a:r>
                <a:rPr lang="zh-CN" altLang="en-US" sz="1600" dirty="0">
                  <a:sym typeface="+mn-ea"/>
                </a:rPr>
                <a:t>任务型</a:t>
              </a:r>
              <a:r>
                <a:rPr lang="en-US" altLang="zh-CN" sz="1600" dirty="0">
                  <a:sym typeface="+mn-ea"/>
                </a:rPr>
                <a:t>AI：</a:t>
              </a:r>
              <a:r>
                <a:rPr lang="zh-CN" altLang="en-US" sz="1600" dirty="0">
                  <a:sym typeface="+mn-ea"/>
                </a:rPr>
                <a:t>我给你提供一套复习方法</a:t>
              </a:r>
              <a:endParaRPr lang="zh-CN" altLang="en-US" sz="1600" dirty="0"/>
            </a:p>
            <a:p>
              <a:pPr marL="0" indent="0" algn="l">
                <a:lnSpc>
                  <a:spcPct val="125000"/>
                </a:lnSpc>
                <a:defRPr/>
              </a:pPr>
              <a:r>
                <a:rPr lang="zh-CN" altLang="en-US" sz="1600" dirty="0">
                  <a:sym typeface="+mn-ea"/>
                </a:rPr>
                <a:t>关系型</a:t>
              </a:r>
              <a:r>
                <a:rPr lang="en-US" altLang="zh-CN" sz="1600" dirty="0">
                  <a:sym typeface="+mn-ea"/>
                </a:rPr>
                <a:t>AI：</a:t>
              </a:r>
              <a:r>
                <a:rPr lang="zh-CN" altLang="en-US" sz="1600" dirty="0">
                  <a:sym typeface="+mn-ea"/>
                </a:rPr>
                <a:t>哎呀</a:t>
              </a:r>
              <a:r>
                <a:rPr lang="en-US" altLang="zh-CN" sz="1600" dirty="0">
                  <a:sym typeface="+mn-ea"/>
                </a:rPr>
                <a:t>，</a:t>
              </a:r>
              <a:r>
                <a:rPr lang="zh-CN" altLang="en-US" sz="1600" dirty="0">
                  <a:sym typeface="+mn-ea"/>
                </a:rPr>
                <a:t>我也发愁呢</a:t>
              </a:r>
              <a:r>
                <a:rPr lang="en-US" altLang="zh-CN" sz="1600" dirty="0">
                  <a:sym typeface="+mn-ea"/>
                </a:rPr>
                <a:t>，</a:t>
              </a:r>
              <a:r>
                <a:rPr lang="zh-CN" altLang="en-US" sz="1600" dirty="0">
                  <a:sym typeface="+mn-ea"/>
                </a:rPr>
                <a:t>最近也在考试</a:t>
              </a:r>
              <a:r>
                <a:rPr lang="en-US" altLang="zh-CN" sz="1600" dirty="0">
                  <a:sym typeface="+mn-ea"/>
                </a:rPr>
                <a:t>，</a:t>
              </a:r>
              <a:r>
                <a:rPr lang="zh-CN" altLang="en-US" sz="1600" dirty="0">
                  <a:sym typeface="+mn-ea"/>
                </a:rPr>
                <a:t>我英语模拟一塌糊涂</a:t>
              </a:r>
              <a:endParaRPr lang="en-US" sz="1100"/>
            </a:p>
          </p:txBody>
        </p:sp>
      </p:grpSp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2060" y="2917825"/>
            <a:ext cx="9106535" cy="4766945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10939780" y="8228330"/>
            <a:ext cx="5758815" cy="613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indent="0" algn="l">
              <a:buFont typeface="Wingdings" panose="05000000000000000000" charset="0"/>
              <a:buNone/>
            </a:pPr>
            <a:r>
              <a:rPr lang="zh-CN" altLang="en-US" sz="1725" dirty="0"/>
              <a:t>价值：让每一只 </a:t>
            </a:r>
            <a:r>
              <a:rPr lang="en-US" altLang="zh-CN" sz="1725" dirty="0"/>
              <a:t>AI Pet </a:t>
            </a:r>
            <a:r>
              <a:rPr lang="zh-CN" altLang="en-US" sz="1725" dirty="0"/>
              <a:t>越来越懂你，也越来越像它自己</a:t>
            </a:r>
            <a:endParaRPr lang="zh-CN" altLang="en-US" sz="1725" dirty="0"/>
          </a:p>
        </p:txBody>
      </p:sp>
      <p:sp>
        <p:nvSpPr>
          <p:cNvPr id="39" name="圆角矩形 38"/>
          <p:cNvSpPr/>
          <p:nvPr/>
        </p:nvSpPr>
        <p:spPr>
          <a:xfrm>
            <a:off x="9649460" y="8143240"/>
            <a:ext cx="7444105" cy="128016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Text 23"/>
          <p:cNvSpPr txBox="1"/>
          <p:nvPr/>
        </p:nvSpPr>
        <p:spPr>
          <a:xfrm>
            <a:off x="10939780" y="8776335"/>
            <a:ext cx="5758815" cy="61341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25" dirty="0"/>
              <a:t>长期记忆 · 情感真实 · 关系持续深化 · 在世界中共同成长</a:t>
            </a:r>
            <a:endParaRPr lang="zh-CN" altLang="en-US" sz="17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技术壁垒</a:t>
            </a:r>
            <a:endParaRPr lang="en-US" sz="1125" dirty="0"/>
          </a:p>
        </p:txBody>
      </p:sp>
      <p:sp>
        <p:nvSpPr>
          <p:cNvPr id="32" name="Text 22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sz="3450" b="1">
                <a:solidFill>
                  <a:srgbClr val="16181D"/>
                </a:solidFill>
                <a:latin typeface="Noto Serif SC"/>
                <a:ea typeface="Noto Serif SC"/>
                <a:cs typeface="Noto Serif SC"/>
              </a:rPr>
              <a:t>World Engine：</a:t>
            </a:r>
            <a:r>
              <a:rPr lang="zh-CN" sz="3200">
                <a:solidFill>
                  <a:srgbClr val="16181D"/>
                </a:solidFill>
                <a:latin typeface="Noto Serif SC"/>
                <a:ea typeface="Noto Serif SC"/>
                <a:cs typeface="Noto Serif SC"/>
              </a:rPr>
              <a:t>世界不是人为运营</a:t>
            </a:r>
            <a:r>
              <a:rPr lang="en-US" altLang="zh-CN" sz="3200">
                <a:solidFill>
                  <a:srgbClr val="16181D"/>
                </a:solidFill>
                <a:latin typeface="Noto Serif SC"/>
                <a:ea typeface="Noto Serif SC"/>
                <a:cs typeface="Noto Serif SC"/>
              </a:rPr>
              <a:t>，</a:t>
            </a:r>
            <a:r>
              <a:rPr lang="zh-CN" altLang="en-US" sz="3200">
                <a:solidFill>
                  <a:srgbClr val="16181D"/>
                </a:solidFill>
                <a:latin typeface="Noto Serif SC"/>
                <a:ea typeface="Noto Serif SC"/>
                <a:cs typeface="Noto Serif SC"/>
              </a:rPr>
              <a:t>是</a:t>
            </a:r>
            <a:r>
              <a:rPr lang="en-US" altLang="zh-CN" sz="3200">
                <a:solidFill>
                  <a:srgbClr val="16181D"/>
                </a:solidFill>
                <a:latin typeface="Noto Serif SC"/>
                <a:ea typeface="Noto Serif SC"/>
                <a:cs typeface="Noto Serif SC"/>
              </a:rPr>
              <a:t>Agent</a:t>
            </a:r>
            <a:r>
              <a:rPr lang="zh-CN" altLang="en-US" sz="3200">
                <a:solidFill>
                  <a:srgbClr val="16181D"/>
                </a:solidFill>
                <a:latin typeface="Noto Serif SC"/>
                <a:ea typeface="Noto Serif SC"/>
                <a:cs typeface="Noto Serif SC"/>
              </a:rPr>
              <a:t>驱动进化</a:t>
            </a:r>
            <a:r>
              <a:rPr lang="zh-CN" altLang="en-US" sz="3200">
                <a:solidFill>
                  <a:srgbClr val="16181D"/>
                </a:solidFill>
                <a:latin typeface="Noto Serif SC"/>
                <a:ea typeface="Noto Serif SC"/>
                <a:cs typeface="Noto Serif SC"/>
              </a:rPr>
              <a:t>的</a:t>
            </a:r>
            <a:endParaRPr lang="zh-CN" altLang="en-US" sz="3200">
              <a:solidFill>
                <a:srgbClr val="16181D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33" name="Text 23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rPr>
              <a:t>我们定义世界运行的底层规则，让 Agent 基于自身需求自主行动、创造，并持续改变世界。</a:t>
            </a:r>
            <a:endParaRPr lang="en-US" sz="1725" dirty="0">
              <a:solidFill>
                <a:srgbClr val="5C5C52"/>
              </a:solidFill>
              <a:latin typeface="Noto Sans SC" pitchFamily="34" charset="0"/>
              <a:ea typeface="Noto Sans SC" pitchFamily="34" charset="-122"/>
              <a:cs typeface="Noto Sans SC" pitchFamily="34" charset="-120"/>
              <a:sym typeface="+mn-ea"/>
            </a:endParaRPr>
          </a:p>
        </p:txBody>
      </p:sp>
      <p:sp>
        <p:nvSpPr>
          <p:cNvPr id="59" name="AutoShape 12"/>
          <p:cNvSpPr/>
          <p:nvPr/>
        </p:nvSpPr>
        <p:spPr>
          <a:xfrm>
            <a:off x="10772235" y="-33853"/>
            <a:ext cx="2963726" cy="1269178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cap="flat" cmpd="sng">
            <a:solidFill>
              <a:srgbClr val="E6CFCF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16"/>
          <p:cNvSpPr/>
          <p:nvPr/>
        </p:nvSpPr>
        <p:spPr>
          <a:xfrm>
            <a:off x="1329690" y="8701405"/>
            <a:ext cx="15697200" cy="1012825"/>
          </a:xfrm>
          <a:prstGeom prst="roundRect">
            <a:avLst>
              <a:gd name="adj" fmla="val 12500"/>
            </a:avLst>
          </a:prstGeom>
          <a:solidFill>
            <a:srgbClr val="666447">
              <a:alpha val="90000"/>
            </a:srgbClr>
          </a:solidFill>
          <a:ln w="12700" cap="flat" cmpd="sng">
            <a:solidFill>
              <a:srgbClr val="50505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9" name="AutoShape 18"/>
          <p:cNvSpPr/>
          <p:nvPr/>
        </p:nvSpPr>
        <p:spPr>
          <a:xfrm>
            <a:off x="1599626" y="8917481"/>
            <a:ext cx="3048000" cy="6291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3200" b="1" i="0" u="none" strike="noStrike">
                <a:solidFill>
                  <a:srgbClr val="FFD700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World Engine</a:t>
            </a:r>
            <a:endParaRPr lang="en-US" sz="1100"/>
          </a:p>
        </p:txBody>
      </p:sp>
      <p:sp>
        <p:nvSpPr>
          <p:cNvPr id="50" name="AutoShape 19"/>
          <p:cNvSpPr/>
          <p:nvPr/>
        </p:nvSpPr>
        <p:spPr>
          <a:xfrm>
            <a:off x="4781701" y="9017495"/>
            <a:ext cx="4364326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600" b="1" i="0" u="none" strike="noStrike" spc="100">
                <a:solidFill>
                  <a:srgbClr val="F0F0F0"/>
                </a:solidFill>
                <a:latin typeface="Noto Sans SC"/>
                <a:ea typeface="Noto Sans SC"/>
                <a:cs typeface="Noto Sans SC"/>
                <a:sym typeface="Noto Sans SC"/>
              </a:rPr>
              <a:t>道法自然，天地不仁，以万物为刍狗。</a:t>
            </a:r>
            <a:endParaRPr lang="en-US" sz="1100"/>
          </a:p>
        </p:txBody>
      </p:sp>
      <p:sp>
        <p:nvSpPr>
          <p:cNvPr id="51" name="AutoShape 20"/>
          <p:cNvSpPr/>
          <p:nvPr/>
        </p:nvSpPr>
        <p:spPr>
          <a:xfrm>
            <a:off x="8703231" y="9017495"/>
            <a:ext cx="4778089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</a:pPr>
            <a:r>
              <a:rPr sz="1200" spc="5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无意志、无偏爱的客观法则</a:t>
            </a:r>
            <a:r>
              <a:rPr sz="1200" spc="5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现实规律的数字化复刻</a:t>
            </a:r>
            <a:endParaRPr sz="1200" spc="50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  <a:p>
            <a:pPr marL="0" indent="0" algn="l">
              <a:lnSpc>
                <a:spcPct val="83000"/>
              </a:lnSpc>
            </a:pPr>
          </a:p>
          <a:p>
            <a:pPr marL="0" indent="0" algn="l">
              <a:lnSpc>
                <a:spcPct val="83000"/>
              </a:lnSpc>
            </a:pPr>
            <a:r>
              <a:rPr sz="1200" spc="5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Agent在道的框架内，完成从改造自然到创造文明的伟大演进。</a:t>
            </a:r>
            <a:endParaRPr sz="1200" spc="50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9" name="AutoShape 25"/>
          <p:cNvSpPr/>
          <p:nvPr/>
        </p:nvSpPr>
        <p:spPr>
          <a:xfrm>
            <a:off x="11041640" y="770455"/>
            <a:ext cx="1570781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需求萌生</a:t>
            </a:r>
            <a:endParaRPr lang="en-US" sz="1100"/>
          </a:p>
        </p:txBody>
      </p:sp>
      <p:sp>
        <p:nvSpPr>
          <p:cNvPr id="100" name="AutoShape 26"/>
          <p:cNvSpPr/>
          <p:nvPr/>
        </p:nvSpPr>
        <p:spPr>
          <a:xfrm>
            <a:off x="12651690" y="770455"/>
            <a:ext cx="431965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D700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id="103" name="AutoShape 29"/>
          <p:cNvSpPr/>
          <p:nvPr/>
        </p:nvSpPr>
        <p:spPr>
          <a:xfrm>
            <a:off x="12651690" y="1399431"/>
            <a:ext cx="431965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D700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id="104" name="AutoShape 30"/>
          <p:cNvSpPr/>
          <p:nvPr/>
        </p:nvSpPr>
        <p:spPr>
          <a:xfrm>
            <a:off x="13122924" y="1399431"/>
            <a:ext cx="2159823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实体生成</a:t>
            </a:r>
            <a:endParaRPr lang="en-US" sz="1100"/>
          </a:p>
        </p:txBody>
      </p:sp>
      <p:sp>
        <p:nvSpPr>
          <p:cNvPr id="7" name="Rounded Rectangle 6"/>
          <p:cNvSpPr/>
          <p:nvPr/>
        </p:nvSpPr>
        <p:spPr>
          <a:xfrm>
            <a:off x="1202055" y="2726055"/>
            <a:ext cx="6604635" cy="3700780"/>
          </a:xfrm>
          <a:prstGeom prst="roundRect">
            <a:avLst/>
          </a:prstGeom>
          <a:solidFill>
            <a:srgbClr val="FCFBF8"/>
          </a:solidFill>
          <a:ln w="889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Rounded Rectangle 7"/>
          <p:cNvSpPr/>
          <p:nvPr/>
        </p:nvSpPr>
        <p:spPr>
          <a:xfrm>
            <a:off x="9145905" y="2726055"/>
            <a:ext cx="7867650" cy="3640455"/>
          </a:xfrm>
          <a:prstGeom prst="roundRect">
            <a:avLst/>
          </a:prstGeom>
          <a:solidFill>
            <a:srgbClr val="FCFBF8"/>
          </a:solidFill>
          <a:ln w="10160">
            <a:solidFill>
              <a:srgbClr val="D346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TextBox 8"/>
          <p:cNvSpPr txBox="1"/>
          <p:nvPr/>
        </p:nvSpPr>
        <p:spPr>
          <a:xfrm>
            <a:off x="1711960" y="2802255"/>
            <a:ext cx="5546725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>
                <a:solidFill>
                  <a:srgbClr val="1B1C1E"/>
                </a:solidFill>
                <a:latin typeface="Noto Sans CJK SC"/>
              </a:rPr>
              <a:t>传统虚拟世界｜人创造世界   HUMAN-DRIVEN</a:t>
            </a:r>
            <a:endParaRPr b="1">
              <a:solidFill>
                <a:srgbClr val="1B1C1E"/>
              </a:solidFill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127615" y="2802255"/>
            <a:ext cx="605663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>
                <a:solidFill>
                  <a:srgbClr val="D34607"/>
                </a:solidFill>
                <a:latin typeface="Noto Sans CJK SC"/>
              </a:rPr>
              <a:t>Agent World｜Agent 创造世界   AGENT-DRIVEN</a:t>
            </a:r>
            <a:endParaRPr b="1">
              <a:solidFill>
                <a:srgbClr val="D34607"/>
              </a:solidFill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96225" y="3916680"/>
            <a:ext cx="1083945" cy="645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D34607"/>
                </a:solidFill>
                <a:latin typeface="Noto Sans CJK SC"/>
              </a:rPr>
              <a:t>VS</a:t>
            </a:r>
            <a:endParaRPr sz="3600" b="1">
              <a:solidFill>
                <a:srgbClr val="D34607"/>
              </a:solidFill>
              <a:latin typeface="Noto Sans CJK SC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673860" y="3318510"/>
            <a:ext cx="586105" cy="579755"/>
          </a:xfrm>
          <a:prstGeom prst="ellipse">
            <a:avLst/>
          </a:prstGeom>
          <a:solidFill>
            <a:srgbClr val="91918C"/>
          </a:solidFill>
          <a:ln>
            <a:solidFill>
              <a:srgbClr val="91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1673860" y="3424555"/>
            <a:ext cx="586105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Noto Sans CJK SC"/>
              </a:rPr>
              <a:t>人</a:t>
            </a:r>
            <a:endParaRPr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57325" y="3921760"/>
            <a:ext cx="101981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B1C1E"/>
                </a:solidFill>
                <a:latin typeface="Noto Sans CJK SC"/>
              </a:rPr>
              <a:t>运营团队</a:t>
            </a:r>
            <a:endParaRPr sz="1400" b="1">
              <a:solidFill>
                <a:srgbClr val="1B1C1E"/>
              </a:solidFill>
              <a:latin typeface="Noto Sans CJK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55090" y="4314825"/>
            <a:ext cx="1223645" cy="2501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40" b="0">
                <a:solidFill>
                  <a:srgbClr val="1B1C1E"/>
                </a:solidFill>
                <a:latin typeface="Noto Sans CJK SC"/>
              </a:rPr>
              <a:t>产生需求</a:t>
            </a:r>
            <a:endParaRPr sz="1040" b="0">
              <a:solidFill>
                <a:srgbClr val="1B1C1E"/>
              </a:solidFill>
              <a:latin typeface="Noto Sans CJK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55090" y="4631055"/>
            <a:ext cx="1223645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20" b="0">
                <a:solidFill>
                  <a:srgbClr val="605E59"/>
                </a:solidFill>
                <a:latin typeface="Noto Sans CJK SC"/>
              </a:rPr>
              <a:t>决定世界要做什么</a:t>
            </a:r>
            <a:endParaRPr sz="1020" b="0">
              <a:solidFill>
                <a:srgbClr val="605E59"/>
              </a:solidFill>
              <a:latin typeface="Noto Sans CJK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75535" y="3378200"/>
            <a:ext cx="318770" cy="3981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91918C"/>
                </a:solidFill>
                <a:latin typeface="Noto Sans CJK SC"/>
              </a:rPr>
              <a:t>→</a:t>
            </a:r>
            <a:endParaRPr sz="2000" b="0">
              <a:solidFill>
                <a:srgbClr val="91918C"/>
              </a:solidFill>
              <a:latin typeface="Noto Sans CJK SC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152775" y="3318510"/>
            <a:ext cx="586105" cy="579755"/>
          </a:xfrm>
          <a:prstGeom prst="ellipse">
            <a:avLst/>
          </a:prstGeom>
          <a:solidFill>
            <a:srgbClr val="91918C"/>
          </a:solidFill>
          <a:ln>
            <a:solidFill>
              <a:srgbClr val="91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TextBox 18"/>
          <p:cNvSpPr txBox="1"/>
          <p:nvPr/>
        </p:nvSpPr>
        <p:spPr>
          <a:xfrm>
            <a:off x="3152775" y="3424555"/>
            <a:ext cx="586105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Noto Sans CJK SC"/>
              </a:rPr>
              <a:t>✎</a:t>
            </a:r>
            <a:endParaRPr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35605" y="3921760"/>
            <a:ext cx="101981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B1C1E"/>
                </a:solidFill>
                <a:latin typeface="Noto Sans CJK SC"/>
              </a:rPr>
              <a:t>人工制作</a:t>
            </a:r>
            <a:endParaRPr sz="1400" b="1">
              <a:solidFill>
                <a:srgbClr val="1B1C1E"/>
              </a:solidFill>
              <a:latin typeface="Noto Sans CJK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34005" y="4235450"/>
            <a:ext cx="1223645" cy="4108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40" b="0">
                <a:solidFill>
                  <a:srgbClr val="1B1C1E"/>
                </a:solidFill>
                <a:latin typeface="Noto Sans CJK SC"/>
              </a:rPr>
              <a:t>策划 / 美术 / 程序</a:t>
            </a:r>
            <a:endParaRPr sz="1040" b="0">
              <a:solidFill>
                <a:srgbClr val="1B1C1E"/>
              </a:solidFill>
              <a:latin typeface="Noto Sans CJK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34005" y="4631055"/>
            <a:ext cx="1223645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20" b="0">
                <a:solidFill>
                  <a:srgbClr val="605E59"/>
                </a:solidFill>
                <a:latin typeface="Noto Sans CJK SC"/>
              </a:rPr>
              <a:t>人工生产内容</a:t>
            </a:r>
            <a:endParaRPr sz="1020" b="0">
              <a:solidFill>
                <a:srgbClr val="605E59"/>
              </a:solidFill>
              <a:latin typeface="Noto Sans CJK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853815" y="3378200"/>
            <a:ext cx="318770" cy="3981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91918C"/>
                </a:solidFill>
                <a:latin typeface="Noto Sans CJK SC"/>
              </a:rPr>
              <a:t>→</a:t>
            </a:r>
            <a:endParaRPr sz="2000" b="0">
              <a:solidFill>
                <a:srgbClr val="91918C"/>
              </a:solidFill>
              <a:latin typeface="Noto Sans CJK SC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645025" y="3318510"/>
            <a:ext cx="586105" cy="579755"/>
          </a:xfrm>
          <a:prstGeom prst="ellipse">
            <a:avLst/>
          </a:prstGeom>
          <a:solidFill>
            <a:srgbClr val="91918C"/>
          </a:solidFill>
          <a:ln>
            <a:solidFill>
              <a:srgbClr val="91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TextBox 24"/>
          <p:cNvSpPr txBox="1"/>
          <p:nvPr/>
        </p:nvSpPr>
        <p:spPr>
          <a:xfrm>
            <a:off x="4645025" y="3424555"/>
            <a:ext cx="586105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Noto Sans CJK SC"/>
              </a:rPr>
              <a:t>□</a:t>
            </a:r>
            <a:endParaRPr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427855" y="3921760"/>
            <a:ext cx="101981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B1C1E"/>
                </a:solidFill>
                <a:latin typeface="Noto Sans CJK SC"/>
              </a:rPr>
              <a:t>内容更新</a:t>
            </a:r>
            <a:endParaRPr sz="1400" b="1">
              <a:solidFill>
                <a:srgbClr val="1B1C1E"/>
              </a:solidFill>
              <a:latin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26255" y="4237355"/>
            <a:ext cx="1223645" cy="4108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40" b="0">
                <a:solidFill>
                  <a:srgbClr val="1B1C1E"/>
                </a:solidFill>
                <a:latin typeface="Noto Sans CJK SC"/>
              </a:rPr>
              <a:t>角色 / 地图 / 剧情 / 道具</a:t>
            </a:r>
            <a:endParaRPr sz="1040" b="0">
              <a:solidFill>
                <a:srgbClr val="1B1C1E"/>
              </a:solidFill>
              <a:latin typeface="Noto Sans CJK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26255" y="4631055"/>
            <a:ext cx="1223645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20" b="0">
                <a:solidFill>
                  <a:srgbClr val="605E59"/>
                </a:solidFill>
                <a:latin typeface="Noto Sans CJK SC"/>
              </a:rPr>
              <a:t>版本更新</a:t>
            </a:r>
            <a:endParaRPr sz="1020" b="0">
              <a:solidFill>
                <a:srgbClr val="605E59"/>
              </a:solidFill>
              <a:latin typeface="Noto Sans CJK S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346065" y="3378200"/>
            <a:ext cx="318770" cy="3981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91918C"/>
                </a:solidFill>
                <a:latin typeface="Noto Sans CJK SC"/>
              </a:rPr>
              <a:t>→</a:t>
            </a:r>
            <a:endParaRPr sz="2000" b="0">
              <a:solidFill>
                <a:srgbClr val="91918C"/>
              </a:solidFill>
              <a:latin typeface="Noto Sans CJK SC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136640" y="3318510"/>
            <a:ext cx="586105" cy="579755"/>
          </a:xfrm>
          <a:prstGeom prst="ellipse">
            <a:avLst/>
          </a:prstGeom>
          <a:solidFill>
            <a:srgbClr val="91918C"/>
          </a:solidFill>
          <a:ln>
            <a:solidFill>
              <a:srgbClr val="919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5" name="TextBox 30"/>
          <p:cNvSpPr txBox="1"/>
          <p:nvPr/>
        </p:nvSpPr>
        <p:spPr>
          <a:xfrm>
            <a:off x="6136640" y="3424555"/>
            <a:ext cx="586105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Noto Sans CJK SC"/>
              </a:rPr>
              <a:t>◎</a:t>
            </a:r>
            <a:endParaRPr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7" name="TextBox 31"/>
          <p:cNvSpPr txBox="1"/>
          <p:nvPr/>
        </p:nvSpPr>
        <p:spPr>
          <a:xfrm>
            <a:off x="5920105" y="3921760"/>
            <a:ext cx="101981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B1C1E"/>
                </a:solidFill>
                <a:latin typeface="Noto Sans CJK SC"/>
              </a:rPr>
              <a:t>世界变化</a:t>
            </a:r>
            <a:endParaRPr sz="1400" b="1">
              <a:solidFill>
                <a:srgbClr val="1B1C1E"/>
              </a:solidFill>
              <a:latin typeface="Noto Sans CJK SC"/>
            </a:endParaRPr>
          </a:p>
        </p:txBody>
      </p:sp>
      <p:sp>
        <p:nvSpPr>
          <p:cNvPr id="39" name="TextBox 32"/>
          <p:cNvSpPr txBox="1"/>
          <p:nvPr/>
        </p:nvSpPr>
        <p:spPr>
          <a:xfrm>
            <a:off x="5817870" y="4314825"/>
            <a:ext cx="1223645" cy="2501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40" b="0">
                <a:solidFill>
                  <a:srgbClr val="1B1C1E"/>
                </a:solidFill>
                <a:latin typeface="Noto Sans CJK SC"/>
              </a:rPr>
              <a:t>版本发布</a:t>
            </a:r>
            <a:endParaRPr sz="1040" b="0">
              <a:solidFill>
                <a:srgbClr val="1B1C1E"/>
              </a:solidFill>
              <a:latin typeface="Noto Sans CJK SC"/>
            </a:endParaRPr>
          </a:p>
        </p:txBody>
      </p:sp>
      <p:sp>
        <p:nvSpPr>
          <p:cNvPr id="40" name="TextBox 33"/>
          <p:cNvSpPr txBox="1"/>
          <p:nvPr/>
        </p:nvSpPr>
        <p:spPr>
          <a:xfrm>
            <a:off x="5817870" y="4631055"/>
            <a:ext cx="1223645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20" b="0">
                <a:solidFill>
                  <a:srgbClr val="605E59"/>
                </a:solidFill>
                <a:latin typeface="Noto Sans CJK SC"/>
              </a:rPr>
              <a:t>世界发生改变</a:t>
            </a:r>
            <a:endParaRPr sz="1020" b="0">
              <a:solidFill>
                <a:srgbClr val="605E59"/>
              </a:solidFill>
              <a:latin typeface="Noto Sans CJK SC"/>
            </a:endParaRPr>
          </a:p>
        </p:txBody>
      </p:sp>
      <p:sp>
        <p:nvSpPr>
          <p:cNvPr id="41" name="Rounded Rectangle 34"/>
          <p:cNvSpPr/>
          <p:nvPr/>
        </p:nvSpPr>
        <p:spPr>
          <a:xfrm>
            <a:off x="1546225" y="5070475"/>
            <a:ext cx="5929630" cy="478790"/>
          </a:xfrm>
          <a:prstGeom prst="roundRect">
            <a:avLst/>
          </a:prstGeom>
          <a:solidFill>
            <a:srgbClr val="FAF9F6"/>
          </a:solidFill>
          <a:ln w="635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2" name="TextBox 35"/>
          <p:cNvSpPr txBox="1"/>
          <p:nvPr/>
        </p:nvSpPr>
        <p:spPr>
          <a:xfrm>
            <a:off x="1750060" y="5173345"/>
            <a:ext cx="5483225" cy="275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605E59"/>
                </a:solidFill>
                <a:latin typeface="Noto Sans CJK SC"/>
              </a:rPr>
              <a:t>世界每前进一步，都需要人生产一次内容。</a:t>
            </a:r>
            <a:endParaRPr sz="1200" b="1">
              <a:solidFill>
                <a:srgbClr val="605E59"/>
              </a:solidFill>
              <a:latin typeface="Noto Sans CJK SC"/>
            </a:endParaRPr>
          </a:p>
        </p:txBody>
      </p:sp>
      <p:sp>
        <p:nvSpPr>
          <p:cNvPr id="43" name="TextBox 36"/>
          <p:cNvSpPr txBox="1"/>
          <p:nvPr/>
        </p:nvSpPr>
        <p:spPr>
          <a:xfrm>
            <a:off x="2158365" y="5624830"/>
            <a:ext cx="474345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D34607"/>
                </a:solidFill>
                <a:latin typeface="Noto Sans CJK SC"/>
              </a:rPr>
              <a:t>人力投入 ↑  →  内容生产 ↑  →  世界变化 ↑</a:t>
            </a:r>
            <a:endParaRPr sz="1400" b="1">
              <a:solidFill>
                <a:srgbClr val="D34607"/>
              </a:solidFill>
              <a:latin typeface="Noto Sans CJK SC"/>
            </a:endParaRPr>
          </a:p>
        </p:txBody>
      </p:sp>
      <p:sp>
        <p:nvSpPr>
          <p:cNvPr id="44" name="Oval 37"/>
          <p:cNvSpPr/>
          <p:nvPr/>
        </p:nvSpPr>
        <p:spPr>
          <a:xfrm>
            <a:off x="9655810" y="3293110"/>
            <a:ext cx="612140" cy="605155"/>
          </a:xfrm>
          <a:prstGeom prst="ellipse">
            <a:avLst/>
          </a:prstGeom>
          <a:solidFill>
            <a:srgbClr val="D34607"/>
          </a:solidFill>
          <a:ln>
            <a:solidFill>
              <a:srgbClr val="D346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5" name="TextBox 38"/>
          <p:cNvSpPr txBox="1"/>
          <p:nvPr/>
        </p:nvSpPr>
        <p:spPr>
          <a:xfrm>
            <a:off x="9655810" y="3429000"/>
            <a:ext cx="612140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🐱</a:t>
            </a:r>
            <a:endParaRPr sz="16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46" name="TextBox 39"/>
          <p:cNvSpPr txBox="1"/>
          <p:nvPr/>
        </p:nvSpPr>
        <p:spPr>
          <a:xfrm>
            <a:off x="9401175" y="3923030"/>
            <a:ext cx="1147445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B1C1E"/>
                </a:solidFill>
                <a:latin typeface="Noto Sans CJK SC"/>
              </a:rPr>
              <a:t>Agent</a:t>
            </a:r>
            <a:endParaRPr sz="1400" b="1">
              <a:solidFill>
                <a:srgbClr val="1B1C1E"/>
              </a:solidFill>
              <a:latin typeface="Noto Sans CJK SC"/>
            </a:endParaRPr>
          </a:p>
        </p:txBody>
      </p:sp>
      <p:sp>
        <p:nvSpPr>
          <p:cNvPr id="48" name="TextBox 40"/>
          <p:cNvSpPr txBox="1"/>
          <p:nvPr/>
        </p:nvSpPr>
        <p:spPr>
          <a:xfrm>
            <a:off x="9311640" y="4304030"/>
            <a:ext cx="1301115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20" b="0">
                <a:solidFill>
                  <a:srgbClr val="1B1C1E"/>
                </a:solidFill>
                <a:latin typeface="Noto Sans CJK SC"/>
              </a:rPr>
              <a:t>内在需求</a:t>
            </a:r>
            <a:endParaRPr sz="1020" b="0">
              <a:solidFill>
                <a:srgbClr val="1B1C1E"/>
              </a:solidFill>
              <a:latin typeface="Noto Sans CJK SC"/>
            </a:endParaRPr>
          </a:p>
        </p:txBody>
      </p:sp>
      <p:sp>
        <p:nvSpPr>
          <p:cNvPr id="52" name="TextBox 41"/>
          <p:cNvSpPr txBox="1"/>
          <p:nvPr/>
        </p:nvSpPr>
        <p:spPr>
          <a:xfrm>
            <a:off x="9311640" y="4622165"/>
            <a:ext cx="1301115" cy="245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05E59"/>
                </a:solidFill>
                <a:latin typeface="Noto Sans CJK SC"/>
              </a:rPr>
              <a:t>来自性格与目标</a:t>
            </a:r>
            <a:endParaRPr sz="1000" b="0">
              <a:solidFill>
                <a:srgbClr val="605E59"/>
              </a:solidFill>
              <a:latin typeface="Noto Sans CJK SC"/>
            </a:endParaRPr>
          </a:p>
        </p:txBody>
      </p:sp>
      <p:sp>
        <p:nvSpPr>
          <p:cNvPr id="53" name="TextBox 42"/>
          <p:cNvSpPr txBox="1"/>
          <p:nvPr/>
        </p:nvSpPr>
        <p:spPr>
          <a:xfrm>
            <a:off x="10395585" y="3378200"/>
            <a:ext cx="318770" cy="3981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D34607"/>
                </a:solidFill>
                <a:latin typeface="Noto Sans CJK SC"/>
              </a:rPr>
              <a:t>→</a:t>
            </a:r>
            <a:endParaRPr sz="2000" b="0">
              <a:solidFill>
                <a:srgbClr val="D34607"/>
              </a:solidFill>
              <a:latin typeface="Noto Sans CJK SC"/>
            </a:endParaRPr>
          </a:p>
        </p:txBody>
      </p:sp>
      <p:sp>
        <p:nvSpPr>
          <p:cNvPr id="54" name="Oval 43"/>
          <p:cNvSpPr/>
          <p:nvPr/>
        </p:nvSpPr>
        <p:spPr>
          <a:xfrm>
            <a:off x="11262995" y="3293110"/>
            <a:ext cx="612140" cy="605155"/>
          </a:xfrm>
          <a:prstGeom prst="ellipse">
            <a:avLst/>
          </a:prstGeom>
          <a:solidFill>
            <a:srgbClr val="D34607"/>
          </a:solidFill>
          <a:ln>
            <a:solidFill>
              <a:srgbClr val="D346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5" name="TextBox 44"/>
          <p:cNvSpPr txBox="1"/>
          <p:nvPr/>
        </p:nvSpPr>
        <p:spPr>
          <a:xfrm>
            <a:off x="11262995" y="3429000"/>
            <a:ext cx="612140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↗</a:t>
            </a:r>
            <a:endParaRPr sz="16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56" name="TextBox 45"/>
          <p:cNvSpPr txBox="1"/>
          <p:nvPr/>
        </p:nvSpPr>
        <p:spPr>
          <a:xfrm>
            <a:off x="11008360" y="3923030"/>
            <a:ext cx="1147445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B1C1E"/>
                </a:solidFill>
                <a:latin typeface="Noto Sans CJK SC"/>
              </a:rPr>
              <a:t>自主行动</a:t>
            </a:r>
            <a:endParaRPr sz="1400" b="1">
              <a:solidFill>
                <a:srgbClr val="1B1C1E"/>
              </a:solidFill>
              <a:latin typeface="Noto Sans CJK SC"/>
            </a:endParaRPr>
          </a:p>
        </p:txBody>
      </p:sp>
      <p:sp>
        <p:nvSpPr>
          <p:cNvPr id="57" name="TextBox 46"/>
          <p:cNvSpPr txBox="1"/>
          <p:nvPr/>
        </p:nvSpPr>
        <p:spPr>
          <a:xfrm>
            <a:off x="10918825" y="4304030"/>
            <a:ext cx="1301115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20" b="0">
                <a:solidFill>
                  <a:srgbClr val="1B1C1E"/>
                </a:solidFill>
                <a:latin typeface="Noto Sans CJK SC"/>
              </a:rPr>
              <a:t>探索 / 协作 / 创造</a:t>
            </a:r>
            <a:endParaRPr sz="1020" b="0">
              <a:solidFill>
                <a:srgbClr val="1B1C1E"/>
              </a:solidFill>
              <a:latin typeface="Noto Sans CJK SC"/>
            </a:endParaRPr>
          </a:p>
        </p:txBody>
      </p:sp>
      <p:sp>
        <p:nvSpPr>
          <p:cNvPr id="58" name="TextBox 47"/>
          <p:cNvSpPr txBox="1"/>
          <p:nvPr/>
        </p:nvSpPr>
        <p:spPr>
          <a:xfrm>
            <a:off x="10918825" y="4622165"/>
            <a:ext cx="1301115" cy="245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05E59"/>
                </a:solidFill>
                <a:latin typeface="Noto Sans CJK SC"/>
              </a:rPr>
              <a:t>自主采取行动</a:t>
            </a:r>
            <a:endParaRPr sz="1000" b="0">
              <a:solidFill>
                <a:srgbClr val="605E59"/>
              </a:solidFill>
              <a:latin typeface="Noto Sans CJK SC"/>
            </a:endParaRPr>
          </a:p>
        </p:txBody>
      </p:sp>
      <p:sp>
        <p:nvSpPr>
          <p:cNvPr id="60" name="TextBox 48"/>
          <p:cNvSpPr txBox="1"/>
          <p:nvPr/>
        </p:nvSpPr>
        <p:spPr>
          <a:xfrm>
            <a:off x="12002770" y="3378200"/>
            <a:ext cx="318770" cy="3981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D34607"/>
                </a:solidFill>
                <a:latin typeface="Noto Sans CJK SC"/>
              </a:rPr>
              <a:t>→</a:t>
            </a:r>
            <a:endParaRPr sz="2000" b="0">
              <a:solidFill>
                <a:srgbClr val="D34607"/>
              </a:solidFill>
              <a:latin typeface="Noto Sans CJK SC"/>
            </a:endParaRPr>
          </a:p>
        </p:txBody>
      </p:sp>
      <p:sp>
        <p:nvSpPr>
          <p:cNvPr id="61" name="Oval 49"/>
          <p:cNvSpPr/>
          <p:nvPr/>
        </p:nvSpPr>
        <p:spPr>
          <a:xfrm>
            <a:off x="12869545" y="3293110"/>
            <a:ext cx="612140" cy="605155"/>
          </a:xfrm>
          <a:prstGeom prst="ellipse">
            <a:avLst/>
          </a:prstGeom>
          <a:solidFill>
            <a:srgbClr val="D34607"/>
          </a:solidFill>
          <a:ln>
            <a:solidFill>
              <a:srgbClr val="D346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2" name="TextBox 50"/>
          <p:cNvSpPr txBox="1"/>
          <p:nvPr/>
        </p:nvSpPr>
        <p:spPr>
          <a:xfrm>
            <a:off x="12869545" y="3429000"/>
            <a:ext cx="612140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✦</a:t>
            </a:r>
            <a:endParaRPr sz="16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3" name="TextBox 51"/>
          <p:cNvSpPr txBox="1"/>
          <p:nvPr/>
        </p:nvSpPr>
        <p:spPr>
          <a:xfrm>
            <a:off x="12614275" y="3814445"/>
            <a:ext cx="1147445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B1C1E"/>
                </a:solidFill>
                <a:latin typeface="Noto Sans CJK SC"/>
              </a:rPr>
              <a:t>创造世界资产</a:t>
            </a:r>
            <a:endParaRPr sz="1400" b="1">
              <a:solidFill>
                <a:srgbClr val="1B1C1E"/>
              </a:solidFill>
              <a:latin typeface="Noto Sans CJK SC"/>
            </a:endParaRPr>
          </a:p>
        </p:txBody>
      </p:sp>
      <p:sp>
        <p:nvSpPr>
          <p:cNvPr id="64" name="TextBox 52"/>
          <p:cNvSpPr txBox="1"/>
          <p:nvPr/>
        </p:nvSpPr>
        <p:spPr>
          <a:xfrm>
            <a:off x="12524740" y="4224655"/>
            <a:ext cx="1301115" cy="4038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20" b="0">
                <a:solidFill>
                  <a:srgbClr val="1B1C1E"/>
                </a:solidFill>
                <a:latin typeface="Noto Sans CJK SC"/>
              </a:rPr>
              <a:t>桃林 / 房屋 / 工具 / 关系</a:t>
            </a:r>
            <a:endParaRPr sz="1020" b="0">
              <a:solidFill>
                <a:srgbClr val="1B1C1E"/>
              </a:solidFill>
              <a:latin typeface="Noto Sans CJK SC"/>
            </a:endParaRPr>
          </a:p>
        </p:txBody>
      </p:sp>
      <p:sp>
        <p:nvSpPr>
          <p:cNvPr id="65" name="TextBox 53"/>
          <p:cNvSpPr txBox="1"/>
          <p:nvPr/>
        </p:nvSpPr>
        <p:spPr>
          <a:xfrm>
            <a:off x="12524740" y="4622165"/>
            <a:ext cx="1301115" cy="245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05E59"/>
                </a:solidFill>
                <a:latin typeface="Noto Sans CJK SC"/>
              </a:rPr>
              <a:t>形成资产与关系</a:t>
            </a:r>
            <a:endParaRPr sz="1000" b="0">
              <a:solidFill>
                <a:srgbClr val="605E59"/>
              </a:solidFill>
              <a:latin typeface="Noto Sans CJK SC"/>
            </a:endParaRPr>
          </a:p>
        </p:txBody>
      </p:sp>
      <p:sp>
        <p:nvSpPr>
          <p:cNvPr id="66" name="TextBox 54"/>
          <p:cNvSpPr txBox="1"/>
          <p:nvPr/>
        </p:nvSpPr>
        <p:spPr>
          <a:xfrm>
            <a:off x="13608685" y="3378200"/>
            <a:ext cx="318770" cy="3981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D34607"/>
                </a:solidFill>
                <a:latin typeface="Noto Sans CJK SC"/>
              </a:rPr>
              <a:t>→</a:t>
            </a:r>
            <a:endParaRPr sz="2000" b="0">
              <a:solidFill>
                <a:srgbClr val="D34607"/>
              </a:solidFill>
              <a:latin typeface="Noto Sans CJK SC"/>
            </a:endParaRPr>
          </a:p>
        </p:txBody>
      </p:sp>
      <p:sp>
        <p:nvSpPr>
          <p:cNvPr id="67" name="Oval 55"/>
          <p:cNvSpPr/>
          <p:nvPr/>
        </p:nvSpPr>
        <p:spPr>
          <a:xfrm>
            <a:off x="14475460" y="3293110"/>
            <a:ext cx="612140" cy="605155"/>
          </a:xfrm>
          <a:prstGeom prst="ellipse">
            <a:avLst/>
          </a:prstGeom>
          <a:solidFill>
            <a:srgbClr val="D34607"/>
          </a:solidFill>
          <a:ln>
            <a:solidFill>
              <a:srgbClr val="D346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8" name="TextBox 56"/>
          <p:cNvSpPr txBox="1"/>
          <p:nvPr/>
        </p:nvSpPr>
        <p:spPr>
          <a:xfrm>
            <a:off x="14475460" y="3429000"/>
            <a:ext cx="612140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◎</a:t>
            </a:r>
            <a:endParaRPr sz="16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9" name="TextBox 57"/>
          <p:cNvSpPr txBox="1"/>
          <p:nvPr/>
        </p:nvSpPr>
        <p:spPr>
          <a:xfrm>
            <a:off x="14220825" y="3923030"/>
            <a:ext cx="1147445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B1C1E"/>
                </a:solidFill>
                <a:latin typeface="Noto Sans CJK SC"/>
              </a:rPr>
              <a:t>世界变化</a:t>
            </a:r>
            <a:endParaRPr sz="1400" b="1">
              <a:solidFill>
                <a:srgbClr val="1B1C1E"/>
              </a:solidFill>
              <a:latin typeface="Noto Sans CJK SC"/>
            </a:endParaRPr>
          </a:p>
        </p:txBody>
      </p:sp>
      <p:sp>
        <p:nvSpPr>
          <p:cNvPr id="70" name="TextBox 58"/>
          <p:cNvSpPr txBox="1"/>
          <p:nvPr/>
        </p:nvSpPr>
        <p:spPr>
          <a:xfrm>
            <a:off x="14131925" y="4304030"/>
            <a:ext cx="1301115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20" b="0">
                <a:solidFill>
                  <a:srgbClr val="1B1C1E"/>
                </a:solidFill>
                <a:latin typeface="Noto Sans CJK SC"/>
              </a:rPr>
              <a:t>持续演化</a:t>
            </a:r>
            <a:endParaRPr sz="1020" b="0">
              <a:solidFill>
                <a:srgbClr val="1B1C1E"/>
              </a:solidFill>
              <a:latin typeface="Noto Sans CJK SC"/>
            </a:endParaRPr>
          </a:p>
        </p:txBody>
      </p:sp>
      <p:sp>
        <p:nvSpPr>
          <p:cNvPr id="71" name="TextBox 59"/>
          <p:cNvSpPr txBox="1"/>
          <p:nvPr/>
        </p:nvSpPr>
        <p:spPr>
          <a:xfrm>
            <a:off x="14131925" y="4622165"/>
            <a:ext cx="1301115" cy="245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05E59"/>
                </a:solidFill>
                <a:latin typeface="Noto Sans CJK SC"/>
              </a:rPr>
              <a:t>世界持续改变</a:t>
            </a:r>
            <a:endParaRPr sz="1000" b="0">
              <a:solidFill>
                <a:srgbClr val="605E59"/>
              </a:solidFill>
              <a:latin typeface="Noto Sans CJK SC"/>
            </a:endParaRPr>
          </a:p>
        </p:txBody>
      </p:sp>
      <p:sp>
        <p:nvSpPr>
          <p:cNvPr id="72" name="TextBox 60"/>
          <p:cNvSpPr txBox="1"/>
          <p:nvPr/>
        </p:nvSpPr>
        <p:spPr>
          <a:xfrm>
            <a:off x="10255250" y="5006975"/>
            <a:ext cx="5737860" cy="275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34607"/>
                </a:solidFill>
                <a:latin typeface="Noto Sans CJK SC"/>
              </a:rPr>
              <a:t>世界每前进一步，来自 Agent 的自主行动。</a:t>
            </a:r>
            <a:endParaRPr sz="1200" b="1">
              <a:solidFill>
                <a:srgbClr val="D34607"/>
              </a:solidFill>
              <a:latin typeface="Noto Sans CJK SC"/>
            </a:endParaRPr>
          </a:p>
        </p:txBody>
      </p:sp>
      <p:sp>
        <p:nvSpPr>
          <p:cNvPr id="73" name="Rounded Rectangle 61"/>
          <p:cNvSpPr/>
          <p:nvPr/>
        </p:nvSpPr>
        <p:spPr>
          <a:xfrm>
            <a:off x="9401175" y="5347970"/>
            <a:ext cx="7115175" cy="605155"/>
          </a:xfrm>
          <a:prstGeom prst="roundRect">
            <a:avLst/>
          </a:prstGeom>
          <a:solidFill>
            <a:srgbClr val="EEF4FD"/>
          </a:solidFill>
          <a:ln w="8255">
            <a:solidFill>
              <a:srgbClr val="27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4" name="TextBox 62"/>
          <p:cNvSpPr txBox="1"/>
          <p:nvPr/>
        </p:nvSpPr>
        <p:spPr>
          <a:xfrm>
            <a:off x="11530330" y="5346700"/>
            <a:ext cx="286893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767C2"/>
                </a:solidFill>
                <a:latin typeface="Noto Sans CJK SC"/>
              </a:rPr>
              <a:t>WORLD ENGINE（规则层）</a:t>
            </a:r>
            <a:endParaRPr sz="1400" b="1">
              <a:solidFill>
                <a:srgbClr val="2767C2"/>
              </a:solidFill>
              <a:latin typeface="Noto Sans CJK SC"/>
            </a:endParaRPr>
          </a:p>
        </p:txBody>
      </p:sp>
      <p:sp>
        <p:nvSpPr>
          <p:cNvPr id="77" name="TextBox 63"/>
          <p:cNvSpPr txBox="1"/>
          <p:nvPr/>
        </p:nvSpPr>
        <p:spPr>
          <a:xfrm>
            <a:off x="10127615" y="5638165"/>
            <a:ext cx="5674360" cy="2571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80" b="1">
                <a:solidFill>
                  <a:srgbClr val="1B1C1E"/>
                </a:solidFill>
                <a:latin typeface="Noto Sans CJK SC"/>
              </a:rPr>
              <a:t>空间   ·   资源   ·   物理   ·   规则   ·   持续状态</a:t>
            </a:r>
            <a:endParaRPr sz="1080" b="1">
              <a:solidFill>
                <a:srgbClr val="1B1C1E"/>
              </a:solidFill>
              <a:latin typeface="Noto Sans CJK SC"/>
            </a:endParaRPr>
          </a:p>
        </p:txBody>
      </p:sp>
      <p:sp>
        <p:nvSpPr>
          <p:cNvPr id="78" name="TextBox 64"/>
          <p:cNvSpPr txBox="1"/>
          <p:nvPr/>
        </p:nvSpPr>
        <p:spPr>
          <a:xfrm>
            <a:off x="9898380" y="6118860"/>
            <a:ext cx="6094730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20" b="0">
                <a:solidFill>
                  <a:srgbClr val="605E59"/>
                </a:solidFill>
                <a:latin typeface="Noto Sans CJK SC"/>
              </a:rPr>
              <a:t>World Engine 不决定世界变成什么，只决定世界如何运行。</a:t>
            </a:r>
            <a:endParaRPr sz="1020" b="0">
              <a:solidFill>
                <a:srgbClr val="605E59"/>
              </a:solidFill>
              <a:latin typeface="Noto Sans CJK SC"/>
            </a:endParaRPr>
          </a:p>
        </p:txBody>
      </p:sp>
      <p:sp>
        <p:nvSpPr>
          <p:cNvPr id="81" name="TextBox 65"/>
          <p:cNvSpPr txBox="1"/>
          <p:nvPr/>
        </p:nvSpPr>
        <p:spPr>
          <a:xfrm>
            <a:off x="1851660" y="6580505"/>
            <a:ext cx="459041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767C2"/>
                </a:solidFill>
                <a:latin typeface="Noto Sans CJK SC"/>
              </a:rPr>
              <a:t>World Engine = Rules of the World</a:t>
            </a:r>
            <a:endParaRPr sz="1600" b="1">
              <a:solidFill>
                <a:srgbClr val="2767C2"/>
              </a:solidFill>
              <a:latin typeface="Noto Sans CJK SC"/>
            </a:endParaRPr>
          </a:p>
        </p:txBody>
      </p:sp>
      <p:sp>
        <p:nvSpPr>
          <p:cNvPr id="82" name="Rounded Rectangle 66"/>
          <p:cNvSpPr/>
          <p:nvPr/>
        </p:nvSpPr>
        <p:spPr>
          <a:xfrm>
            <a:off x="1851660" y="7013575"/>
            <a:ext cx="1173480" cy="1160145"/>
          </a:xfrm>
          <a:prstGeom prst="roundRect">
            <a:avLst/>
          </a:prstGeom>
          <a:solidFill>
            <a:srgbClr val="FCFBF8"/>
          </a:solidFill>
          <a:ln w="8255">
            <a:solidFill>
              <a:srgbClr val="27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5" name="TextBox 67"/>
          <p:cNvSpPr txBox="1"/>
          <p:nvPr/>
        </p:nvSpPr>
        <p:spPr>
          <a:xfrm>
            <a:off x="1903095" y="7102475"/>
            <a:ext cx="1071245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B1C1E"/>
                </a:solidFill>
                <a:latin typeface="Noto Sans CJK SC"/>
              </a:rPr>
              <a:t>空间</a:t>
            </a:r>
            <a:endParaRPr sz="1400" b="1">
              <a:solidFill>
                <a:srgbClr val="1B1C1E"/>
              </a:solidFill>
              <a:latin typeface="Noto Sans CJK SC"/>
            </a:endParaRPr>
          </a:p>
        </p:txBody>
      </p:sp>
      <p:sp>
        <p:nvSpPr>
          <p:cNvPr id="88" name="TextBox 68"/>
          <p:cNvSpPr txBox="1"/>
          <p:nvPr/>
        </p:nvSpPr>
        <p:spPr>
          <a:xfrm>
            <a:off x="1953260" y="7520940"/>
            <a:ext cx="969010" cy="3981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05E59"/>
                </a:solidFill>
                <a:latin typeface="Noto Sans CJK SC"/>
              </a:rPr>
              <a:t>世界可以被
持续改变</a:t>
            </a:r>
            <a:endParaRPr sz="1000" b="0">
              <a:solidFill>
                <a:srgbClr val="605E59"/>
              </a:solidFill>
              <a:latin typeface="Noto Sans CJK SC"/>
            </a:endParaRPr>
          </a:p>
        </p:txBody>
      </p:sp>
      <p:sp>
        <p:nvSpPr>
          <p:cNvPr id="91" name="Rounded Rectangle 69"/>
          <p:cNvSpPr/>
          <p:nvPr/>
        </p:nvSpPr>
        <p:spPr>
          <a:xfrm>
            <a:off x="3190240" y="7013575"/>
            <a:ext cx="1173480" cy="1160145"/>
          </a:xfrm>
          <a:prstGeom prst="roundRect">
            <a:avLst/>
          </a:prstGeom>
          <a:solidFill>
            <a:srgbClr val="FCFBF8"/>
          </a:solidFill>
          <a:ln w="8255">
            <a:solidFill>
              <a:srgbClr val="27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2" name="TextBox 70"/>
          <p:cNvSpPr txBox="1"/>
          <p:nvPr/>
        </p:nvSpPr>
        <p:spPr>
          <a:xfrm>
            <a:off x="3241675" y="7102475"/>
            <a:ext cx="1071245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B1C1E"/>
                </a:solidFill>
                <a:latin typeface="Noto Sans CJK SC"/>
              </a:rPr>
              <a:t>资源</a:t>
            </a:r>
            <a:endParaRPr sz="1400" b="1">
              <a:solidFill>
                <a:srgbClr val="1B1C1E"/>
              </a:solidFill>
              <a:latin typeface="Noto Sans CJK SC"/>
            </a:endParaRPr>
          </a:p>
        </p:txBody>
      </p:sp>
      <p:sp>
        <p:nvSpPr>
          <p:cNvPr id="93" name="TextBox 71"/>
          <p:cNvSpPr txBox="1"/>
          <p:nvPr/>
        </p:nvSpPr>
        <p:spPr>
          <a:xfrm>
            <a:off x="3292475" y="7520940"/>
            <a:ext cx="969010" cy="3981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05E59"/>
                </a:solidFill>
                <a:latin typeface="Noto Sans CJK SC"/>
              </a:rPr>
              <a:t>创造与行动
存在真实约束</a:t>
            </a:r>
            <a:endParaRPr sz="1000" b="0">
              <a:solidFill>
                <a:srgbClr val="605E59"/>
              </a:solidFill>
              <a:latin typeface="Noto Sans CJK SC"/>
            </a:endParaRPr>
          </a:p>
        </p:txBody>
      </p:sp>
      <p:sp>
        <p:nvSpPr>
          <p:cNvPr id="94" name="Rounded Rectangle 72"/>
          <p:cNvSpPr/>
          <p:nvPr/>
        </p:nvSpPr>
        <p:spPr>
          <a:xfrm>
            <a:off x="4529455" y="7013575"/>
            <a:ext cx="1173480" cy="1160145"/>
          </a:xfrm>
          <a:prstGeom prst="roundRect">
            <a:avLst/>
          </a:prstGeom>
          <a:solidFill>
            <a:srgbClr val="FCFBF8"/>
          </a:solidFill>
          <a:ln w="8255">
            <a:solidFill>
              <a:srgbClr val="27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5" name="TextBox 73"/>
          <p:cNvSpPr txBox="1"/>
          <p:nvPr/>
        </p:nvSpPr>
        <p:spPr>
          <a:xfrm>
            <a:off x="4580890" y="7102475"/>
            <a:ext cx="1071245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B1C1E"/>
                </a:solidFill>
                <a:latin typeface="Noto Sans CJK SC"/>
              </a:rPr>
              <a:t>规则</a:t>
            </a:r>
            <a:endParaRPr sz="1400" b="1">
              <a:solidFill>
                <a:srgbClr val="1B1C1E"/>
              </a:solidFill>
              <a:latin typeface="Noto Sans CJK SC"/>
            </a:endParaRPr>
          </a:p>
        </p:txBody>
      </p:sp>
      <p:sp>
        <p:nvSpPr>
          <p:cNvPr id="96" name="TextBox 74"/>
          <p:cNvSpPr txBox="1"/>
          <p:nvPr/>
        </p:nvSpPr>
        <p:spPr>
          <a:xfrm>
            <a:off x="4631055" y="7520940"/>
            <a:ext cx="969010" cy="3981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05E59"/>
                </a:solidFill>
                <a:latin typeface="Noto Sans CJK SC"/>
              </a:rPr>
              <a:t>Agent 行动
遵循世界规律</a:t>
            </a:r>
            <a:endParaRPr sz="1000" b="0">
              <a:solidFill>
                <a:srgbClr val="605E59"/>
              </a:solidFill>
              <a:latin typeface="Noto Sans CJK SC"/>
            </a:endParaRPr>
          </a:p>
        </p:txBody>
      </p:sp>
      <p:sp>
        <p:nvSpPr>
          <p:cNvPr id="97" name="Rounded Rectangle 75"/>
          <p:cNvSpPr/>
          <p:nvPr/>
        </p:nvSpPr>
        <p:spPr>
          <a:xfrm>
            <a:off x="5868035" y="7013575"/>
            <a:ext cx="1173480" cy="1160145"/>
          </a:xfrm>
          <a:prstGeom prst="roundRect">
            <a:avLst/>
          </a:prstGeom>
          <a:solidFill>
            <a:srgbClr val="FCFBF8"/>
          </a:solidFill>
          <a:ln w="8255">
            <a:solidFill>
              <a:srgbClr val="27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1" name="TextBox 76"/>
          <p:cNvSpPr txBox="1"/>
          <p:nvPr/>
        </p:nvSpPr>
        <p:spPr>
          <a:xfrm>
            <a:off x="5919470" y="7102475"/>
            <a:ext cx="1071245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B1C1E"/>
                </a:solidFill>
                <a:latin typeface="Noto Sans CJK SC"/>
              </a:rPr>
              <a:t>持续状态</a:t>
            </a:r>
            <a:endParaRPr sz="1400" b="1">
              <a:solidFill>
                <a:srgbClr val="1B1C1E"/>
              </a:solidFill>
              <a:latin typeface="Noto Sans CJK SC"/>
            </a:endParaRPr>
          </a:p>
        </p:txBody>
      </p:sp>
      <p:sp>
        <p:nvSpPr>
          <p:cNvPr id="105" name="TextBox 77"/>
          <p:cNvSpPr txBox="1"/>
          <p:nvPr/>
        </p:nvSpPr>
        <p:spPr>
          <a:xfrm>
            <a:off x="5970270" y="7520940"/>
            <a:ext cx="969010" cy="3981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05E59"/>
                </a:solidFill>
                <a:latin typeface="Noto Sans CJK SC"/>
              </a:rPr>
              <a:t>做出的改变
不会凭空消失</a:t>
            </a:r>
            <a:endParaRPr sz="1000" b="0">
              <a:solidFill>
                <a:srgbClr val="605E59"/>
              </a:solidFill>
              <a:latin typeface="Noto Sans CJK SC"/>
            </a:endParaRPr>
          </a:p>
        </p:txBody>
      </p:sp>
      <p:sp>
        <p:nvSpPr>
          <p:cNvPr id="108" name="TextBox 78"/>
          <p:cNvSpPr txBox="1"/>
          <p:nvPr/>
        </p:nvSpPr>
        <p:spPr>
          <a:xfrm>
            <a:off x="8279130" y="6486525"/>
            <a:ext cx="5993130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B1C1E"/>
                </a:solidFill>
                <a:latin typeface="Noto Sans CJK SC"/>
              </a:rPr>
              <a:t>两个例子，一眼看懂 Agent 如何改变世界</a:t>
            </a:r>
            <a:endParaRPr sz="1600" b="1">
              <a:solidFill>
                <a:srgbClr val="1B1C1E"/>
              </a:solidFill>
              <a:latin typeface="Noto Sans CJK SC"/>
            </a:endParaRPr>
          </a:p>
        </p:txBody>
      </p:sp>
      <p:sp>
        <p:nvSpPr>
          <p:cNvPr id="109" name="Rounded Rectangle 79"/>
          <p:cNvSpPr/>
          <p:nvPr/>
        </p:nvSpPr>
        <p:spPr>
          <a:xfrm>
            <a:off x="8241030" y="6917690"/>
            <a:ext cx="4271645" cy="1160145"/>
          </a:xfrm>
          <a:prstGeom prst="roundRect">
            <a:avLst/>
          </a:prstGeom>
          <a:solidFill>
            <a:srgbClr val="FCFBF8"/>
          </a:solidFill>
          <a:ln w="762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0" name="Rounded Rectangle 80"/>
          <p:cNvSpPr/>
          <p:nvPr/>
        </p:nvSpPr>
        <p:spPr>
          <a:xfrm>
            <a:off x="12741910" y="6917690"/>
            <a:ext cx="4271645" cy="1160145"/>
          </a:xfrm>
          <a:prstGeom prst="roundRect">
            <a:avLst/>
          </a:prstGeom>
          <a:solidFill>
            <a:srgbClr val="FCFBF8"/>
          </a:solidFill>
          <a:ln w="7620">
            <a:solidFill>
              <a:srgbClr val="DC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4" name="TextBox 81"/>
          <p:cNvSpPr txBox="1"/>
          <p:nvPr/>
        </p:nvSpPr>
        <p:spPr>
          <a:xfrm>
            <a:off x="9197340" y="6969760"/>
            <a:ext cx="2359025" cy="275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34607"/>
                </a:solidFill>
                <a:latin typeface="Noto Sans CJK SC"/>
              </a:rPr>
              <a:t>CASE 01｜种植桃林</a:t>
            </a:r>
            <a:endParaRPr sz="1200" b="1">
              <a:solidFill>
                <a:srgbClr val="D34607"/>
              </a:solidFill>
              <a:latin typeface="Noto Sans CJK SC"/>
            </a:endParaRPr>
          </a:p>
        </p:txBody>
      </p:sp>
      <p:sp>
        <p:nvSpPr>
          <p:cNvPr id="125" name="TextBox 82"/>
          <p:cNvSpPr txBox="1"/>
          <p:nvPr/>
        </p:nvSpPr>
        <p:spPr>
          <a:xfrm>
            <a:off x="8495665" y="7298690"/>
            <a:ext cx="3761740" cy="4083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30" b="0">
                <a:solidFill>
                  <a:srgbClr val="1B1C1E"/>
                </a:solidFill>
                <a:latin typeface="Noto Sans CJK SC"/>
              </a:rPr>
              <a:t>需要食物   →   开垦土地并种植   →   荒地变桃林，成为世界永久资产</a:t>
            </a:r>
            <a:endParaRPr sz="1030" b="0">
              <a:solidFill>
                <a:srgbClr val="1B1C1E"/>
              </a:solidFill>
              <a:latin typeface="Noto Sans CJK SC"/>
            </a:endParaRPr>
          </a:p>
        </p:txBody>
      </p:sp>
      <p:sp>
        <p:nvSpPr>
          <p:cNvPr id="127" name="TextBox 83"/>
          <p:cNvSpPr txBox="1"/>
          <p:nvPr/>
        </p:nvSpPr>
        <p:spPr>
          <a:xfrm>
            <a:off x="8508365" y="7744460"/>
            <a:ext cx="3735705" cy="2419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D34607"/>
                </a:solidFill>
                <a:latin typeface="Noto Sans CJK SC"/>
              </a:rPr>
              <a:t>不是运营团队放了一片桃林，而是 Agent 自己种出来的。</a:t>
            </a:r>
            <a:endParaRPr sz="980" b="1">
              <a:solidFill>
                <a:srgbClr val="D34607"/>
              </a:solidFill>
              <a:latin typeface="Noto Sans CJK SC"/>
            </a:endParaRPr>
          </a:p>
        </p:txBody>
      </p:sp>
      <p:sp>
        <p:nvSpPr>
          <p:cNvPr id="128" name="TextBox 84"/>
          <p:cNvSpPr txBox="1"/>
          <p:nvPr/>
        </p:nvSpPr>
        <p:spPr>
          <a:xfrm>
            <a:off x="13686155" y="6969760"/>
            <a:ext cx="2359025" cy="275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34607"/>
                </a:solidFill>
                <a:latin typeface="Noto Sans CJK SC"/>
              </a:rPr>
              <a:t>CASE 02｜创造浮空车</a:t>
            </a:r>
            <a:endParaRPr sz="1200" b="1">
              <a:solidFill>
                <a:srgbClr val="D34607"/>
              </a:solidFill>
              <a:latin typeface="Noto Sans CJK SC"/>
            </a:endParaRPr>
          </a:p>
        </p:txBody>
      </p:sp>
      <p:sp>
        <p:nvSpPr>
          <p:cNvPr id="129" name="TextBox 85"/>
          <p:cNvSpPr txBox="1"/>
          <p:nvPr/>
        </p:nvSpPr>
        <p:spPr>
          <a:xfrm>
            <a:off x="12997180" y="7300595"/>
            <a:ext cx="3761740" cy="4038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20" b="0">
                <a:solidFill>
                  <a:srgbClr val="1B1C1E"/>
                </a:solidFill>
                <a:latin typeface="Noto Sans CJK SC"/>
              </a:rPr>
              <a:t>需要跨越地形   →   研究、设计并制造   →   浮空车出现，影响其他 Agent</a:t>
            </a:r>
            <a:endParaRPr sz="1020" b="0">
              <a:solidFill>
                <a:srgbClr val="1B1C1E"/>
              </a:solidFill>
              <a:latin typeface="Noto Sans CJK SC"/>
            </a:endParaRPr>
          </a:p>
        </p:txBody>
      </p:sp>
      <p:sp>
        <p:nvSpPr>
          <p:cNvPr id="130" name="TextBox 86"/>
          <p:cNvSpPr txBox="1"/>
          <p:nvPr/>
        </p:nvSpPr>
        <p:spPr>
          <a:xfrm>
            <a:off x="13010515" y="7744460"/>
            <a:ext cx="3735705" cy="2419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D34607"/>
                </a:solidFill>
                <a:latin typeface="Noto Sans CJK SC"/>
              </a:rPr>
              <a:t>不是运营团队更新新道具，而是 Agent 自己创造出来的。</a:t>
            </a:r>
            <a:endParaRPr sz="980" b="1">
              <a:solidFill>
                <a:srgbClr val="D34607"/>
              </a:solidFill>
              <a:latin typeface="Noto Sans CJK SC"/>
            </a:endParaRPr>
          </a:p>
        </p:txBody>
      </p:sp>
      <p:sp>
        <p:nvSpPr>
          <p:cNvPr id="131" name="TextBox 87"/>
          <p:cNvSpPr txBox="1"/>
          <p:nvPr/>
        </p:nvSpPr>
        <p:spPr>
          <a:xfrm>
            <a:off x="9643745" y="8117205"/>
            <a:ext cx="6120765" cy="275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05E59"/>
                </a:solidFill>
                <a:latin typeface="Noto Sans CJK SC"/>
              </a:rPr>
              <a:t>Agent 的行动形成永久世界资产，并成为下一轮演化的基础。</a:t>
            </a:r>
            <a:endParaRPr sz="1200" b="0">
              <a:solidFill>
                <a:srgbClr val="605E59"/>
              </a:solidFill>
              <a:latin typeface="Noto Sans CJK SC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13545185" y="8850630"/>
            <a:ext cx="3314700" cy="614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1700" b="1">
                <a:solidFill>
                  <a:srgbClr val="F4C200"/>
                </a:solidFill>
                <a:latin typeface="Noto Sans CJK SC"/>
                <a:sym typeface="+mn-ea"/>
              </a:rPr>
              <a:t>我们创造规则</a:t>
            </a:r>
            <a:endParaRPr sz="1700" b="1">
              <a:solidFill>
                <a:srgbClr val="F4C200"/>
              </a:solidFill>
              <a:latin typeface="Noto Sans CJK SC"/>
              <a:sym typeface="+mn-ea"/>
            </a:endParaRPr>
          </a:p>
          <a:p>
            <a:pPr algn="ctr"/>
            <a:r>
              <a:rPr sz="1700" b="1">
                <a:solidFill>
                  <a:srgbClr val="F4C200"/>
                </a:solidFill>
                <a:latin typeface="Noto Sans CJK SC"/>
                <a:sym typeface="+mn-ea"/>
              </a:rPr>
              <a:t>Agent 创造世界</a:t>
            </a:r>
            <a:endParaRPr lang="zh-CN" altLang="en-US" sz="1700" b="1">
              <a:solidFill>
                <a:srgbClr val="F4C200"/>
              </a:solidFill>
              <a:latin typeface="Noto Sans CJK SC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49"/>
          <p:cNvSpPr/>
          <p:nvPr/>
        </p:nvSpPr>
        <p:spPr>
          <a:xfrm>
            <a:off x="1121420" y="2821305"/>
            <a:ext cx="3175635" cy="6468745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6A00">
                  <a:alpha val="10000"/>
                </a:srgbClr>
              </a:gs>
              <a:gs pos="100000">
                <a:srgbClr val="FF6A00">
                  <a:alpha val="2000"/>
                </a:srgbClr>
              </a:gs>
            </a:gsLst>
            <a:lin ang="0"/>
          </a:gradFill>
          <a:ln cap="flat" cmpd="sng">
            <a:gradFill rotWithShape="1">
              <a:gsLst>
                <a:gs pos="0">
                  <a:srgbClr val="E65F00">
                    <a:alpha val="10000"/>
                  </a:srgbClr>
                </a:gs>
                <a:gs pos="100000">
                  <a:srgbClr val="E65F00">
                    <a:alpha val="2000"/>
                  </a:srgbClr>
                </a:gs>
              </a:gsLst>
              <a:lin ang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Box 2"/>
          <p:cNvSpPr txBox="1"/>
          <p:nvPr/>
        </p:nvSpPr>
        <p:spPr>
          <a:xfrm>
            <a:off x="1139199" y="544195"/>
            <a:ext cx="2943225" cy="275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36F68"/>
                </a:solidFill>
                <a:latin typeface="Aptos"/>
              </a:rPr>
              <a:t>深度技术壁垒</a:t>
            </a:r>
            <a:endParaRPr sz="1200" b="0">
              <a:solidFill>
                <a:srgbClr val="736F68"/>
              </a:solidFill>
              <a:latin typeface="Aptos"/>
            </a:endParaRPr>
          </a:p>
        </p:txBody>
      </p:sp>
      <p:sp>
        <p:nvSpPr>
          <p:cNvPr id="39" name="TextBox 3"/>
          <p:cNvSpPr txBox="1"/>
          <p:nvPr/>
        </p:nvSpPr>
        <p:spPr>
          <a:xfrm>
            <a:off x="991873" y="1047115"/>
            <a:ext cx="17218660" cy="645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252525"/>
                </a:solidFill>
                <a:latin typeface="Aptos"/>
              </a:rPr>
              <a:t>MindEngine × WorldEngine：双向联合飞轮</a:t>
            </a:r>
            <a:endParaRPr sz="3600" b="1">
              <a:solidFill>
                <a:srgbClr val="252525"/>
              </a:solidFill>
              <a:latin typeface="Aptos"/>
            </a:endParaRPr>
          </a:p>
        </p:txBody>
      </p:sp>
      <p:sp>
        <p:nvSpPr>
          <p:cNvPr id="40" name="TextBox 4"/>
          <p:cNvSpPr txBox="1"/>
          <p:nvPr/>
        </p:nvSpPr>
        <p:spPr>
          <a:xfrm>
            <a:off x="991873" y="1871980"/>
            <a:ext cx="17218660" cy="337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736F68"/>
                </a:solidFill>
                <a:latin typeface="Aptos"/>
              </a:rPr>
              <a:t>单点能力容易复刻；真正难复制的是两套系统深度耦合后，事件持续双向回流的系统工程。</a:t>
            </a:r>
            <a:endParaRPr sz="1600" b="0">
              <a:solidFill>
                <a:srgbClr val="736F68"/>
              </a:solidFill>
              <a:latin typeface="Aptos"/>
            </a:endParaRPr>
          </a:p>
        </p:txBody>
      </p:sp>
      <p:cxnSp>
        <p:nvCxnSpPr>
          <p:cNvPr id="41" name="Connector 5"/>
          <p:cNvCxnSpPr/>
          <p:nvPr/>
        </p:nvCxnSpPr>
        <p:spPr>
          <a:xfrm flipV="1">
            <a:off x="991873" y="2501258"/>
            <a:ext cx="16500806" cy="13977"/>
          </a:xfrm>
          <a:prstGeom prst="line">
            <a:avLst/>
          </a:prstGeom>
          <a:ln w="1270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4847" y="2821305"/>
            <a:ext cx="12860251" cy="504070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242" y="8249603"/>
            <a:ext cx="10157460" cy="1313815"/>
          </a:xfrm>
          <a:prstGeom prst="rect">
            <a:avLst/>
          </a:prstGeom>
        </p:spPr>
      </p:pic>
      <p:sp>
        <p:nvSpPr>
          <p:cNvPr id="9" name="TextBox 12"/>
          <p:cNvSpPr txBox="1"/>
          <p:nvPr/>
        </p:nvSpPr>
        <p:spPr>
          <a:xfrm>
            <a:off x="1424954" y="8322945"/>
            <a:ext cx="2289175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sz="1600" b="1">
                <a:solidFill>
                  <a:srgbClr val="FF0000"/>
                </a:solidFill>
                <a:latin typeface="Aptos"/>
                <a:sym typeface="+mn-ea"/>
              </a:rPr>
              <a:t>行业缺口：长期心智 × 可真实</a:t>
            </a:r>
            <a:r>
              <a:rPr sz="1600" b="1">
                <a:solidFill>
                  <a:srgbClr val="FF0000"/>
                </a:solidFill>
                <a:latin typeface="Aptos"/>
                <a:sym typeface="+mn-ea"/>
              </a:rPr>
              <a:t>改造</a:t>
            </a:r>
            <a:r>
              <a:rPr sz="1600" b="1">
                <a:solidFill>
                  <a:srgbClr val="FF0000"/>
                </a:solidFill>
                <a:latin typeface="Aptos"/>
                <a:sym typeface="+mn-ea"/>
              </a:rPr>
              <a:t>的持续世界</a:t>
            </a:r>
            <a:endParaRPr sz="1600" b="1">
              <a:solidFill>
                <a:srgbClr val="FF0000"/>
              </a:solidFill>
              <a:latin typeface="Aptos"/>
              <a:sym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402727" y="3450590"/>
            <a:ext cx="2515870" cy="1412875"/>
            <a:chOff x="21649" y="6515"/>
            <a:chExt cx="5115" cy="1585"/>
          </a:xfrm>
        </p:grpSpPr>
        <p:sp>
          <p:nvSpPr>
            <p:cNvPr id="8" name="Rounded Rectangle 9"/>
            <p:cNvSpPr/>
            <p:nvPr/>
          </p:nvSpPr>
          <p:spPr>
            <a:xfrm>
              <a:off x="21649" y="6515"/>
              <a:ext cx="5115" cy="1585"/>
            </a:xfrm>
            <a:prstGeom prst="roundRect">
              <a:avLst/>
            </a:prstGeom>
            <a:solidFill>
              <a:srgbClr val="FBF9F5"/>
            </a:solidFill>
            <a:ln w="10160">
              <a:solidFill>
                <a:srgbClr val="E0D9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0" name="TextBox 7"/>
            <p:cNvSpPr txBox="1"/>
            <p:nvPr/>
          </p:nvSpPr>
          <p:spPr>
            <a:xfrm>
              <a:off x="22133" y="6843"/>
              <a:ext cx="4040" cy="41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b="1">
                  <a:solidFill>
                    <a:srgbClr val="252525"/>
                  </a:solidFill>
                  <a:latin typeface="Aptos"/>
                </a:rPr>
                <a:t>AI 对话角色</a:t>
              </a:r>
              <a:endParaRPr b="1">
                <a:solidFill>
                  <a:srgbClr val="252525"/>
                </a:solidFill>
                <a:latin typeface="Aptos"/>
              </a:endParaRPr>
            </a:p>
          </p:txBody>
        </p:sp>
        <p:sp>
          <p:nvSpPr>
            <p:cNvPr id="11" name="TextBox 8"/>
            <p:cNvSpPr txBox="1"/>
            <p:nvPr/>
          </p:nvSpPr>
          <p:spPr>
            <a:xfrm>
              <a:off x="22133" y="7305"/>
              <a:ext cx="4293" cy="323"/>
            </a:xfrm>
            <a:prstGeom prst="rect">
              <a:avLst/>
            </a:prstGeom>
            <a:noFill/>
          </p:spPr>
          <p:txBody>
            <a:bodyPr wrap="square" anchor="t">
              <a:noAutofit/>
            </a:bodyPr>
            <a:lstStyle/>
            <a:p>
              <a:pPr algn="l"/>
              <a:r>
                <a:rPr sz="1600" b="0">
                  <a:solidFill>
                    <a:srgbClr val="736F68"/>
                  </a:solidFill>
                  <a:latin typeface="Aptos"/>
                </a:rPr>
                <a:t>有心智，但经历停留在文本</a:t>
              </a:r>
              <a:endParaRPr sz="1600" b="0">
                <a:solidFill>
                  <a:srgbClr val="736F68"/>
                </a:solidFill>
                <a:latin typeface="Aptos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424954" y="5048250"/>
            <a:ext cx="2390140" cy="1412875"/>
            <a:chOff x="21731" y="10091"/>
            <a:chExt cx="5292" cy="1585"/>
          </a:xfrm>
        </p:grpSpPr>
        <p:sp>
          <p:nvSpPr>
            <p:cNvPr id="7" name="Rounded Rectangle 6"/>
            <p:cNvSpPr/>
            <p:nvPr/>
          </p:nvSpPr>
          <p:spPr>
            <a:xfrm>
              <a:off x="21731" y="10091"/>
              <a:ext cx="5292" cy="1585"/>
            </a:xfrm>
            <a:prstGeom prst="roundRect">
              <a:avLst/>
            </a:prstGeom>
            <a:solidFill>
              <a:srgbClr val="FBF9F5"/>
            </a:solidFill>
            <a:ln w="10160">
              <a:solidFill>
                <a:srgbClr val="E0D9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2" name="TextBox 10"/>
            <p:cNvSpPr txBox="1"/>
            <p:nvPr/>
          </p:nvSpPr>
          <p:spPr>
            <a:xfrm>
              <a:off x="22043" y="10466"/>
              <a:ext cx="4399" cy="41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b="1">
                  <a:solidFill>
                    <a:srgbClr val="252525"/>
                  </a:solidFill>
                  <a:latin typeface="Aptos"/>
                </a:rPr>
                <a:t>AI 沙盘 / 游戏</a:t>
              </a:r>
              <a:endParaRPr b="1">
                <a:solidFill>
                  <a:srgbClr val="252525"/>
                </a:solidFill>
                <a:latin typeface="Aptos"/>
              </a:endParaRPr>
            </a:p>
          </p:txBody>
        </p:sp>
        <p:sp>
          <p:nvSpPr>
            <p:cNvPr id="13" name="TextBox 11"/>
            <p:cNvSpPr txBox="1"/>
            <p:nvPr/>
          </p:nvSpPr>
          <p:spPr>
            <a:xfrm>
              <a:off x="22043" y="10928"/>
              <a:ext cx="4757" cy="65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0">
                  <a:solidFill>
                    <a:srgbClr val="736F68"/>
                  </a:solidFill>
                  <a:latin typeface="Aptos"/>
                </a:rPr>
                <a:t>有世界，但角色与资产多为预制</a:t>
              </a:r>
              <a:endParaRPr sz="1600" b="0">
                <a:solidFill>
                  <a:srgbClr val="736F68"/>
                </a:solidFill>
                <a:latin typeface="Aptos"/>
              </a:endParaRPr>
            </a:p>
          </p:txBody>
        </p:sp>
      </p:grpSp>
      <p:sp>
        <p:nvSpPr>
          <p:cNvPr id="34" name="AutoShape 3"/>
          <p:cNvSpPr/>
          <p:nvPr/>
        </p:nvSpPr>
        <p:spPr>
          <a:xfrm>
            <a:off x="1263337" y="3054985"/>
            <a:ext cx="2762885" cy="3905250"/>
          </a:xfrm>
          <a:prstGeom prst="roundRect">
            <a:avLst>
              <a:gd name="adj" fmla="val 3846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下箭头 15"/>
          <p:cNvSpPr/>
          <p:nvPr/>
        </p:nvSpPr>
        <p:spPr>
          <a:xfrm>
            <a:off x="2164080" y="7160895"/>
            <a:ext cx="832485" cy="74803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36" name="组合 35"/>
          <p:cNvGrpSpPr/>
          <p:nvPr/>
        </p:nvGrpSpPr>
        <p:grpSpPr>
          <a:xfrm>
            <a:off x="1321704" y="401638"/>
            <a:ext cx="15900621" cy="9483725"/>
            <a:chOff x="720" y="490"/>
            <a:chExt cx="17784" cy="10022"/>
          </a:xfrm>
        </p:grpSpPr>
        <p:sp>
          <p:nvSpPr>
            <p:cNvPr id="4" name="Text 0"/>
            <p:cNvSpPr/>
            <p:nvPr/>
          </p:nvSpPr>
          <p:spPr>
            <a:xfrm>
              <a:off x="720" y="490"/>
              <a:ext cx="3600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kern="0" spc="180" dirty="0">
                  <a:solidFill>
                    <a:srgbClr val="85847D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情 感 陪 伴 合 规 策 略</a:t>
              </a:r>
              <a:endParaRPr lang="en-US" sz="1200" kern="0" spc="180" dirty="0">
                <a:solidFill>
                  <a:srgbClr val="8584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5" name="Text 1"/>
            <p:cNvSpPr/>
            <p:nvPr/>
          </p:nvSpPr>
          <p:spPr>
            <a:xfrm>
              <a:off x="720" y="1037"/>
              <a:ext cx="17136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16181D"/>
                  </a:solidFill>
                  <a:latin typeface="Noto Serif SC" pitchFamily="34" charset="0"/>
                  <a:ea typeface="Noto Serif SC" pitchFamily="34" charset="-122"/>
                  <a:cs typeface="Noto Serif SC" pitchFamily="34" charset="-120"/>
                  <a:sym typeface="+mn-ea"/>
                </a:rPr>
                <a:t>合规不是事后补丁，而是底层设计</a:t>
              </a:r>
              <a:endParaRPr lang="en-US" sz="36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6" name="Text 2"/>
            <p:cNvSpPr/>
            <p:nvPr/>
          </p:nvSpPr>
          <p:spPr>
            <a:xfrm>
              <a:off x="720" y="1915"/>
              <a:ext cx="17568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77766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AI 从“工具”走向“关系”后，监管关注点正在从内容安全延伸到未成年人保护、情感依赖、人格边界与监护责任</a:t>
              </a:r>
              <a:endParaRPr lang="en-US" sz="1600" dirty="0">
                <a:solidFill>
                  <a:srgbClr val="77766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7" name="Shape 3"/>
            <p:cNvSpPr/>
            <p:nvPr/>
          </p:nvSpPr>
          <p:spPr>
            <a:xfrm>
              <a:off x="720" y="2563"/>
              <a:ext cx="17784" cy="0"/>
            </a:xfrm>
            <a:prstGeom prst="line">
              <a:avLst/>
            </a:prstGeom>
            <a:noFill/>
            <a:ln w="12700">
              <a:solidFill>
                <a:srgbClr val="55534F"/>
              </a:solidFill>
              <a:prstDash val="solid"/>
            </a:ln>
          </p:spPr>
        </p:sp>
        <p:sp>
          <p:nvSpPr>
            <p:cNvPr id="8" name="Shape 4"/>
            <p:cNvSpPr/>
            <p:nvPr/>
          </p:nvSpPr>
          <p:spPr>
            <a:xfrm>
              <a:off x="720" y="2923"/>
              <a:ext cx="17784" cy="950"/>
            </a:xfrm>
            <a:prstGeom prst="rect">
              <a:avLst/>
            </a:prstGeom>
            <a:solidFill>
              <a:srgbClr val="F4EFE6"/>
            </a:solidFill>
            <a:ln w="7620">
              <a:solidFill>
                <a:srgbClr val="E3DED4"/>
              </a:solidFill>
              <a:prstDash val="solid"/>
            </a:ln>
          </p:spPr>
        </p:sp>
        <p:sp>
          <p:nvSpPr>
            <p:cNvPr id="9" name="Text 5"/>
            <p:cNvSpPr/>
            <p:nvPr/>
          </p:nvSpPr>
          <p:spPr>
            <a:xfrm>
              <a:off x="1037" y="3082"/>
              <a:ext cx="4968" cy="25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监管背景｜AI 陪伴正在进入新的风险阶段</a:t>
              </a:r>
              <a:endParaRPr lang="en-US" b="1" dirty="0">
                <a:solidFill>
                  <a:srgbClr val="C75C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0" name="Text 6"/>
            <p:cNvSpPr/>
            <p:nvPr/>
          </p:nvSpPr>
          <p:spPr>
            <a:xfrm>
              <a:off x="5904" y="3010"/>
              <a:ext cx="12168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dirty="0">
                  <a:solidFill>
                    <a:srgbClr val="5F5D57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传统 AI 的安全主要管理“内容”；当 AI 开始建立长期关系，安全还必须管理“关系”——与谁建立、建立什么关系、持续多久，以及是否产生不健康的情感依赖。</a:t>
              </a:r>
              <a:endParaRPr lang="en-US" dirty="0">
                <a:solidFill>
                  <a:srgbClr val="5F5D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1" name="Text 7"/>
            <p:cNvSpPr/>
            <p:nvPr/>
          </p:nvSpPr>
          <p:spPr>
            <a:xfrm>
              <a:off x="5904" y="3499"/>
              <a:ext cx="6048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456D6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Content Safety  →  Relationship Safety</a:t>
              </a:r>
              <a:endParaRPr lang="en-US" sz="1600" b="1" dirty="0">
                <a:solidFill>
                  <a:srgbClr val="456D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2" name="Text 8"/>
            <p:cNvSpPr/>
            <p:nvPr/>
          </p:nvSpPr>
          <p:spPr>
            <a:xfrm>
              <a:off x="720" y="4176"/>
              <a:ext cx="10944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b="1" kern="0" spc="80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我们的判断 · 合规不是运营规则，而是 Relationship Engine 的系统约束</a:t>
              </a:r>
              <a:endParaRPr lang="en-US" sz="1600" b="1" kern="0" spc="80" dirty="0">
                <a:solidFill>
                  <a:srgbClr val="C75C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3" name="Shape 9"/>
            <p:cNvSpPr/>
            <p:nvPr/>
          </p:nvSpPr>
          <p:spPr>
            <a:xfrm>
              <a:off x="720" y="4637"/>
              <a:ext cx="8640" cy="2333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 w="10160">
              <a:solidFill>
                <a:srgbClr val="D8D5CC"/>
              </a:solidFill>
              <a:prstDash val="solid"/>
            </a:ln>
          </p:spPr>
        </p:sp>
        <p:sp>
          <p:nvSpPr>
            <p:cNvPr id="14" name="Shape 10"/>
            <p:cNvSpPr/>
            <p:nvPr/>
          </p:nvSpPr>
          <p:spPr>
            <a:xfrm>
              <a:off x="720" y="4637"/>
              <a:ext cx="8640" cy="0"/>
            </a:xfrm>
            <a:prstGeom prst="line">
              <a:avLst/>
            </a:prstGeom>
            <a:noFill/>
            <a:ln w="19050">
              <a:solidFill>
                <a:srgbClr val="17191C"/>
              </a:solidFill>
              <a:prstDash val="solid"/>
            </a:ln>
          </p:spPr>
        </p:sp>
        <p:sp>
          <p:nvSpPr>
            <p:cNvPr id="15" name="Text 11"/>
            <p:cNvSpPr/>
            <p:nvPr/>
          </p:nvSpPr>
          <p:spPr>
            <a:xfrm>
              <a:off x="1152" y="5112"/>
              <a:ext cx="360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400" b="1" kern="0" spc="150" dirty="0">
                  <a:solidFill>
                    <a:srgbClr val="8B887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01</a:t>
              </a:r>
              <a:endParaRPr lang="en-US" sz="1400" b="1" kern="0" spc="150" dirty="0">
                <a:solidFill>
                  <a:srgbClr val="8B88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6" name="Text 12"/>
            <p:cNvSpPr/>
            <p:nvPr/>
          </p:nvSpPr>
          <p:spPr>
            <a:xfrm>
              <a:off x="1613" y="5026"/>
              <a:ext cx="662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7191C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年龄分层</a:t>
              </a:r>
              <a:endParaRPr lang="en-US" sz="28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7" name="Text 13"/>
            <p:cNvSpPr/>
            <p:nvPr/>
          </p:nvSpPr>
          <p:spPr>
            <a:xfrm>
              <a:off x="1152" y="5674"/>
              <a:ext cx="7704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成人与未成年人模式完整分离。</a:t>
              </a:r>
              <a:r>
                <a:rPr lang="en-US" b="1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未成年人不提供虚拟亲密关系型服务</a:t>
              </a:r>
              <a:r>
                <a:rPr lang="en-US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，仅开放陪伴、学习与兴趣向角色。</a:t>
              </a:r>
              <a:endParaRPr lang="en-US" dirty="0">
                <a:solidFill>
                  <a:srgbClr val="5E5C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8" name="Shape 14"/>
            <p:cNvSpPr/>
            <p:nvPr/>
          </p:nvSpPr>
          <p:spPr>
            <a:xfrm>
              <a:off x="9864" y="4637"/>
              <a:ext cx="8640" cy="2333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 w="10160">
              <a:solidFill>
                <a:srgbClr val="D8D5CC"/>
              </a:solidFill>
              <a:prstDash val="solid"/>
            </a:ln>
          </p:spPr>
        </p:sp>
        <p:sp>
          <p:nvSpPr>
            <p:cNvPr id="19" name="Shape 15"/>
            <p:cNvSpPr/>
            <p:nvPr/>
          </p:nvSpPr>
          <p:spPr>
            <a:xfrm>
              <a:off x="9864" y="4637"/>
              <a:ext cx="8640" cy="0"/>
            </a:xfrm>
            <a:prstGeom prst="line">
              <a:avLst/>
            </a:prstGeom>
            <a:noFill/>
            <a:ln w="19050">
              <a:solidFill>
                <a:srgbClr val="17191C"/>
              </a:solidFill>
              <a:prstDash val="solid"/>
            </a:ln>
          </p:spPr>
        </p:sp>
        <p:sp>
          <p:nvSpPr>
            <p:cNvPr id="20" name="Text 16"/>
            <p:cNvSpPr/>
            <p:nvPr/>
          </p:nvSpPr>
          <p:spPr>
            <a:xfrm>
              <a:off x="10296" y="5112"/>
              <a:ext cx="360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400" b="1" kern="0" spc="150" dirty="0">
                  <a:solidFill>
                    <a:srgbClr val="8B887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02</a:t>
              </a:r>
              <a:endParaRPr lang="en-US" sz="1400" b="1" kern="0" spc="150" dirty="0">
                <a:solidFill>
                  <a:srgbClr val="8B88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1" name="Text 17"/>
            <p:cNvSpPr/>
            <p:nvPr/>
          </p:nvSpPr>
          <p:spPr>
            <a:xfrm>
              <a:off x="10757" y="5026"/>
              <a:ext cx="662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7191C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监护可控</a:t>
              </a:r>
              <a:endParaRPr lang="en-US" sz="28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2" name="Text 18"/>
            <p:cNvSpPr/>
            <p:nvPr/>
          </p:nvSpPr>
          <p:spPr>
            <a:xfrm>
              <a:off x="10296" y="5674"/>
              <a:ext cx="7704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内置监护同意流程、使用时长限制、消费额度控制与现实提醒机制，监护人可查可管可停。</a:t>
              </a:r>
              <a:endParaRPr lang="en-US" dirty="0">
                <a:solidFill>
                  <a:srgbClr val="5E5C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3" name="Shape 19"/>
            <p:cNvSpPr/>
            <p:nvPr/>
          </p:nvSpPr>
          <p:spPr>
            <a:xfrm>
              <a:off x="720" y="7387"/>
              <a:ext cx="8640" cy="2333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 w="10160">
              <a:solidFill>
                <a:srgbClr val="D8D5CC"/>
              </a:solidFill>
              <a:prstDash val="solid"/>
            </a:ln>
          </p:spPr>
        </p:sp>
        <p:sp>
          <p:nvSpPr>
            <p:cNvPr id="24" name="Shape 20"/>
            <p:cNvSpPr/>
            <p:nvPr/>
          </p:nvSpPr>
          <p:spPr>
            <a:xfrm>
              <a:off x="720" y="7387"/>
              <a:ext cx="8640" cy="0"/>
            </a:xfrm>
            <a:prstGeom prst="line">
              <a:avLst/>
            </a:prstGeom>
            <a:noFill/>
            <a:ln w="19050">
              <a:solidFill>
                <a:srgbClr val="17191C"/>
              </a:solidFill>
              <a:prstDash val="solid"/>
            </a:ln>
          </p:spPr>
        </p:sp>
        <p:sp>
          <p:nvSpPr>
            <p:cNvPr id="25" name="Text 21"/>
            <p:cNvSpPr/>
            <p:nvPr/>
          </p:nvSpPr>
          <p:spPr>
            <a:xfrm>
              <a:off x="1152" y="7862"/>
              <a:ext cx="360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400" b="1" kern="0" spc="150" dirty="0">
                  <a:solidFill>
                    <a:srgbClr val="8B887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03</a:t>
              </a:r>
              <a:endParaRPr lang="en-US" sz="1400" b="1" kern="0" spc="150" dirty="0">
                <a:solidFill>
                  <a:srgbClr val="8B88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6" name="Text 22"/>
            <p:cNvSpPr/>
            <p:nvPr/>
          </p:nvSpPr>
          <p:spPr>
            <a:xfrm>
              <a:off x="1613" y="7776"/>
              <a:ext cx="662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7191C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内容与角色分级</a:t>
              </a:r>
              <a:endParaRPr lang="en-US" sz="28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7" name="Text 23"/>
            <p:cNvSpPr/>
            <p:nvPr/>
          </p:nvSpPr>
          <p:spPr>
            <a:xfrm>
              <a:off x="1152" y="8424"/>
              <a:ext cx="7704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角色人格、关系类型与可触达内容按等级授权，人格一致性模型保证边界不被提示词诱导突破。</a:t>
              </a:r>
              <a:endParaRPr lang="en-US" dirty="0">
                <a:solidFill>
                  <a:srgbClr val="5E5C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8" name="Shape 24"/>
            <p:cNvSpPr/>
            <p:nvPr/>
          </p:nvSpPr>
          <p:spPr>
            <a:xfrm>
              <a:off x="9864" y="7387"/>
              <a:ext cx="8640" cy="2333"/>
            </a:xfrm>
            <a:prstGeom prst="rect">
              <a:avLst/>
            </a:prstGeom>
            <a:solidFill>
              <a:srgbClr val="FBF3E7"/>
            </a:solidFill>
            <a:ln w="10160">
              <a:solidFill>
                <a:srgbClr val="E6B37D"/>
              </a:solidFill>
              <a:prstDash val="solid"/>
            </a:ln>
          </p:spPr>
        </p:sp>
        <p:sp>
          <p:nvSpPr>
            <p:cNvPr id="29" name="Shape 25"/>
            <p:cNvSpPr/>
            <p:nvPr/>
          </p:nvSpPr>
          <p:spPr>
            <a:xfrm>
              <a:off x="9864" y="7387"/>
              <a:ext cx="8640" cy="0"/>
            </a:xfrm>
            <a:prstGeom prst="line">
              <a:avLst/>
            </a:prstGeom>
            <a:noFill/>
            <a:ln w="19050">
              <a:solidFill>
                <a:srgbClr val="C75C0B"/>
              </a:solidFill>
              <a:prstDash val="solid"/>
            </a:ln>
          </p:spPr>
        </p:sp>
        <p:sp>
          <p:nvSpPr>
            <p:cNvPr id="30" name="Text 26"/>
            <p:cNvSpPr/>
            <p:nvPr/>
          </p:nvSpPr>
          <p:spPr>
            <a:xfrm>
              <a:off x="10296" y="7862"/>
              <a:ext cx="360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400" b="1" kern="0" spc="150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04</a:t>
              </a:r>
              <a:endParaRPr lang="en-US" sz="1400" b="1" kern="0" spc="150" dirty="0">
                <a:solidFill>
                  <a:srgbClr val="C75C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31" name="Text 27"/>
            <p:cNvSpPr/>
            <p:nvPr/>
          </p:nvSpPr>
          <p:spPr>
            <a:xfrm>
              <a:off x="10757" y="7776"/>
              <a:ext cx="662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7191C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风险识别与干预</a:t>
              </a:r>
              <a:endParaRPr lang="en-US" sz="28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32" name="Text 28"/>
            <p:cNvSpPr/>
            <p:nvPr/>
          </p:nvSpPr>
          <p:spPr>
            <a:xfrm>
              <a:off x="10296" y="8424"/>
              <a:ext cx="7704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对高风险内容、异常情感依赖与自伤暗示进行识别，执行</a:t>
              </a:r>
              <a:r>
                <a:rPr lang="en-US" b="1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强制降级与干预</a:t>
              </a:r>
              <a:r>
                <a:rPr lang="en-US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，并引导至现实支持资源。</a:t>
              </a:r>
              <a:endParaRPr lang="en-US" dirty="0">
                <a:solidFill>
                  <a:srgbClr val="5E5C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33" name="Shape 29"/>
            <p:cNvSpPr/>
            <p:nvPr/>
          </p:nvSpPr>
          <p:spPr>
            <a:xfrm>
              <a:off x="720" y="9979"/>
              <a:ext cx="17784" cy="0"/>
            </a:xfrm>
            <a:prstGeom prst="line">
              <a:avLst/>
            </a:prstGeom>
            <a:noFill/>
            <a:ln w="7620">
              <a:solidFill>
                <a:srgbClr val="D7D3CA"/>
              </a:solidFill>
              <a:prstDash val="solid"/>
            </a:ln>
          </p:spPr>
        </p:sp>
        <p:sp>
          <p:nvSpPr>
            <p:cNvPr id="34" name="Text 30"/>
            <p:cNvSpPr/>
            <p:nvPr/>
          </p:nvSpPr>
          <p:spPr>
            <a:xfrm>
              <a:off x="720" y="10123"/>
              <a:ext cx="17640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77746D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我们不把合规交给运营侧事后审核，而是将年龄、角色边界、关系权限与风险干预直接写入 MindEngine，让“什么关系可以发生”从系统底层就受到约束。</a:t>
              </a:r>
              <a:endParaRPr lang="en-US" sz="1600" dirty="0">
                <a:solidFill>
                  <a:srgbClr val="7774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35" name="Slide Number Placeholder 0"/>
            <p:cNvSpPr>
              <a:spLocks noGrp="1"/>
            </p:cNvSpPr>
            <p:nvPr/>
          </p:nvSpPr>
          <p:spPr>
            <a:xfrm>
              <a:off x="18000" y="10224"/>
              <a:ext cx="432" cy="288"/>
            </a:xfrm>
            <a:prstGeom prst="rect">
              <a:avLst/>
            </a:prstGeom>
          </p:spPr>
          <p:txBody>
            <a:bodyPr/>
            <a:lstStyle>
              <a:lvl1pPr>
                <a:defRPr sz="700">
                  <a:solidFill>
                    <a:srgbClr val="AAA69C"/>
                  </a:solidFill>
                  <a:latin typeface="Arial" panose="020B0604020202090204"/>
                  <a:ea typeface="Arial" panose="020B0604020202090204"/>
                  <a:cs typeface="Arial" panose="020B0604020202090204"/>
                </a:defRPr>
              </a:lvl1pPr>
            </a:lstStyle>
            <a:p>
              <a:pPr algn="l"/>
              <a:fld id="{F7021451-1387-4CA6-816F-3879F97B5CBC}" type="slidenum">
                <a:rPr lang="en-US" sz="1000" b="0"/>
              </a:fld>
              <a:endParaRPr lang="en-US" sz="1000" b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Box 1"/>
          <p:cNvSpPr txBox="1"/>
          <p:nvPr/>
        </p:nvSpPr>
        <p:spPr>
          <a:xfrm>
            <a:off x="1374463" y="384175"/>
            <a:ext cx="2844800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C6A63"/>
                </a:solidFill>
                <a:latin typeface="微软雅黑"/>
              </a:rPr>
              <a:t>商业模式｜RELATIONSHIP ECONOMY</a:t>
            </a:r>
            <a:endParaRPr sz="1400" b="0">
              <a:solidFill>
                <a:srgbClr val="6C6A63"/>
              </a:solidFill>
              <a:latin typeface="微软雅黑"/>
            </a:endParaRPr>
          </a:p>
        </p:txBody>
      </p:sp>
      <p:sp>
        <p:nvSpPr>
          <p:cNvPr id="46" name="TextBox 2"/>
          <p:cNvSpPr txBox="1"/>
          <p:nvPr/>
        </p:nvSpPr>
        <p:spPr>
          <a:xfrm>
            <a:off x="1374463" y="815975"/>
            <a:ext cx="16927830" cy="553085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sz="36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先让关系发生，再让关系创造价值</a:t>
            </a:r>
            <a:endParaRPr lang="en-US" sz="360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  <a:sym typeface="+mn-ea"/>
            </a:endParaRPr>
          </a:p>
        </p:txBody>
      </p:sp>
      <p:sp>
        <p:nvSpPr>
          <p:cNvPr id="47" name="TextBox 3"/>
          <p:cNvSpPr txBox="1"/>
          <p:nvPr/>
        </p:nvSpPr>
        <p:spPr>
          <a:xfrm>
            <a:off x="1374463" y="1577975"/>
            <a:ext cx="17070070" cy="307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6C6A63"/>
                </a:solidFill>
                <a:latin typeface="微软雅黑"/>
              </a:rPr>
              <a:t>首次领养免费；关系加深后，从深度体验、关系表达走向</a:t>
            </a:r>
            <a:r>
              <a:rPr lang="zh-CN" sz="2000" b="0">
                <a:solidFill>
                  <a:srgbClr val="6C6A63"/>
                </a:solidFill>
                <a:latin typeface="微软雅黑"/>
              </a:rPr>
              <a:t>硬件</a:t>
            </a:r>
            <a:r>
              <a:rPr sz="2000" b="0">
                <a:solidFill>
                  <a:srgbClr val="6C6A63"/>
                </a:solidFill>
                <a:latin typeface="微软雅黑"/>
              </a:rPr>
              <a:t>载体，持续提升用户 LTV</a:t>
            </a:r>
            <a:endParaRPr sz="2000" b="0">
              <a:solidFill>
                <a:srgbClr val="6C6A63"/>
              </a:solidFill>
              <a:latin typeface="微软雅黑"/>
            </a:endParaRPr>
          </a:p>
        </p:txBody>
      </p:sp>
      <p:cxnSp>
        <p:nvCxnSpPr>
          <p:cNvPr id="48" name="Connector 4"/>
          <p:cNvCxnSpPr/>
          <p:nvPr/>
        </p:nvCxnSpPr>
        <p:spPr>
          <a:xfrm>
            <a:off x="1374463" y="2253615"/>
            <a:ext cx="16237633" cy="13977"/>
          </a:xfrm>
          <a:prstGeom prst="line">
            <a:avLst/>
          </a:prstGeom>
          <a:ln w="8890">
            <a:solidFill>
              <a:srgbClr val="1C1D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5"/>
          <p:cNvSpPr txBox="1"/>
          <p:nvPr/>
        </p:nvSpPr>
        <p:spPr>
          <a:xfrm>
            <a:off x="1374463" y="2627630"/>
            <a:ext cx="7112635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54E00"/>
                </a:solidFill>
                <a:latin typeface="微软雅黑"/>
              </a:rPr>
              <a:t>关系价值阶梯 · </a:t>
            </a:r>
            <a:r>
              <a:rPr lang="zh-CN" sz="1400" b="1">
                <a:solidFill>
                  <a:srgbClr val="C54E00"/>
                </a:solidFill>
                <a:latin typeface="微软雅黑"/>
              </a:rPr>
              <a:t>如何</a:t>
            </a:r>
            <a:r>
              <a:rPr lang="zh-CN" sz="1400" b="1">
                <a:solidFill>
                  <a:srgbClr val="C54E00"/>
                </a:solidFill>
                <a:latin typeface="微软雅黑"/>
              </a:rPr>
              <a:t>赚钱</a:t>
            </a:r>
            <a:endParaRPr lang="zh-CN" sz="1400" b="1">
              <a:solidFill>
                <a:srgbClr val="C54E00"/>
              </a:solidFill>
              <a:latin typeface="微软雅黑"/>
            </a:endParaRPr>
          </a:p>
        </p:txBody>
      </p:sp>
      <p:sp>
        <p:nvSpPr>
          <p:cNvPr id="50" name="TextBox 6"/>
          <p:cNvSpPr txBox="1"/>
          <p:nvPr/>
        </p:nvSpPr>
        <p:spPr>
          <a:xfrm>
            <a:off x="10336214" y="2627630"/>
            <a:ext cx="7539355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6C6A63"/>
                </a:solidFill>
                <a:latin typeface="微软雅黑"/>
              </a:rPr>
              <a:t>模式差异 · PROGRESSION → RELATIONSHIP</a:t>
            </a:r>
            <a:endParaRPr sz="1400" b="1">
              <a:solidFill>
                <a:srgbClr val="6C6A63"/>
              </a:solidFill>
              <a:latin typeface="微软雅黑"/>
            </a:endParaRPr>
          </a:p>
        </p:txBody>
      </p:sp>
      <p:cxnSp>
        <p:nvCxnSpPr>
          <p:cNvPr id="51" name="Connector 7"/>
          <p:cNvCxnSpPr/>
          <p:nvPr/>
        </p:nvCxnSpPr>
        <p:spPr>
          <a:xfrm>
            <a:off x="9037955" y="2656840"/>
            <a:ext cx="0" cy="7120255"/>
          </a:xfrm>
          <a:prstGeom prst="line">
            <a:avLst/>
          </a:prstGeom>
          <a:ln w="8890">
            <a:solidFill>
              <a:srgbClr val="CDCA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33"/>
          <p:cNvSpPr txBox="1"/>
          <p:nvPr/>
        </p:nvSpPr>
        <p:spPr>
          <a:xfrm>
            <a:off x="9464675" y="3059430"/>
            <a:ext cx="3911600" cy="307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C1D1F"/>
                </a:solidFill>
                <a:latin typeface="微软雅黑"/>
              </a:rPr>
              <a:t>传统电子宠物 / 养成游戏</a:t>
            </a:r>
            <a:endParaRPr sz="2000" b="1">
              <a:solidFill>
                <a:srgbClr val="1C1D1F"/>
              </a:solidFill>
              <a:latin typeface="微软雅黑"/>
            </a:endParaRPr>
          </a:p>
        </p:txBody>
      </p:sp>
      <p:sp>
        <p:nvSpPr>
          <p:cNvPr id="78" name="TextBox 34"/>
          <p:cNvSpPr txBox="1"/>
          <p:nvPr/>
        </p:nvSpPr>
        <p:spPr>
          <a:xfrm>
            <a:off x="13803630" y="3059430"/>
            <a:ext cx="3911600" cy="307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C54E00"/>
                </a:solidFill>
                <a:latin typeface="微软雅黑"/>
              </a:rPr>
              <a:t>疯狂宠物城</a:t>
            </a:r>
            <a:endParaRPr sz="2000" b="1">
              <a:solidFill>
                <a:srgbClr val="C54E00"/>
              </a:solidFill>
              <a:latin typeface="微软雅黑"/>
            </a:endParaRPr>
          </a:p>
        </p:txBody>
      </p:sp>
      <p:sp>
        <p:nvSpPr>
          <p:cNvPr id="79" name="TextBox 35"/>
          <p:cNvSpPr txBox="1"/>
          <p:nvPr/>
        </p:nvSpPr>
        <p:spPr>
          <a:xfrm>
            <a:off x="9464675" y="3548380"/>
            <a:ext cx="39116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6C6A63"/>
                </a:solidFill>
                <a:latin typeface="微软雅黑"/>
              </a:rPr>
              <a:t>CONTENT / PROGRESSION ECONOMY</a:t>
            </a:r>
            <a:endParaRPr sz="1400" b="1">
              <a:solidFill>
                <a:srgbClr val="6C6A63"/>
              </a:solidFill>
              <a:latin typeface="微软雅黑"/>
            </a:endParaRPr>
          </a:p>
        </p:txBody>
      </p:sp>
      <p:sp>
        <p:nvSpPr>
          <p:cNvPr id="80" name="TextBox 36"/>
          <p:cNvSpPr txBox="1"/>
          <p:nvPr/>
        </p:nvSpPr>
        <p:spPr>
          <a:xfrm>
            <a:off x="13803630" y="3548380"/>
            <a:ext cx="391160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54E00"/>
                </a:solidFill>
                <a:latin typeface="微软雅黑"/>
              </a:rPr>
              <a:t>RELATIONSHIP ECONOMY</a:t>
            </a:r>
            <a:endParaRPr sz="1400" b="1">
              <a:solidFill>
                <a:srgbClr val="C54E00"/>
              </a:solidFill>
              <a:latin typeface="微软雅黑"/>
            </a:endParaRPr>
          </a:p>
        </p:txBody>
      </p:sp>
      <p:sp>
        <p:nvSpPr>
          <p:cNvPr id="81" name="Rectangle 37"/>
          <p:cNvSpPr/>
          <p:nvPr/>
        </p:nvSpPr>
        <p:spPr>
          <a:xfrm>
            <a:off x="9464675" y="4023360"/>
            <a:ext cx="3869055" cy="1840865"/>
          </a:xfrm>
          <a:prstGeom prst="rect">
            <a:avLst/>
          </a:prstGeom>
          <a:solidFill>
            <a:srgbClr val="FFFFFF"/>
          </a:solidFill>
          <a:ln w="10160">
            <a:solidFill>
              <a:srgbClr val="CDC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2" name="Rectangle 38"/>
          <p:cNvSpPr/>
          <p:nvPr/>
        </p:nvSpPr>
        <p:spPr>
          <a:xfrm>
            <a:off x="13803630" y="4023360"/>
            <a:ext cx="3869055" cy="1840865"/>
          </a:xfrm>
          <a:prstGeom prst="rect">
            <a:avLst/>
          </a:prstGeom>
          <a:solidFill>
            <a:srgbClr val="F4EEE4"/>
          </a:solidFill>
          <a:ln w="11430">
            <a:solidFill>
              <a:srgbClr val="C54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3" name="TextBox 39"/>
          <p:cNvSpPr txBox="1"/>
          <p:nvPr/>
        </p:nvSpPr>
        <p:spPr>
          <a:xfrm>
            <a:off x="9720580" y="4594225"/>
            <a:ext cx="3342640" cy="5530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>
                <a:solidFill>
                  <a:srgbClr val="6C6A63"/>
                </a:solidFill>
                <a:latin typeface="微软雅黑"/>
              </a:rPr>
              <a:t>内容 → 养成 → 等级 / 收藏
→ 消费 / 解锁 → 新内容</a:t>
            </a:r>
            <a:endParaRPr b="1">
              <a:solidFill>
                <a:srgbClr val="6C6A63"/>
              </a:solidFill>
              <a:latin typeface="微软雅黑"/>
            </a:endParaRPr>
          </a:p>
        </p:txBody>
      </p:sp>
      <p:sp>
        <p:nvSpPr>
          <p:cNvPr id="84" name="TextBox 40"/>
          <p:cNvSpPr txBox="1"/>
          <p:nvPr/>
        </p:nvSpPr>
        <p:spPr>
          <a:xfrm>
            <a:off x="14058900" y="4594225"/>
            <a:ext cx="3342640" cy="5530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>
                <a:solidFill>
                  <a:srgbClr val="1C1D1F"/>
                </a:solidFill>
                <a:latin typeface="微软雅黑"/>
              </a:rPr>
              <a:t>经历 → 记忆 → 关系
→ 表达 → 新的共同经历</a:t>
            </a:r>
            <a:endParaRPr b="1">
              <a:solidFill>
                <a:srgbClr val="1C1D1F"/>
              </a:solidFill>
              <a:latin typeface="微软雅黑"/>
            </a:endParaRPr>
          </a:p>
        </p:txBody>
      </p:sp>
      <p:cxnSp>
        <p:nvCxnSpPr>
          <p:cNvPr id="85" name="Connector 41"/>
          <p:cNvCxnSpPr/>
          <p:nvPr/>
        </p:nvCxnSpPr>
        <p:spPr>
          <a:xfrm>
            <a:off x="9464675" y="6784975"/>
            <a:ext cx="8221980" cy="0"/>
          </a:xfrm>
          <a:prstGeom prst="line">
            <a:avLst/>
          </a:prstGeom>
          <a:ln w="5715">
            <a:solidFill>
              <a:srgbClr val="CDCA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42"/>
          <p:cNvSpPr txBox="1"/>
          <p:nvPr/>
        </p:nvSpPr>
        <p:spPr>
          <a:xfrm>
            <a:off x="9464675" y="6223635"/>
            <a:ext cx="1109345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6C6A63"/>
                </a:solidFill>
                <a:latin typeface="微软雅黑"/>
              </a:rPr>
              <a:t>核心资产</a:t>
            </a:r>
            <a:endParaRPr sz="1400" b="1">
              <a:solidFill>
                <a:srgbClr val="6C6A63"/>
              </a:solidFill>
              <a:latin typeface="微软雅黑"/>
            </a:endParaRPr>
          </a:p>
        </p:txBody>
      </p:sp>
      <p:sp>
        <p:nvSpPr>
          <p:cNvPr id="87" name="TextBox 43"/>
          <p:cNvSpPr txBox="1"/>
          <p:nvPr/>
        </p:nvSpPr>
        <p:spPr>
          <a:xfrm>
            <a:off x="10716260" y="6223635"/>
            <a:ext cx="263144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C6A63"/>
                </a:solidFill>
                <a:latin typeface="微软雅黑"/>
              </a:rPr>
              <a:t>等级 · 道具 · 收藏</a:t>
            </a:r>
            <a:endParaRPr sz="1400" b="0">
              <a:solidFill>
                <a:srgbClr val="6C6A63"/>
              </a:solidFill>
              <a:latin typeface="微软雅黑"/>
            </a:endParaRPr>
          </a:p>
        </p:txBody>
      </p:sp>
      <p:sp>
        <p:nvSpPr>
          <p:cNvPr id="88" name="TextBox 44"/>
          <p:cNvSpPr txBox="1"/>
          <p:nvPr/>
        </p:nvSpPr>
        <p:spPr>
          <a:xfrm>
            <a:off x="13803630" y="6223635"/>
            <a:ext cx="386969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54E00"/>
                </a:solidFill>
                <a:latin typeface="微软雅黑"/>
              </a:rPr>
              <a:t>共同历史 · 关系 · Pet 人生</a:t>
            </a:r>
            <a:endParaRPr sz="1400" b="1">
              <a:solidFill>
                <a:srgbClr val="C54E00"/>
              </a:solidFill>
              <a:latin typeface="微软雅黑"/>
            </a:endParaRPr>
          </a:p>
        </p:txBody>
      </p:sp>
      <p:cxnSp>
        <p:nvCxnSpPr>
          <p:cNvPr id="89" name="Connector 45"/>
          <p:cNvCxnSpPr/>
          <p:nvPr/>
        </p:nvCxnSpPr>
        <p:spPr>
          <a:xfrm>
            <a:off x="9464675" y="7461250"/>
            <a:ext cx="8221980" cy="0"/>
          </a:xfrm>
          <a:prstGeom prst="line">
            <a:avLst/>
          </a:prstGeom>
          <a:ln w="5715">
            <a:solidFill>
              <a:srgbClr val="CDCA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46"/>
          <p:cNvSpPr txBox="1"/>
          <p:nvPr/>
        </p:nvSpPr>
        <p:spPr>
          <a:xfrm>
            <a:off x="9464675" y="6899910"/>
            <a:ext cx="1109345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6C6A63"/>
                </a:solidFill>
                <a:latin typeface="微软雅黑"/>
              </a:rPr>
              <a:t>成长关系</a:t>
            </a:r>
            <a:endParaRPr sz="1400" b="1">
              <a:solidFill>
                <a:srgbClr val="6C6A63"/>
              </a:solidFill>
              <a:latin typeface="微软雅黑"/>
            </a:endParaRPr>
          </a:p>
        </p:txBody>
      </p:sp>
      <p:sp>
        <p:nvSpPr>
          <p:cNvPr id="91" name="TextBox 47"/>
          <p:cNvSpPr txBox="1"/>
          <p:nvPr/>
        </p:nvSpPr>
        <p:spPr>
          <a:xfrm>
            <a:off x="10716260" y="6899910"/>
            <a:ext cx="263144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C6A63"/>
                </a:solidFill>
                <a:latin typeface="微软雅黑"/>
              </a:rPr>
              <a:t>User → Pet</a:t>
            </a:r>
            <a:endParaRPr sz="1400" b="0">
              <a:solidFill>
                <a:srgbClr val="6C6A63"/>
              </a:solidFill>
              <a:latin typeface="微软雅黑"/>
            </a:endParaRPr>
          </a:p>
        </p:txBody>
      </p:sp>
      <p:sp>
        <p:nvSpPr>
          <p:cNvPr id="92" name="TextBox 48"/>
          <p:cNvSpPr txBox="1"/>
          <p:nvPr/>
        </p:nvSpPr>
        <p:spPr>
          <a:xfrm>
            <a:off x="13803630" y="6899910"/>
            <a:ext cx="386969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C1D1F"/>
                </a:solidFill>
                <a:latin typeface="微软雅黑"/>
              </a:rPr>
              <a:t>User ↔ Pet ↔ World</a:t>
            </a:r>
            <a:endParaRPr sz="1400" b="0">
              <a:solidFill>
                <a:srgbClr val="1C1D1F"/>
              </a:solidFill>
              <a:latin typeface="微软雅黑"/>
            </a:endParaRPr>
          </a:p>
        </p:txBody>
      </p:sp>
      <p:cxnSp>
        <p:nvCxnSpPr>
          <p:cNvPr id="93" name="Connector 49"/>
          <p:cNvCxnSpPr/>
          <p:nvPr/>
        </p:nvCxnSpPr>
        <p:spPr>
          <a:xfrm>
            <a:off x="9464675" y="8136890"/>
            <a:ext cx="8221980" cy="0"/>
          </a:xfrm>
          <a:prstGeom prst="line">
            <a:avLst/>
          </a:prstGeom>
          <a:ln w="5715">
            <a:solidFill>
              <a:srgbClr val="CDCA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50"/>
          <p:cNvSpPr txBox="1"/>
          <p:nvPr/>
        </p:nvSpPr>
        <p:spPr>
          <a:xfrm>
            <a:off x="9464675" y="7576185"/>
            <a:ext cx="1109345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6C6A63"/>
                </a:solidFill>
                <a:latin typeface="微软雅黑"/>
              </a:rPr>
              <a:t>用户离线</a:t>
            </a:r>
            <a:endParaRPr sz="1400" b="1">
              <a:solidFill>
                <a:srgbClr val="6C6A63"/>
              </a:solidFill>
              <a:latin typeface="微软雅黑"/>
            </a:endParaRPr>
          </a:p>
        </p:txBody>
      </p:sp>
      <p:sp>
        <p:nvSpPr>
          <p:cNvPr id="95" name="TextBox 51"/>
          <p:cNvSpPr txBox="1"/>
          <p:nvPr/>
        </p:nvSpPr>
        <p:spPr>
          <a:xfrm>
            <a:off x="10716260" y="7576185"/>
            <a:ext cx="263144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C6A63"/>
                </a:solidFill>
                <a:latin typeface="微软雅黑"/>
              </a:rPr>
              <a:t>暂停 / 离线结算</a:t>
            </a:r>
            <a:endParaRPr sz="1400" b="0">
              <a:solidFill>
                <a:srgbClr val="6C6A63"/>
              </a:solidFill>
              <a:latin typeface="微软雅黑"/>
            </a:endParaRPr>
          </a:p>
        </p:txBody>
      </p:sp>
      <p:sp>
        <p:nvSpPr>
          <p:cNvPr id="96" name="TextBox 52"/>
          <p:cNvSpPr txBox="1"/>
          <p:nvPr/>
        </p:nvSpPr>
        <p:spPr>
          <a:xfrm>
            <a:off x="13803630" y="7576185"/>
            <a:ext cx="386969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C1D1F"/>
                </a:solidFill>
                <a:latin typeface="微软雅黑"/>
              </a:rPr>
              <a:t>Pet 继续生活、产生经历</a:t>
            </a:r>
            <a:endParaRPr sz="1400" b="0">
              <a:solidFill>
                <a:srgbClr val="1C1D1F"/>
              </a:solidFill>
              <a:latin typeface="微软雅黑"/>
            </a:endParaRPr>
          </a:p>
        </p:txBody>
      </p:sp>
      <p:cxnSp>
        <p:nvCxnSpPr>
          <p:cNvPr id="97" name="Connector 53"/>
          <p:cNvCxnSpPr/>
          <p:nvPr/>
        </p:nvCxnSpPr>
        <p:spPr>
          <a:xfrm>
            <a:off x="9464675" y="8813165"/>
            <a:ext cx="8221980" cy="0"/>
          </a:xfrm>
          <a:prstGeom prst="line">
            <a:avLst/>
          </a:prstGeom>
          <a:ln w="5715">
            <a:solidFill>
              <a:srgbClr val="CDCA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54"/>
          <p:cNvSpPr txBox="1"/>
          <p:nvPr/>
        </p:nvSpPr>
        <p:spPr>
          <a:xfrm>
            <a:off x="9464675" y="8252460"/>
            <a:ext cx="1109345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6C6A63"/>
                </a:solidFill>
                <a:latin typeface="微软雅黑"/>
              </a:rPr>
              <a:t>硬件逻辑</a:t>
            </a:r>
            <a:endParaRPr sz="1400" b="1">
              <a:solidFill>
                <a:srgbClr val="6C6A63"/>
              </a:solidFill>
              <a:latin typeface="微软雅黑"/>
            </a:endParaRPr>
          </a:p>
        </p:txBody>
      </p:sp>
      <p:sp>
        <p:nvSpPr>
          <p:cNvPr id="99" name="TextBox 55"/>
          <p:cNvSpPr txBox="1"/>
          <p:nvPr/>
        </p:nvSpPr>
        <p:spPr>
          <a:xfrm>
            <a:off x="10716260" y="8252460"/>
            <a:ext cx="263144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C6A63"/>
                </a:solidFill>
                <a:latin typeface="微软雅黑"/>
              </a:rPr>
              <a:t>Hardware → Relationship</a:t>
            </a:r>
            <a:endParaRPr sz="1400" b="0">
              <a:solidFill>
                <a:srgbClr val="6C6A63"/>
              </a:solidFill>
              <a:latin typeface="微软雅黑"/>
            </a:endParaRPr>
          </a:p>
        </p:txBody>
      </p:sp>
      <p:sp>
        <p:nvSpPr>
          <p:cNvPr id="100" name="TextBox 56"/>
          <p:cNvSpPr txBox="1"/>
          <p:nvPr/>
        </p:nvSpPr>
        <p:spPr>
          <a:xfrm>
            <a:off x="13803630" y="8252460"/>
            <a:ext cx="3869690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54E00"/>
                </a:solidFill>
                <a:latin typeface="微软雅黑"/>
              </a:rPr>
              <a:t>Relationship → Hardware</a:t>
            </a:r>
            <a:endParaRPr sz="1400" b="1">
              <a:solidFill>
                <a:srgbClr val="C54E00"/>
              </a:solidFill>
              <a:latin typeface="微软雅黑"/>
            </a:endParaRPr>
          </a:p>
        </p:txBody>
      </p:sp>
      <p:sp>
        <p:nvSpPr>
          <p:cNvPr id="101" name="Rectangle 57"/>
          <p:cNvSpPr/>
          <p:nvPr/>
        </p:nvSpPr>
        <p:spPr>
          <a:xfrm>
            <a:off x="9464675" y="9014460"/>
            <a:ext cx="8221980" cy="762635"/>
          </a:xfrm>
          <a:prstGeom prst="rect">
            <a:avLst/>
          </a:prstGeom>
          <a:solidFill>
            <a:srgbClr val="F4EEE4"/>
          </a:solidFill>
          <a:ln w="8890">
            <a:solidFill>
              <a:srgbClr val="C54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2" name="TextBox 58"/>
          <p:cNvSpPr txBox="1"/>
          <p:nvPr/>
        </p:nvSpPr>
        <p:spPr>
          <a:xfrm>
            <a:off x="9749155" y="9158605"/>
            <a:ext cx="76530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C1D1F"/>
                </a:solidFill>
                <a:latin typeface="微软雅黑"/>
              </a:rPr>
              <a:t>内容负责让新的事情发生，关系负责让发生过的事情越来越有价值。</a:t>
            </a:r>
            <a:endParaRPr sz="1600" b="1">
              <a:solidFill>
                <a:srgbClr val="1C1D1F"/>
              </a:solidFill>
              <a:latin typeface="微软雅黑"/>
            </a:endParaRPr>
          </a:p>
        </p:txBody>
      </p:sp>
      <p:sp>
        <p:nvSpPr>
          <p:cNvPr id="103" name="TextBox 59"/>
          <p:cNvSpPr txBox="1"/>
          <p:nvPr/>
        </p:nvSpPr>
        <p:spPr>
          <a:xfrm>
            <a:off x="756920" y="9404350"/>
            <a:ext cx="1742567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6C6A63"/>
                </a:solidFill>
                <a:latin typeface="Arial" panose="020B0604020202090204" pitchFamily="34" charset="0"/>
              </a:rPr>
              <a:t>先最大化关系形成率，再围绕关系深度实现持续商业化。</a:t>
            </a:r>
            <a:endParaRPr sz="1600" b="1">
              <a:solidFill>
                <a:srgbClr val="6C6A63"/>
              </a:solidFill>
              <a:latin typeface="Arial" panose="020B0604020202090204" pitchFamily="34" charset="0"/>
            </a:endParaRPr>
          </a:p>
        </p:txBody>
      </p:sp>
      <p:pic>
        <p:nvPicPr>
          <p:cNvPr id="106" name="图片 1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150" y="6301740"/>
            <a:ext cx="5083810" cy="2884170"/>
          </a:xfrm>
          <a:prstGeom prst="rect">
            <a:avLst/>
          </a:prstGeom>
        </p:spPr>
      </p:pic>
      <p:pic>
        <p:nvPicPr>
          <p:cNvPr id="107" name="图片 1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920" y="2921635"/>
            <a:ext cx="7454900" cy="330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商业模式</a:t>
            </a:r>
            <a:endParaRPr lang="en-US" sz="1125" dirty="0"/>
          </a:p>
        </p:txBody>
      </p:sp>
      <p:sp>
        <p:nvSpPr>
          <p:cNvPr id="35" name="Text 25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从关系建立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到现实陪伴的价值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阶梯</a:t>
            </a:r>
            <a:endParaRPr lang="zh-CN" altLang="en-US" sz="345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36" name="Text 26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免费领养</a:t>
            </a:r>
            <a:r>
              <a:rPr lang="en-US" altLang="zh-CN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r>
              <a:rPr lang="zh-CN" alt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付费</a:t>
            </a: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订阅、虚拟消费、内容衍生、硬件销售，构建多层收入结构</a:t>
            </a:r>
            <a:endParaRPr lang="en-US" sz="1725" dirty="0"/>
          </a:p>
        </p:txBody>
      </p:sp>
      <p:grpSp>
        <p:nvGrpSpPr>
          <p:cNvPr id="159" name="组合 158"/>
          <p:cNvGrpSpPr/>
          <p:nvPr/>
        </p:nvGrpSpPr>
        <p:grpSpPr>
          <a:xfrm>
            <a:off x="1198245" y="3619500"/>
            <a:ext cx="16067405" cy="5923280"/>
            <a:chOff x="259" y="1354"/>
            <a:chExt cx="18230" cy="4651"/>
          </a:xfrm>
        </p:grpSpPr>
        <p:sp>
          <p:nvSpPr>
            <p:cNvPr id="64" name="Rounded Rectangle 4"/>
            <p:cNvSpPr/>
            <p:nvPr/>
          </p:nvSpPr>
          <p:spPr>
            <a:xfrm>
              <a:off x="259" y="1354"/>
              <a:ext cx="18230" cy="4651"/>
            </a:xfrm>
            <a:prstGeom prst="roundRect">
              <a:avLst/>
            </a:prstGeom>
            <a:solidFill>
              <a:srgbClr val="F7F6F1"/>
            </a:solidFill>
            <a:ln w="8890">
              <a:solidFill>
                <a:srgbClr val="E1D6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65" name="Oval 5"/>
            <p:cNvSpPr/>
            <p:nvPr/>
          </p:nvSpPr>
          <p:spPr>
            <a:xfrm>
              <a:off x="662" y="1526"/>
              <a:ext cx="504" cy="504"/>
            </a:xfrm>
            <a:prstGeom prst="ellipse">
              <a:avLst/>
            </a:prstGeom>
            <a:solidFill>
              <a:srgbClr val="B08548"/>
            </a:solidFill>
            <a:ln>
              <a:solidFill>
                <a:srgbClr val="B0854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66" name="TextBox 6"/>
            <p:cNvSpPr txBox="1"/>
            <p:nvPr/>
          </p:nvSpPr>
          <p:spPr>
            <a:xfrm>
              <a:off x="598" y="1634"/>
              <a:ext cx="634" cy="28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b="1">
                  <a:solidFill>
                    <a:srgbClr val="FFFFFF"/>
                  </a:solidFill>
                  <a:latin typeface="Noto Sans CJK SC"/>
                </a:rPr>
                <a:t>01</a:t>
              </a:r>
              <a:endParaRPr b="1">
                <a:solidFill>
                  <a:srgbClr val="FFFFFF"/>
                </a:solidFill>
                <a:latin typeface="Noto Sans CJK SC"/>
              </a:endParaRPr>
            </a:p>
          </p:txBody>
        </p:sp>
        <p:sp>
          <p:nvSpPr>
            <p:cNvPr id="67" name="TextBox 7"/>
            <p:cNvSpPr txBox="1"/>
            <p:nvPr/>
          </p:nvSpPr>
          <p:spPr>
            <a:xfrm>
              <a:off x="1296" y="1553"/>
              <a:ext cx="2422" cy="31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2000" b="1">
                  <a:solidFill>
                    <a:srgbClr val="1C1B19"/>
                  </a:solidFill>
                  <a:latin typeface="Noto Sans CJK SC"/>
                </a:rPr>
                <a:t>认识世界</a:t>
              </a:r>
              <a:endParaRPr sz="2000" b="1">
                <a:solidFill>
                  <a:srgbClr val="1C1B19"/>
                </a:solidFill>
                <a:latin typeface="Noto Sans CJK SC"/>
              </a:endParaRPr>
            </a:p>
          </p:txBody>
        </p:sp>
        <p:sp>
          <p:nvSpPr>
            <p:cNvPr id="68" name="TextBox 8"/>
            <p:cNvSpPr txBox="1"/>
            <p:nvPr/>
          </p:nvSpPr>
          <p:spPr>
            <a:xfrm>
              <a:off x="1296" y="1940"/>
              <a:ext cx="2422" cy="24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0">
                  <a:solidFill>
                    <a:srgbClr val="1C1B19"/>
                  </a:solidFill>
                  <a:latin typeface="Noto Sans CJK SC"/>
                </a:rPr>
                <a:t>建立关系</a:t>
              </a:r>
              <a:endParaRPr sz="1400" b="0">
                <a:solidFill>
                  <a:srgbClr val="1C1B19"/>
                </a:solidFill>
                <a:latin typeface="Noto Sans CJK SC"/>
              </a:endParaRPr>
            </a:p>
          </p:txBody>
        </p:sp>
        <p:sp>
          <p:nvSpPr>
            <p:cNvPr id="69" name="Rounded Rectangle 9"/>
            <p:cNvSpPr/>
            <p:nvPr/>
          </p:nvSpPr>
          <p:spPr>
            <a:xfrm>
              <a:off x="504" y="2362"/>
              <a:ext cx="3156" cy="1181"/>
            </a:xfrm>
            <a:prstGeom prst="roundRect">
              <a:avLst/>
            </a:prstGeom>
            <a:solidFill>
              <a:srgbClr val="FBF9F4"/>
            </a:solidFill>
            <a:ln w="8890">
              <a:solidFill>
                <a:srgbClr val="EBE1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70" name="TextBox 10"/>
            <p:cNvSpPr txBox="1"/>
            <p:nvPr/>
          </p:nvSpPr>
          <p:spPr>
            <a:xfrm>
              <a:off x="504" y="2454"/>
              <a:ext cx="3156" cy="4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>
                  <a:solidFill>
                    <a:srgbClr val="B08548"/>
                  </a:solidFill>
                  <a:latin typeface="Noto Sans CJK SC"/>
                </a:rPr>
                <a:t>WORLD</a:t>
              </a:r>
              <a:endParaRPr sz="2800" b="1">
                <a:solidFill>
                  <a:srgbClr val="B08548"/>
                </a:solidFill>
                <a:latin typeface="Noto Sans CJK SC"/>
              </a:endParaRPr>
            </a:p>
          </p:txBody>
        </p:sp>
        <p:sp>
          <p:nvSpPr>
            <p:cNvPr id="73" name="TextBox 13"/>
            <p:cNvSpPr txBox="1"/>
            <p:nvPr/>
          </p:nvSpPr>
          <p:spPr>
            <a:xfrm>
              <a:off x="605" y="3627"/>
              <a:ext cx="2955" cy="74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0">
                  <a:solidFill>
                    <a:srgbClr val="1C1B19"/>
                  </a:solidFill>
                  <a:latin typeface="Noto Sans CJK SC"/>
                </a:rPr>
                <a:t>探索虚拟世界，认识不同 AI Pet
互动、共同经历，形成基础记忆</a:t>
              </a:r>
              <a:endParaRPr sz="1400" b="0">
                <a:solidFill>
                  <a:srgbClr val="1C1B19"/>
                </a:solidFill>
                <a:latin typeface="Noto Sans CJK SC"/>
              </a:endParaRPr>
            </a:p>
          </p:txBody>
        </p:sp>
        <p:sp>
          <p:nvSpPr>
            <p:cNvPr id="74" name="Rounded Rectangle 14"/>
            <p:cNvSpPr/>
            <p:nvPr/>
          </p:nvSpPr>
          <p:spPr>
            <a:xfrm>
              <a:off x="763" y="4464"/>
              <a:ext cx="2638" cy="403"/>
            </a:xfrm>
            <a:prstGeom prst="roundRect">
              <a:avLst/>
            </a:prstGeom>
            <a:solidFill>
              <a:srgbClr val="F2EADB"/>
            </a:solidFill>
            <a:ln w="8890">
              <a:solidFill>
                <a:srgbClr val="F2EAD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75" name="TextBox 15"/>
            <p:cNvSpPr txBox="1"/>
            <p:nvPr/>
          </p:nvSpPr>
          <p:spPr>
            <a:xfrm>
              <a:off x="806" y="4546"/>
              <a:ext cx="2552" cy="24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>
                  <a:solidFill>
                    <a:srgbClr val="1C1B19"/>
                  </a:solidFill>
                  <a:latin typeface="Noto Sans CJK SC"/>
                </a:rPr>
                <a:t>商业模式： FREE</a:t>
              </a:r>
              <a:endParaRPr sz="1400" b="1">
                <a:solidFill>
                  <a:srgbClr val="1C1B19"/>
                </a:solidFill>
                <a:latin typeface="Noto Sans CJK SC"/>
              </a:endParaRPr>
            </a:p>
          </p:txBody>
        </p:sp>
        <p:sp>
          <p:nvSpPr>
            <p:cNvPr id="76" name="TextBox 16"/>
            <p:cNvSpPr txBox="1"/>
            <p:nvPr/>
          </p:nvSpPr>
          <p:spPr>
            <a:xfrm>
              <a:off x="576" y="5033"/>
              <a:ext cx="3012" cy="21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0">
                  <a:solidFill>
                    <a:srgbClr val="1C1B19"/>
                  </a:solidFill>
                  <a:latin typeface="Noto Sans CJK SC"/>
                </a:rPr>
                <a:t>目标：最大化关系形成率</a:t>
              </a:r>
              <a:endParaRPr sz="1200" b="0">
                <a:solidFill>
                  <a:srgbClr val="1C1B19"/>
                </a:solidFill>
                <a:latin typeface="Noto Sans CJK SC"/>
              </a:endParaRPr>
            </a:p>
          </p:txBody>
        </p:sp>
        <p:cxnSp>
          <p:nvCxnSpPr>
            <p:cNvPr id="77" name="Connector 17"/>
            <p:cNvCxnSpPr/>
            <p:nvPr/>
          </p:nvCxnSpPr>
          <p:spPr>
            <a:xfrm>
              <a:off x="547" y="5371"/>
              <a:ext cx="3070" cy="0"/>
            </a:xfrm>
            <a:prstGeom prst="line">
              <a:avLst/>
            </a:prstGeom>
            <a:ln w="7620">
              <a:solidFill>
                <a:srgbClr val="E1D6C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18"/>
            <p:cNvSpPr txBox="1"/>
            <p:nvPr/>
          </p:nvSpPr>
          <p:spPr>
            <a:xfrm>
              <a:off x="547" y="5518"/>
              <a:ext cx="3070" cy="36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0">
                  <a:solidFill>
                    <a:srgbClr val="1C1B19"/>
                  </a:solidFill>
                  <a:latin typeface="Noto Sans CJK SC"/>
                </a:rPr>
                <a:t>核心指标
D1/D7/D30 留存｜互动深度</a:t>
              </a:r>
              <a:endParaRPr sz="1200" b="0">
                <a:solidFill>
                  <a:srgbClr val="1C1B19"/>
                </a:solidFill>
                <a:latin typeface="Noto Sans CJK SC"/>
              </a:endParaRPr>
            </a:p>
          </p:txBody>
        </p:sp>
        <p:cxnSp>
          <p:nvCxnSpPr>
            <p:cNvPr id="79" name="Connector 19"/>
            <p:cNvCxnSpPr/>
            <p:nvPr/>
          </p:nvCxnSpPr>
          <p:spPr>
            <a:xfrm>
              <a:off x="3905" y="1382"/>
              <a:ext cx="0" cy="4594"/>
            </a:xfrm>
            <a:prstGeom prst="line">
              <a:avLst/>
            </a:prstGeom>
            <a:ln w="8890">
              <a:solidFill>
                <a:srgbClr val="E1D6C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Oval 20"/>
            <p:cNvSpPr/>
            <p:nvPr/>
          </p:nvSpPr>
          <p:spPr>
            <a:xfrm>
              <a:off x="4308" y="1526"/>
              <a:ext cx="504" cy="504"/>
            </a:xfrm>
            <a:prstGeom prst="ellipse">
              <a:avLst/>
            </a:prstGeom>
            <a:solidFill>
              <a:srgbClr val="26895B"/>
            </a:solidFill>
            <a:ln>
              <a:solidFill>
                <a:srgbClr val="2689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81" name="TextBox 21"/>
            <p:cNvSpPr txBox="1"/>
            <p:nvPr/>
          </p:nvSpPr>
          <p:spPr>
            <a:xfrm>
              <a:off x="4222" y="1634"/>
              <a:ext cx="591" cy="28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b="1">
                  <a:solidFill>
                    <a:srgbClr val="FFFFFF"/>
                  </a:solidFill>
                  <a:latin typeface="Noto Sans CJK SC"/>
                </a:rPr>
                <a:t>02</a:t>
              </a:r>
              <a:endParaRPr b="1">
                <a:solidFill>
                  <a:srgbClr val="FFFFFF"/>
                </a:solidFill>
                <a:latin typeface="Noto Sans CJK SC"/>
              </a:endParaRPr>
            </a:p>
          </p:txBody>
        </p:sp>
        <p:sp>
          <p:nvSpPr>
            <p:cNvPr id="82" name="TextBox 22"/>
            <p:cNvSpPr txBox="1"/>
            <p:nvPr/>
          </p:nvSpPr>
          <p:spPr>
            <a:xfrm>
              <a:off x="4942" y="1553"/>
              <a:ext cx="2422" cy="31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2000" b="1">
                  <a:solidFill>
                    <a:srgbClr val="26895B"/>
                  </a:solidFill>
                  <a:latin typeface="Noto Sans CJK SC"/>
                </a:rPr>
                <a:t>领养专属 Pet</a:t>
              </a:r>
              <a:endParaRPr sz="2000" b="1">
                <a:solidFill>
                  <a:srgbClr val="26895B"/>
                </a:solidFill>
                <a:latin typeface="Noto Sans CJK SC"/>
              </a:endParaRPr>
            </a:p>
          </p:txBody>
        </p:sp>
        <p:sp>
          <p:nvSpPr>
            <p:cNvPr id="83" name="TextBox 23"/>
            <p:cNvSpPr txBox="1"/>
            <p:nvPr/>
          </p:nvSpPr>
          <p:spPr>
            <a:xfrm>
              <a:off x="4942" y="1940"/>
              <a:ext cx="2422" cy="24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0">
                  <a:solidFill>
                    <a:srgbClr val="26895B"/>
                  </a:solidFill>
                  <a:latin typeface="Noto Sans CJK SC"/>
                </a:rPr>
                <a:t>关系承诺</a:t>
              </a:r>
              <a:endParaRPr sz="1400" b="0">
                <a:solidFill>
                  <a:srgbClr val="26895B"/>
                </a:solidFill>
                <a:latin typeface="Noto Sans CJK SC"/>
              </a:endParaRPr>
            </a:p>
          </p:txBody>
        </p:sp>
        <p:sp>
          <p:nvSpPr>
            <p:cNvPr id="84" name="Rounded Rectangle 24"/>
            <p:cNvSpPr/>
            <p:nvPr/>
          </p:nvSpPr>
          <p:spPr>
            <a:xfrm>
              <a:off x="4150" y="2362"/>
              <a:ext cx="3156" cy="1181"/>
            </a:xfrm>
            <a:prstGeom prst="roundRect">
              <a:avLst/>
            </a:prstGeom>
            <a:solidFill>
              <a:srgbClr val="FBF9F4"/>
            </a:solidFill>
            <a:ln w="8890">
              <a:solidFill>
                <a:srgbClr val="EBE1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85" name="TextBox 25"/>
            <p:cNvSpPr txBox="1"/>
            <p:nvPr/>
          </p:nvSpPr>
          <p:spPr>
            <a:xfrm>
              <a:off x="4150" y="2454"/>
              <a:ext cx="3156" cy="4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>
                  <a:solidFill>
                    <a:srgbClr val="26895B"/>
                  </a:solidFill>
                  <a:latin typeface="Noto Sans CJK SC"/>
                </a:rPr>
                <a:t>PET</a:t>
              </a:r>
              <a:endParaRPr sz="2800" b="1">
                <a:solidFill>
                  <a:srgbClr val="26895B"/>
                </a:solidFill>
                <a:latin typeface="Noto Sans CJK SC"/>
              </a:endParaRPr>
            </a:p>
          </p:txBody>
        </p:sp>
        <p:sp>
          <p:nvSpPr>
            <p:cNvPr id="88" name="TextBox 28"/>
            <p:cNvSpPr txBox="1"/>
            <p:nvPr/>
          </p:nvSpPr>
          <p:spPr>
            <a:xfrm>
              <a:off x="4251" y="3799"/>
              <a:ext cx="2955" cy="4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0">
                  <a:solidFill>
                    <a:srgbClr val="1C1B19"/>
                  </a:solidFill>
                  <a:latin typeface="Noto Sans CJK SC"/>
                </a:rPr>
                <a:t>选择并领养你的专属 Pet
它开始记得你，形成专属羁绊</a:t>
              </a:r>
              <a:endParaRPr sz="1400" b="0">
                <a:solidFill>
                  <a:srgbClr val="1C1B19"/>
                </a:solidFill>
                <a:latin typeface="Noto Sans CJK SC"/>
              </a:endParaRPr>
            </a:p>
          </p:txBody>
        </p:sp>
        <p:sp>
          <p:nvSpPr>
            <p:cNvPr id="89" name="Rounded Rectangle 29"/>
            <p:cNvSpPr/>
            <p:nvPr/>
          </p:nvSpPr>
          <p:spPr>
            <a:xfrm>
              <a:off x="4409" y="4464"/>
              <a:ext cx="2638" cy="403"/>
            </a:xfrm>
            <a:prstGeom prst="roundRect">
              <a:avLst/>
            </a:prstGeom>
            <a:solidFill>
              <a:srgbClr val="E5EDD8"/>
            </a:solidFill>
            <a:ln w="8890">
              <a:solidFill>
                <a:srgbClr val="2689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90" name="TextBox 30"/>
            <p:cNvSpPr txBox="1"/>
            <p:nvPr/>
          </p:nvSpPr>
          <p:spPr>
            <a:xfrm>
              <a:off x="4452" y="4546"/>
              <a:ext cx="2552" cy="24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>
                  <a:solidFill>
                    <a:srgbClr val="1C1B19"/>
                  </a:solidFill>
                  <a:latin typeface="Noto Sans CJK SC"/>
                </a:rPr>
                <a:t>商业模式： FREE</a:t>
              </a:r>
              <a:endParaRPr sz="1400" b="1">
                <a:solidFill>
                  <a:srgbClr val="1C1B19"/>
                </a:solidFill>
                <a:latin typeface="Noto Sans CJK SC"/>
              </a:endParaRPr>
            </a:p>
          </p:txBody>
        </p:sp>
        <p:sp>
          <p:nvSpPr>
            <p:cNvPr id="91" name="TextBox 31"/>
            <p:cNvSpPr txBox="1"/>
            <p:nvPr/>
          </p:nvSpPr>
          <p:spPr>
            <a:xfrm>
              <a:off x="4222" y="5033"/>
              <a:ext cx="3012" cy="21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0">
                  <a:solidFill>
                    <a:srgbClr val="1C1B19"/>
                  </a:solidFill>
                  <a:latin typeface="Noto Sans CJK SC"/>
                </a:rPr>
                <a:t>目标：提升领养与留存</a:t>
              </a:r>
              <a:endParaRPr sz="1200" b="0">
                <a:solidFill>
                  <a:srgbClr val="1C1B19"/>
                </a:solidFill>
                <a:latin typeface="Noto Sans CJK SC"/>
              </a:endParaRPr>
            </a:p>
          </p:txBody>
        </p:sp>
        <p:cxnSp>
          <p:nvCxnSpPr>
            <p:cNvPr id="92" name="Connector 32"/>
            <p:cNvCxnSpPr/>
            <p:nvPr/>
          </p:nvCxnSpPr>
          <p:spPr>
            <a:xfrm>
              <a:off x="4193" y="5371"/>
              <a:ext cx="3070" cy="0"/>
            </a:xfrm>
            <a:prstGeom prst="line">
              <a:avLst/>
            </a:prstGeom>
            <a:ln w="7620">
              <a:solidFill>
                <a:srgbClr val="E1D6C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33"/>
            <p:cNvSpPr txBox="1"/>
            <p:nvPr/>
          </p:nvSpPr>
          <p:spPr>
            <a:xfrm>
              <a:off x="4193" y="5518"/>
              <a:ext cx="3070" cy="36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0">
                  <a:solidFill>
                    <a:srgbClr val="1C1B19"/>
                  </a:solidFill>
                  <a:latin typeface="Noto Sans CJK SC"/>
                </a:rPr>
                <a:t>核心指标
领养率｜领养后留存提升</a:t>
              </a:r>
              <a:endParaRPr sz="1200" b="0">
                <a:solidFill>
                  <a:srgbClr val="1C1B19"/>
                </a:solidFill>
                <a:latin typeface="Noto Sans CJK SC"/>
              </a:endParaRPr>
            </a:p>
          </p:txBody>
        </p:sp>
        <p:cxnSp>
          <p:nvCxnSpPr>
            <p:cNvPr id="94" name="Connector 34"/>
            <p:cNvCxnSpPr/>
            <p:nvPr/>
          </p:nvCxnSpPr>
          <p:spPr>
            <a:xfrm>
              <a:off x="7551" y="1382"/>
              <a:ext cx="0" cy="4594"/>
            </a:xfrm>
            <a:prstGeom prst="line">
              <a:avLst/>
            </a:prstGeom>
            <a:ln w="8890">
              <a:solidFill>
                <a:srgbClr val="E1D6C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Oval 35"/>
            <p:cNvSpPr/>
            <p:nvPr/>
          </p:nvSpPr>
          <p:spPr>
            <a:xfrm>
              <a:off x="7955" y="1526"/>
              <a:ext cx="504" cy="504"/>
            </a:xfrm>
            <a:prstGeom prst="ellipse">
              <a:avLst/>
            </a:prstGeom>
            <a:solidFill>
              <a:srgbClr val="654D9D"/>
            </a:solidFill>
            <a:ln>
              <a:solidFill>
                <a:srgbClr val="654D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96" name="TextBox 36"/>
            <p:cNvSpPr txBox="1"/>
            <p:nvPr/>
          </p:nvSpPr>
          <p:spPr>
            <a:xfrm>
              <a:off x="7897" y="1634"/>
              <a:ext cx="563" cy="28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b="1">
                  <a:solidFill>
                    <a:srgbClr val="FFFFFF"/>
                  </a:solidFill>
                  <a:latin typeface="Noto Sans CJK SC"/>
                </a:rPr>
                <a:t>03</a:t>
              </a:r>
              <a:endParaRPr b="1">
                <a:solidFill>
                  <a:srgbClr val="FFFFFF"/>
                </a:solidFill>
                <a:latin typeface="Noto Sans CJK SC"/>
              </a:endParaRPr>
            </a:p>
          </p:txBody>
        </p:sp>
        <p:sp>
          <p:nvSpPr>
            <p:cNvPr id="97" name="TextBox 37"/>
            <p:cNvSpPr txBox="1"/>
            <p:nvPr/>
          </p:nvSpPr>
          <p:spPr>
            <a:xfrm>
              <a:off x="8588" y="1553"/>
              <a:ext cx="2422" cy="31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2000" b="1">
                  <a:solidFill>
                    <a:srgbClr val="654D9D"/>
                  </a:solidFill>
                  <a:latin typeface="Noto Sans CJK SC"/>
                </a:rPr>
                <a:t>深化陪伴关系</a:t>
              </a:r>
              <a:endParaRPr sz="2000" b="1">
                <a:solidFill>
                  <a:srgbClr val="654D9D"/>
                </a:solidFill>
                <a:latin typeface="Noto Sans CJK SC"/>
              </a:endParaRPr>
            </a:p>
          </p:txBody>
        </p:sp>
        <p:sp>
          <p:nvSpPr>
            <p:cNvPr id="98" name="TextBox 38"/>
            <p:cNvSpPr txBox="1"/>
            <p:nvPr/>
          </p:nvSpPr>
          <p:spPr>
            <a:xfrm>
              <a:off x="8588" y="1940"/>
              <a:ext cx="2422" cy="24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0">
                  <a:solidFill>
                    <a:srgbClr val="654D9D"/>
                  </a:solidFill>
                  <a:latin typeface="Noto Sans CJK SC"/>
                </a:rPr>
                <a:t>更深的共同生活</a:t>
              </a:r>
              <a:endParaRPr sz="1400" b="0">
                <a:solidFill>
                  <a:srgbClr val="654D9D"/>
                </a:solidFill>
                <a:latin typeface="Noto Sans CJK SC"/>
              </a:endParaRPr>
            </a:p>
          </p:txBody>
        </p:sp>
        <p:sp>
          <p:nvSpPr>
            <p:cNvPr id="99" name="Rounded Rectangle 39"/>
            <p:cNvSpPr/>
            <p:nvPr/>
          </p:nvSpPr>
          <p:spPr>
            <a:xfrm>
              <a:off x="7796" y="2362"/>
              <a:ext cx="3156" cy="1181"/>
            </a:xfrm>
            <a:prstGeom prst="roundRect">
              <a:avLst/>
            </a:prstGeom>
            <a:solidFill>
              <a:srgbClr val="FBF9F4"/>
            </a:solidFill>
            <a:ln w="8890">
              <a:solidFill>
                <a:srgbClr val="EBE1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00" name="TextBox 40"/>
            <p:cNvSpPr txBox="1"/>
            <p:nvPr/>
          </p:nvSpPr>
          <p:spPr>
            <a:xfrm>
              <a:off x="7796" y="2454"/>
              <a:ext cx="3156" cy="4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>
                  <a:solidFill>
                    <a:srgbClr val="654D9D"/>
                  </a:solidFill>
                  <a:latin typeface="Noto Sans CJK SC"/>
                </a:rPr>
                <a:t>NIGHT</a:t>
              </a:r>
              <a:endParaRPr sz="2800" b="1">
                <a:solidFill>
                  <a:srgbClr val="654D9D"/>
                </a:solidFill>
                <a:latin typeface="Noto Sans CJK SC"/>
              </a:endParaRPr>
            </a:p>
          </p:txBody>
        </p:sp>
        <p:sp>
          <p:nvSpPr>
            <p:cNvPr id="103" name="TextBox 43"/>
            <p:cNvSpPr txBox="1"/>
            <p:nvPr/>
          </p:nvSpPr>
          <p:spPr>
            <a:xfrm>
              <a:off x="7897" y="3715"/>
              <a:ext cx="2955" cy="57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0">
                  <a:solidFill>
                    <a:srgbClr val="1C1B19"/>
                  </a:solidFill>
                  <a:latin typeface="Noto Sans CJK SC"/>
                </a:rPr>
                <a:t>更完整记忆｜Daily Theater
Voice 语音｜更丰富互动
专属空间｜高级 AI 能力</a:t>
              </a:r>
              <a:endParaRPr sz="1400" b="0">
                <a:solidFill>
                  <a:srgbClr val="1C1B19"/>
                </a:solidFill>
                <a:latin typeface="Noto Sans CJK SC"/>
              </a:endParaRPr>
            </a:p>
          </p:txBody>
        </p:sp>
        <p:sp>
          <p:nvSpPr>
            <p:cNvPr id="104" name="Rounded Rectangle 44"/>
            <p:cNvSpPr/>
            <p:nvPr/>
          </p:nvSpPr>
          <p:spPr>
            <a:xfrm>
              <a:off x="8055" y="4464"/>
              <a:ext cx="2638" cy="403"/>
            </a:xfrm>
            <a:prstGeom prst="roundRect">
              <a:avLst/>
            </a:prstGeom>
            <a:solidFill>
              <a:srgbClr val="765BA7"/>
            </a:solidFill>
            <a:ln w="8890">
              <a:solidFill>
                <a:srgbClr val="654D9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05" name="TextBox 45"/>
            <p:cNvSpPr txBox="1"/>
            <p:nvPr/>
          </p:nvSpPr>
          <p:spPr>
            <a:xfrm>
              <a:off x="8099" y="4461"/>
              <a:ext cx="2552" cy="4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Noto Sans CJK SC"/>
                </a:rPr>
                <a:t>商业模式： SUBSCRIPTION</a:t>
              </a:r>
              <a:endParaRPr sz="1400" b="1">
                <a:solidFill>
                  <a:srgbClr val="FFFFFF"/>
                </a:solidFill>
                <a:latin typeface="Noto Sans CJK SC"/>
              </a:endParaRPr>
            </a:p>
          </p:txBody>
        </p:sp>
        <p:sp>
          <p:nvSpPr>
            <p:cNvPr id="106" name="TextBox 46"/>
            <p:cNvSpPr txBox="1"/>
            <p:nvPr/>
          </p:nvSpPr>
          <p:spPr>
            <a:xfrm>
              <a:off x="7868" y="5033"/>
              <a:ext cx="3012" cy="21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0">
                  <a:solidFill>
                    <a:srgbClr val="1C1B19"/>
                  </a:solidFill>
                  <a:latin typeface="Noto Sans CJK SC"/>
                </a:rPr>
                <a:t>目标：提升转化与 ARPPU</a:t>
              </a:r>
              <a:endParaRPr sz="1200" b="0">
                <a:solidFill>
                  <a:srgbClr val="1C1B19"/>
                </a:solidFill>
                <a:latin typeface="Noto Sans CJK SC"/>
              </a:endParaRPr>
            </a:p>
          </p:txBody>
        </p:sp>
        <p:cxnSp>
          <p:nvCxnSpPr>
            <p:cNvPr id="107" name="Connector 47"/>
            <p:cNvCxnSpPr/>
            <p:nvPr/>
          </p:nvCxnSpPr>
          <p:spPr>
            <a:xfrm>
              <a:off x="7839" y="5371"/>
              <a:ext cx="3070" cy="0"/>
            </a:xfrm>
            <a:prstGeom prst="line">
              <a:avLst/>
            </a:prstGeom>
            <a:ln w="7620">
              <a:solidFill>
                <a:srgbClr val="E1D6C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48"/>
            <p:cNvSpPr txBox="1"/>
            <p:nvPr/>
          </p:nvSpPr>
          <p:spPr>
            <a:xfrm>
              <a:off x="7839" y="5518"/>
              <a:ext cx="3070" cy="36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0">
                  <a:solidFill>
                    <a:srgbClr val="1C1B19"/>
                  </a:solidFill>
                  <a:latin typeface="Noto Sans CJK SC"/>
                </a:rPr>
                <a:t>核心指标
付费转化率｜ARPPU｜留存</a:t>
              </a:r>
              <a:endParaRPr sz="1200" b="0">
                <a:solidFill>
                  <a:srgbClr val="1C1B19"/>
                </a:solidFill>
                <a:latin typeface="Noto Sans CJK SC"/>
              </a:endParaRPr>
            </a:p>
          </p:txBody>
        </p:sp>
        <p:cxnSp>
          <p:nvCxnSpPr>
            <p:cNvPr id="109" name="Connector 49"/>
            <p:cNvCxnSpPr/>
            <p:nvPr/>
          </p:nvCxnSpPr>
          <p:spPr>
            <a:xfrm>
              <a:off x="11197" y="1382"/>
              <a:ext cx="0" cy="4594"/>
            </a:xfrm>
            <a:prstGeom prst="line">
              <a:avLst/>
            </a:prstGeom>
            <a:ln w="8890">
              <a:solidFill>
                <a:srgbClr val="E1D6C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Oval 50"/>
            <p:cNvSpPr/>
            <p:nvPr/>
          </p:nvSpPr>
          <p:spPr>
            <a:xfrm>
              <a:off x="11601" y="1526"/>
              <a:ext cx="504" cy="504"/>
            </a:xfrm>
            <a:prstGeom prst="ellipse">
              <a:avLst/>
            </a:prstGeom>
            <a:solidFill>
              <a:srgbClr val="E87E00"/>
            </a:solidFill>
            <a:ln>
              <a:solidFill>
                <a:srgbClr val="E87E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11" name="TextBox 51"/>
            <p:cNvSpPr txBox="1"/>
            <p:nvPr/>
          </p:nvSpPr>
          <p:spPr>
            <a:xfrm>
              <a:off x="11543" y="1634"/>
              <a:ext cx="563" cy="28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b="1">
                  <a:solidFill>
                    <a:srgbClr val="FFFFFF"/>
                  </a:solidFill>
                  <a:latin typeface="Noto Sans CJK SC"/>
                </a:rPr>
                <a:t>04</a:t>
              </a:r>
              <a:endParaRPr b="1">
                <a:solidFill>
                  <a:srgbClr val="FFFFFF"/>
                </a:solidFill>
                <a:latin typeface="Noto Sans CJK SC"/>
              </a:endParaRPr>
            </a:p>
          </p:txBody>
        </p:sp>
        <p:sp>
          <p:nvSpPr>
            <p:cNvPr id="112" name="TextBox 52"/>
            <p:cNvSpPr txBox="1"/>
            <p:nvPr/>
          </p:nvSpPr>
          <p:spPr>
            <a:xfrm>
              <a:off x="12234" y="1553"/>
              <a:ext cx="2422" cy="31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2000" b="1">
                  <a:solidFill>
                    <a:srgbClr val="E87E00"/>
                  </a:solidFill>
                  <a:latin typeface="Noto Sans CJK SC"/>
                </a:rPr>
                <a:t>表达与经营关系</a:t>
              </a:r>
              <a:endParaRPr sz="2000" b="1">
                <a:solidFill>
                  <a:srgbClr val="E87E00"/>
                </a:solidFill>
                <a:latin typeface="Noto Sans CJK SC"/>
              </a:endParaRPr>
            </a:p>
          </p:txBody>
        </p:sp>
        <p:sp>
          <p:nvSpPr>
            <p:cNvPr id="113" name="TextBox 53"/>
            <p:cNvSpPr txBox="1"/>
            <p:nvPr/>
          </p:nvSpPr>
          <p:spPr>
            <a:xfrm>
              <a:off x="12234" y="1940"/>
              <a:ext cx="2422" cy="24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0">
                  <a:solidFill>
                    <a:srgbClr val="E87E00"/>
                  </a:solidFill>
                  <a:latin typeface="Noto Sans CJK SC"/>
                </a:rPr>
                <a:t>共同生活的仪式感</a:t>
              </a:r>
              <a:endParaRPr sz="1400" b="0">
                <a:solidFill>
                  <a:srgbClr val="E87E00"/>
                </a:solidFill>
                <a:latin typeface="Noto Sans CJK SC"/>
              </a:endParaRPr>
            </a:p>
          </p:txBody>
        </p:sp>
        <p:sp>
          <p:nvSpPr>
            <p:cNvPr id="114" name="Rounded Rectangle 54"/>
            <p:cNvSpPr/>
            <p:nvPr/>
          </p:nvSpPr>
          <p:spPr>
            <a:xfrm>
              <a:off x="11442" y="2362"/>
              <a:ext cx="3156" cy="1181"/>
            </a:xfrm>
            <a:prstGeom prst="roundRect">
              <a:avLst/>
            </a:prstGeom>
            <a:solidFill>
              <a:srgbClr val="FBF9F4"/>
            </a:solidFill>
            <a:ln w="8890">
              <a:solidFill>
                <a:srgbClr val="EBE1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15" name="TextBox 55"/>
            <p:cNvSpPr txBox="1"/>
            <p:nvPr/>
          </p:nvSpPr>
          <p:spPr>
            <a:xfrm>
              <a:off x="11442" y="2454"/>
              <a:ext cx="3156" cy="4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>
                  <a:solidFill>
                    <a:srgbClr val="E87E00"/>
                  </a:solidFill>
                  <a:latin typeface="Noto Sans CJK SC"/>
                </a:rPr>
                <a:t>HOME</a:t>
              </a:r>
              <a:endParaRPr sz="2800" b="1">
                <a:solidFill>
                  <a:srgbClr val="E87E00"/>
                </a:solidFill>
                <a:latin typeface="Noto Sans CJK SC"/>
              </a:endParaRPr>
            </a:p>
          </p:txBody>
        </p:sp>
        <p:sp>
          <p:nvSpPr>
            <p:cNvPr id="117" name="TextBox 57"/>
            <p:cNvSpPr txBox="1"/>
            <p:nvPr/>
          </p:nvSpPr>
          <p:spPr>
            <a:xfrm>
              <a:off x="11543" y="3714"/>
              <a:ext cx="2955" cy="57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0">
                  <a:solidFill>
                    <a:srgbClr val="1C1B19"/>
                  </a:solidFill>
                  <a:latin typeface="Noto Sans CJK SC"/>
                </a:rPr>
                <a:t>家园装扮｜服装饰品｜礼物
旅行打卡｜特殊活动｜更多 Pet</a:t>
              </a:r>
              <a:endParaRPr sz="1400" b="0">
                <a:solidFill>
                  <a:srgbClr val="1C1B19"/>
                </a:solidFill>
                <a:latin typeface="Noto Sans CJK SC"/>
              </a:endParaRPr>
            </a:p>
          </p:txBody>
        </p:sp>
        <p:sp>
          <p:nvSpPr>
            <p:cNvPr id="118" name="Rounded Rectangle 58"/>
            <p:cNvSpPr/>
            <p:nvPr/>
          </p:nvSpPr>
          <p:spPr>
            <a:xfrm>
              <a:off x="11701" y="4464"/>
              <a:ext cx="2638" cy="403"/>
            </a:xfrm>
            <a:prstGeom prst="roundRect">
              <a:avLst/>
            </a:prstGeom>
            <a:solidFill>
              <a:srgbClr val="EB8100"/>
            </a:solidFill>
            <a:ln w="8890">
              <a:solidFill>
                <a:srgbClr val="E87E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19" name="TextBox 59"/>
            <p:cNvSpPr txBox="1"/>
            <p:nvPr/>
          </p:nvSpPr>
          <p:spPr>
            <a:xfrm>
              <a:off x="11745" y="4461"/>
              <a:ext cx="2552" cy="4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Noto Sans CJK SC"/>
                </a:rPr>
                <a:t>商业模式： VIRTUAL GOODS</a:t>
              </a:r>
              <a:endParaRPr sz="1400" b="1">
                <a:solidFill>
                  <a:srgbClr val="FFFFFF"/>
                </a:solidFill>
                <a:latin typeface="Noto Sans CJK SC"/>
              </a:endParaRPr>
            </a:p>
          </p:txBody>
        </p:sp>
        <p:sp>
          <p:nvSpPr>
            <p:cNvPr id="120" name="TextBox 60"/>
            <p:cNvSpPr txBox="1"/>
            <p:nvPr/>
          </p:nvSpPr>
          <p:spPr>
            <a:xfrm>
              <a:off x="11514" y="5033"/>
              <a:ext cx="3012" cy="21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0">
                  <a:solidFill>
                    <a:srgbClr val="1C1B19"/>
                  </a:solidFill>
                  <a:latin typeface="Noto Sans CJK SC"/>
                </a:rPr>
                <a:t>目标：提升 ARPPU</a:t>
              </a:r>
              <a:endParaRPr sz="1200" b="0">
                <a:solidFill>
                  <a:srgbClr val="1C1B19"/>
                </a:solidFill>
                <a:latin typeface="Noto Sans CJK SC"/>
              </a:endParaRPr>
            </a:p>
          </p:txBody>
        </p:sp>
        <p:cxnSp>
          <p:nvCxnSpPr>
            <p:cNvPr id="121" name="Connector 61"/>
            <p:cNvCxnSpPr/>
            <p:nvPr/>
          </p:nvCxnSpPr>
          <p:spPr>
            <a:xfrm>
              <a:off x="11485" y="5371"/>
              <a:ext cx="3070" cy="0"/>
            </a:xfrm>
            <a:prstGeom prst="line">
              <a:avLst/>
            </a:prstGeom>
            <a:ln w="7620">
              <a:solidFill>
                <a:srgbClr val="E1D6C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TextBox 62"/>
            <p:cNvSpPr txBox="1"/>
            <p:nvPr/>
          </p:nvSpPr>
          <p:spPr>
            <a:xfrm>
              <a:off x="11485" y="5518"/>
              <a:ext cx="3070" cy="36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0">
                  <a:solidFill>
                    <a:srgbClr val="1C1B19"/>
                  </a:solidFill>
                  <a:latin typeface="Noto Sans CJK SC"/>
                </a:rPr>
                <a:t>核心指标
ARPPU｜虚拟消费渗透率</a:t>
              </a:r>
              <a:endParaRPr sz="1200" b="0">
                <a:solidFill>
                  <a:srgbClr val="1C1B19"/>
                </a:solidFill>
                <a:latin typeface="Noto Sans CJK SC"/>
              </a:endParaRPr>
            </a:p>
          </p:txBody>
        </p:sp>
        <p:cxnSp>
          <p:nvCxnSpPr>
            <p:cNvPr id="123" name="Connector 63"/>
            <p:cNvCxnSpPr/>
            <p:nvPr/>
          </p:nvCxnSpPr>
          <p:spPr>
            <a:xfrm>
              <a:off x="14844" y="1382"/>
              <a:ext cx="0" cy="4594"/>
            </a:xfrm>
            <a:prstGeom prst="line">
              <a:avLst/>
            </a:prstGeom>
            <a:ln w="8890">
              <a:solidFill>
                <a:srgbClr val="E1D6C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Oval 64"/>
            <p:cNvSpPr/>
            <p:nvPr/>
          </p:nvSpPr>
          <p:spPr>
            <a:xfrm>
              <a:off x="15247" y="1526"/>
              <a:ext cx="504" cy="504"/>
            </a:xfrm>
            <a:prstGeom prst="ellipse">
              <a:avLst/>
            </a:prstGeom>
            <a:solidFill>
              <a:srgbClr val="DF371C"/>
            </a:solidFill>
            <a:ln>
              <a:solidFill>
                <a:srgbClr val="DF37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25" name="TextBox 65"/>
            <p:cNvSpPr txBox="1"/>
            <p:nvPr/>
          </p:nvSpPr>
          <p:spPr>
            <a:xfrm>
              <a:off x="15160" y="1634"/>
              <a:ext cx="591" cy="28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b="1">
                  <a:solidFill>
                    <a:srgbClr val="FFFFFF"/>
                  </a:solidFill>
                  <a:latin typeface="Noto Sans CJK SC"/>
                </a:rPr>
                <a:t>05</a:t>
              </a:r>
              <a:endParaRPr b="1">
                <a:solidFill>
                  <a:srgbClr val="FFFFFF"/>
                </a:solidFill>
                <a:latin typeface="Noto Sans CJK SC"/>
              </a:endParaRPr>
            </a:p>
          </p:txBody>
        </p:sp>
        <p:sp>
          <p:nvSpPr>
            <p:cNvPr id="126" name="TextBox 66"/>
            <p:cNvSpPr txBox="1"/>
            <p:nvPr/>
          </p:nvSpPr>
          <p:spPr>
            <a:xfrm>
              <a:off x="15880" y="1553"/>
              <a:ext cx="2422" cy="31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2000" b="1">
                  <a:solidFill>
                    <a:srgbClr val="DF371C"/>
                  </a:solidFill>
                  <a:latin typeface="Noto Sans CJK SC"/>
                </a:rPr>
                <a:t>进入现实世界</a:t>
              </a:r>
              <a:endParaRPr sz="2000" b="1">
                <a:solidFill>
                  <a:srgbClr val="DF371C"/>
                </a:solidFill>
                <a:latin typeface="Noto Sans CJK SC"/>
              </a:endParaRPr>
            </a:p>
          </p:txBody>
        </p:sp>
        <p:sp>
          <p:nvSpPr>
            <p:cNvPr id="127" name="TextBox 67"/>
            <p:cNvSpPr txBox="1"/>
            <p:nvPr/>
          </p:nvSpPr>
          <p:spPr>
            <a:xfrm>
              <a:off x="15880" y="1940"/>
              <a:ext cx="2422" cy="24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0">
                  <a:solidFill>
                    <a:srgbClr val="DF371C"/>
                  </a:solidFill>
                  <a:latin typeface="Noto Sans CJK SC"/>
                </a:rPr>
                <a:t>现实陪伴</a:t>
              </a:r>
              <a:endParaRPr sz="1400" b="0">
                <a:solidFill>
                  <a:srgbClr val="DF371C"/>
                </a:solidFill>
                <a:latin typeface="Noto Sans CJK SC"/>
              </a:endParaRPr>
            </a:p>
          </p:txBody>
        </p:sp>
        <p:sp>
          <p:nvSpPr>
            <p:cNvPr id="128" name="Rounded Rectangle 68"/>
            <p:cNvSpPr/>
            <p:nvPr/>
          </p:nvSpPr>
          <p:spPr>
            <a:xfrm>
              <a:off x="15088" y="2362"/>
              <a:ext cx="3156" cy="1181"/>
            </a:xfrm>
            <a:prstGeom prst="roundRect">
              <a:avLst/>
            </a:prstGeom>
            <a:solidFill>
              <a:srgbClr val="FBF9F4"/>
            </a:solidFill>
            <a:ln w="8890">
              <a:solidFill>
                <a:srgbClr val="EBE1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29" name="TextBox 69"/>
            <p:cNvSpPr txBox="1"/>
            <p:nvPr/>
          </p:nvSpPr>
          <p:spPr>
            <a:xfrm>
              <a:off x="15088" y="2454"/>
              <a:ext cx="3156" cy="4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800" b="1">
                  <a:solidFill>
                    <a:srgbClr val="DF371C"/>
                  </a:solidFill>
                  <a:latin typeface="Noto Sans CJK SC"/>
                </a:rPr>
                <a:t>BODY</a:t>
              </a:r>
              <a:endParaRPr sz="2800" b="1">
                <a:solidFill>
                  <a:srgbClr val="DF371C"/>
                </a:solidFill>
                <a:latin typeface="Noto Sans CJK SC"/>
              </a:endParaRPr>
            </a:p>
          </p:txBody>
        </p:sp>
        <p:sp>
          <p:nvSpPr>
            <p:cNvPr id="131" name="TextBox 71"/>
            <p:cNvSpPr txBox="1"/>
            <p:nvPr/>
          </p:nvSpPr>
          <p:spPr>
            <a:xfrm>
              <a:off x="15189" y="3799"/>
              <a:ext cx="2955" cy="4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0">
                  <a:solidFill>
                    <a:srgbClr val="1C1B19"/>
                  </a:solidFill>
                  <a:latin typeface="Noto Sans CJK SC"/>
                </a:rPr>
                <a:t>同一个 Mind，进入不同 Body
让你的 Pet 来到你身边</a:t>
              </a:r>
              <a:endParaRPr sz="1400" b="0">
                <a:solidFill>
                  <a:srgbClr val="1C1B19"/>
                </a:solidFill>
                <a:latin typeface="Noto Sans CJK SC"/>
              </a:endParaRPr>
            </a:p>
          </p:txBody>
        </p:sp>
        <p:sp>
          <p:nvSpPr>
            <p:cNvPr id="132" name="Rounded Rectangle 72"/>
            <p:cNvSpPr/>
            <p:nvPr/>
          </p:nvSpPr>
          <p:spPr>
            <a:xfrm>
              <a:off x="15348" y="4464"/>
              <a:ext cx="2638" cy="403"/>
            </a:xfrm>
            <a:prstGeom prst="roundRect">
              <a:avLst/>
            </a:prstGeom>
            <a:solidFill>
              <a:srgbClr val="DF371C"/>
            </a:solidFill>
            <a:ln w="8890">
              <a:solidFill>
                <a:srgbClr val="DF37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33" name="TextBox 73"/>
            <p:cNvSpPr txBox="1"/>
            <p:nvPr/>
          </p:nvSpPr>
          <p:spPr>
            <a:xfrm>
              <a:off x="15391" y="4546"/>
              <a:ext cx="2552" cy="24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Noto Sans CJK SC"/>
                </a:rPr>
                <a:t>商业模式： HARDWARE</a:t>
              </a:r>
              <a:endParaRPr sz="1400" b="1">
                <a:solidFill>
                  <a:srgbClr val="FFFFFF"/>
                </a:solidFill>
                <a:latin typeface="Noto Sans CJK SC"/>
              </a:endParaRPr>
            </a:p>
          </p:txBody>
        </p:sp>
        <p:sp>
          <p:nvSpPr>
            <p:cNvPr id="134" name="TextBox 74"/>
            <p:cNvSpPr txBox="1"/>
            <p:nvPr/>
          </p:nvSpPr>
          <p:spPr>
            <a:xfrm>
              <a:off x="15160" y="5033"/>
              <a:ext cx="3012" cy="21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0">
                  <a:solidFill>
                    <a:srgbClr val="1C1B19"/>
                  </a:solidFill>
                  <a:latin typeface="Noto Sans CJK SC"/>
                </a:rPr>
                <a:t>目标：提升 LTV</a:t>
              </a:r>
              <a:endParaRPr sz="1200" b="0">
                <a:solidFill>
                  <a:srgbClr val="1C1B19"/>
                </a:solidFill>
                <a:latin typeface="Noto Sans CJK SC"/>
              </a:endParaRPr>
            </a:p>
          </p:txBody>
        </p:sp>
        <p:cxnSp>
          <p:nvCxnSpPr>
            <p:cNvPr id="135" name="Connector 75"/>
            <p:cNvCxnSpPr/>
            <p:nvPr/>
          </p:nvCxnSpPr>
          <p:spPr>
            <a:xfrm>
              <a:off x="15132" y="5371"/>
              <a:ext cx="3070" cy="0"/>
            </a:xfrm>
            <a:prstGeom prst="line">
              <a:avLst/>
            </a:prstGeom>
            <a:ln w="7620">
              <a:solidFill>
                <a:srgbClr val="E1D6C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TextBox 76"/>
            <p:cNvSpPr txBox="1"/>
            <p:nvPr/>
          </p:nvSpPr>
          <p:spPr>
            <a:xfrm>
              <a:off x="15132" y="5518"/>
              <a:ext cx="3070" cy="36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0">
                  <a:solidFill>
                    <a:srgbClr val="1C1B19"/>
                  </a:solidFill>
                  <a:latin typeface="Noto Sans CJK SC"/>
                </a:rPr>
                <a:t>核心指标
购买转化率｜使用频次｜LTV</a:t>
              </a:r>
              <a:endParaRPr sz="1200" b="0">
                <a:solidFill>
                  <a:srgbClr val="1C1B19"/>
                </a:solidFill>
                <a:latin typeface="Noto Sans CJK SC"/>
              </a:endParaRPr>
            </a:p>
          </p:txBody>
        </p:sp>
      </p:grpSp>
      <p:grpSp>
        <p:nvGrpSpPr>
          <p:cNvPr id="160" name="组合 159"/>
          <p:cNvGrpSpPr/>
          <p:nvPr/>
        </p:nvGrpSpPr>
        <p:grpSpPr>
          <a:xfrm>
            <a:off x="1343660" y="2824480"/>
            <a:ext cx="15516860" cy="521970"/>
            <a:chOff x="259" y="6149"/>
            <a:chExt cx="18230" cy="691"/>
          </a:xfrm>
        </p:grpSpPr>
        <p:sp>
          <p:nvSpPr>
            <p:cNvPr id="2" name="Rounded Rectangle 77"/>
            <p:cNvSpPr/>
            <p:nvPr/>
          </p:nvSpPr>
          <p:spPr>
            <a:xfrm>
              <a:off x="259" y="6149"/>
              <a:ext cx="18230" cy="691"/>
            </a:xfrm>
            <a:prstGeom prst="roundRect">
              <a:avLst/>
            </a:prstGeom>
            <a:solidFill>
              <a:srgbClr val="F7F6F1"/>
            </a:solidFill>
            <a:ln w="8890">
              <a:solidFill>
                <a:srgbClr val="E1D6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5" name="TextBox 78"/>
            <p:cNvSpPr txBox="1"/>
            <p:nvPr/>
          </p:nvSpPr>
          <p:spPr>
            <a:xfrm>
              <a:off x="835" y="6201"/>
              <a:ext cx="8136" cy="4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b="1">
                  <a:solidFill>
                    <a:srgbClr val="B08548"/>
                  </a:solidFill>
                  <a:latin typeface="Noto Sans CJK SC"/>
                </a:rPr>
                <a:t>♡  核心逻辑：关系越深，价值越大，商业模式自然升级</a:t>
              </a:r>
              <a:endParaRPr b="1">
                <a:solidFill>
                  <a:srgbClr val="B08548"/>
                </a:solidFill>
                <a:latin typeface="Noto Sans CJK SC"/>
              </a:endParaRPr>
            </a:p>
          </p:txBody>
        </p:sp>
        <p:sp>
          <p:nvSpPr>
            <p:cNvPr id="6" name="Rounded Rectangle 79"/>
            <p:cNvSpPr/>
            <p:nvPr/>
          </p:nvSpPr>
          <p:spPr>
            <a:xfrm>
              <a:off x="9432" y="6221"/>
              <a:ext cx="1483" cy="461"/>
            </a:xfrm>
            <a:prstGeom prst="roundRect">
              <a:avLst/>
            </a:prstGeom>
            <a:solidFill>
              <a:srgbClr val="FBF9F5"/>
            </a:solidFill>
            <a:ln w="8890">
              <a:solidFill>
                <a:srgbClr val="E1D6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7" name="TextBox 80"/>
            <p:cNvSpPr txBox="1"/>
            <p:nvPr/>
          </p:nvSpPr>
          <p:spPr>
            <a:xfrm>
              <a:off x="9533" y="6189"/>
              <a:ext cx="331" cy="5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>
                  <a:solidFill>
                    <a:srgbClr val="B08548"/>
                  </a:solidFill>
                  <a:latin typeface="Noto Sans CJK SC"/>
                </a:rPr>
                <a:t>◉</a:t>
              </a:r>
              <a:endParaRPr sz="2000" b="1">
                <a:solidFill>
                  <a:srgbClr val="B08548"/>
                </a:solidFill>
                <a:latin typeface="Noto Sans CJK SC"/>
              </a:endParaRPr>
            </a:p>
          </p:txBody>
        </p:sp>
        <p:sp>
          <p:nvSpPr>
            <p:cNvPr id="8" name="TextBox 81"/>
            <p:cNvSpPr txBox="1"/>
            <p:nvPr/>
          </p:nvSpPr>
          <p:spPr>
            <a:xfrm>
              <a:off x="9878" y="6270"/>
              <a:ext cx="936" cy="3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0">
                  <a:solidFill>
                    <a:srgbClr val="1C1B19"/>
                  </a:solidFill>
                  <a:latin typeface="Noto Sans CJK SC"/>
                </a:rPr>
                <a:t>认识</a:t>
              </a:r>
              <a:endParaRPr sz="1200" b="0">
                <a:solidFill>
                  <a:srgbClr val="1C1B19"/>
                </a:solidFill>
                <a:latin typeface="Noto Sans CJK SC"/>
              </a:endParaRPr>
            </a:p>
          </p:txBody>
        </p:sp>
        <p:sp>
          <p:nvSpPr>
            <p:cNvPr id="9" name="TextBox 82"/>
            <p:cNvSpPr txBox="1"/>
            <p:nvPr/>
          </p:nvSpPr>
          <p:spPr>
            <a:xfrm>
              <a:off x="10930" y="6208"/>
              <a:ext cx="317" cy="4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b="1">
                  <a:solidFill>
                    <a:srgbClr val="B08548"/>
                  </a:solidFill>
                  <a:latin typeface="Noto Sans CJK SC"/>
                </a:rPr>
                <a:t>→</a:t>
              </a:r>
              <a:endParaRPr b="1">
                <a:solidFill>
                  <a:srgbClr val="B08548"/>
                </a:solidFill>
                <a:latin typeface="Noto Sans CJK SC"/>
              </a:endParaRPr>
            </a:p>
          </p:txBody>
        </p:sp>
        <p:sp>
          <p:nvSpPr>
            <p:cNvPr id="10" name="Rounded Rectangle 83"/>
            <p:cNvSpPr/>
            <p:nvPr/>
          </p:nvSpPr>
          <p:spPr>
            <a:xfrm>
              <a:off x="11304" y="6221"/>
              <a:ext cx="1483" cy="461"/>
            </a:xfrm>
            <a:prstGeom prst="roundRect">
              <a:avLst/>
            </a:prstGeom>
            <a:solidFill>
              <a:srgbClr val="FBF9F5"/>
            </a:solidFill>
            <a:ln w="8890">
              <a:solidFill>
                <a:srgbClr val="E1D6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1" name="TextBox 84"/>
            <p:cNvSpPr txBox="1"/>
            <p:nvPr/>
          </p:nvSpPr>
          <p:spPr>
            <a:xfrm>
              <a:off x="11405" y="6189"/>
              <a:ext cx="331" cy="5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>
                  <a:solidFill>
                    <a:srgbClr val="DF371C"/>
                  </a:solidFill>
                  <a:latin typeface="Noto Sans CJK SC"/>
                </a:rPr>
                <a:t>♥</a:t>
              </a:r>
              <a:endParaRPr sz="2000" b="1">
                <a:solidFill>
                  <a:srgbClr val="DF371C"/>
                </a:solidFill>
                <a:latin typeface="Noto Sans CJK SC"/>
              </a:endParaRPr>
            </a:p>
          </p:txBody>
        </p:sp>
        <p:sp>
          <p:nvSpPr>
            <p:cNvPr id="12" name="TextBox 85"/>
            <p:cNvSpPr txBox="1"/>
            <p:nvPr/>
          </p:nvSpPr>
          <p:spPr>
            <a:xfrm>
              <a:off x="11750" y="6270"/>
              <a:ext cx="936" cy="3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0">
                  <a:solidFill>
                    <a:srgbClr val="1C1B19"/>
                  </a:solidFill>
                  <a:latin typeface="Noto Sans CJK SC"/>
                </a:rPr>
                <a:t>陪伴</a:t>
              </a:r>
              <a:endParaRPr sz="1200" b="0">
                <a:solidFill>
                  <a:srgbClr val="1C1B19"/>
                </a:solidFill>
                <a:latin typeface="Noto Sans CJK SC"/>
              </a:endParaRPr>
            </a:p>
          </p:txBody>
        </p:sp>
        <p:sp>
          <p:nvSpPr>
            <p:cNvPr id="13" name="TextBox 86"/>
            <p:cNvSpPr txBox="1"/>
            <p:nvPr/>
          </p:nvSpPr>
          <p:spPr>
            <a:xfrm>
              <a:off x="12802" y="6208"/>
              <a:ext cx="317" cy="4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b="1">
                  <a:solidFill>
                    <a:srgbClr val="B08548"/>
                  </a:solidFill>
                  <a:latin typeface="Noto Sans CJK SC"/>
                </a:rPr>
                <a:t>→</a:t>
              </a:r>
              <a:endParaRPr b="1">
                <a:solidFill>
                  <a:srgbClr val="B08548"/>
                </a:solidFill>
                <a:latin typeface="Noto Sans CJK SC"/>
              </a:endParaRPr>
            </a:p>
          </p:txBody>
        </p:sp>
        <p:sp>
          <p:nvSpPr>
            <p:cNvPr id="14" name="Rounded Rectangle 87"/>
            <p:cNvSpPr/>
            <p:nvPr/>
          </p:nvSpPr>
          <p:spPr>
            <a:xfrm>
              <a:off x="13176" y="6221"/>
              <a:ext cx="1483" cy="461"/>
            </a:xfrm>
            <a:prstGeom prst="roundRect">
              <a:avLst/>
            </a:prstGeom>
            <a:solidFill>
              <a:srgbClr val="FBF9F5"/>
            </a:solidFill>
            <a:ln w="8890">
              <a:solidFill>
                <a:srgbClr val="E1D6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5" name="TextBox 88"/>
            <p:cNvSpPr txBox="1"/>
            <p:nvPr/>
          </p:nvSpPr>
          <p:spPr>
            <a:xfrm>
              <a:off x="13277" y="6189"/>
              <a:ext cx="331" cy="5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>
                  <a:solidFill>
                    <a:srgbClr val="D64C0C"/>
                  </a:solidFill>
                  <a:latin typeface="Noto Sans CJK SC"/>
                </a:rPr>
                <a:t>⌂</a:t>
              </a:r>
              <a:endParaRPr sz="2000" b="1">
                <a:solidFill>
                  <a:srgbClr val="D64C0C"/>
                </a:solidFill>
                <a:latin typeface="Noto Sans CJK SC"/>
              </a:endParaRPr>
            </a:p>
          </p:txBody>
        </p:sp>
        <p:sp>
          <p:nvSpPr>
            <p:cNvPr id="16" name="TextBox 89"/>
            <p:cNvSpPr txBox="1"/>
            <p:nvPr/>
          </p:nvSpPr>
          <p:spPr>
            <a:xfrm>
              <a:off x="13622" y="6270"/>
              <a:ext cx="936" cy="3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0">
                  <a:solidFill>
                    <a:srgbClr val="1C1B19"/>
                  </a:solidFill>
                  <a:latin typeface="Noto Sans CJK SC"/>
                </a:rPr>
                <a:t>共同生活</a:t>
              </a:r>
              <a:endParaRPr sz="1200" b="0">
                <a:solidFill>
                  <a:srgbClr val="1C1B19"/>
                </a:solidFill>
                <a:latin typeface="Noto Sans CJK SC"/>
              </a:endParaRPr>
            </a:p>
          </p:txBody>
        </p:sp>
        <p:sp>
          <p:nvSpPr>
            <p:cNvPr id="17" name="TextBox 90"/>
            <p:cNvSpPr txBox="1"/>
            <p:nvPr/>
          </p:nvSpPr>
          <p:spPr>
            <a:xfrm>
              <a:off x="14674" y="6208"/>
              <a:ext cx="317" cy="4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b="1">
                  <a:solidFill>
                    <a:srgbClr val="B08548"/>
                  </a:solidFill>
                  <a:latin typeface="Noto Sans CJK SC"/>
                </a:rPr>
                <a:t>→</a:t>
              </a:r>
              <a:endParaRPr b="1">
                <a:solidFill>
                  <a:srgbClr val="B08548"/>
                </a:solidFill>
                <a:latin typeface="Noto Sans CJK SC"/>
              </a:endParaRPr>
            </a:p>
          </p:txBody>
        </p:sp>
        <p:sp>
          <p:nvSpPr>
            <p:cNvPr id="18" name="Rounded Rectangle 91"/>
            <p:cNvSpPr/>
            <p:nvPr/>
          </p:nvSpPr>
          <p:spPr>
            <a:xfrm>
              <a:off x="15048" y="6221"/>
              <a:ext cx="1483" cy="461"/>
            </a:xfrm>
            <a:prstGeom prst="roundRect">
              <a:avLst/>
            </a:prstGeom>
            <a:solidFill>
              <a:srgbClr val="FBF9F5"/>
            </a:solidFill>
            <a:ln w="8890">
              <a:solidFill>
                <a:srgbClr val="E1D6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9" name="TextBox 92"/>
            <p:cNvSpPr txBox="1"/>
            <p:nvPr/>
          </p:nvSpPr>
          <p:spPr>
            <a:xfrm>
              <a:off x="15149" y="6189"/>
              <a:ext cx="331" cy="5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>
                  <a:solidFill>
                    <a:srgbClr val="654D9D"/>
                  </a:solidFill>
                  <a:latin typeface="Noto Sans CJK SC"/>
                </a:rPr>
                <a:t>▣</a:t>
              </a:r>
              <a:endParaRPr sz="2000" b="1">
                <a:solidFill>
                  <a:srgbClr val="654D9D"/>
                </a:solidFill>
                <a:latin typeface="Noto Sans CJK SC"/>
              </a:endParaRPr>
            </a:p>
          </p:txBody>
        </p:sp>
        <p:sp>
          <p:nvSpPr>
            <p:cNvPr id="20" name="TextBox 93"/>
            <p:cNvSpPr txBox="1"/>
            <p:nvPr/>
          </p:nvSpPr>
          <p:spPr>
            <a:xfrm>
              <a:off x="15494" y="6270"/>
              <a:ext cx="936" cy="3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0">
                  <a:solidFill>
                    <a:srgbClr val="1C1B19"/>
                  </a:solidFill>
                  <a:latin typeface="Noto Sans CJK SC"/>
                </a:rPr>
                <a:t>现实陪伴</a:t>
              </a:r>
              <a:endParaRPr sz="1200" b="0">
                <a:solidFill>
                  <a:srgbClr val="1C1B19"/>
                </a:solidFill>
                <a:latin typeface="Noto Sans CJK SC"/>
              </a:endParaRPr>
            </a:p>
          </p:txBody>
        </p:sp>
        <p:sp>
          <p:nvSpPr>
            <p:cNvPr id="21" name="TextBox 94"/>
            <p:cNvSpPr txBox="1"/>
            <p:nvPr/>
          </p:nvSpPr>
          <p:spPr>
            <a:xfrm>
              <a:off x="16546" y="6208"/>
              <a:ext cx="317" cy="4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b="1">
                  <a:solidFill>
                    <a:srgbClr val="B08548"/>
                  </a:solidFill>
                  <a:latin typeface="Noto Sans CJK SC"/>
                </a:rPr>
                <a:t>→</a:t>
              </a:r>
              <a:endParaRPr b="1">
                <a:solidFill>
                  <a:srgbClr val="B08548"/>
                </a:solidFill>
                <a:latin typeface="Noto Sans CJK SC"/>
              </a:endParaRPr>
            </a:p>
          </p:txBody>
        </p:sp>
        <p:sp>
          <p:nvSpPr>
            <p:cNvPr id="22" name="Rounded Rectangle 95"/>
            <p:cNvSpPr/>
            <p:nvPr/>
          </p:nvSpPr>
          <p:spPr>
            <a:xfrm>
              <a:off x="16920" y="6221"/>
              <a:ext cx="1483" cy="461"/>
            </a:xfrm>
            <a:prstGeom prst="roundRect">
              <a:avLst/>
            </a:prstGeom>
            <a:solidFill>
              <a:srgbClr val="FBF9F5"/>
            </a:solidFill>
            <a:ln w="8890">
              <a:solidFill>
                <a:srgbClr val="E1D6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23" name="TextBox 96"/>
            <p:cNvSpPr txBox="1"/>
            <p:nvPr/>
          </p:nvSpPr>
          <p:spPr>
            <a:xfrm>
              <a:off x="17021" y="6189"/>
              <a:ext cx="331" cy="5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>
                  <a:solidFill>
                    <a:srgbClr val="DF371C"/>
                  </a:solidFill>
                  <a:latin typeface="Noto Sans CJK SC"/>
                </a:rPr>
                <a:t>∞</a:t>
              </a:r>
              <a:endParaRPr sz="2000" b="1">
                <a:solidFill>
                  <a:srgbClr val="DF371C"/>
                </a:solidFill>
                <a:latin typeface="Noto Sans CJK SC"/>
              </a:endParaRPr>
            </a:p>
          </p:txBody>
        </p:sp>
        <p:sp>
          <p:nvSpPr>
            <p:cNvPr id="24" name="TextBox 97"/>
            <p:cNvSpPr txBox="1"/>
            <p:nvPr/>
          </p:nvSpPr>
          <p:spPr>
            <a:xfrm>
              <a:off x="17366" y="6270"/>
              <a:ext cx="936" cy="3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0">
                  <a:solidFill>
                    <a:srgbClr val="1C1B19"/>
                  </a:solidFill>
                  <a:latin typeface="Noto Sans CJK SC"/>
                </a:rPr>
                <a:t>长期共生</a:t>
              </a:r>
              <a:endParaRPr sz="1200" b="0">
                <a:solidFill>
                  <a:srgbClr val="1C1B19"/>
                </a:solidFill>
                <a:latin typeface="Noto Sans CJK SC"/>
              </a:endParaRPr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045" y="4903470"/>
            <a:ext cx="2655570" cy="14116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270" y="4903470"/>
            <a:ext cx="1998980" cy="150368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0" y="4903470"/>
            <a:ext cx="2654935" cy="148653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5050" y="4959350"/>
            <a:ext cx="2501265" cy="135572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10995" y="4959350"/>
            <a:ext cx="2638425" cy="1356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79"/>
          <p:cNvSpPr/>
          <p:nvPr/>
        </p:nvSpPr>
        <p:spPr>
          <a:xfrm>
            <a:off x="1372870" y="2842260"/>
            <a:ext cx="10410825" cy="1280160"/>
          </a:xfrm>
          <a:prstGeom prst="roundRect">
            <a:avLst/>
          </a:prstGeom>
          <a:solidFill>
            <a:srgbClr val="F7F6F2"/>
          </a:solidFill>
          <a:ln w="8890">
            <a:solidFill>
              <a:srgbClr val="E0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Rounded Rectangle 20"/>
          <p:cNvSpPr/>
          <p:nvPr/>
        </p:nvSpPr>
        <p:spPr>
          <a:xfrm>
            <a:off x="4690745" y="2965450"/>
            <a:ext cx="3025775" cy="1045210"/>
          </a:xfrm>
          <a:prstGeom prst="roundRect">
            <a:avLst/>
          </a:prstGeom>
          <a:solidFill>
            <a:srgbClr val="F6EFE5"/>
          </a:solidFill>
          <a:ln w="8890">
            <a:solidFill>
              <a:srgbClr val="E4B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Rounded Rectangle 58"/>
          <p:cNvSpPr/>
          <p:nvPr/>
        </p:nvSpPr>
        <p:spPr>
          <a:xfrm>
            <a:off x="12645390" y="2720975"/>
            <a:ext cx="3873500" cy="1670685"/>
          </a:xfrm>
          <a:prstGeom prst="roundRect">
            <a:avLst/>
          </a:prstGeom>
          <a:solidFill>
            <a:srgbClr val="FBF9F5"/>
          </a:solidFill>
          <a:ln w="8890">
            <a:solidFill>
              <a:srgbClr val="E0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" name="Rounded Rectangle 58"/>
          <p:cNvSpPr/>
          <p:nvPr/>
        </p:nvSpPr>
        <p:spPr>
          <a:xfrm>
            <a:off x="14944132" y="5071136"/>
            <a:ext cx="2049446" cy="4650289"/>
          </a:xfrm>
          <a:prstGeom prst="roundRect">
            <a:avLst/>
          </a:prstGeom>
          <a:solidFill>
            <a:srgbClr val="FBF9F5"/>
          </a:solidFill>
          <a:ln w="8890">
            <a:solidFill>
              <a:srgbClr val="E0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Shape 0"/>
          <p:cNvSpPr/>
          <p:nvPr/>
        </p:nvSpPr>
        <p:spPr>
          <a:xfrm>
            <a:off x="0" y="0"/>
            <a:ext cx="171907" cy="10287000"/>
          </a:xfrm>
          <a:prstGeom prst="rect">
            <a:avLst/>
          </a:prstGeom>
          <a:solidFill>
            <a:srgbClr val="16181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融资计划</a:t>
            </a:r>
            <a:endParaRPr lang="en-US" sz="1125" dirty="0"/>
          </a:p>
        </p:txBody>
      </p:sp>
      <p:sp>
        <p:nvSpPr>
          <p:cNvPr id="30" name="Text 16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/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本轮融资计划：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用1000万完成从「产品验证」到「商业闭环」的关键跨越</a:t>
            </a:r>
            <a:endParaRPr lang="en-US" sz="345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31" name="Text 17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/>
            <a:r>
              <a:rPr sz="1725">
                <a:solidFill>
                  <a:srgbClr val="69665E"/>
                </a:solidFill>
                <a:latin typeface="Noto Sans CJK SC"/>
                <a:sym typeface="+mn-ea"/>
              </a:rPr>
              <a:t>本轮资金的核心目标验证产品、关系与硬件商业模式，形成下一轮融资所需的核心里程碑。</a:t>
            </a:r>
            <a:endParaRPr lang="en-US" sz="1725" dirty="0"/>
          </a:p>
        </p:txBody>
      </p:sp>
      <p:sp>
        <p:nvSpPr>
          <p:cNvPr id="50" name="Rounded Rectangle 5"/>
          <p:cNvSpPr/>
          <p:nvPr/>
        </p:nvSpPr>
        <p:spPr>
          <a:xfrm>
            <a:off x="1592580" y="4582795"/>
            <a:ext cx="2835275" cy="5329555"/>
          </a:xfrm>
          <a:prstGeom prst="roundRect">
            <a:avLst/>
          </a:prstGeom>
          <a:solidFill>
            <a:srgbClr val="F9F6F0"/>
          </a:solidFill>
          <a:ln w="8890">
            <a:solidFill>
              <a:srgbClr val="E0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1" name="TextBox 6"/>
          <p:cNvSpPr txBox="1"/>
          <p:nvPr/>
        </p:nvSpPr>
        <p:spPr>
          <a:xfrm>
            <a:off x="1925955" y="4797425"/>
            <a:ext cx="1012825" cy="275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CF4B0A"/>
                </a:solidFill>
                <a:latin typeface="Noto Sans CJK SC"/>
              </a:rPr>
              <a:t>TODAY</a:t>
            </a:r>
            <a:endParaRPr sz="1200" b="1">
              <a:solidFill>
                <a:srgbClr val="CF4B0A"/>
              </a:solidFill>
              <a:latin typeface="Noto Sans CJK SC"/>
            </a:endParaRPr>
          </a:p>
        </p:txBody>
      </p:sp>
      <p:sp>
        <p:nvSpPr>
          <p:cNvPr id="52" name="TextBox 7"/>
          <p:cNvSpPr txBox="1"/>
          <p:nvPr/>
        </p:nvSpPr>
        <p:spPr>
          <a:xfrm>
            <a:off x="1925955" y="5078730"/>
            <a:ext cx="1965325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18191B"/>
                </a:solidFill>
                <a:latin typeface="Noto Sans CJK SC"/>
              </a:rPr>
              <a:t>我们已走到哪里</a:t>
            </a:r>
            <a:endParaRPr b="1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53" name="TextBox 8"/>
          <p:cNvSpPr txBox="1"/>
          <p:nvPr/>
        </p:nvSpPr>
        <p:spPr>
          <a:xfrm>
            <a:off x="1925955" y="5694680"/>
            <a:ext cx="47625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CF4B0A"/>
                </a:solidFill>
                <a:latin typeface="Noto Sans CJK SC"/>
              </a:rPr>
              <a:t>▰</a:t>
            </a:r>
            <a:endParaRPr sz="2800" b="1">
              <a:solidFill>
                <a:srgbClr val="CF4B0A"/>
              </a:solidFill>
              <a:latin typeface="Noto Sans CJK SC"/>
            </a:endParaRPr>
          </a:p>
        </p:txBody>
      </p:sp>
      <p:sp>
        <p:nvSpPr>
          <p:cNvPr id="54" name="TextBox 9"/>
          <p:cNvSpPr txBox="1"/>
          <p:nvPr/>
        </p:nvSpPr>
        <p:spPr>
          <a:xfrm>
            <a:off x="1925955" y="6250940"/>
            <a:ext cx="1965325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8191B"/>
                </a:solidFill>
                <a:latin typeface="Noto Sans CJK SC"/>
              </a:rPr>
              <a:t>已完成 Prototype</a:t>
            </a:r>
            <a:endParaRPr sz="1400" b="1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55" name="TextBox 10"/>
          <p:cNvSpPr txBox="1"/>
          <p:nvPr/>
        </p:nvSpPr>
        <p:spPr>
          <a:xfrm>
            <a:off x="1925955" y="6717665"/>
            <a:ext cx="189865" cy="275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CF4B0A"/>
                </a:solidFill>
                <a:latin typeface="Noto Sans CJK SC"/>
              </a:rPr>
              <a:t>▪</a:t>
            </a:r>
            <a:endParaRPr sz="1200" b="1">
              <a:solidFill>
                <a:srgbClr val="CF4B0A"/>
              </a:solidFill>
              <a:latin typeface="Noto Sans CJK SC"/>
            </a:endParaRPr>
          </a:p>
        </p:txBody>
      </p:sp>
      <p:sp>
        <p:nvSpPr>
          <p:cNvPr id="56" name="TextBox 11"/>
          <p:cNvSpPr txBox="1"/>
          <p:nvPr/>
        </p:nvSpPr>
        <p:spPr>
          <a:xfrm>
            <a:off x="2139950" y="6701790"/>
            <a:ext cx="1965325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8191B"/>
                </a:solidFill>
                <a:latin typeface="Noto Sans CJK SC"/>
              </a:rPr>
              <a:t>虚拟世界已经跑通</a:t>
            </a:r>
            <a:endParaRPr sz="1400" b="0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57" name="TextBox 12"/>
          <p:cNvSpPr txBox="1"/>
          <p:nvPr/>
        </p:nvSpPr>
        <p:spPr>
          <a:xfrm>
            <a:off x="1925955" y="7162800"/>
            <a:ext cx="189865" cy="275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CF4B0A"/>
                </a:solidFill>
                <a:latin typeface="Noto Sans CJK SC"/>
              </a:rPr>
              <a:t>▪</a:t>
            </a:r>
            <a:endParaRPr sz="1200" b="1">
              <a:solidFill>
                <a:srgbClr val="CF4B0A"/>
              </a:solidFill>
              <a:latin typeface="Noto Sans CJK SC"/>
            </a:endParaRPr>
          </a:p>
        </p:txBody>
      </p:sp>
      <p:sp>
        <p:nvSpPr>
          <p:cNvPr id="58" name="TextBox 13"/>
          <p:cNvSpPr txBox="1"/>
          <p:nvPr/>
        </p:nvSpPr>
        <p:spPr>
          <a:xfrm>
            <a:off x="2139950" y="7146290"/>
            <a:ext cx="1965325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8191B"/>
                </a:solidFill>
                <a:latin typeface="Noto Sans CJK SC"/>
              </a:rPr>
              <a:t>Agent 可持续行动</a:t>
            </a:r>
            <a:endParaRPr sz="1400" b="0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59" name="TextBox 14"/>
          <p:cNvSpPr txBox="1"/>
          <p:nvPr/>
        </p:nvSpPr>
        <p:spPr>
          <a:xfrm>
            <a:off x="1925955" y="7606030"/>
            <a:ext cx="189865" cy="275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CF4B0A"/>
                </a:solidFill>
                <a:latin typeface="Noto Sans CJK SC"/>
              </a:rPr>
              <a:t>▪</a:t>
            </a:r>
            <a:endParaRPr sz="1200" b="1">
              <a:solidFill>
                <a:srgbClr val="CF4B0A"/>
              </a:solidFill>
              <a:latin typeface="Noto Sans CJK SC"/>
            </a:endParaRPr>
          </a:p>
        </p:txBody>
      </p:sp>
      <p:sp>
        <p:nvSpPr>
          <p:cNvPr id="60" name="TextBox 15"/>
          <p:cNvSpPr txBox="1"/>
          <p:nvPr/>
        </p:nvSpPr>
        <p:spPr>
          <a:xfrm>
            <a:off x="2139950" y="7482205"/>
            <a:ext cx="1965325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8191B"/>
                </a:solidFill>
                <a:latin typeface="Noto Sans CJK SC"/>
              </a:rPr>
              <a:t>World Engine 基础链路完成</a:t>
            </a:r>
            <a:endParaRPr sz="1400" b="0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61" name="TextBox 16"/>
          <p:cNvSpPr txBox="1"/>
          <p:nvPr/>
        </p:nvSpPr>
        <p:spPr>
          <a:xfrm>
            <a:off x="1925955" y="8050530"/>
            <a:ext cx="189865" cy="275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CF4B0A"/>
                </a:solidFill>
                <a:latin typeface="Noto Sans CJK SC"/>
              </a:rPr>
              <a:t>▪</a:t>
            </a:r>
            <a:endParaRPr sz="1200" b="1">
              <a:solidFill>
                <a:srgbClr val="CF4B0A"/>
              </a:solidFill>
              <a:latin typeface="Noto Sans CJK SC"/>
            </a:endParaRPr>
          </a:p>
        </p:txBody>
      </p:sp>
      <p:sp>
        <p:nvSpPr>
          <p:cNvPr id="62" name="TextBox 17"/>
          <p:cNvSpPr txBox="1"/>
          <p:nvPr/>
        </p:nvSpPr>
        <p:spPr>
          <a:xfrm>
            <a:off x="2139950" y="7929880"/>
            <a:ext cx="1965325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8191B"/>
                </a:solidFill>
                <a:latin typeface="Noto Sans CJK SC"/>
              </a:rPr>
              <a:t>Mind Engine </a:t>
            </a:r>
            <a:r>
              <a:rPr sz="1400">
                <a:solidFill>
                  <a:srgbClr val="18191B"/>
                </a:solidFill>
                <a:latin typeface="Noto Sans CJK SC"/>
                <a:sym typeface="+mn-ea"/>
              </a:rPr>
              <a:t>基础链路完成</a:t>
            </a:r>
            <a:endParaRPr lang="zh-CN" sz="1400" b="0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63" name="TextBox 18"/>
          <p:cNvSpPr txBox="1"/>
          <p:nvPr/>
        </p:nvSpPr>
        <p:spPr>
          <a:xfrm>
            <a:off x="1925955" y="8494395"/>
            <a:ext cx="189865" cy="275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CF4B0A"/>
                </a:solidFill>
                <a:latin typeface="Noto Sans CJK SC"/>
              </a:rPr>
              <a:t>▪</a:t>
            </a:r>
            <a:endParaRPr sz="1200" b="1">
              <a:solidFill>
                <a:srgbClr val="CF4B0A"/>
              </a:solidFill>
              <a:latin typeface="Noto Sans CJK SC"/>
            </a:endParaRPr>
          </a:p>
        </p:txBody>
      </p:sp>
      <p:sp>
        <p:nvSpPr>
          <p:cNvPr id="64" name="TextBox 19"/>
          <p:cNvSpPr txBox="1"/>
          <p:nvPr/>
        </p:nvSpPr>
        <p:spPr>
          <a:xfrm>
            <a:off x="2139950" y="8478520"/>
            <a:ext cx="1965325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8191B"/>
                </a:solidFill>
                <a:latin typeface="Noto Sans CJK SC"/>
              </a:rPr>
              <a:t>桌面版数字宠物已发布</a:t>
            </a:r>
            <a:endParaRPr sz="1400" b="0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65" name="Rounded Rectangle 20"/>
          <p:cNvSpPr/>
          <p:nvPr/>
        </p:nvSpPr>
        <p:spPr>
          <a:xfrm>
            <a:off x="1914525" y="9207500"/>
            <a:ext cx="2215515" cy="522605"/>
          </a:xfrm>
          <a:prstGeom prst="roundRect">
            <a:avLst/>
          </a:prstGeom>
          <a:solidFill>
            <a:srgbClr val="F6EFE5"/>
          </a:solidFill>
          <a:ln w="8890">
            <a:solidFill>
              <a:srgbClr val="E4B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6" name="Oval 21"/>
          <p:cNvSpPr/>
          <p:nvPr/>
        </p:nvSpPr>
        <p:spPr>
          <a:xfrm>
            <a:off x="2104390" y="9325610"/>
            <a:ext cx="262255" cy="287655"/>
          </a:xfrm>
          <a:prstGeom prst="ellipse">
            <a:avLst/>
          </a:prstGeom>
          <a:solidFill>
            <a:srgbClr val="CF4B0A"/>
          </a:solidFill>
          <a:ln>
            <a:solidFill>
              <a:srgbClr val="C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7" name="TextBox 22"/>
          <p:cNvSpPr txBox="1"/>
          <p:nvPr/>
        </p:nvSpPr>
        <p:spPr>
          <a:xfrm>
            <a:off x="2104390" y="9330690"/>
            <a:ext cx="262255" cy="275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✓</a:t>
            </a:r>
            <a:endParaRPr sz="12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8" name="TextBox 23"/>
          <p:cNvSpPr txBox="1"/>
          <p:nvPr/>
        </p:nvSpPr>
        <p:spPr>
          <a:xfrm>
            <a:off x="2426335" y="9338310"/>
            <a:ext cx="1453515" cy="245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8191B"/>
                </a:solidFill>
                <a:latin typeface="Noto Sans CJK SC"/>
              </a:rPr>
              <a:t>技术可行性已验证</a:t>
            </a:r>
            <a:endParaRPr sz="1000" b="1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69" name="TextBox 24"/>
          <p:cNvSpPr txBox="1"/>
          <p:nvPr/>
        </p:nvSpPr>
        <p:spPr>
          <a:xfrm>
            <a:off x="4487545" y="6203950"/>
            <a:ext cx="416560" cy="5835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CF4B0A"/>
                </a:solidFill>
                <a:latin typeface="Noto Sans CJK SC"/>
              </a:rPr>
              <a:t>➜</a:t>
            </a:r>
            <a:endParaRPr sz="3200" b="1">
              <a:solidFill>
                <a:srgbClr val="CF4B0A"/>
              </a:solidFill>
              <a:latin typeface="Noto Sans CJK SC"/>
            </a:endParaRPr>
          </a:p>
        </p:txBody>
      </p:sp>
      <p:sp>
        <p:nvSpPr>
          <p:cNvPr id="70" name="Rounded Rectangle 25"/>
          <p:cNvSpPr/>
          <p:nvPr/>
        </p:nvSpPr>
        <p:spPr>
          <a:xfrm>
            <a:off x="4868545" y="5097145"/>
            <a:ext cx="2358390" cy="4244975"/>
          </a:xfrm>
          <a:prstGeom prst="roundRect">
            <a:avLst/>
          </a:prstGeom>
          <a:solidFill>
            <a:srgbClr val="F7F6F2"/>
          </a:solidFill>
          <a:ln w="12700">
            <a:solidFill>
              <a:srgbClr val="C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1" name="TextBox 26"/>
          <p:cNvSpPr txBox="1"/>
          <p:nvPr/>
        </p:nvSpPr>
        <p:spPr>
          <a:xfrm>
            <a:off x="5106670" y="6075680"/>
            <a:ext cx="1882140" cy="645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3600" b="1">
                <a:solidFill>
                  <a:srgbClr val="CF4B0A"/>
                </a:solidFill>
                <a:latin typeface="Noto Sans CJK SC"/>
              </a:rPr>
              <a:t>1000</a:t>
            </a:r>
            <a:r>
              <a:rPr lang="zh-CN" altLang="en-US" sz="3600" b="1">
                <a:solidFill>
                  <a:srgbClr val="CF4B0A"/>
                </a:solidFill>
                <a:latin typeface="Noto Sans CJK SC"/>
              </a:rPr>
              <a:t>万</a:t>
            </a:r>
            <a:endParaRPr lang="zh-CN" altLang="en-US" sz="3600" b="1">
              <a:solidFill>
                <a:srgbClr val="CF4B0A"/>
              </a:solidFill>
              <a:latin typeface="Noto Sans CJK SC"/>
            </a:endParaRPr>
          </a:p>
        </p:txBody>
      </p:sp>
      <p:sp>
        <p:nvSpPr>
          <p:cNvPr id="72" name="TextBox 27"/>
          <p:cNvSpPr txBox="1"/>
          <p:nvPr/>
        </p:nvSpPr>
        <p:spPr>
          <a:xfrm>
            <a:off x="5046980" y="6813550"/>
            <a:ext cx="2000885" cy="275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CF4B0A"/>
                </a:solidFill>
                <a:latin typeface="Noto Sans CJK SC"/>
              </a:rPr>
              <a:t>预计 </a:t>
            </a:r>
            <a:r>
              <a:rPr lang="en-US" sz="1200" b="1">
                <a:solidFill>
                  <a:srgbClr val="CF4B0A"/>
                </a:solidFill>
                <a:latin typeface="Noto Sans CJK SC"/>
              </a:rPr>
              <a:t>8</a:t>
            </a:r>
            <a:r>
              <a:rPr sz="1200" b="1">
                <a:solidFill>
                  <a:srgbClr val="CF4B0A"/>
                </a:solidFill>
                <a:latin typeface="Noto Sans CJK SC"/>
              </a:rPr>
              <a:t>个月</a:t>
            </a:r>
            <a:endParaRPr sz="1200" b="1">
              <a:solidFill>
                <a:srgbClr val="CF4B0A"/>
              </a:solidFill>
              <a:latin typeface="Noto Sans CJK SC"/>
            </a:endParaRPr>
          </a:p>
        </p:txBody>
      </p:sp>
      <p:cxnSp>
        <p:nvCxnSpPr>
          <p:cNvPr id="73" name="Connector 28"/>
          <p:cNvCxnSpPr/>
          <p:nvPr/>
        </p:nvCxnSpPr>
        <p:spPr>
          <a:xfrm>
            <a:off x="5261610" y="7449185"/>
            <a:ext cx="1572260" cy="0"/>
          </a:xfrm>
          <a:prstGeom prst="line">
            <a:avLst/>
          </a:prstGeom>
          <a:ln w="8890">
            <a:solidFill>
              <a:srgbClr val="E0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30"/>
          <p:cNvSpPr txBox="1"/>
          <p:nvPr/>
        </p:nvSpPr>
        <p:spPr>
          <a:xfrm>
            <a:off x="4964430" y="7738745"/>
            <a:ext cx="2084070" cy="9220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b="1">
                <a:solidFill>
                  <a:srgbClr val="18191B"/>
                </a:solidFill>
                <a:latin typeface="Noto Sans CJK SC"/>
                <a:sym typeface="+mn-ea"/>
              </a:rPr>
              <a:t>本轮融资目标是完成</a:t>
            </a:r>
            <a:r>
              <a:rPr lang="en-US" altLang="zh-CN" b="1">
                <a:solidFill>
                  <a:srgbClr val="18191B"/>
                </a:solidFill>
                <a:latin typeface="Noto Sans CJK SC"/>
                <a:sym typeface="+mn-ea"/>
              </a:rPr>
              <a:t>Step2，</a:t>
            </a:r>
            <a:r>
              <a:rPr lang="zh-CN" altLang="en-US" b="1">
                <a:solidFill>
                  <a:srgbClr val="18191B"/>
                </a:solidFill>
                <a:latin typeface="Noto Sans CJK SC"/>
                <a:sym typeface="+mn-ea"/>
              </a:rPr>
              <a:t>做完三个关键</a:t>
            </a:r>
            <a:r>
              <a:rPr lang="zh-CN" altLang="en-US" b="1">
                <a:solidFill>
                  <a:srgbClr val="18191B"/>
                </a:solidFill>
                <a:latin typeface="Noto Sans CJK SC"/>
                <a:sym typeface="+mn-ea"/>
              </a:rPr>
              <a:t>验证</a:t>
            </a:r>
            <a:endParaRPr lang="zh-CN" altLang="en-US" b="1">
              <a:solidFill>
                <a:srgbClr val="18191B"/>
              </a:solidFill>
              <a:latin typeface="Noto Sans CJK SC"/>
              <a:sym typeface="+mn-ea"/>
            </a:endParaRPr>
          </a:p>
        </p:txBody>
      </p:sp>
      <p:sp>
        <p:nvSpPr>
          <p:cNvPr id="76" name="TextBox 31"/>
          <p:cNvSpPr txBox="1"/>
          <p:nvPr/>
        </p:nvSpPr>
        <p:spPr>
          <a:xfrm>
            <a:off x="7251065" y="6203950"/>
            <a:ext cx="416560" cy="5835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CF4B0A"/>
                </a:solidFill>
                <a:latin typeface="Noto Sans CJK SC"/>
              </a:rPr>
              <a:t>➜</a:t>
            </a:r>
            <a:endParaRPr sz="3200" b="1">
              <a:solidFill>
                <a:srgbClr val="CF4B0A"/>
              </a:solidFill>
              <a:latin typeface="Noto Sans CJK SC"/>
            </a:endParaRPr>
          </a:p>
        </p:txBody>
      </p:sp>
      <p:sp>
        <p:nvSpPr>
          <p:cNvPr id="78" name="TextBox 33"/>
          <p:cNvSpPr txBox="1"/>
          <p:nvPr/>
        </p:nvSpPr>
        <p:spPr>
          <a:xfrm>
            <a:off x="9454515" y="4678045"/>
            <a:ext cx="273939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>
                <a:solidFill>
                  <a:srgbClr val="18191B"/>
                </a:solidFill>
                <a:latin typeface="Noto Sans CJK SC"/>
              </a:rPr>
              <a:t>完成三个关键跨越</a:t>
            </a:r>
            <a:endParaRPr b="1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79" name="Rounded Rectangle 34"/>
          <p:cNvSpPr/>
          <p:nvPr/>
        </p:nvSpPr>
        <p:spPr>
          <a:xfrm>
            <a:off x="7644130" y="5123815"/>
            <a:ext cx="2049145" cy="4650105"/>
          </a:xfrm>
          <a:prstGeom prst="roundRect">
            <a:avLst/>
          </a:prstGeom>
          <a:solidFill>
            <a:srgbClr val="FBF9F5"/>
          </a:solidFill>
          <a:ln w="8890">
            <a:solidFill>
              <a:srgbClr val="E0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0" name="Oval 35"/>
          <p:cNvSpPr/>
          <p:nvPr/>
        </p:nvSpPr>
        <p:spPr>
          <a:xfrm>
            <a:off x="8526145" y="5280660"/>
            <a:ext cx="333375" cy="365760"/>
          </a:xfrm>
          <a:prstGeom prst="ellipse">
            <a:avLst/>
          </a:prstGeom>
          <a:solidFill>
            <a:srgbClr val="CF4B0A"/>
          </a:solidFill>
          <a:ln>
            <a:solidFill>
              <a:srgbClr val="C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1" name="TextBox 36"/>
          <p:cNvSpPr txBox="1"/>
          <p:nvPr/>
        </p:nvSpPr>
        <p:spPr>
          <a:xfrm>
            <a:off x="8472805" y="5339080"/>
            <a:ext cx="441325" cy="245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SC"/>
              </a:rPr>
              <a:t>01</a:t>
            </a:r>
            <a:endParaRPr sz="10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82" name="TextBox 37"/>
          <p:cNvSpPr txBox="1"/>
          <p:nvPr/>
        </p:nvSpPr>
        <p:spPr>
          <a:xfrm>
            <a:off x="8382635" y="5720080"/>
            <a:ext cx="619760" cy="5835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CF4B0A"/>
                </a:solidFill>
                <a:latin typeface="Noto Sans CJK SC"/>
              </a:rPr>
              <a:t>♟</a:t>
            </a:r>
            <a:endParaRPr sz="3200" b="1">
              <a:solidFill>
                <a:srgbClr val="CF4B0A"/>
              </a:solidFill>
              <a:latin typeface="Noto Sans CJK SC"/>
            </a:endParaRPr>
          </a:p>
        </p:txBody>
      </p:sp>
      <p:sp>
        <p:nvSpPr>
          <p:cNvPr id="83" name="TextBox 38"/>
          <p:cNvSpPr txBox="1"/>
          <p:nvPr/>
        </p:nvSpPr>
        <p:spPr>
          <a:xfrm>
            <a:off x="7787640" y="6219825"/>
            <a:ext cx="176339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8191B"/>
                </a:solidFill>
                <a:latin typeface="Noto Sans CJK SC"/>
              </a:rPr>
              <a:t>Product</a:t>
            </a:r>
            <a:endParaRPr sz="1600" b="1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84" name="TextBox 39"/>
          <p:cNvSpPr txBox="1"/>
          <p:nvPr/>
        </p:nvSpPr>
        <p:spPr>
          <a:xfrm>
            <a:off x="7763510" y="6630035"/>
            <a:ext cx="1811020" cy="275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8191B"/>
                </a:solidFill>
                <a:latin typeface="Noto Sans CJK SC"/>
              </a:rPr>
              <a:t>可规模化产品</a:t>
            </a:r>
            <a:endParaRPr sz="1200" b="1">
              <a:solidFill>
                <a:srgbClr val="18191B"/>
              </a:solidFill>
              <a:latin typeface="Noto Sans CJK SC"/>
            </a:endParaRPr>
          </a:p>
        </p:txBody>
      </p:sp>
      <p:cxnSp>
        <p:nvCxnSpPr>
          <p:cNvPr id="85" name="Connector 40"/>
          <p:cNvCxnSpPr/>
          <p:nvPr/>
        </p:nvCxnSpPr>
        <p:spPr>
          <a:xfrm>
            <a:off x="7882255" y="7056755"/>
            <a:ext cx="1572260" cy="0"/>
          </a:xfrm>
          <a:prstGeom prst="line">
            <a:avLst/>
          </a:prstGeom>
          <a:ln w="7620">
            <a:solidFill>
              <a:srgbClr val="E0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41"/>
          <p:cNvSpPr txBox="1"/>
          <p:nvPr/>
        </p:nvSpPr>
        <p:spPr>
          <a:xfrm>
            <a:off x="7823200" y="7218045"/>
            <a:ext cx="1692275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8191B"/>
                </a:solidFill>
                <a:latin typeface="Noto Sans CJK SC"/>
              </a:rPr>
              <a:t>从“能做出来”到
“有人持续使用”</a:t>
            </a:r>
            <a:endParaRPr sz="1200" b="1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87" name="TextBox 42"/>
          <p:cNvSpPr txBox="1"/>
          <p:nvPr/>
        </p:nvSpPr>
        <p:spPr>
          <a:xfrm>
            <a:off x="7716520" y="7682230"/>
            <a:ext cx="1940560" cy="135763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18191B"/>
                </a:solidFill>
                <a:latin typeface="Noto Sans CJK SC"/>
              </a:rPr>
              <a:t>• 虚拟世界 + Agent +
  Relationship Engine
  形成可运营消费产品
• 核心指标验证：
  用户规模 / D30 /
  DAU/MAU / 陪伴频次</a:t>
            </a:r>
            <a:endParaRPr sz="1200" b="0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88" name="Rounded Rectangle 43"/>
          <p:cNvSpPr/>
          <p:nvPr/>
        </p:nvSpPr>
        <p:spPr>
          <a:xfrm>
            <a:off x="7799070" y="9120505"/>
            <a:ext cx="1739265" cy="509905"/>
          </a:xfrm>
          <a:prstGeom prst="roundRect">
            <a:avLst/>
          </a:prstGeom>
          <a:solidFill>
            <a:srgbClr val="F6EFE5"/>
          </a:solidFill>
          <a:ln w="8890">
            <a:solidFill>
              <a:srgbClr val="E8C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9" name="TextBox 44"/>
          <p:cNvSpPr txBox="1"/>
          <p:nvPr/>
        </p:nvSpPr>
        <p:spPr>
          <a:xfrm>
            <a:off x="7835265" y="9120505"/>
            <a:ext cx="1667510" cy="245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F4B0A"/>
                </a:solidFill>
                <a:latin typeface="Noto Sans CJK SC"/>
              </a:rPr>
              <a:t>Product Validation</a:t>
            </a:r>
            <a:endParaRPr sz="1000" b="1">
              <a:solidFill>
                <a:srgbClr val="CF4B0A"/>
              </a:solidFill>
              <a:latin typeface="Noto Sans CJK SC"/>
            </a:endParaRPr>
          </a:p>
        </p:txBody>
      </p:sp>
      <p:sp>
        <p:nvSpPr>
          <p:cNvPr id="90" name="TextBox 45"/>
          <p:cNvSpPr txBox="1"/>
          <p:nvPr/>
        </p:nvSpPr>
        <p:spPr>
          <a:xfrm>
            <a:off x="7835265" y="9359265"/>
            <a:ext cx="1667510" cy="245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8191B"/>
                </a:solidFill>
                <a:latin typeface="Noto Sans CJK SC"/>
              </a:rPr>
              <a:t>用户愿意长期回来</a:t>
            </a:r>
            <a:endParaRPr sz="1000" b="0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91" name="Rounded Rectangle 46"/>
          <p:cNvSpPr/>
          <p:nvPr/>
        </p:nvSpPr>
        <p:spPr>
          <a:xfrm>
            <a:off x="9812020" y="5123815"/>
            <a:ext cx="2049145" cy="4650105"/>
          </a:xfrm>
          <a:prstGeom prst="roundRect">
            <a:avLst/>
          </a:prstGeom>
          <a:solidFill>
            <a:srgbClr val="FBF9F5"/>
          </a:solidFill>
          <a:ln w="8890">
            <a:solidFill>
              <a:srgbClr val="E0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2" name="Oval 47"/>
          <p:cNvSpPr/>
          <p:nvPr/>
        </p:nvSpPr>
        <p:spPr>
          <a:xfrm>
            <a:off x="10694670" y="5280660"/>
            <a:ext cx="333375" cy="365760"/>
          </a:xfrm>
          <a:prstGeom prst="ellipse">
            <a:avLst/>
          </a:prstGeom>
          <a:solidFill>
            <a:srgbClr val="CF4B0A"/>
          </a:solidFill>
          <a:ln>
            <a:solidFill>
              <a:srgbClr val="C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3" name="TextBox 48"/>
          <p:cNvSpPr txBox="1"/>
          <p:nvPr/>
        </p:nvSpPr>
        <p:spPr>
          <a:xfrm>
            <a:off x="10660380" y="5339080"/>
            <a:ext cx="381635" cy="245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SC"/>
              </a:rPr>
              <a:t>02</a:t>
            </a:r>
            <a:endParaRPr sz="10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94" name="TextBox 49"/>
          <p:cNvSpPr txBox="1"/>
          <p:nvPr/>
        </p:nvSpPr>
        <p:spPr>
          <a:xfrm>
            <a:off x="10551160" y="5720080"/>
            <a:ext cx="619760" cy="5835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CF4B0A"/>
                </a:solidFill>
                <a:latin typeface="Noto Sans CJK SC"/>
              </a:rPr>
              <a:t>♥</a:t>
            </a:r>
            <a:endParaRPr sz="3200" b="1">
              <a:solidFill>
                <a:srgbClr val="CF4B0A"/>
              </a:solidFill>
              <a:latin typeface="Noto Sans CJK SC"/>
            </a:endParaRPr>
          </a:p>
        </p:txBody>
      </p:sp>
      <p:sp>
        <p:nvSpPr>
          <p:cNvPr id="95" name="TextBox 50"/>
          <p:cNvSpPr txBox="1"/>
          <p:nvPr/>
        </p:nvSpPr>
        <p:spPr>
          <a:xfrm>
            <a:off x="9955530" y="6219825"/>
            <a:ext cx="176339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8191B"/>
                </a:solidFill>
                <a:latin typeface="Noto Sans CJK SC"/>
              </a:rPr>
              <a:t>Relationship</a:t>
            </a:r>
            <a:endParaRPr sz="1600" b="1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96" name="TextBox 51"/>
          <p:cNvSpPr txBox="1"/>
          <p:nvPr/>
        </p:nvSpPr>
        <p:spPr>
          <a:xfrm>
            <a:off x="9931400" y="6630035"/>
            <a:ext cx="1811020" cy="275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8191B"/>
                </a:solidFill>
                <a:latin typeface="Noto Sans CJK SC"/>
              </a:rPr>
              <a:t>关系深度</a:t>
            </a:r>
            <a:endParaRPr sz="1200" b="1">
              <a:solidFill>
                <a:srgbClr val="18191B"/>
              </a:solidFill>
              <a:latin typeface="Noto Sans CJK SC"/>
            </a:endParaRPr>
          </a:p>
        </p:txBody>
      </p:sp>
      <p:cxnSp>
        <p:nvCxnSpPr>
          <p:cNvPr id="97" name="Connector 52"/>
          <p:cNvCxnSpPr/>
          <p:nvPr/>
        </p:nvCxnSpPr>
        <p:spPr>
          <a:xfrm>
            <a:off x="10050780" y="7056755"/>
            <a:ext cx="1572260" cy="0"/>
          </a:xfrm>
          <a:prstGeom prst="line">
            <a:avLst/>
          </a:prstGeom>
          <a:ln w="7620">
            <a:solidFill>
              <a:srgbClr val="E0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53"/>
          <p:cNvSpPr txBox="1"/>
          <p:nvPr/>
        </p:nvSpPr>
        <p:spPr>
          <a:xfrm>
            <a:off x="9991090" y="7218045"/>
            <a:ext cx="1692275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8191B"/>
                </a:solidFill>
                <a:latin typeface="Noto Sans CJK SC"/>
              </a:rPr>
              <a:t>从“AI 会聊天”到
“关系可以增长”</a:t>
            </a:r>
            <a:endParaRPr sz="1200" b="1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99" name="TextBox 54"/>
          <p:cNvSpPr txBox="1"/>
          <p:nvPr/>
        </p:nvSpPr>
        <p:spPr>
          <a:xfrm>
            <a:off x="9883775" y="7676515"/>
            <a:ext cx="2000885" cy="13639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18191B"/>
                </a:solidFill>
                <a:latin typeface="Noto Sans CJK SC"/>
              </a:rPr>
              <a:t>• 关系越深，留存 / 频次 /付费意愿越高
• 验证 Relationship Depth
  是商业增长引擎</a:t>
            </a:r>
            <a:endParaRPr sz="1200" b="0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101" name="Rounded Rectangle 55"/>
          <p:cNvSpPr/>
          <p:nvPr/>
        </p:nvSpPr>
        <p:spPr>
          <a:xfrm>
            <a:off x="9967595" y="9120505"/>
            <a:ext cx="1739265" cy="509905"/>
          </a:xfrm>
          <a:prstGeom prst="roundRect">
            <a:avLst/>
          </a:prstGeom>
          <a:solidFill>
            <a:srgbClr val="F6EFE5"/>
          </a:solidFill>
          <a:ln w="8890">
            <a:solidFill>
              <a:srgbClr val="E8C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2" name="TextBox 56"/>
          <p:cNvSpPr txBox="1"/>
          <p:nvPr/>
        </p:nvSpPr>
        <p:spPr>
          <a:xfrm>
            <a:off x="10003155" y="9120505"/>
            <a:ext cx="1667510" cy="245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F4B0A"/>
                </a:solidFill>
                <a:latin typeface="Noto Sans CJK SC"/>
              </a:rPr>
              <a:t>Relationship Validation</a:t>
            </a:r>
            <a:endParaRPr sz="1000" b="1">
              <a:solidFill>
                <a:srgbClr val="CF4B0A"/>
              </a:solidFill>
              <a:latin typeface="Noto Sans CJK SC"/>
            </a:endParaRPr>
          </a:p>
        </p:txBody>
      </p:sp>
      <p:sp>
        <p:nvSpPr>
          <p:cNvPr id="103" name="TextBox 57"/>
          <p:cNvSpPr txBox="1"/>
          <p:nvPr/>
        </p:nvSpPr>
        <p:spPr>
          <a:xfrm>
            <a:off x="10003155" y="9359265"/>
            <a:ext cx="1667510" cy="245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8191B"/>
                </a:solidFill>
                <a:latin typeface="Noto Sans CJK SC"/>
              </a:rPr>
              <a:t>关系驱动留存与商业化</a:t>
            </a:r>
            <a:endParaRPr sz="1000" b="0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104" name="Rounded Rectangle 58"/>
          <p:cNvSpPr/>
          <p:nvPr/>
        </p:nvSpPr>
        <p:spPr>
          <a:xfrm>
            <a:off x="11980545" y="5123815"/>
            <a:ext cx="2049145" cy="4650105"/>
          </a:xfrm>
          <a:prstGeom prst="roundRect">
            <a:avLst/>
          </a:prstGeom>
          <a:solidFill>
            <a:srgbClr val="FBF9F5"/>
          </a:solidFill>
          <a:ln w="8890">
            <a:solidFill>
              <a:srgbClr val="E0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5" name="Oval 59"/>
          <p:cNvSpPr/>
          <p:nvPr/>
        </p:nvSpPr>
        <p:spPr>
          <a:xfrm>
            <a:off x="12861290" y="5280660"/>
            <a:ext cx="333375" cy="365760"/>
          </a:xfrm>
          <a:prstGeom prst="ellipse">
            <a:avLst/>
          </a:prstGeom>
          <a:solidFill>
            <a:srgbClr val="CF4B0A"/>
          </a:solidFill>
          <a:ln>
            <a:solidFill>
              <a:srgbClr val="C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6" name="TextBox 60"/>
          <p:cNvSpPr txBox="1"/>
          <p:nvPr/>
        </p:nvSpPr>
        <p:spPr>
          <a:xfrm>
            <a:off x="12840970" y="5339080"/>
            <a:ext cx="381635" cy="245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SC"/>
              </a:rPr>
              <a:t>03</a:t>
            </a:r>
            <a:endParaRPr sz="10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07" name="TextBox 61"/>
          <p:cNvSpPr txBox="1"/>
          <p:nvPr/>
        </p:nvSpPr>
        <p:spPr>
          <a:xfrm>
            <a:off x="12719050" y="5720080"/>
            <a:ext cx="619760" cy="5835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CF4B0A"/>
                </a:solidFill>
                <a:latin typeface="Noto Sans CJK SC"/>
              </a:rPr>
              <a:t>◇</a:t>
            </a:r>
            <a:endParaRPr sz="3200" b="1">
              <a:solidFill>
                <a:srgbClr val="CF4B0A"/>
              </a:solidFill>
              <a:latin typeface="Noto Sans CJK SC"/>
            </a:endParaRPr>
          </a:p>
        </p:txBody>
      </p:sp>
      <p:sp>
        <p:nvSpPr>
          <p:cNvPr id="108" name="TextBox 62"/>
          <p:cNvSpPr txBox="1"/>
          <p:nvPr/>
        </p:nvSpPr>
        <p:spPr>
          <a:xfrm>
            <a:off x="12123420" y="6219825"/>
            <a:ext cx="176339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8191B"/>
                </a:solidFill>
                <a:latin typeface="Noto Sans CJK SC"/>
              </a:rPr>
              <a:t>Hardware</a:t>
            </a:r>
            <a:endParaRPr sz="1600" b="1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109" name="TextBox 63"/>
          <p:cNvSpPr txBox="1"/>
          <p:nvPr/>
        </p:nvSpPr>
        <p:spPr>
          <a:xfrm>
            <a:off x="12099290" y="6539230"/>
            <a:ext cx="181102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8191B"/>
                </a:solidFill>
                <a:latin typeface="Noto Sans CJK SC"/>
              </a:rPr>
              <a:t>AI Identity 进入现实世界</a:t>
            </a:r>
            <a:endParaRPr sz="1200" b="1">
              <a:solidFill>
                <a:srgbClr val="18191B"/>
              </a:solidFill>
              <a:latin typeface="Noto Sans CJK SC"/>
            </a:endParaRPr>
          </a:p>
        </p:txBody>
      </p:sp>
      <p:cxnSp>
        <p:nvCxnSpPr>
          <p:cNvPr id="110" name="Connector 64"/>
          <p:cNvCxnSpPr/>
          <p:nvPr/>
        </p:nvCxnSpPr>
        <p:spPr>
          <a:xfrm>
            <a:off x="12219305" y="7056755"/>
            <a:ext cx="1572260" cy="0"/>
          </a:xfrm>
          <a:prstGeom prst="line">
            <a:avLst/>
          </a:prstGeom>
          <a:ln w="7620">
            <a:solidFill>
              <a:srgbClr val="E0D8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65"/>
          <p:cNvSpPr txBox="1"/>
          <p:nvPr/>
        </p:nvSpPr>
        <p:spPr>
          <a:xfrm>
            <a:off x="12159615" y="7218045"/>
            <a:ext cx="1692275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8191B"/>
                </a:solidFill>
                <a:latin typeface="Noto Sans CJK SC"/>
              </a:rPr>
              <a:t>从纯软件到
硬件商业闭环</a:t>
            </a:r>
            <a:endParaRPr sz="1200" b="1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112" name="TextBox 66"/>
          <p:cNvSpPr txBox="1"/>
          <p:nvPr/>
        </p:nvSpPr>
        <p:spPr>
          <a:xfrm>
            <a:off x="11991975" y="7726045"/>
            <a:ext cx="1965325" cy="11912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200" b="0">
                <a:solidFill>
                  <a:srgbClr val="18191B"/>
                </a:solidFill>
                <a:latin typeface="Noto Sans CJK SC"/>
              </a:rPr>
              <a:t>• 首款电子吧唧量产 + 销售
• 同一 AI Identity 跨设备延续
• 验证用户愿意为
  Physical Presence 付费</a:t>
            </a:r>
            <a:endParaRPr sz="1200" b="0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113" name="Rounded Rectangle 67"/>
          <p:cNvSpPr/>
          <p:nvPr/>
        </p:nvSpPr>
        <p:spPr>
          <a:xfrm>
            <a:off x="12134850" y="9120505"/>
            <a:ext cx="1739265" cy="509905"/>
          </a:xfrm>
          <a:prstGeom prst="roundRect">
            <a:avLst/>
          </a:prstGeom>
          <a:solidFill>
            <a:srgbClr val="F6EFE5"/>
          </a:solidFill>
          <a:ln w="8890">
            <a:solidFill>
              <a:srgbClr val="E8C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4" name="TextBox 68"/>
          <p:cNvSpPr txBox="1"/>
          <p:nvPr/>
        </p:nvSpPr>
        <p:spPr>
          <a:xfrm>
            <a:off x="12170410" y="9120505"/>
            <a:ext cx="1667510" cy="245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CF4B0A"/>
                </a:solidFill>
                <a:latin typeface="Noto Sans CJK SC"/>
              </a:rPr>
              <a:t>Hardware Validation</a:t>
            </a:r>
            <a:endParaRPr sz="1000" b="1">
              <a:solidFill>
                <a:srgbClr val="CF4B0A"/>
              </a:solidFill>
              <a:latin typeface="Noto Sans CJK SC"/>
            </a:endParaRPr>
          </a:p>
        </p:txBody>
      </p:sp>
      <p:sp>
        <p:nvSpPr>
          <p:cNvPr id="115" name="TextBox 69"/>
          <p:cNvSpPr txBox="1"/>
          <p:nvPr/>
        </p:nvSpPr>
        <p:spPr>
          <a:xfrm>
            <a:off x="12170410" y="9358630"/>
            <a:ext cx="1667510" cy="245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8191B"/>
                </a:solidFill>
                <a:latin typeface="Noto Sans CJK SC"/>
              </a:rPr>
              <a:t>验证虚实融合的商业闭环</a:t>
            </a:r>
            <a:endParaRPr sz="1000" b="0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116" name="TextBox 70"/>
          <p:cNvSpPr txBox="1"/>
          <p:nvPr/>
        </p:nvSpPr>
        <p:spPr>
          <a:xfrm>
            <a:off x="9574530" y="6258560"/>
            <a:ext cx="23876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>
                <a:solidFill>
                  <a:srgbClr val="E1D8C9"/>
                </a:solidFill>
                <a:latin typeface="Noto Sans CJK SC"/>
              </a:rPr>
              <a:t>➜</a:t>
            </a:r>
            <a:endParaRPr b="1">
              <a:solidFill>
                <a:srgbClr val="E1D8C9"/>
              </a:solidFill>
              <a:latin typeface="Noto Sans CJK SC"/>
            </a:endParaRPr>
          </a:p>
        </p:txBody>
      </p:sp>
      <p:sp>
        <p:nvSpPr>
          <p:cNvPr id="117" name="TextBox 71"/>
          <p:cNvSpPr txBox="1"/>
          <p:nvPr/>
        </p:nvSpPr>
        <p:spPr>
          <a:xfrm>
            <a:off x="11741785" y="6258560"/>
            <a:ext cx="23876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>
                <a:solidFill>
                  <a:srgbClr val="E1D8C9"/>
                </a:solidFill>
                <a:latin typeface="Noto Sans CJK SC"/>
              </a:rPr>
              <a:t>➜</a:t>
            </a:r>
            <a:endParaRPr b="1">
              <a:solidFill>
                <a:srgbClr val="E1D8C9"/>
              </a:solidFill>
              <a:latin typeface="Noto Sans CJK SC"/>
            </a:endParaRPr>
          </a:p>
        </p:txBody>
      </p:sp>
      <p:sp>
        <p:nvSpPr>
          <p:cNvPr id="119" name="TextBox 73"/>
          <p:cNvSpPr txBox="1"/>
          <p:nvPr/>
        </p:nvSpPr>
        <p:spPr>
          <a:xfrm>
            <a:off x="15319375" y="4692015"/>
            <a:ext cx="1310640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8191B"/>
                </a:solidFill>
                <a:latin typeface="Noto Sans CJK SC"/>
              </a:rPr>
              <a:t>完成跃迁</a:t>
            </a:r>
            <a:endParaRPr sz="1600" b="1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120" name="Oval 74"/>
          <p:cNvSpPr/>
          <p:nvPr/>
        </p:nvSpPr>
        <p:spPr>
          <a:xfrm>
            <a:off x="15565755" y="5302250"/>
            <a:ext cx="953135" cy="1045210"/>
          </a:xfrm>
          <a:prstGeom prst="ellipse">
            <a:avLst/>
          </a:prstGeom>
          <a:solidFill>
            <a:srgbClr val="CF4B0A"/>
          </a:solidFill>
          <a:ln>
            <a:solidFill>
              <a:srgbClr val="C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1" name="TextBox 75"/>
          <p:cNvSpPr txBox="1"/>
          <p:nvPr/>
        </p:nvSpPr>
        <p:spPr>
          <a:xfrm>
            <a:off x="15565755" y="5503545"/>
            <a:ext cx="953135" cy="645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Noto Sans CJK SC"/>
              </a:rPr>
              <a:t>↗</a:t>
            </a:r>
            <a:endParaRPr sz="3600" b="1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24" name="TextBox 78"/>
          <p:cNvSpPr txBox="1"/>
          <p:nvPr/>
        </p:nvSpPr>
        <p:spPr>
          <a:xfrm>
            <a:off x="15132050" y="7247255"/>
            <a:ext cx="1727835" cy="7372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8191B"/>
                </a:solidFill>
                <a:latin typeface="Noto Sans CJK SC"/>
              </a:rPr>
              <a:t>完成从
“技术原型” 到
“商业闭环” 的跃迁</a:t>
            </a:r>
            <a:endParaRPr sz="1400" b="1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6" name="TextBox 31"/>
          <p:cNvSpPr txBox="1"/>
          <p:nvPr/>
        </p:nvSpPr>
        <p:spPr>
          <a:xfrm>
            <a:off x="14277975" y="6787515"/>
            <a:ext cx="416560" cy="5835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CF4B0A"/>
                </a:solidFill>
                <a:latin typeface="Noto Sans CJK SC"/>
              </a:rPr>
              <a:t>➜</a:t>
            </a:r>
            <a:endParaRPr sz="3200" b="1">
              <a:solidFill>
                <a:srgbClr val="CF4B0A"/>
              </a:solidFill>
              <a:latin typeface="Noto Sans CJK SC"/>
            </a:endParaRPr>
          </a:p>
        </p:txBody>
      </p:sp>
      <p:sp>
        <p:nvSpPr>
          <p:cNvPr id="8" name="Oval 81"/>
          <p:cNvSpPr/>
          <p:nvPr/>
        </p:nvSpPr>
        <p:spPr>
          <a:xfrm>
            <a:off x="1668145" y="3129915"/>
            <a:ext cx="571500" cy="626745"/>
          </a:xfrm>
          <a:prstGeom prst="ellipse">
            <a:avLst/>
          </a:prstGeom>
          <a:solidFill>
            <a:srgbClr val="F6EFE5"/>
          </a:solidFill>
          <a:ln>
            <a:solidFill>
              <a:srgbClr val="F6E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2"/>
          <p:cNvSpPr txBox="1"/>
          <p:nvPr/>
        </p:nvSpPr>
        <p:spPr>
          <a:xfrm>
            <a:off x="1668145" y="3241040"/>
            <a:ext cx="57150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8E5B22"/>
                </a:solidFill>
                <a:latin typeface="Noto Sans CJK SC"/>
              </a:rPr>
              <a:t>♙</a:t>
            </a:r>
            <a:endParaRPr sz="2000" b="1">
              <a:solidFill>
                <a:srgbClr val="8E5B22"/>
              </a:solidFill>
              <a:latin typeface="Noto Sans CJK SC"/>
            </a:endParaRPr>
          </a:p>
        </p:txBody>
      </p:sp>
      <p:sp>
        <p:nvSpPr>
          <p:cNvPr id="10" name="TextBox 83"/>
          <p:cNvSpPr txBox="1"/>
          <p:nvPr/>
        </p:nvSpPr>
        <p:spPr>
          <a:xfrm>
            <a:off x="2430780" y="2965450"/>
            <a:ext cx="1370330" cy="275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200" b="1">
                <a:solidFill>
                  <a:srgbClr val="18191B"/>
                </a:solidFill>
                <a:latin typeface="Noto Sans CJK SC"/>
              </a:rPr>
              <a:t>Step1</a:t>
            </a:r>
            <a:endParaRPr lang="en-US" sz="1200" b="1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11" name="TextBox 84"/>
          <p:cNvSpPr txBox="1"/>
          <p:nvPr/>
        </p:nvSpPr>
        <p:spPr>
          <a:xfrm>
            <a:off x="2430780" y="3260090"/>
            <a:ext cx="240665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8191B"/>
                </a:solidFill>
                <a:latin typeface="Noto Sans CJK SC"/>
              </a:rPr>
              <a:t>技术可行性
Prototype</a:t>
            </a:r>
            <a:endParaRPr sz="1400" b="0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12" name="Oval 85"/>
          <p:cNvSpPr/>
          <p:nvPr/>
        </p:nvSpPr>
        <p:spPr>
          <a:xfrm>
            <a:off x="4754245" y="3129915"/>
            <a:ext cx="571500" cy="626745"/>
          </a:xfrm>
          <a:prstGeom prst="ellipse">
            <a:avLst/>
          </a:prstGeom>
          <a:solidFill>
            <a:srgbClr val="F6EFE5"/>
          </a:solidFill>
          <a:ln>
            <a:solidFill>
              <a:srgbClr val="F6E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86"/>
          <p:cNvSpPr txBox="1"/>
          <p:nvPr/>
        </p:nvSpPr>
        <p:spPr>
          <a:xfrm>
            <a:off x="4754245" y="3242310"/>
            <a:ext cx="57150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8E5B22"/>
                </a:solidFill>
                <a:latin typeface="Noto Sans CJK SC"/>
              </a:rPr>
              <a:t>●●</a:t>
            </a:r>
            <a:endParaRPr sz="2000" b="1">
              <a:solidFill>
                <a:srgbClr val="8E5B22"/>
              </a:solidFill>
              <a:latin typeface="Noto Sans CJK SC"/>
            </a:endParaRPr>
          </a:p>
        </p:txBody>
      </p:sp>
      <p:sp>
        <p:nvSpPr>
          <p:cNvPr id="14" name="TextBox 87"/>
          <p:cNvSpPr txBox="1"/>
          <p:nvPr/>
        </p:nvSpPr>
        <p:spPr>
          <a:xfrm>
            <a:off x="5516245" y="2965450"/>
            <a:ext cx="1370330" cy="275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200" b="1">
                <a:solidFill>
                  <a:srgbClr val="18191B"/>
                </a:solidFill>
                <a:latin typeface="Noto Sans CJK SC"/>
              </a:rPr>
              <a:t>step2</a:t>
            </a:r>
            <a:endParaRPr lang="en-US" sz="1200" b="1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15" name="TextBox 88"/>
          <p:cNvSpPr txBox="1"/>
          <p:nvPr/>
        </p:nvSpPr>
        <p:spPr>
          <a:xfrm>
            <a:off x="5516245" y="3260090"/>
            <a:ext cx="240665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8191B"/>
                </a:solidFill>
                <a:latin typeface="Noto Sans CJK SC"/>
              </a:rPr>
              <a:t>产品验证 + 关系验证 +
硬件验证</a:t>
            </a:r>
            <a:endParaRPr sz="1400" b="0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16" name="Oval 89"/>
          <p:cNvSpPr/>
          <p:nvPr/>
        </p:nvSpPr>
        <p:spPr>
          <a:xfrm>
            <a:off x="8350885" y="3129915"/>
            <a:ext cx="571500" cy="626745"/>
          </a:xfrm>
          <a:prstGeom prst="ellipse">
            <a:avLst/>
          </a:prstGeom>
          <a:solidFill>
            <a:srgbClr val="F6EFE5"/>
          </a:solidFill>
          <a:ln>
            <a:solidFill>
              <a:srgbClr val="F6E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90"/>
          <p:cNvSpPr txBox="1"/>
          <p:nvPr/>
        </p:nvSpPr>
        <p:spPr>
          <a:xfrm>
            <a:off x="8350885" y="3241040"/>
            <a:ext cx="57150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8E5B22"/>
                </a:solidFill>
                <a:latin typeface="Noto Sans CJK SC"/>
              </a:rPr>
              <a:t>↗</a:t>
            </a:r>
            <a:endParaRPr sz="2000" b="1">
              <a:solidFill>
                <a:srgbClr val="8E5B22"/>
              </a:solidFill>
              <a:latin typeface="Noto Sans CJK SC"/>
            </a:endParaRPr>
          </a:p>
        </p:txBody>
      </p:sp>
      <p:sp>
        <p:nvSpPr>
          <p:cNvPr id="18" name="TextBox 91"/>
          <p:cNvSpPr txBox="1"/>
          <p:nvPr/>
        </p:nvSpPr>
        <p:spPr>
          <a:xfrm>
            <a:off x="9113520" y="2965450"/>
            <a:ext cx="1370330" cy="275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200" b="1">
                <a:solidFill>
                  <a:srgbClr val="18191B"/>
                </a:solidFill>
                <a:latin typeface="Noto Sans CJK SC"/>
              </a:rPr>
              <a:t>step3</a:t>
            </a:r>
            <a:endParaRPr lang="en-US" sz="1200" b="1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19" name="TextBox 92"/>
          <p:cNvSpPr txBox="1"/>
          <p:nvPr/>
        </p:nvSpPr>
        <p:spPr>
          <a:xfrm>
            <a:off x="9113520" y="3152775"/>
            <a:ext cx="2406650" cy="7372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8191B"/>
                </a:solidFill>
                <a:latin typeface="Noto Sans CJK SC"/>
              </a:rPr>
              <a:t>规模化增长
用户增长 × 收入增长 × 硬件扩张</a:t>
            </a:r>
            <a:endParaRPr sz="1400" b="0">
              <a:solidFill>
                <a:srgbClr val="18191B"/>
              </a:solidFill>
              <a:latin typeface="Noto Sans CJK SC"/>
            </a:endParaRPr>
          </a:p>
        </p:txBody>
      </p:sp>
      <p:sp>
        <p:nvSpPr>
          <p:cNvPr id="20" name="TextBox 93"/>
          <p:cNvSpPr txBox="1"/>
          <p:nvPr/>
        </p:nvSpPr>
        <p:spPr>
          <a:xfrm>
            <a:off x="3991610" y="3131185"/>
            <a:ext cx="297815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97805E"/>
                </a:solidFill>
                <a:latin typeface="Noto Sans CJK SC"/>
              </a:rPr>
              <a:t>›</a:t>
            </a:r>
            <a:endParaRPr sz="2800" b="1">
              <a:solidFill>
                <a:srgbClr val="97805E"/>
              </a:solidFill>
              <a:latin typeface="Noto Sans CJK SC"/>
            </a:endParaRPr>
          </a:p>
        </p:txBody>
      </p:sp>
      <p:sp>
        <p:nvSpPr>
          <p:cNvPr id="21" name="TextBox 94"/>
          <p:cNvSpPr txBox="1"/>
          <p:nvPr/>
        </p:nvSpPr>
        <p:spPr>
          <a:xfrm>
            <a:off x="7780020" y="3131185"/>
            <a:ext cx="297815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97805E"/>
                </a:solidFill>
                <a:latin typeface="Noto Sans CJK SC"/>
              </a:rPr>
              <a:t>›</a:t>
            </a:r>
            <a:endParaRPr sz="2800" b="1">
              <a:solidFill>
                <a:srgbClr val="97805E"/>
              </a:solidFill>
              <a:latin typeface="Noto Sans CJK SC"/>
            </a:endParaRPr>
          </a:p>
        </p:txBody>
      </p:sp>
      <p:sp>
        <p:nvSpPr>
          <p:cNvPr id="22" name="TextBox 98"/>
          <p:cNvSpPr txBox="1"/>
          <p:nvPr/>
        </p:nvSpPr>
        <p:spPr>
          <a:xfrm>
            <a:off x="12840970" y="2885440"/>
            <a:ext cx="3920490" cy="1506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0">
                <a:solidFill>
                  <a:srgbClr val="69665E"/>
                </a:solidFill>
                <a:latin typeface="Noto Sans CJK SC"/>
              </a:rPr>
              <a:t>资金主要投入方向：</a:t>
            </a:r>
            <a:endParaRPr b="0">
              <a:solidFill>
                <a:srgbClr val="69665E"/>
              </a:solidFill>
              <a:latin typeface="Noto Sans CJK SC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b="0">
                <a:solidFill>
                  <a:srgbClr val="69665E"/>
                </a:solidFill>
                <a:latin typeface="Noto Sans CJK SC"/>
              </a:rPr>
              <a:t>核心产品与 AI Engine</a:t>
            </a:r>
            <a:r>
              <a:rPr lang="en-US" b="0">
                <a:solidFill>
                  <a:srgbClr val="69665E"/>
                </a:solidFill>
                <a:latin typeface="Noto Sans CJK SC"/>
              </a:rPr>
              <a:t> - 30%</a:t>
            </a:r>
            <a:r>
              <a:rPr b="0">
                <a:solidFill>
                  <a:srgbClr val="69665E"/>
                </a:solidFill>
                <a:latin typeface="Noto Sans CJK SC"/>
              </a:rPr>
              <a:t>  </a:t>
            </a:r>
            <a:endParaRPr b="0">
              <a:solidFill>
                <a:srgbClr val="69665E"/>
              </a:solidFill>
              <a:latin typeface="Noto Sans CJK SC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b="0">
                <a:solidFill>
                  <a:srgbClr val="69665E"/>
                </a:solidFill>
                <a:latin typeface="Noto Sans CJK SC"/>
              </a:rPr>
              <a:t>首款硬件研发与量产 </a:t>
            </a:r>
            <a:r>
              <a:rPr lang="en-US" b="0">
                <a:solidFill>
                  <a:srgbClr val="69665E"/>
                </a:solidFill>
                <a:latin typeface="Noto Sans CJK SC"/>
              </a:rPr>
              <a:t> - 50%</a:t>
            </a:r>
            <a:endParaRPr b="0">
              <a:solidFill>
                <a:srgbClr val="69665E"/>
              </a:solidFill>
              <a:latin typeface="Noto Sans CJK SC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b="0">
                <a:solidFill>
                  <a:srgbClr val="69665E"/>
                </a:solidFill>
                <a:latin typeface="Noto Sans CJK SC"/>
              </a:rPr>
              <a:t>团队建设与运营增长</a:t>
            </a:r>
            <a:r>
              <a:rPr lang="en-US" b="0">
                <a:solidFill>
                  <a:srgbClr val="69665E"/>
                </a:solidFill>
                <a:latin typeface="Noto Sans CJK SC"/>
              </a:rPr>
              <a:t> - 20%</a:t>
            </a:r>
            <a:r>
              <a:rPr b="0">
                <a:solidFill>
                  <a:srgbClr val="69665E"/>
                </a:solidFill>
                <a:latin typeface="Noto Sans CJK SC"/>
              </a:rPr>
              <a:t> </a:t>
            </a:r>
            <a:endParaRPr b="0">
              <a:solidFill>
                <a:srgbClr val="69665E"/>
              </a:solidFill>
              <a:latin typeface="Noto Sans CJK SC"/>
            </a:endParaRPr>
          </a:p>
        </p:txBody>
      </p:sp>
      <p:sp>
        <p:nvSpPr>
          <p:cNvPr id="26" name="上下箭头 25"/>
          <p:cNvSpPr/>
          <p:nvPr/>
        </p:nvSpPr>
        <p:spPr>
          <a:xfrm>
            <a:off x="6038850" y="4241800"/>
            <a:ext cx="324485" cy="681355"/>
          </a:xfrm>
          <a:prstGeom prst="upDownArrow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6058</Words>
  <Application>WPS 演示</Application>
  <PresentationFormat>On-screen Show (16:9)</PresentationFormat>
  <Paragraphs>864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47" baseType="lpstr">
      <vt:lpstr>Arial</vt:lpstr>
      <vt:lpstr>宋体</vt:lpstr>
      <vt:lpstr>Wingdings</vt:lpstr>
      <vt:lpstr>Noto Sans SC</vt:lpstr>
      <vt:lpstr>苹方-简</vt:lpstr>
      <vt:lpstr>Noto Sans SC</vt:lpstr>
      <vt:lpstr>Noto Sans SC</vt:lpstr>
      <vt:lpstr>Noto Serif SC</vt:lpstr>
      <vt:lpstr>Noto Serif SC</vt:lpstr>
      <vt:lpstr>Noto Serif SC</vt:lpstr>
      <vt:lpstr>Noto Sans CJK SC</vt:lpstr>
      <vt:lpstr>Noto Sans SC</vt:lpstr>
      <vt:lpstr>Noto Sans Syriac</vt:lpstr>
      <vt:lpstr>Wingdings</vt:lpstr>
      <vt:lpstr>Noto Serif SC</vt:lpstr>
      <vt:lpstr>Aptos</vt:lpstr>
      <vt:lpstr>Helvetica Neue</vt:lpstr>
      <vt:lpstr>微软雅黑</vt:lpstr>
      <vt:lpstr>汉仪旗黑</vt:lpstr>
      <vt:lpstr>微软雅黑</vt:lpstr>
      <vt:lpstr>微软雅黑</vt:lpstr>
      <vt:lpstr>Arial</vt:lpstr>
      <vt:lpstr>微软雅黑</vt:lpstr>
      <vt:lpstr>Calibri</vt:lpstr>
      <vt:lpstr>Thonburi</vt:lpstr>
      <vt:lpstr>宋体</vt:lpstr>
      <vt:lpstr>汉仪书宋二KW</vt:lpstr>
      <vt:lpstr>等线</vt:lpstr>
      <vt:lpstr>汉仪中等线KW</vt:lpstr>
      <vt:lpstr>Arial Unicode MS</vt:lpstr>
      <vt:lpstr>Aptos</vt:lpstr>
      <vt:lpstr>Noto Sans CJK SC</vt:lpstr>
      <vt:lpstr>宋体-简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creator>Visual Extract to PPTX Converter</dc:creator>
  <dc:subject>PptxGenJS Presentation</dc:subject>
  <cp:lastModifiedBy>微信用户</cp:lastModifiedBy>
  <cp:revision>146</cp:revision>
  <dcterms:created xsi:type="dcterms:W3CDTF">2026-08-15T11:36:11Z</dcterms:created>
  <dcterms:modified xsi:type="dcterms:W3CDTF">2026-08-15T11:36:11Z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B1334F7B79887678134E806AD9A48E65_43</vt:lpwstr>
  </property>
</Properties>
</file>