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8" r:id="rId5"/>
    <p:sldId id="258" r:id="rId6"/>
    <p:sldId id="260" r:id="rId7"/>
    <p:sldId id="271" r:id="rId8"/>
    <p:sldId id="275" r:id="rId9"/>
    <p:sldId id="262" r:id="rId10"/>
    <p:sldId id="264" r:id="rId11"/>
    <p:sldId id="265" r:id="rId12"/>
    <p:sldId id="266" r:id="rId13"/>
    <p:sldId id="267" r:id="rId1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5836" y="9534525"/>
            <a:ext cx="3200567" cy="547688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686544" y="9534525"/>
            <a:ext cx="4343626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30312" y="9534525"/>
            <a:ext cx="3200567" cy="54768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jpeg"/><Relationship Id="rId3" Type="http://schemas.openxmlformats.org/officeDocument/2006/relationships/image" Target="../media/image15.jpeg"/><Relationship Id="rId2" Type="http://schemas.openxmlformats.org/officeDocument/2006/relationships/image" Target="../media/image5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7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4e954339e028d100677b67e529cb06d3.png"/>
          <p:cNvPicPr>
            <a:picLocks noChangeAspect="1"/>
          </p:cNvPicPr>
          <p:nvPr/>
        </p:nvPicPr>
        <p:blipFill>
          <a:blip r:embed="rId1"/>
          <a:srcRect l="-2083" r="-2083"/>
          <a:stretch>
            <a:fillRect/>
          </a:stretch>
        </p:blipFill>
        <p:spPr>
          <a:xfrm>
            <a:off x="1238098" y="5848502"/>
            <a:ext cx="8572500" cy="9144"/>
          </a:xfrm>
          <a:prstGeom prst="rect">
            <a:avLst/>
          </a:prstGeom>
        </p:spPr>
      </p:pic>
      <p:pic>
        <p:nvPicPr>
          <p:cNvPr id="7" name="Image 3" descr="gen-dedup-292c198aa7f5b9dbeebc2add1bd9d48a.png"/>
          <p:cNvPicPr>
            <a:picLocks noChangeAspect="1"/>
          </p:cNvPicPr>
          <p:nvPr/>
        </p:nvPicPr>
        <p:blipFill>
          <a:blip r:embed="rId2"/>
          <a:srcRect t="-2083" b="-2083"/>
          <a:stretch>
            <a:fillRect/>
          </a:stretch>
        </p:blipFill>
        <p:spPr>
          <a:xfrm>
            <a:off x="11239805" y="0"/>
            <a:ext cx="9144" cy="10287000"/>
          </a:xfrm>
          <a:prstGeom prst="rect">
            <a:avLst/>
          </a:prstGeom>
        </p:spPr>
      </p:pic>
      <p:pic>
        <p:nvPicPr>
          <p:cNvPr id="17" name="Image 8" descr="gen-dedup-44e588de7fa6c03f7f513974a6fe718a.png"/>
          <p:cNvPicPr>
            <a:picLocks noChangeAspect="1"/>
          </p:cNvPicPr>
          <p:nvPr/>
        </p:nvPicPr>
        <p:blipFill>
          <a:blip r:embed="rId3"/>
          <a:srcRect l="-429" r="-429"/>
          <a:stretch>
            <a:fillRect/>
          </a:stretch>
        </p:blipFill>
        <p:spPr>
          <a:xfrm>
            <a:off x="1238098" y="1429207"/>
            <a:ext cx="609905" cy="28346"/>
          </a:xfrm>
          <a:prstGeom prst="rect">
            <a:avLst/>
          </a:prstGeom>
        </p:spPr>
      </p:pic>
      <p:sp>
        <p:nvSpPr>
          <p:cNvPr id="19" name="Text 8"/>
          <p:cNvSpPr txBox="1"/>
          <p:nvPr/>
        </p:nvSpPr>
        <p:spPr>
          <a:xfrm>
            <a:off x="1238098" y="1714500"/>
            <a:ext cx="857250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kern="0" spc="36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疯狂宠物城 · AI 陪伴</a:t>
            </a:r>
            <a:endParaRPr lang="en-US" sz="1125" dirty="0"/>
          </a:p>
        </p:txBody>
      </p:sp>
      <p:sp>
        <p:nvSpPr>
          <p:cNvPr id="20" name="Text 9"/>
          <p:cNvSpPr txBox="1"/>
          <p:nvPr/>
        </p:nvSpPr>
        <p:spPr>
          <a:xfrm>
            <a:off x="1238098" y="2495398"/>
            <a:ext cx="9144000" cy="1905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45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疯狂宠物城：让AI角色</a:t>
            </a:r>
            <a:endParaRPr lang="en-US" sz="4500" dirty="0"/>
          </a:p>
          <a:p>
            <a:pPr marL="0" indent="0" algn="l">
              <a:lnSpc>
                <a:spcPct val="134000"/>
              </a:lnSpc>
              <a:buNone/>
            </a:pPr>
            <a:r>
              <a:rPr lang="en-US" sz="45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真正生活在世界里的陪伴</a:t>
            </a:r>
            <a:r>
              <a:rPr lang="zh-CN" altLang="en-US" sz="45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平台</a:t>
            </a:r>
            <a:endParaRPr lang="zh-CN" altLang="en-US" sz="450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21" name="Text 10"/>
          <p:cNvSpPr txBox="1"/>
          <p:nvPr/>
        </p:nvSpPr>
        <p:spPr>
          <a:xfrm>
            <a:off x="1238098" y="4608576"/>
            <a:ext cx="8382305" cy="8019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65"/>
              </a:lnSpc>
              <a:buNone/>
            </a:pPr>
            <a:r>
              <a:rPr 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用虚拟世界、关系智能与硬件</a:t>
            </a:r>
            <a:r>
              <a:rPr lang="zh-CN" alt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载体</a:t>
            </a:r>
            <a:r>
              <a:rPr 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入口，做新</a:t>
            </a:r>
            <a:endParaRPr lang="en-US" sz="1950" dirty="0"/>
          </a:p>
          <a:p>
            <a:pPr marL="0" indent="0" algn="l">
              <a:lnSpc>
                <a:spcPts val="2965"/>
              </a:lnSpc>
              <a:buNone/>
            </a:pPr>
            <a:r>
              <a:rPr 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一代AI陪伴产品</a:t>
            </a:r>
            <a:endParaRPr lang="en-US" sz="1950" dirty="0"/>
          </a:p>
        </p:txBody>
      </p:sp>
      <p:grpSp>
        <p:nvGrpSpPr>
          <p:cNvPr id="58" name="组合 57"/>
          <p:cNvGrpSpPr/>
          <p:nvPr/>
        </p:nvGrpSpPr>
        <p:grpSpPr>
          <a:xfrm>
            <a:off x="693420" y="7145655"/>
            <a:ext cx="7905115" cy="1734820"/>
            <a:chOff x="1468" y="11253"/>
            <a:chExt cx="11340" cy="2333"/>
          </a:xfrm>
        </p:grpSpPr>
        <p:sp>
          <p:nvSpPr>
            <p:cNvPr id="16" name="Oval 11"/>
            <p:cNvSpPr/>
            <p:nvPr/>
          </p:nvSpPr>
          <p:spPr>
            <a:xfrm>
              <a:off x="1576" y="11426"/>
              <a:ext cx="864" cy="864"/>
            </a:xfrm>
            <a:prstGeom prst="ellipse">
              <a:avLst/>
            </a:prstGeom>
            <a:solidFill>
              <a:srgbClr val="FBFAF7"/>
            </a:solidFill>
            <a:ln w="20320">
              <a:solidFill>
                <a:srgbClr val="C5530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/>
            </a:p>
          </p:txBody>
        </p:sp>
        <p:sp>
          <p:nvSpPr>
            <p:cNvPr id="30" name="Oval 14"/>
            <p:cNvSpPr/>
            <p:nvPr/>
          </p:nvSpPr>
          <p:spPr>
            <a:xfrm>
              <a:off x="1840" y="11820"/>
              <a:ext cx="76" cy="76"/>
            </a:xfrm>
            <a:prstGeom prst="ellipse">
              <a:avLst/>
            </a:prstGeom>
            <a:solidFill>
              <a:srgbClr val="C553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/>
            </a:p>
          </p:txBody>
        </p:sp>
        <p:sp>
          <p:nvSpPr>
            <p:cNvPr id="31" name="Oval 15"/>
            <p:cNvSpPr/>
            <p:nvPr/>
          </p:nvSpPr>
          <p:spPr>
            <a:xfrm>
              <a:off x="2100" y="11820"/>
              <a:ext cx="76" cy="76"/>
            </a:xfrm>
            <a:prstGeom prst="ellipse">
              <a:avLst/>
            </a:prstGeom>
            <a:solidFill>
              <a:srgbClr val="C553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/>
            </a:p>
          </p:txBody>
        </p:sp>
        <p:sp>
          <p:nvSpPr>
            <p:cNvPr id="32" name="TextBox 16"/>
            <p:cNvSpPr txBox="1"/>
            <p:nvPr/>
          </p:nvSpPr>
          <p:spPr>
            <a:xfrm>
              <a:off x="1468" y="12444"/>
              <a:ext cx="2296" cy="51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875" b="1">
                  <a:solidFill>
                    <a:srgbClr val="171B1F"/>
                  </a:solidFill>
                  <a:latin typeface="Noto Sans CJK SC"/>
                </a:rPr>
                <a:t>Agent 角色</a:t>
              </a:r>
              <a:endParaRPr sz="1875" b="1">
                <a:solidFill>
                  <a:srgbClr val="171B1F"/>
                </a:solidFill>
                <a:latin typeface="Noto Sans CJK SC"/>
              </a:endParaRPr>
            </a:p>
          </p:txBody>
        </p:sp>
        <p:sp>
          <p:nvSpPr>
            <p:cNvPr id="33" name="TextBox 17"/>
            <p:cNvSpPr txBox="1"/>
            <p:nvPr/>
          </p:nvSpPr>
          <p:spPr>
            <a:xfrm>
              <a:off x="1468" y="13059"/>
              <a:ext cx="2052" cy="44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575" b="0">
                  <a:solidFill>
                    <a:srgbClr val="5C5C58"/>
                  </a:solidFill>
                  <a:latin typeface="Noto Sans CJK SC"/>
                </a:rPr>
                <a:t>持续存在</a:t>
              </a:r>
              <a:endParaRPr sz="1575" b="0">
                <a:solidFill>
                  <a:srgbClr val="5C5C58"/>
                </a:solidFill>
                <a:latin typeface="Noto Sans CJK SC"/>
              </a:endParaRPr>
            </a:p>
          </p:txBody>
        </p:sp>
        <p:cxnSp>
          <p:nvCxnSpPr>
            <p:cNvPr id="34" name="Connector 18"/>
            <p:cNvCxnSpPr/>
            <p:nvPr/>
          </p:nvCxnSpPr>
          <p:spPr>
            <a:xfrm>
              <a:off x="3779" y="11253"/>
              <a:ext cx="0" cy="2333"/>
            </a:xfrm>
            <a:prstGeom prst="line">
              <a:avLst/>
            </a:prstGeom>
            <a:ln w="8890">
              <a:solidFill>
                <a:srgbClr val="D8D5C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Heart 19"/>
            <p:cNvSpPr/>
            <p:nvPr/>
          </p:nvSpPr>
          <p:spPr>
            <a:xfrm>
              <a:off x="4643" y="11296"/>
              <a:ext cx="907" cy="907"/>
            </a:xfrm>
            <a:prstGeom prst="heart">
              <a:avLst/>
            </a:prstGeom>
            <a:noFill/>
            <a:ln w="21590">
              <a:solidFill>
                <a:srgbClr val="F15D7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/>
            </a:p>
          </p:txBody>
        </p:sp>
        <p:sp>
          <p:nvSpPr>
            <p:cNvPr id="36" name="TextBox 20"/>
            <p:cNvSpPr txBox="1"/>
            <p:nvPr/>
          </p:nvSpPr>
          <p:spPr>
            <a:xfrm>
              <a:off x="4535" y="12444"/>
              <a:ext cx="2052" cy="51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875" b="1">
                  <a:solidFill>
                    <a:srgbClr val="171B1F"/>
                  </a:solidFill>
                  <a:latin typeface="Noto Sans CJK SC"/>
                </a:rPr>
                <a:t>关系智能</a:t>
              </a:r>
              <a:endParaRPr sz="1875" b="1">
                <a:solidFill>
                  <a:srgbClr val="171B1F"/>
                </a:solidFill>
                <a:latin typeface="Noto Sans CJK SC"/>
              </a:endParaRPr>
            </a:p>
          </p:txBody>
        </p:sp>
        <p:sp>
          <p:nvSpPr>
            <p:cNvPr id="37" name="TextBox 21"/>
            <p:cNvSpPr txBox="1"/>
            <p:nvPr/>
          </p:nvSpPr>
          <p:spPr>
            <a:xfrm>
              <a:off x="4535" y="13059"/>
              <a:ext cx="2052" cy="44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575" b="0">
                  <a:solidFill>
                    <a:srgbClr val="5C5C58"/>
                  </a:solidFill>
                  <a:latin typeface="Noto Sans CJK SC"/>
                </a:rPr>
                <a:t>持续成长</a:t>
              </a:r>
              <a:endParaRPr sz="1575" b="0">
                <a:solidFill>
                  <a:srgbClr val="5C5C58"/>
                </a:solidFill>
                <a:latin typeface="Noto Sans CJK SC"/>
              </a:endParaRPr>
            </a:p>
          </p:txBody>
        </p:sp>
        <p:cxnSp>
          <p:nvCxnSpPr>
            <p:cNvPr id="38" name="Connector 22"/>
            <p:cNvCxnSpPr/>
            <p:nvPr/>
          </p:nvCxnSpPr>
          <p:spPr>
            <a:xfrm>
              <a:off x="6846" y="11253"/>
              <a:ext cx="0" cy="2333"/>
            </a:xfrm>
            <a:prstGeom prst="line">
              <a:avLst/>
            </a:prstGeom>
            <a:ln w="8890">
              <a:solidFill>
                <a:srgbClr val="D8D5C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23"/>
            <p:cNvSpPr/>
            <p:nvPr/>
          </p:nvSpPr>
          <p:spPr>
            <a:xfrm>
              <a:off x="7797" y="11296"/>
              <a:ext cx="907" cy="907"/>
            </a:xfrm>
            <a:prstGeom prst="ellipse">
              <a:avLst/>
            </a:prstGeom>
            <a:solidFill>
              <a:srgbClr val="FBFAF7"/>
            </a:solidFill>
            <a:ln w="19050">
              <a:solidFill>
                <a:srgbClr val="3D6FC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/>
            </a:p>
          </p:txBody>
        </p:sp>
        <p:cxnSp>
          <p:nvCxnSpPr>
            <p:cNvPr id="44" name="Connector 24"/>
            <p:cNvCxnSpPr/>
            <p:nvPr/>
          </p:nvCxnSpPr>
          <p:spPr>
            <a:xfrm>
              <a:off x="7797" y="11750"/>
              <a:ext cx="907" cy="0"/>
            </a:xfrm>
            <a:prstGeom prst="line">
              <a:avLst/>
            </a:prstGeom>
            <a:ln w="12700">
              <a:solidFill>
                <a:srgbClr val="3D6FC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25"/>
            <p:cNvCxnSpPr/>
            <p:nvPr/>
          </p:nvCxnSpPr>
          <p:spPr>
            <a:xfrm>
              <a:off x="8250" y="11296"/>
              <a:ext cx="0" cy="907"/>
            </a:xfrm>
            <a:prstGeom prst="line">
              <a:avLst/>
            </a:prstGeom>
            <a:ln w="12700">
              <a:solidFill>
                <a:srgbClr val="3D6FC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26"/>
            <p:cNvSpPr txBox="1"/>
            <p:nvPr/>
          </p:nvSpPr>
          <p:spPr>
            <a:xfrm>
              <a:off x="7689" y="12444"/>
              <a:ext cx="2052" cy="51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875" b="1">
                  <a:solidFill>
                    <a:srgbClr val="171B1F"/>
                  </a:solidFill>
                  <a:latin typeface="Noto Sans CJK SC"/>
                </a:rPr>
                <a:t>虚拟世界</a:t>
              </a:r>
              <a:endParaRPr sz="1875" b="1">
                <a:solidFill>
                  <a:srgbClr val="171B1F"/>
                </a:solidFill>
                <a:latin typeface="Noto Sans CJK SC"/>
              </a:endParaRPr>
            </a:p>
          </p:txBody>
        </p:sp>
        <p:sp>
          <p:nvSpPr>
            <p:cNvPr id="52" name="TextBox 27"/>
            <p:cNvSpPr txBox="1"/>
            <p:nvPr/>
          </p:nvSpPr>
          <p:spPr>
            <a:xfrm>
              <a:off x="7689" y="13059"/>
              <a:ext cx="2052" cy="44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575" b="0">
                  <a:solidFill>
                    <a:srgbClr val="5C5C58"/>
                  </a:solidFill>
                  <a:latin typeface="Noto Sans CJK SC"/>
                </a:rPr>
                <a:t>持续运行</a:t>
              </a:r>
              <a:endParaRPr sz="1575" b="0">
                <a:solidFill>
                  <a:srgbClr val="5C5C58"/>
                </a:solidFill>
                <a:latin typeface="Noto Sans CJK SC"/>
              </a:endParaRPr>
            </a:p>
          </p:txBody>
        </p:sp>
        <p:cxnSp>
          <p:nvCxnSpPr>
            <p:cNvPr id="53" name="Connector 28"/>
            <p:cNvCxnSpPr/>
            <p:nvPr/>
          </p:nvCxnSpPr>
          <p:spPr>
            <a:xfrm>
              <a:off x="10000" y="11253"/>
              <a:ext cx="0" cy="2333"/>
            </a:xfrm>
            <a:prstGeom prst="line">
              <a:avLst/>
            </a:prstGeom>
            <a:ln w="8890">
              <a:solidFill>
                <a:srgbClr val="D8D5C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ounded Rectangle 29"/>
            <p:cNvSpPr/>
            <p:nvPr/>
          </p:nvSpPr>
          <p:spPr>
            <a:xfrm>
              <a:off x="11037" y="11275"/>
              <a:ext cx="540" cy="929"/>
            </a:xfrm>
            <a:prstGeom prst="roundRect">
              <a:avLst/>
            </a:prstGeom>
            <a:noFill/>
            <a:ln w="20320">
              <a:solidFill>
                <a:srgbClr val="46A4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/>
            </a:p>
          </p:txBody>
        </p:sp>
        <p:sp>
          <p:nvSpPr>
            <p:cNvPr id="55" name="TextBox 30"/>
            <p:cNvSpPr txBox="1"/>
            <p:nvPr/>
          </p:nvSpPr>
          <p:spPr>
            <a:xfrm>
              <a:off x="10756" y="12444"/>
              <a:ext cx="2052" cy="51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875" b="1">
                  <a:solidFill>
                    <a:srgbClr val="171B1F"/>
                  </a:solidFill>
                  <a:latin typeface="Noto Sans CJK SC"/>
                </a:rPr>
                <a:t>硬件入口</a:t>
              </a:r>
              <a:endParaRPr sz="1875" b="1">
                <a:solidFill>
                  <a:srgbClr val="171B1F"/>
                </a:solidFill>
                <a:latin typeface="Noto Sans CJK SC"/>
              </a:endParaRPr>
            </a:p>
          </p:txBody>
        </p:sp>
        <p:sp>
          <p:nvSpPr>
            <p:cNvPr id="56" name="TextBox 31"/>
            <p:cNvSpPr txBox="1"/>
            <p:nvPr/>
          </p:nvSpPr>
          <p:spPr>
            <a:xfrm>
              <a:off x="10756" y="13059"/>
              <a:ext cx="2052" cy="44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575" b="0">
                  <a:solidFill>
                    <a:srgbClr val="5C5C58"/>
                  </a:solidFill>
                  <a:latin typeface="Noto Sans CJK SC"/>
                </a:rPr>
                <a:t>跨设备陪伴</a:t>
              </a:r>
              <a:endParaRPr sz="1575" b="0">
                <a:solidFill>
                  <a:srgbClr val="5C5C58"/>
                </a:solidFill>
                <a:latin typeface="Noto Sans CJK SC"/>
              </a:endParaRPr>
            </a:p>
          </p:txBody>
        </p:sp>
      </p:grpSp>
      <p:pic>
        <p:nvPicPr>
          <p:cNvPr id="57" name="图片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6675" y="1016000"/>
            <a:ext cx="9267825" cy="85782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问题与机会</a:t>
            </a:r>
            <a:endParaRPr lang="en-US" sz="1125" dirty="0"/>
          </a:p>
        </p:txBody>
      </p:sp>
      <p:sp>
        <p:nvSpPr>
          <p:cNvPr id="46" name="Text 34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AI陪伴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不等于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对话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智能</a:t>
            </a:r>
            <a:endParaRPr lang="zh-CN" altLang="en-US" sz="345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47" name="Text 35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市场还在做"高级工具",</a:t>
            </a: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不是在</a:t>
            </a:r>
            <a:r>
              <a:rPr 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做"</a:t>
            </a: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长期关系型</a:t>
            </a:r>
            <a:r>
              <a:rPr 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陪伴"。</a:t>
            </a:r>
            <a:endParaRPr lang="en-US" sz="1725" dirty="0"/>
          </a:p>
        </p:txBody>
      </p:sp>
      <p:pic>
        <p:nvPicPr>
          <p:cNvPr id="55" name="Picture 55"/>
          <p:cNvPicPr/>
          <p:nvPr/>
        </p:nvPicPr>
        <p:blipFill>
          <a:blip r:embed="rId2"/>
          <a:stretch>
            <a:fillRect/>
          </a:stretch>
        </p:blipFill>
        <p:spPr>
          <a:xfrm>
            <a:off x="1238250" y="2800985"/>
            <a:ext cx="7651750" cy="4292600"/>
          </a:xfrm>
          <a:prstGeom prst="rect">
            <a:avLst/>
          </a:prstGeom>
        </p:spPr>
      </p:pic>
      <p:grpSp>
        <p:nvGrpSpPr>
          <p:cNvPr id="76" name="组合 75"/>
          <p:cNvGrpSpPr/>
          <p:nvPr/>
        </p:nvGrpSpPr>
        <p:grpSpPr>
          <a:xfrm>
            <a:off x="9599930" y="3072130"/>
            <a:ext cx="5920105" cy="2658110"/>
            <a:chOff x="14433" y="4411"/>
            <a:chExt cx="11399" cy="5622"/>
          </a:xfrm>
        </p:grpSpPr>
        <p:sp>
          <p:nvSpPr>
            <p:cNvPr id="5" name="AutoShape 4"/>
            <p:cNvSpPr/>
            <p:nvPr/>
          </p:nvSpPr>
          <p:spPr>
            <a:xfrm>
              <a:off x="14433" y="4411"/>
              <a:ext cx="5320" cy="30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200"/>
            </a:p>
          </p:txBody>
        </p:sp>
        <p:sp>
          <p:nvSpPr>
            <p:cNvPr id="6" name="AutoShape 5"/>
            <p:cNvSpPr/>
            <p:nvPr/>
          </p:nvSpPr>
          <p:spPr>
            <a:xfrm>
              <a:off x="14433" y="4411"/>
              <a:ext cx="5320" cy="80"/>
            </a:xfrm>
            <a:prstGeom prst="roundRect">
              <a:avLst>
                <a:gd name="adj" fmla="val 0"/>
              </a:avLst>
            </a:prstGeom>
            <a:solidFill>
              <a:srgbClr val="F9731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200"/>
            </a:p>
          </p:txBody>
        </p:sp>
        <p:sp>
          <p:nvSpPr>
            <p:cNvPr id="7" name="AutoShape 6"/>
            <p:cNvSpPr/>
            <p:nvPr/>
          </p:nvSpPr>
          <p:spPr>
            <a:xfrm>
              <a:off x="14732" y="4598"/>
              <a:ext cx="4721" cy="103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F9731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&lt;20%</a:t>
              </a:r>
              <a:endParaRPr lang="en-US" sz="20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9" name="AutoShape 8"/>
            <p:cNvSpPr/>
            <p:nvPr/>
          </p:nvSpPr>
          <p:spPr>
            <a:xfrm>
              <a:off x="14733" y="6229"/>
              <a:ext cx="4720" cy="9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1" i="0" u="none" strike="noStrike">
                  <a:solidFill>
                    <a:schemeClr val="tx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三日留存率普遍跌破20%</a:t>
              </a:r>
              <a:endParaRPr lang="en-US" sz="12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0" name="AutoShape 9"/>
            <p:cNvSpPr/>
            <p:nvPr/>
          </p:nvSpPr>
          <p:spPr>
            <a:xfrm>
              <a:off x="20511" y="4414"/>
              <a:ext cx="5320" cy="30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200"/>
            </a:p>
          </p:txBody>
        </p:sp>
        <p:sp>
          <p:nvSpPr>
            <p:cNvPr id="11" name="AutoShape 10"/>
            <p:cNvSpPr/>
            <p:nvPr/>
          </p:nvSpPr>
          <p:spPr>
            <a:xfrm>
              <a:off x="20511" y="4414"/>
              <a:ext cx="5320" cy="80"/>
            </a:xfrm>
            <a:prstGeom prst="roundRect">
              <a:avLst>
                <a:gd name="adj" fmla="val 0"/>
              </a:avLst>
            </a:prstGeom>
            <a:solidFill>
              <a:srgbClr val="F9731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200"/>
            </a:p>
          </p:txBody>
        </p:sp>
        <p:sp>
          <p:nvSpPr>
            <p:cNvPr id="12" name="AutoShape 11"/>
            <p:cNvSpPr/>
            <p:nvPr/>
          </p:nvSpPr>
          <p:spPr>
            <a:xfrm>
              <a:off x="20811" y="4601"/>
              <a:ext cx="4721" cy="123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F9731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5-7天</a:t>
              </a:r>
              <a:endParaRPr lang="en-US" sz="20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4" name="AutoShape 13"/>
            <p:cNvSpPr/>
            <p:nvPr/>
          </p:nvSpPr>
          <p:spPr>
            <a:xfrm>
              <a:off x="20811" y="6198"/>
              <a:ext cx="4720" cy="9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lvl="0" algn="l">
                <a:lnSpc>
                  <a:spcPct val="108000"/>
                </a:lnSpc>
                <a:buClrTx/>
                <a:buSzTx/>
                <a:buFontTx/>
                <a:defRPr/>
              </a:pPr>
              <a:r>
                <a:rPr lang="en-US" sz="1200" b="1">
                  <a:latin typeface="Noto Sans SC"/>
                  <a:ea typeface="Noto Sans SC"/>
                  <a:cs typeface="Noto Sans SC"/>
                  <a:sym typeface="Noto Sans SC"/>
                </a:rPr>
                <a:t>用户平均与单个AI角色建立联系的时长仅为5-7天</a:t>
              </a:r>
              <a:endParaRPr lang="en-US" sz="1200" b="1"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5" name="AutoShape 14"/>
            <p:cNvSpPr/>
            <p:nvPr/>
          </p:nvSpPr>
          <p:spPr>
            <a:xfrm>
              <a:off x="14433" y="7585"/>
              <a:ext cx="11399" cy="2415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200"/>
            </a:p>
          </p:txBody>
        </p:sp>
        <p:sp>
          <p:nvSpPr>
            <p:cNvPr id="16" name="AutoShape 15"/>
            <p:cNvSpPr/>
            <p:nvPr/>
          </p:nvSpPr>
          <p:spPr>
            <a:xfrm>
              <a:off x="14433" y="7585"/>
              <a:ext cx="11399" cy="120"/>
            </a:xfrm>
            <a:prstGeom prst="roundRect">
              <a:avLst>
                <a:gd name="adj" fmla="val 0"/>
              </a:avLst>
            </a:prstGeom>
            <a:solidFill>
              <a:srgbClr val="F9731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200"/>
            </a:p>
          </p:txBody>
        </p:sp>
        <p:sp>
          <p:nvSpPr>
            <p:cNvPr id="17" name="AutoShape 16"/>
            <p:cNvSpPr/>
            <p:nvPr/>
          </p:nvSpPr>
          <p:spPr>
            <a:xfrm>
              <a:off x="14733" y="7772"/>
              <a:ext cx="10113" cy="966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2400" b="1" i="0" u="none" strike="noStrike">
                  <a:solidFill>
                    <a:srgbClr val="F9731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三大缺失</a:t>
              </a:r>
              <a:endParaRPr lang="en-US" sz="24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8" name="AutoShape 17"/>
            <p:cNvSpPr/>
            <p:nvPr/>
          </p:nvSpPr>
          <p:spPr>
            <a:xfrm>
              <a:off x="18123" y="8284"/>
              <a:ext cx="3683" cy="4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2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记忆·情感·</a:t>
              </a:r>
              <a:r>
                <a:rPr lang="zh-CN" altLang="en-US" sz="12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性格</a:t>
              </a:r>
              <a:endParaRPr lang="zh-CN" alt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9" name="AutoShape 18"/>
            <p:cNvSpPr/>
            <p:nvPr/>
          </p:nvSpPr>
          <p:spPr>
            <a:xfrm>
              <a:off x="14732" y="8738"/>
              <a:ext cx="9165" cy="1295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171450" indent="-171450" algn="l">
                <a:lnSpc>
                  <a:spcPct val="108000"/>
                </a:lnSpc>
                <a:buFont typeface="Arial" panose="020B0604020202090204" pitchFamily="34" charset="0"/>
                <a:buChar char="•"/>
                <a:defRPr/>
              </a:pPr>
              <a:r>
                <a:rPr lang="en-US" sz="9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对话局限于单次会话，无法跨时间延续</a:t>
              </a:r>
              <a:endParaRPr lang="en-US" sz="9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  <a:p>
              <a:pPr marL="171450" indent="-171450" algn="l">
                <a:lnSpc>
                  <a:spcPct val="108000"/>
                </a:lnSpc>
                <a:buFont typeface="Arial" panose="020B0604020202090204" pitchFamily="34" charset="0"/>
                <a:buChar char="•"/>
                <a:defRPr/>
              </a:pPr>
              <a:r>
                <a:rPr lang="en-US" sz="9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仅能通过关键词识别情感,无法做到同频</a:t>
              </a:r>
              <a:endParaRPr lang="en-US" sz="9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  <a:p>
              <a:pPr marL="171450" indent="-171450" algn="l">
                <a:lnSpc>
                  <a:spcPct val="108000"/>
                </a:lnSpc>
                <a:buFont typeface="Arial" panose="020B0604020202090204" pitchFamily="34" charset="0"/>
                <a:buChar char="•"/>
                <a:defRPr/>
              </a:pPr>
              <a:r>
                <a:rPr lang="en-US" sz="9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AI被设计成完美客体,关系退化为服务</a:t>
              </a:r>
              <a:endParaRPr lang="en-US" sz="9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9184005" y="6331585"/>
            <a:ext cx="8358505" cy="762000"/>
            <a:chOff x="1200" y="9000"/>
            <a:chExt cx="16800" cy="1200"/>
          </a:xfrm>
        </p:grpSpPr>
        <p:sp>
          <p:nvSpPr>
            <p:cNvPr id="73" name="AutoShape 49"/>
            <p:cNvSpPr/>
            <p:nvPr/>
          </p:nvSpPr>
          <p:spPr>
            <a:xfrm>
              <a:off x="1200" y="9000"/>
              <a:ext cx="16800" cy="1200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FF6A00">
                    <a:alpha val="10000"/>
                  </a:srgbClr>
                </a:gs>
                <a:gs pos="100000">
                  <a:srgbClr val="FF6A00">
                    <a:alpha val="2000"/>
                  </a:srgbClr>
                </a:gs>
              </a:gsLst>
              <a:lin ang="0"/>
            </a:gradFill>
            <a:ln cap="flat" cmpd="sng">
              <a:gradFill rotWithShape="1">
                <a:gsLst>
                  <a:gs pos="0">
                    <a:srgbClr val="E65F00">
                      <a:alpha val="10000"/>
                    </a:srgbClr>
                  </a:gs>
                  <a:gs pos="100000">
                    <a:srgbClr val="E65F00">
                      <a:alpha val="2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74" name="AutoShape 50"/>
            <p:cNvSpPr/>
            <p:nvPr/>
          </p:nvSpPr>
          <p:spPr>
            <a:xfrm>
              <a:off x="1200" y="9000"/>
              <a:ext cx="8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75" name="AutoShape 51"/>
            <p:cNvSpPr/>
            <p:nvPr/>
          </p:nvSpPr>
          <p:spPr>
            <a:xfrm>
              <a:off x="1640" y="9000"/>
              <a:ext cx="162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9000"/>
                </a:lnSpc>
                <a:defRPr/>
              </a:pPr>
              <a:r>
                <a:rPr lang="en-US" sz="1600" b="0" i="0" u="none" strike="noStrike">
                  <a:solidFill>
                    <a:srgbClr val="3C3C3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当前市场主力军在</a:t>
              </a:r>
              <a:r>
                <a:rPr lang="en-US" sz="16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L2</a:t>
              </a:r>
              <a:r>
                <a:rPr lang="en-US" sz="1600" b="0" i="0" u="none" strike="noStrike">
                  <a:solidFill>
                    <a:srgbClr val="3C3C3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层级激烈搏杀,少数先锋开始探索</a:t>
              </a:r>
              <a:r>
                <a:rPr lang="en-US" sz="16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L3</a:t>
              </a:r>
              <a:r>
                <a:rPr lang="en-US" sz="1600" b="0" i="0" u="none" strike="noStrike">
                  <a:solidFill>
                    <a:srgbClr val="3C3C3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,而</a:t>
              </a:r>
              <a:r>
                <a:rPr lang="en-US" sz="16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L4</a:t>
              </a:r>
              <a:r>
                <a:rPr lang="en-US" sz="1600" b="0" i="0" u="none" strike="noStrike">
                  <a:solidFill>
                    <a:srgbClr val="3C3C3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则是值得奔赴的"北极星"。</a:t>
              </a:r>
              <a:endParaRPr lang="en-US" sz="1100"/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817880" y="7303770"/>
            <a:ext cx="2687320" cy="2790825"/>
            <a:chOff x="919" y="11755"/>
            <a:chExt cx="5488" cy="3789"/>
          </a:xfrm>
        </p:grpSpPr>
        <p:sp>
          <p:nvSpPr>
            <p:cNvPr id="21" name="AutoShape 4"/>
            <p:cNvSpPr/>
            <p:nvPr/>
          </p:nvSpPr>
          <p:spPr>
            <a:xfrm>
              <a:off x="919" y="11755"/>
              <a:ext cx="5011" cy="3789"/>
            </a:xfrm>
            <a:prstGeom prst="roundRect">
              <a:avLst>
                <a:gd name="adj" fmla="val 0"/>
              </a:avLst>
            </a:prstGeom>
            <a:solidFill>
              <a:srgbClr val="FAFAFA">
                <a:alpha val="100000"/>
              </a:srgbClr>
            </a:solidFill>
            <a:ln cap="flat" cmpd="sng">
              <a:solidFill>
                <a:srgbClr val="E1CACA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2" name="AutoShape 5"/>
            <p:cNvSpPr/>
            <p:nvPr/>
          </p:nvSpPr>
          <p:spPr>
            <a:xfrm>
              <a:off x="919" y="11755"/>
              <a:ext cx="119" cy="3789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3" name="AutoShape 6"/>
            <p:cNvSpPr/>
            <p:nvPr/>
          </p:nvSpPr>
          <p:spPr>
            <a:xfrm>
              <a:off x="919" y="12101"/>
              <a:ext cx="1855" cy="84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3600" b="1" i="0" u="none" strike="noStrike" spc="200">
                  <a:solidFill>
                    <a:schemeClr val="tx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L0</a:t>
              </a:r>
              <a:endParaRPr lang="en-US" sz="3600" b="1" i="0" u="none" strike="noStrike" spc="20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24" name="AutoShape 7"/>
            <p:cNvSpPr/>
            <p:nvPr/>
          </p:nvSpPr>
          <p:spPr>
            <a:xfrm>
              <a:off x="1396" y="12101"/>
              <a:ext cx="5011" cy="3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工具型对话</a:t>
              </a:r>
              <a:endParaRPr lang="en-US" sz="1100"/>
            </a:p>
          </p:txBody>
        </p:sp>
        <p:sp>
          <p:nvSpPr>
            <p:cNvPr id="25" name="AutoShape 8"/>
            <p:cNvSpPr/>
            <p:nvPr/>
          </p:nvSpPr>
          <p:spPr>
            <a:xfrm>
              <a:off x="919" y="12525"/>
              <a:ext cx="5011" cy="26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200" b="0" i="0" u="none" strike="noStrike" spc="1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无陪伴</a:t>
              </a:r>
              <a:endParaRPr lang="en-US" sz="1100"/>
            </a:p>
          </p:txBody>
        </p:sp>
        <p:cxnSp>
          <p:nvCxnSpPr>
            <p:cNvPr id="27" name="Connector 9"/>
            <p:cNvCxnSpPr/>
            <p:nvPr/>
          </p:nvCxnSpPr>
          <p:spPr>
            <a:xfrm rot="21574723">
              <a:off x="1396" y="13040"/>
              <a:ext cx="4056" cy="13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0000">
                  <a:alpha val="8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" name="AutoShape 10"/>
            <p:cNvSpPr/>
            <p:nvPr/>
          </p:nvSpPr>
          <p:spPr>
            <a:xfrm>
              <a:off x="1158" y="13340"/>
              <a:ext cx="4533" cy="84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1000"/>
                </a:lnSpc>
                <a:defRPr/>
              </a:pPr>
              <a:r>
                <a:rPr lang="en-US" sz="1300" b="0" i="0" u="none" strike="noStrike">
                  <a:solidFill>
                    <a:srgbClr val="4B4B4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纯粹的信息处理工具,任务驱动,无记忆,无个性,无情感。</a:t>
              </a:r>
              <a:endParaRPr lang="en-US" sz="1100"/>
            </a:p>
          </p:txBody>
        </p:sp>
        <p:sp>
          <p:nvSpPr>
            <p:cNvPr id="29" name="AutoShape 11"/>
            <p:cNvSpPr/>
            <p:nvPr/>
          </p:nvSpPr>
          <p:spPr>
            <a:xfrm>
              <a:off x="1158" y="14434"/>
              <a:ext cx="4533" cy="235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1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代表</a:t>
              </a:r>
              <a:endParaRPr lang="en-US" sz="1100"/>
            </a:p>
          </p:txBody>
        </p:sp>
        <p:sp>
          <p:nvSpPr>
            <p:cNvPr id="30" name="AutoShape 12"/>
            <p:cNvSpPr/>
            <p:nvPr/>
          </p:nvSpPr>
          <p:spPr>
            <a:xfrm>
              <a:off x="1158" y="14721"/>
              <a:ext cx="4533" cy="71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基础版ChatGPT、传统客服机器人。</a:t>
              </a:r>
              <a:endParaRPr lang="en-US" sz="1100"/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4093845" y="7299960"/>
            <a:ext cx="2952750" cy="2794635"/>
            <a:chOff x="6110" y="11755"/>
            <a:chExt cx="5664" cy="3789"/>
          </a:xfrm>
        </p:grpSpPr>
        <p:sp>
          <p:nvSpPr>
            <p:cNvPr id="31" name="AutoShape 13"/>
            <p:cNvSpPr/>
            <p:nvPr/>
          </p:nvSpPr>
          <p:spPr>
            <a:xfrm>
              <a:off x="6288" y="11755"/>
              <a:ext cx="5011" cy="3789"/>
            </a:xfrm>
            <a:prstGeom prst="roundRect">
              <a:avLst>
                <a:gd name="adj" fmla="val 0"/>
              </a:avLst>
            </a:prstGeom>
            <a:solidFill>
              <a:srgbClr val="FAFAFA">
                <a:alpha val="100000"/>
              </a:srgbClr>
            </a:solidFill>
            <a:ln cap="flat" cmpd="sng">
              <a:solidFill>
                <a:srgbClr val="E1CACA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32" name="AutoShape 14"/>
            <p:cNvSpPr/>
            <p:nvPr/>
          </p:nvSpPr>
          <p:spPr>
            <a:xfrm>
              <a:off x="6288" y="11755"/>
              <a:ext cx="119" cy="3789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33" name="AutoShape 15"/>
            <p:cNvSpPr/>
            <p:nvPr/>
          </p:nvSpPr>
          <p:spPr>
            <a:xfrm>
              <a:off x="6110" y="12101"/>
              <a:ext cx="2324" cy="84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lvl="0" algn="ctr">
                <a:lnSpc>
                  <a:spcPct val="83000"/>
                </a:lnSpc>
                <a:buClrTx/>
                <a:buSzTx/>
                <a:buFontTx/>
                <a:defRPr/>
              </a:pPr>
              <a:r>
                <a:rPr lang="en-US" sz="3600" b="1" spc="200">
                  <a:latin typeface="Noto Sans SC"/>
                  <a:ea typeface="Noto Sans SC"/>
                  <a:cs typeface="Noto Sans SC"/>
                  <a:sym typeface="Noto Sans SC"/>
                </a:rPr>
                <a:t>L1</a:t>
              </a:r>
              <a:endParaRPr lang="en-US" sz="3600" b="1" spc="200"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34" name="AutoShape 16"/>
            <p:cNvSpPr/>
            <p:nvPr/>
          </p:nvSpPr>
          <p:spPr>
            <a:xfrm>
              <a:off x="6763" y="12101"/>
              <a:ext cx="5011" cy="3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单次会话陪伴</a:t>
              </a:r>
              <a:endParaRPr lang="en-US" sz="1100"/>
            </a:p>
          </p:txBody>
        </p:sp>
        <p:sp>
          <p:nvSpPr>
            <p:cNvPr id="35" name="AutoShape 17"/>
            <p:cNvSpPr/>
            <p:nvPr/>
          </p:nvSpPr>
          <p:spPr>
            <a:xfrm>
              <a:off x="6288" y="12574"/>
              <a:ext cx="5011" cy="26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200" b="0" i="0" u="none" strike="noStrike" spc="1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会话级共情</a:t>
              </a:r>
              <a:endParaRPr lang="en-US" sz="1100"/>
            </a:p>
          </p:txBody>
        </p:sp>
        <p:cxnSp>
          <p:nvCxnSpPr>
            <p:cNvPr id="36" name="Connector 18"/>
            <p:cNvCxnSpPr/>
            <p:nvPr/>
          </p:nvCxnSpPr>
          <p:spPr>
            <a:xfrm rot="21574723">
              <a:off x="6766" y="13062"/>
              <a:ext cx="4056" cy="13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0000">
                  <a:alpha val="8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" name="AutoShape 19"/>
            <p:cNvSpPr/>
            <p:nvPr/>
          </p:nvSpPr>
          <p:spPr>
            <a:xfrm>
              <a:off x="6526" y="13130"/>
              <a:ext cx="4534" cy="106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1000"/>
                </a:lnSpc>
                <a:defRPr/>
              </a:pPr>
              <a:r>
                <a:rPr lang="en-US" sz="1300" b="0" i="0" u="none" strike="noStrike">
                  <a:solidFill>
                    <a:srgbClr val="4B4B4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能在单次对话中营造"被陪伴"感,但关系无法跨会话延续,存在"金鱼记忆"。</a:t>
              </a:r>
              <a:endParaRPr lang="en-US" sz="1100"/>
            </a:p>
          </p:txBody>
        </p:sp>
        <p:sp>
          <p:nvSpPr>
            <p:cNvPr id="38" name="AutoShape 20"/>
            <p:cNvSpPr/>
            <p:nvPr/>
          </p:nvSpPr>
          <p:spPr>
            <a:xfrm>
              <a:off x="6526" y="14434"/>
              <a:ext cx="4533" cy="235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1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代表</a:t>
              </a:r>
              <a:endParaRPr lang="en-US" sz="1100"/>
            </a:p>
          </p:txBody>
        </p:sp>
        <p:sp>
          <p:nvSpPr>
            <p:cNvPr id="39" name="AutoShape 21"/>
            <p:cNvSpPr/>
            <p:nvPr/>
          </p:nvSpPr>
          <p:spPr>
            <a:xfrm>
              <a:off x="6526" y="14721"/>
              <a:ext cx="4533" cy="71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初代Inflection Pi、主流智能音箱的基础闲聊模式。</a:t>
              </a:r>
              <a:endParaRPr lang="en-US" sz="1100"/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7827902" y="7303770"/>
            <a:ext cx="3106778" cy="3000477"/>
            <a:chOff x="11589" y="11755"/>
            <a:chExt cx="5792" cy="4069"/>
          </a:xfrm>
        </p:grpSpPr>
        <p:sp>
          <p:nvSpPr>
            <p:cNvPr id="40" name="AutoShape 22"/>
            <p:cNvSpPr/>
            <p:nvPr/>
          </p:nvSpPr>
          <p:spPr>
            <a:xfrm>
              <a:off x="11656" y="11755"/>
              <a:ext cx="5011" cy="3789"/>
            </a:xfrm>
            <a:prstGeom prst="roundRect">
              <a:avLst>
                <a:gd name="adj" fmla="val 0"/>
              </a:avLst>
            </a:prstGeom>
            <a:solidFill>
              <a:srgbClr val="FAFAFA">
                <a:alpha val="100000"/>
              </a:srgbClr>
            </a:solidFill>
            <a:ln cap="flat" cmpd="sng">
              <a:solidFill>
                <a:srgbClr val="E1CACA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1" name="AutoShape 23"/>
            <p:cNvSpPr/>
            <p:nvPr/>
          </p:nvSpPr>
          <p:spPr>
            <a:xfrm>
              <a:off x="11656" y="11755"/>
              <a:ext cx="119" cy="3789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2" name="AutoShape 24"/>
            <p:cNvSpPr/>
            <p:nvPr/>
          </p:nvSpPr>
          <p:spPr>
            <a:xfrm>
              <a:off x="11589" y="11985"/>
              <a:ext cx="1979" cy="84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lvl="0" algn="ctr">
                <a:lnSpc>
                  <a:spcPct val="83000"/>
                </a:lnSpc>
                <a:buClrTx/>
                <a:buSzTx/>
                <a:buFontTx/>
                <a:defRPr/>
              </a:pPr>
              <a:r>
                <a:rPr lang="en-US" sz="3600" b="1" spc="200">
                  <a:latin typeface="Noto Sans SC"/>
                  <a:ea typeface="Noto Sans SC"/>
                  <a:cs typeface="Noto Sans SC"/>
                  <a:sym typeface="Noto Sans SC"/>
                </a:rPr>
                <a:t>L2</a:t>
              </a:r>
              <a:endParaRPr lang="en-US" sz="3600" b="1" spc="200"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43" name="AutoShape 25"/>
            <p:cNvSpPr/>
            <p:nvPr/>
          </p:nvSpPr>
          <p:spPr>
            <a:xfrm>
              <a:off x="12370" y="12101"/>
              <a:ext cx="5011" cy="3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角色扮演陪伴</a:t>
              </a:r>
              <a:endParaRPr lang="en-US" sz="1100"/>
            </a:p>
          </p:txBody>
        </p:sp>
        <p:sp>
          <p:nvSpPr>
            <p:cNvPr id="44" name="AutoShape 26"/>
            <p:cNvSpPr/>
            <p:nvPr/>
          </p:nvSpPr>
          <p:spPr>
            <a:xfrm>
              <a:off x="11656" y="12573"/>
              <a:ext cx="5011" cy="26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200" b="0" i="0" u="none" strike="noStrike" spc="1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剧本式关系</a:t>
              </a:r>
              <a:endParaRPr lang="en-US" sz="1100"/>
            </a:p>
          </p:txBody>
        </p:sp>
        <p:cxnSp>
          <p:nvCxnSpPr>
            <p:cNvPr id="48" name="Connector 27"/>
            <p:cNvCxnSpPr/>
            <p:nvPr/>
          </p:nvCxnSpPr>
          <p:spPr>
            <a:xfrm rot="21574723">
              <a:off x="12133" y="13028"/>
              <a:ext cx="4056" cy="13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0000">
                  <a:alpha val="8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9" name="AutoShape 28"/>
            <p:cNvSpPr/>
            <p:nvPr/>
          </p:nvSpPr>
          <p:spPr>
            <a:xfrm>
              <a:off x="12013" y="13068"/>
              <a:ext cx="4533" cy="84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1000"/>
                </a:lnSpc>
                <a:defRPr/>
              </a:pPr>
              <a:r>
                <a:rPr lang="en-US" sz="1300" b="0" i="0" u="none" strike="noStrike">
                  <a:solidFill>
                    <a:srgbClr val="4B4B4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能稳定扮演预设角色,在固定剧本框架内形成看似连续的关系,但超出记忆窗口则人设易崩塌。</a:t>
              </a:r>
              <a:endParaRPr lang="en-US" sz="1100"/>
            </a:p>
          </p:txBody>
        </p:sp>
        <p:sp>
          <p:nvSpPr>
            <p:cNvPr id="50" name="AutoShape 29"/>
            <p:cNvSpPr/>
            <p:nvPr/>
          </p:nvSpPr>
          <p:spPr>
            <a:xfrm>
              <a:off x="11895" y="14871"/>
              <a:ext cx="4533" cy="235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1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代表</a:t>
              </a:r>
              <a:endParaRPr lang="en-US" sz="1100"/>
            </a:p>
          </p:txBody>
        </p:sp>
        <p:sp>
          <p:nvSpPr>
            <p:cNvPr id="51" name="AutoShape 30"/>
            <p:cNvSpPr/>
            <p:nvPr/>
          </p:nvSpPr>
          <p:spPr>
            <a:xfrm>
              <a:off x="11895" y="15105"/>
              <a:ext cx="4533" cy="71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Character.AI、星野、Talkie等。</a:t>
              </a:r>
              <a:endParaRPr lang="en-US" sz="1100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1538585" y="7299960"/>
            <a:ext cx="2999905" cy="2658177"/>
            <a:chOff x="17025" y="11755"/>
            <a:chExt cx="5834" cy="3789"/>
          </a:xfrm>
        </p:grpSpPr>
        <p:sp>
          <p:nvSpPr>
            <p:cNvPr id="52" name="AutoShape 31"/>
            <p:cNvSpPr/>
            <p:nvPr/>
          </p:nvSpPr>
          <p:spPr>
            <a:xfrm>
              <a:off x="17025" y="11755"/>
              <a:ext cx="5011" cy="3789"/>
            </a:xfrm>
            <a:prstGeom prst="roundRect">
              <a:avLst>
                <a:gd name="adj" fmla="val 0"/>
              </a:avLst>
            </a:prstGeom>
            <a:solidFill>
              <a:srgbClr val="FAFAFA">
                <a:alpha val="100000"/>
              </a:srgbClr>
            </a:solidFill>
            <a:ln cap="flat" cmpd="sng">
              <a:solidFill>
                <a:srgbClr val="E1CACA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54" name="AutoShape 32"/>
            <p:cNvSpPr/>
            <p:nvPr/>
          </p:nvSpPr>
          <p:spPr>
            <a:xfrm>
              <a:off x="17025" y="11755"/>
              <a:ext cx="119" cy="3789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56" name="AutoShape 33"/>
            <p:cNvSpPr/>
            <p:nvPr/>
          </p:nvSpPr>
          <p:spPr>
            <a:xfrm>
              <a:off x="17025" y="11997"/>
              <a:ext cx="2065" cy="84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lvl="0" algn="ctr">
                <a:lnSpc>
                  <a:spcPct val="83000"/>
                </a:lnSpc>
                <a:buClrTx/>
                <a:buSzTx/>
                <a:buFontTx/>
                <a:defRPr/>
              </a:pPr>
              <a:r>
                <a:rPr lang="en-US" sz="3600" b="1" spc="200">
                  <a:latin typeface="Noto Sans SC"/>
                  <a:ea typeface="Noto Sans SC"/>
                  <a:cs typeface="Noto Sans SC"/>
                  <a:sym typeface="Noto Sans SC"/>
                </a:rPr>
                <a:t>L3</a:t>
              </a:r>
              <a:endParaRPr lang="en-US" sz="3600" b="1" spc="200"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57" name="AutoShape 34"/>
            <p:cNvSpPr/>
            <p:nvPr/>
          </p:nvSpPr>
          <p:spPr>
            <a:xfrm>
              <a:off x="17848" y="12119"/>
              <a:ext cx="5011" cy="3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个性化陪伴</a:t>
              </a:r>
              <a:endParaRPr lang="en-US" sz="1100"/>
            </a:p>
          </p:txBody>
        </p:sp>
        <p:sp>
          <p:nvSpPr>
            <p:cNvPr id="58" name="AutoShape 35"/>
            <p:cNvSpPr/>
            <p:nvPr/>
          </p:nvSpPr>
          <p:spPr>
            <a:xfrm>
              <a:off x="17025" y="12628"/>
              <a:ext cx="5011" cy="26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200" b="0" i="0" u="none" strike="noStrike" spc="1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长期适应型</a:t>
              </a:r>
              <a:endParaRPr lang="en-US" sz="1100"/>
            </a:p>
          </p:txBody>
        </p:sp>
        <p:cxnSp>
          <p:nvCxnSpPr>
            <p:cNvPr id="59" name="Connector 36"/>
            <p:cNvCxnSpPr/>
            <p:nvPr/>
          </p:nvCxnSpPr>
          <p:spPr>
            <a:xfrm rot="21574723">
              <a:off x="17503" y="13057"/>
              <a:ext cx="4056" cy="13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0000">
                  <a:alpha val="8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0" name="AutoShape 37"/>
            <p:cNvSpPr/>
            <p:nvPr/>
          </p:nvSpPr>
          <p:spPr>
            <a:xfrm>
              <a:off x="17263" y="14427"/>
              <a:ext cx="4533" cy="84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1000"/>
                </a:lnSpc>
                <a:defRPr/>
              </a:pPr>
              <a:r>
                <a:rPr lang="en-US" sz="1300" b="0" i="0" u="none" strike="noStrike">
                  <a:solidFill>
                    <a:srgbClr val="4B4B4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开始展现对特定个体的了解与关怀,关系跨时间延续并深化,拥有长期记忆系统。</a:t>
              </a:r>
              <a:endParaRPr lang="en-US" sz="1100"/>
            </a:p>
          </p:txBody>
        </p:sp>
        <p:sp>
          <p:nvSpPr>
            <p:cNvPr id="61" name="AutoShape 38"/>
            <p:cNvSpPr/>
            <p:nvPr/>
          </p:nvSpPr>
          <p:spPr>
            <a:xfrm>
              <a:off x="17263" y="13982"/>
              <a:ext cx="4533" cy="235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1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代表</a:t>
              </a:r>
              <a:endParaRPr lang="en-US" sz="1100"/>
            </a:p>
          </p:txBody>
        </p:sp>
        <p:sp>
          <p:nvSpPr>
            <p:cNvPr id="62" name="AutoShape 39"/>
            <p:cNvSpPr/>
            <p:nvPr/>
          </p:nvSpPr>
          <p:spPr>
            <a:xfrm>
              <a:off x="17503" y="13134"/>
              <a:ext cx="4533" cy="71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深度长期训练的Replika(Pro)、部分实验性原型。</a:t>
              </a:r>
              <a:endParaRPr lang="en-US" sz="110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5056485" y="7303770"/>
            <a:ext cx="2828925" cy="2656840"/>
            <a:chOff x="22726" y="11755"/>
            <a:chExt cx="5937" cy="3789"/>
          </a:xfrm>
        </p:grpSpPr>
        <p:sp>
          <p:nvSpPr>
            <p:cNvPr id="63" name="AutoShape 40"/>
            <p:cNvSpPr/>
            <p:nvPr/>
          </p:nvSpPr>
          <p:spPr>
            <a:xfrm>
              <a:off x="22894" y="11755"/>
              <a:ext cx="5011" cy="3789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6000"/>
              </a:srgbClr>
            </a:solidFill>
            <a:ln cap="flat" cmpd="sng">
              <a:solidFill>
                <a:srgbClr val="E65F00">
                  <a:alpha val="6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64" name="AutoShape 41"/>
            <p:cNvSpPr/>
            <p:nvPr/>
          </p:nvSpPr>
          <p:spPr>
            <a:xfrm>
              <a:off x="22894" y="11755"/>
              <a:ext cx="119" cy="3789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65" name="AutoShape 42"/>
            <p:cNvSpPr/>
            <p:nvPr/>
          </p:nvSpPr>
          <p:spPr>
            <a:xfrm>
              <a:off x="22726" y="11990"/>
              <a:ext cx="2480" cy="84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lvl="0" algn="ctr">
                <a:lnSpc>
                  <a:spcPct val="83000"/>
                </a:lnSpc>
                <a:buClrTx/>
                <a:buSzTx/>
                <a:buFontTx/>
                <a:defRPr/>
              </a:pPr>
              <a:r>
                <a:rPr lang="en-US" sz="3600" b="1" spc="200">
                  <a:latin typeface="Noto Sans SC"/>
                  <a:ea typeface="Noto Sans SC"/>
                  <a:cs typeface="Noto Sans SC"/>
                  <a:sym typeface="Noto Sans SC"/>
                </a:rPr>
                <a:t>L4</a:t>
              </a:r>
              <a:endParaRPr lang="en-US" sz="3600" b="1" spc="200"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66" name="AutoShape 43"/>
            <p:cNvSpPr/>
            <p:nvPr/>
          </p:nvSpPr>
          <p:spPr>
            <a:xfrm>
              <a:off x="23652" y="12112"/>
              <a:ext cx="5011" cy="3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共生型陪伴</a:t>
              </a:r>
              <a:endParaRPr lang="en-US" sz="1100"/>
            </a:p>
          </p:txBody>
        </p:sp>
        <p:sp>
          <p:nvSpPr>
            <p:cNvPr id="67" name="AutoShape 44"/>
            <p:cNvSpPr/>
            <p:nvPr/>
          </p:nvSpPr>
          <p:spPr>
            <a:xfrm>
              <a:off x="22989" y="12623"/>
              <a:ext cx="5011" cy="26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200" b="1" i="0" u="none" strike="noStrike" spc="100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双向成长型</a:t>
              </a:r>
              <a:endParaRPr lang="en-US" sz="1100"/>
            </a:p>
          </p:txBody>
        </p:sp>
        <p:cxnSp>
          <p:nvCxnSpPr>
            <p:cNvPr id="68" name="Connector 45"/>
            <p:cNvCxnSpPr/>
            <p:nvPr/>
          </p:nvCxnSpPr>
          <p:spPr>
            <a:xfrm rot="21574723">
              <a:off x="23372" y="13016"/>
              <a:ext cx="4056" cy="13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F6A00">
                  <a:alpha val="18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9" name="AutoShape 46"/>
            <p:cNvSpPr/>
            <p:nvPr/>
          </p:nvSpPr>
          <p:spPr>
            <a:xfrm>
              <a:off x="23133" y="13127"/>
              <a:ext cx="4533" cy="84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1000"/>
                </a:lnSpc>
                <a:defRPr/>
              </a:pPr>
              <a:r>
                <a:rPr lang="en-US" sz="1300" b="0" i="0" u="none" strike="noStrike">
                  <a:solidFill>
                    <a:srgbClr val="4B4B4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成为独立的"他者",与用户形成双向陪伴、相互需要和共同成长,能坦诚自身局限。</a:t>
              </a:r>
              <a:endParaRPr lang="en-US" sz="1100"/>
            </a:p>
          </p:txBody>
        </p:sp>
        <p:sp>
          <p:nvSpPr>
            <p:cNvPr id="70" name="AutoShape 47"/>
            <p:cNvSpPr/>
            <p:nvPr/>
          </p:nvSpPr>
          <p:spPr>
            <a:xfrm>
              <a:off x="23133" y="14434"/>
              <a:ext cx="4533" cy="235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1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现状</a:t>
              </a:r>
              <a:endParaRPr lang="en-US" sz="1100"/>
            </a:p>
          </p:txBody>
        </p:sp>
        <p:sp>
          <p:nvSpPr>
            <p:cNvPr id="71" name="AutoShape 48"/>
            <p:cNvSpPr/>
            <p:nvPr/>
          </p:nvSpPr>
          <p:spPr>
            <a:xfrm>
              <a:off x="23133" y="14721"/>
              <a:ext cx="4533" cy="71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终极理想,尚无商业产品达到。</a:t>
              </a:r>
              <a:endParaRPr lang="en-US" sz="1100"/>
            </a:p>
          </p:txBody>
        </p:sp>
      </p:grpSp>
      <p:sp>
        <p:nvSpPr>
          <p:cNvPr id="80" name="右箭头 79"/>
          <p:cNvSpPr/>
          <p:nvPr/>
        </p:nvSpPr>
        <p:spPr>
          <a:xfrm>
            <a:off x="3420745" y="8346440"/>
            <a:ext cx="588645" cy="444500"/>
          </a:xfrm>
          <a:prstGeom prst="rightArrow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右箭头 80"/>
          <p:cNvSpPr/>
          <p:nvPr/>
        </p:nvSpPr>
        <p:spPr>
          <a:xfrm>
            <a:off x="7046595" y="8346440"/>
            <a:ext cx="588645" cy="444500"/>
          </a:xfrm>
          <a:prstGeom prst="rightArrow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右箭头 81"/>
          <p:cNvSpPr/>
          <p:nvPr/>
        </p:nvSpPr>
        <p:spPr>
          <a:xfrm>
            <a:off x="10829290" y="8346440"/>
            <a:ext cx="588645" cy="444500"/>
          </a:xfrm>
          <a:prstGeom prst="rightArrow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右箭头 82"/>
          <p:cNvSpPr/>
          <p:nvPr/>
        </p:nvSpPr>
        <p:spPr>
          <a:xfrm>
            <a:off x="14312900" y="8314055"/>
            <a:ext cx="588645" cy="444500"/>
          </a:xfrm>
          <a:prstGeom prst="rightArrow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pic>
        <p:nvPicPr>
          <p:cNvPr id="7" name="Image 4" descr="gen-dedup-347972c4979d0ab87ced4f92d607a412.png"/>
          <p:cNvPicPr>
            <a:picLocks noChangeAspect="1"/>
          </p:cNvPicPr>
          <p:nvPr/>
        </p:nvPicPr>
        <p:blipFill>
          <a:blip r:embed="rId2"/>
          <a:srcRect l="-2083" r="-2083"/>
          <a:stretch>
            <a:fillRect/>
          </a:stretch>
        </p:blipFill>
        <p:spPr>
          <a:xfrm>
            <a:off x="1238098" y="9258300"/>
            <a:ext cx="15811805" cy="9144"/>
          </a:xfrm>
          <a:prstGeom prst="rect">
            <a:avLst/>
          </a:prstGeom>
        </p:spPr>
      </p:pic>
      <p:sp>
        <p:nvSpPr>
          <p:cNvPr id="29" name="Text 14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解决方案</a:t>
            </a:r>
            <a:endParaRPr lang="en-US" sz="1125" dirty="0"/>
          </a:p>
        </p:txBody>
      </p:sp>
      <p:sp>
        <p:nvSpPr>
          <p:cNvPr id="30" name="Text 15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我们在做的不是聊天机器人，而是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真实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着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的Agent角色 - 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共生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型陪伴</a:t>
            </a:r>
            <a:endParaRPr lang="zh-CN" altLang="en-US" sz="345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31" name="Text 16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在虚拟与现实世界之间共生</a:t>
            </a:r>
            <a:r>
              <a:rPr lang="en-US" altLang="zh-CN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持续存在、持续行动、持续记忆，</a:t>
            </a:r>
            <a:r>
              <a:rPr lang="zh-CN" alt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</a:t>
            </a: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用户建立可延续关系</a:t>
            </a:r>
            <a:endParaRPr lang="en-US" sz="1725" dirty="0"/>
          </a:p>
        </p:txBody>
      </p:sp>
      <p:grpSp>
        <p:nvGrpSpPr>
          <p:cNvPr id="13" name="组合 12"/>
          <p:cNvGrpSpPr/>
          <p:nvPr/>
        </p:nvGrpSpPr>
        <p:grpSpPr>
          <a:xfrm>
            <a:off x="11370945" y="8201660"/>
            <a:ext cx="6163945" cy="1899920"/>
            <a:chOff x="2295" y="10895"/>
            <a:chExt cx="10954" cy="4791"/>
          </a:xfrm>
        </p:grpSpPr>
        <p:pic>
          <p:nvPicPr>
            <p:cNvPr id="5" name="Image 2" descr="gen-dedup-f70524bbc0962bb78a1f6f13a19f2a13.png"/>
            <p:cNvPicPr>
              <a:picLocks noChangeAspect="1"/>
            </p:cNvPicPr>
            <p:nvPr/>
          </p:nvPicPr>
          <p:blipFill>
            <a:blip r:embed="rId3"/>
            <a:srcRect l="-2083" r="-2083"/>
            <a:stretch>
              <a:fillRect/>
            </a:stretch>
          </p:blipFill>
          <p:spPr>
            <a:xfrm>
              <a:off x="2299" y="11617"/>
              <a:ext cx="10950" cy="14"/>
            </a:xfrm>
            <a:prstGeom prst="rect">
              <a:avLst/>
            </a:prstGeom>
          </p:spPr>
        </p:pic>
        <p:pic>
          <p:nvPicPr>
            <p:cNvPr id="6" name="Image 3" descr="gen-dedup-f70524bbc0962bb78a1f6f13a19f2a13.png"/>
            <p:cNvPicPr>
              <a:picLocks noChangeAspect="1"/>
            </p:cNvPicPr>
            <p:nvPr/>
          </p:nvPicPr>
          <p:blipFill>
            <a:blip r:embed="rId3"/>
            <a:srcRect l="-2083" r="-2083"/>
            <a:stretch>
              <a:fillRect/>
            </a:stretch>
          </p:blipFill>
          <p:spPr>
            <a:xfrm>
              <a:off x="2296" y="13416"/>
              <a:ext cx="10950" cy="14"/>
            </a:xfrm>
            <a:prstGeom prst="rect">
              <a:avLst/>
            </a:prstGeom>
          </p:spPr>
        </p:pic>
        <p:sp>
          <p:nvSpPr>
            <p:cNvPr id="33" name="Text 18"/>
            <p:cNvSpPr txBox="1"/>
            <p:nvPr/>
          </p:nvSpPr>
          <p:spPr>
            <a:xfrm>
              <a:off x="2295" y="10895"/>
              <a:ext cx="10951" cy="58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342900" indent="-342900" algn="l">
                <a:buFont typeface="Wingdings" panose="05000000000000000000" charset="0"/>
                <a:buChar char=""/>
              </a:pPr>
              <a:r>
                <a:rPr lang="en-US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Agent角色</a:t>
              </a:r>
              <a:r>
                <a:rPr lang="zh-CN" altLang="en-US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不会随着对话框</a:t>
              </a:r>
              <a:r>
                <a:rPr lang="en-US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关闭而消失</a:t>
              </a:r>
              <a:endParaRPr lang="en-US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endParaRPr>
            </a:p>
          </p:txBody>
        </p:sp>
        <p:sp>
          <p:nvSpPr>
            <p:cNvPr id="34" name="Text 19"/>
            <p:cNvSpPr txBox="1"/>
            <p:nvPr/>
          </p:nvSpPr>
          <p:spPr>
            <a:xfrm>
              <a:off x="2295" y="11651"/>
              <a:ext cx="10951" cy="481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6B60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角色存在于一个持续运行的虚拟世界中，用户离开时它依然在世界里生活。</a:t>
              </a:r>
              <a:endParaRPr lang="en-US" sz="120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endParaRPr>
            </a:p>
          </p:txBody>
        </p:sp>
        <p:sp>
          <p:nvSpPr>
            <p:cNvPr id="36" name="Text 21"/>
            <p:cNvSpPr txBox="1"/>
            <p:nvPr/>
          </p:nvSpPr>
          <p:spPr>
            <a:xfrm>
              <a:off x="2299" y="12653"/>
              <a:ext cx="10951" cy="58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342900" indent="-342900" algn="l">
                <a:buFont typeface="Wingdings" panose="05000000000000000000" charset="0"/>
                <a:buChar char=""/>
              </a:pPr>
              <a:r>
                <a:rPr lang="en-US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关系是</a:t>
              </a:r>
              <a:r>
                <a:rPr lang="zh-CN" altLang="en-US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  <a:sym typeface="+mn-ea"/>
                </a:rPr>
                <a:t>在虚拟与现实中</a:t>
              </a:r>
              <a:r>
                <a:rPr lang="zh-CN" altLang="en-US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不断</a:t>
              </a:r>
              <a:r>
                <a:rPr lang="en-US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累积出来的</a:t>
              </a:r>
              <a:endParaRPr lang="en-US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endParaRPr>
            </a:p>
          </p:txBody>
        </p:sp>
        <p:sp>
          <p:nvSpPr>
            <p:cNvPr id="37" name="Text 22"/>
            <p:cNvSpPr txBox="1"/>
            <p:nvPr/>
          </p:nvSpPr>
          <p:spPr>
            <a:xfrm>
              <a:off x="2299" y="13407"/>
              <a:ext cx="10951" cy="481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6B60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关系通过互动、承诺、事件与共同经历持续累积，而非每次重新开始。</a:t>
              </a:r>
              <a:endParaRPr lang="en-US" sz="120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endParaRPr>
            </a:p>
          </p:txBody>
        </p:sp>
        <p:sp>
          <p:nvSpPr>
            <p:cNvPr id="39" name="Text 24"/>
            <p:cNvSpPr txBox="1"/>
            <p:nvPr/>
          </p:nvSpPr>
          <p:spPr>
            <a:xfrm>
              <a:off x="2296" y="14451"/>
              <a:ext cx="10951" cy="58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342900" indent="-342900" algn="l">
                <a:buFont typeface="Wingdings" panose="05000000000000000000" charset="0"/>
                <a:buChar char=""/>
              </a:pPr>
              <a:r>
                <a:rPr lang="zh-CN" altLang="en-US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这是</a:t>
              </a:r>
              <a:r>
                <a:rPr lang="en-US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「</a:t>
              </a:r>
              <a:r>
                <a:rPr lang="zh-CN" altLang="en-US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真实存在的个体</a:t>
              </a:r>
              <a:r>
                <a:rPr lang="en-US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」，</a:t>
              </a:r>
              <a:r>
                <a:rPr lang="zh-CN" altLang="en-US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而不是拟人的</a:t>
              </a:r>
              <a:r>
                <a:rPr lang="en-US" altLang="zh-CN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AI</a:t>
              </a:r>
              <a:endParaRPr lang="en-US" altLang="zh-CN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endParaRPr>
            </a:p>
          </p:txBody>
        </p:sp>
        <p:sp>
          <p:nvSpPr>
            <p:cNvPr id="40" name="Text 25"/>
            <p:cNvSpPr txBox="1"/>
            <p:nvPr/>
          </p:nvSpPr>
          <p:spPr>
            <a:xfrm>
              <a:off x="2296" y="15206"/>
              <a:ext cx="10951" cy="481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6B60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核心不是生成更像人的回复，而是让角色在世界中真正具备存在感。</a:t>
              </a:r>
              <a:endParaRPr lang="en-US" sz="120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0945" y="5135245"/>
            <a:ext cx="6163945" cy="28663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65" y="2793365"/>
            <a:ext cx="10152380" cy="461391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590" y="7960360"/>
            <a:ext cx="10539095" cy="202374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76530" y="2612390"/>
            <a:ext cx="2722880" cy="24053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pic>
        <p:nvPicPr>
          <p:cNvPr id="6" name="Image 2" descr="gen-dedup-347972c4979d0ab87ced4f92d607a412.png"/>
          <p:cNvPicPr>
            <a:picLocks noChangeAspect="1"/>
          </p:cNvPicPr>
          <p:nvPr/>
        </p:nvPicPr>
        <p:blipFill>
          <a:blip r:embed="rId2"/>
          <a:srcRect l="-2083" r="-2083"/>
          <a:stretch>
            <a:fillRect/>
          </a:stretch>
        </p:blipFill>
        <p:spPr>
          <a:xfrm>
            <a:off x="1276198" y="9923780"/>
            <a:ext cx="15811805" cy="9144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技术壁垒</a:t>
            </a:r>
            <a:endParaRPr lang="en-US" sz="1125" dirty="0"/>
          </a:p>
        </p:txBody>
      </p:sp>
      <p:sp>
        <p:nvSpPr>
          <p:cNvPr id="32" name="Text 22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Mind Engine：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从任务智能到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关系智能</a:t>
            </a:r>
            <a:endParaRPr lang="en-US" sz="3450" dirty="0"/>
          </a:p>
        </p:txBody>
      </p:sp>
      <p:sp>
        <p:nvSpPr>
          <p:cNvPr id="33" name="Text 23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长期记忆、情绪感知、人格一致性，让AI从任务智能升级为关系智能</a:t>
            </a:r>
            <a:endParaRPr lang="en-US" sz="1725" dirty="0"/>
          </a:p>
        </p:txBody>
      </p:sp>
      <p:grpSp>
        <p:nvGrpSpPr>
          <p:cNvPr id="77" name="组合 76"/>
          <p:cNvGrpSpPr/>
          <p:nvPr/>
        </p:nvGrpSpPr>
        <p:grpSpPr>
          <a:xfrm>
            <a:off x="1238250" y="2887980"/>
            <a:ext cx="7396480" cy="4796790"/>
            <a:chOff x="1200" y="800"/>
            <a:chExt cx="17200" cy="8400"/>
          </a:xfrm>
        </p:grpSpPr>
        <p:sp>
          <p:nvSpPr>
            <p:cNvPr id="78" name="AutoShape 2"/>
            <p:cNvSpPr/>
            <p:nvPr/>
          </p:nvSpPr>
          <p:spPr>
            <a:xfrm>
              <a:off x="1200" y="800"/>
              <a:ext cx="16800" cy="10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3200" b="1" i="0" u="none" strike="noStrike" spc="100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任务智能 vs. 关系智能</a:t>
              </a:r>
              <a:endParaRPr lang="en-US" sz="1100"/>
            </a:p>
          </p:txBody>
        </p:sp>
        <p:sp>
          <p:nvSpPr>
            <p:cNvPr id="79" name="AutoShape 3"/>
            <p:cNvSpPr/>
            <p:nvPr/>
          </p:nvSpPr>
          <p:spPr>
            <a:xfrm>
              <a:off x="1200" y="2000"/>
              <a:ext cx="8200" cy="8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26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任务智能</a:t>
              </a:r>
              <a:endParaRPr lang="en-US" sz="1100"/>
            </a:p>
          </p:txBody>
        </p:sp>
        <p:sp>
          <p:nvSpPr>
            <p:cNvPr id="80" name="AutoShape 4"/>
            <p:cNvSpPr/>
            <p:nvPr/>
          </p:nvSpPr>
          <p:spPr>
            <a:xfrm>
              <a:off x="1200" y="2880"/>
              <a:ext cx="820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0" i="0" u="none" strike="noStrike" spc="2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Task Intelligence</a:t>
              </a:r>
              <a:endParaRPr lang="en-US" sz="1100"/>
            </a:p>
          </p:txBody>
        </p:sp>
        <p:sp>
          <p:nvSpPr>
            <p:cNvPr id="81" name="AutoShape 5"/>
            <p:cNvSpPr/>
            <p:nvPr/>
          </p:nvSpPr>
          <p:spPr>
            <a:xfrm>
              <a:off x="1200" y="3440"/>
              <a:ext cx="960" cy="8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82" name="AutoShape 6"/>
            <p:cNvSpPr/>
            <p:nvPr/>
          </p:nvSpPr>
          <p:spPr>
            <a:xfrm>
              <a:off x="1200" y="3680"/>
              <a:ext cx="82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9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效率与执行</a:t>
              </a:r>
              <a:endParaRPr lang="en-US" sz="1100"/>
            </a:p>
          </p:txBody>
        </p:sp>
        <p:cxnSp>
          <p:nvCxnSpPr>
            <p:cNvPr id="83" name="Connector 7"/>
            <p:cNvCxnSpPr/>
            <p:nvPr/>
          </p:nvCxnSpPr>
          <p:spPr>
            <a:xfrm rot="-8594">
              <a:off x="1200" y="4390"/>
              <a:ext cx="80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6E6E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4" name="AutoShape 8"/>
            <p:cNvSpPr/>
            <p:nvPr/>
          </p:nvSpPr>
          <p:spPr>
            <a:xfrm>
              <a:off x="1200" y="456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核心目标</a:t>
              </a:r>
              <a:endParaRPr lang="en-US" sz="1100"/>
            </a:p>
          </p:txBody>
        </p:sp>
        <p:sp>
          <p:nvSpPr>
            <p:cNvPr id="85" name="AutoShape 9"/>
            <p:cNvSpPr/>
            <p:nvPr/>
          </p:nvSpPr>
          <p:spPr>
            <a:xfrm>
              <a:off x="3200" y="4560"/>
              <a:ext cx="6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完成任务,提升效率</a:t>
              </a:r>
              <a:endParaRPr lang="en-US" sz="1100"/>
            </a:p>
          </p:txBody>
        </p:sp>
        <p:sp>
          <p:nvSpPr>
            <p:cNvPr id="86" name="AutoShape 10"/>
            <p:cNvSpPr/>
            <p:nvPr/>
          </p:nvSpPr>
          <p:spPr>
            <a:xfrm>
              <a:off x="1200" y="528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关注点</a:t>
              </a:r>
              <a:endParaRPr lang="en-US" sz="1100"/>
            </a:p>
          </p:txBody>
        </p:sp>
        <p:sp>
          <p:nvSpPr>
            <p:cNvPr id="87" name="AutoShape 11"/>
            <p:cNvSpPr/>
            <p:nvPr/>
          </p:nvSpPr>
          <p:spPr>
            <a:xfrm>
              <a:off x="3200" y="5280"/>
              <a:ext cx="6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事(Task/Process)</a:t>
              </a:r>
              <a:endParaRPr lang="en-US" sz="1100"/>
            </a:p>
          </p:txBody>
        </p:sp>
        <p:sp>
          <p:nvSpPr>
            <p:cNvPr id="88" name="AutoShape 12"/>
            <p:cNvSpPr/>
            <p:nvPr/>
          </p:nvSpPr>
          <p:spPr>
            <a:xfrm>
              <a:off x="1200" y="600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评价标准</a:t>
              </a:r>
              <a:endParaRPr lang="en-US" sz="1100"/>
            </a:p>
          </p:txBody>
        </p:sp>
        <p:sp>
          <p:nvSpPr>
            <p:cNvPr id="89" name="AutoShape 13"/>
            <p:cNvSpPr/>
            <p:nvPr/>
          </p:nvSpPr>
          <p:spPr>
            <a:xfrm>
              <a:off x="3200" y="6000"/>
              <a:ext cx="62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任务完成度、执行效率、ROI</a:t>
              </a:r>
              <a:endParaRPr lang="en-US" sz="1100"/>
            </a:p>
          </p:txBody>
        </p:sp>
        <p:sp>
          <p:nvSpPr>
            <p:cNvPr id="90" name="AutoShape 14"/>
            <p:cNvSpPr/>
            <p:nvPr/>
          </p:nvSpPr>
          <p:spPr>
            <a:xfrm>
              <a:off x="1200" y="700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技术核心</a:t>
              </a:r>
              <a:endParaRPr lang="en-US" sz="1100"/>
            </a:p>
          </p:txBody>
        </p:sp>
        <p:sp>
          <p:nvSpPr>
            <p:cNvPr id="91" name="AutoShape 15"/>
            <p:cNvSpPr/>
            <p:nvPr/>
          </p:nvSpPr>
          <p:spPr>
            <a:xfrm>
              <a:off x="3200" y="7000"/>
              <a:ext cx="62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规划、分解、推理、工具调用</a:t>
              </a:r>
              <a:endParaRPr lang="en-US" sz="1100"/>
            </a:p>
          </p:txBody>
        </p:sp>
        <p:sp>
          <p:nvSpPr>
            <p:cNvPr id="92" name="AutoShape 16"/>
            <p:cNvSpPr/>
            <p:nvPr/>
          </p:nvSpPr>
          <p:spPr>
            <a:xfrm>
              <a:off x="1200" y="8000"/>
              <a:ext cx="820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8000"/>
              </a:srgbClr>
            </a:solidFill>
            <a:ln cap="flat" cmpd="sng">
              <a:solidFill>
                <a:srgbClr val="E65F00">
                  <a:alpha val="8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93" name="AutoShape 17"/>
            <p:cNvSpPr/>
            <p:nvPr/>
          </p:nvSpPr>
          <p:spPr>
            <a:xfrm>
              <a:off x="1200" y="8000"/>
              <a:ext cx="6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94" name="AutoShape 18"/>
            <p:cNvSpPr/>
            <p:nvPr/>
          </p:nvSpPr>
          <p:spPr>
            <a:xfrm>
              <a:off x="1520" y="8080"/>
              <a:ext cx="172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AI角色</a:t>
              </a:r>
              <a:endParaRPr lang="en-US" sz="1100"/>
            </a:p>
          </p:txBody>
        </p:sp>
        <p:sp>
          <p:nvSpPr>
            <p:cNvPr id="95" name="AutoShape 19"/>
            <p:cNvSpPr/>
            <p:nvPr/>
          </p:nvSpPr>
          <p:spPr>
            <a:xfrm>
              <a:off x="3200" y="8080"/>
              <a:ext cx="6200" cy="9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工具、执行者、助理</a:t>
              </a:r>
              <a:endParaRPr lang="en-US" sz="1100"/>
            </a:p>
          </p:txBody>
        </p:sp>
        <p:cxnSp>
          <p:nvCxnSpPr>
            <p:cNvPr id="96" name="Connector 20"/>
            <p:cNvCxnSpPr/>
            <p:nvPr/>
          </p:nvCxnSpPr>
          <p:spPr>
            <a:xfrm rot="5390177">
              <a:off x="6300" y="5690"/>
              <a:ext cx="70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6E6E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7" name="AutoShape 21"/>
            <p:cNvSpPr/>
            <p:nvPr/>
          </p:nvSpPr>
          <p:spPr>
            <a:xfrm>
              <a:off x="10200" y="2000"/>
              <a:ext cx="8200" cy="8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26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关系智能</a:t>
              </a:r>
              <a:endParaRPr lang="en-US" sz="1100"/>
            </a:p>
          </p:txBody>
        </p:sp>
        <p:sp>
          <p:nvSpPr>
            <p:cNvPr id="98" name="AutoShape 22"/>
            <p:cNvSpPr/>
            <p:nvPr/>
          </p:nvSpPr>
          <p:spPr>
            <a:xfrm>
              <a:off x="10200" y="2880"/>
              <a:ext cx="820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0" i="0" u="none" strike="noStrike" spc="2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Relational Intelligence</a:t>
              </a:r>
              <a:endParaRPr lang="en-US" sz="1100"/>
            </a:p>
          </p:txBody>
        </p:sp>
        <p:sp>
          <p:nvSpPr>
            <p:cNvPr id="99" name="AutoShape 23"/>
            <p:cNvSpPr/>
            <p:nvPr/>
          </p:nvSpPr>
          <p:spPr>
            <a:xfrm>
              <a:off x="10200" y="3440"/>
              <a:ext cx="960" cy="8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00" name="AutoShape 24"/>
            <p:cNvSpPr/>
            <p:nvPr/>
          </p:nvSpPr>
          <p:spPr>
            <a:xfrm>
              <a:off x="10200" y="3680"/>
              <a:ext cx="82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9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连接与共情</a:t>
              </a:r>
              <a:endParaRPr lang="en-US" sz="1100"/>
            </a:p>
          </p:txBody>
        </p:sp>
        <p:cxnSp>
          <p:nvCxnSpPr>
            <p:cNvPr id="101" name="Connector 25"/>
            <p:cNvCxnSpPr/>
            <p:nvPr/>
          </p:nvCxnSpPr>
          <p:spPr>
            <a:xfrm rot="-8594">
              <a:off x="10200" y="4390"/>
              <a:ext cx="80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6E6E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2" name="AutoShape 26"/>
            <p:cNvSpPr/>
            <p:nvPr/>
          </p:nvSpPr>
          <p:spPr>
            <a:xfrm>
              <a:off x="10200" y="456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核心目标</a:t>
              </a:r>
              <a:endParaRPr lang="en-US" sz="1100"/>
            </a:p>
          </p:txBody>
        </p:sp>
        <p:sp>
          <p:nvSpPr>
            <p:cNvPr id="103" name="AutoShape 27"/>
            <p:cNvSpPr/>
            <p:nvPr/>
          </p:nvSpPr>
          <p:spPr>
            <a:xfrm>
              <a:off x="12200" y="4560"/>
              <a:ext cx="6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建立关系,提升信任</a:t>
              </a:r>
              <a:endParaRPr lang="en-US" sz="1100"/>
            </a:p>
          </p:txBody>
        </p:sp>
        <p:sp>
          <p:nvSpPr>
            <p:cNvPr id="104" name="AutoShape 28"/>
            <p:cNvSpPr/>
            <p:nvPr/>
          </p:nvSpPr>
          <p:spPr>
            <a:xfrm>
              <a:off x="10200" y="528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关注点</a:t>
              </a:r>
              <a:endParaRPr lang="en-US" sz="1100"/>
            </a:p>
          </p:txBody>
        </p:sp>
        <p:sp>
          <p:nvSpPr>
            <p:cNvPr id="105" name="AutoShape 29"/>
            <p:cNvSpPr/>
            <p:nvPr/>
          </p:nvSpPr>
          <p:spPr>
            <a:xfrm>
              <a:off x="12200" y="5280"/>
              <a:ext cx="6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人(User/Relationship)</a:t>
              </a:r>
              <a:endParaRPr lang="en-US" sz="1100"/>
            </a:p>
          </p:txBody>
        </p:sp>
        <p:sp>
          <p:nvSpPr>
            <p:cNvPr id="106" name="AutoShape 30"/>
            <p:cNvSpPr/>
            <p:nvPr/>
          </p:nvSpPr>
          <p:spPr>
            <a:xfrm>
              <a:off x="10200" y="600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评价标准</a:t>
              </a:r>
              <a:endParaRPr lang="en-US" sz="1100"/>
            </a:p>
          </p:txBody>
        </p:sp>
        <p:sp>
          <p:nvSpPr>
            <p:cNvPr id="107" name="AutoShape 31"/>
            <p:cNvSpPr/>
            <p:nvPr/>
          </p:nvSpPr>
          <p:spPr>
            <a:xfrm>
              <a:off x="12200" y="6000"/>
              <a:ext cx="62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关系质量、用户满意度、信任度</a:t>
              </a:r>
              <a:endParaRPr lang="en-US" sz="1100"/>
            </a:p>
          </p:txBody>
        </p:sp>
        <p:sp>
          <p:nvSpPr>
            <p:cNvPr id="108" name="AutoShape 32"/>
            <p:cNvSpPr/>
            <p:nvPr/>
          </p:nvSpPr>
          <p:spPr>
            <a:xfrm>
              <a:off x="10200" y="700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技术核心</a:t>
              </a:r>
              <a:endParaRPr lang="en-US" sz="1100"/>
            </a:p>
          </p:txBody>
        </p:sp>
        <p:sp>
          <p:nvSpPr>
            <p:cNvPr id="109" name="AutoShape 33"/>
            <p:cNvSpPr/>
            <p:nvPr/>
          </p:nvSpPr>
          <p:spPr>
            <a:xfrm>
              <a:off x="12200" y="7000"/>
              <a:ext cx="62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记忆、情感计算、伦理、社交模拟</a:t>
              </a:r>
              <a:endParaRPr lang="en-US" sz="1100"/>
            </a:p>
          </p:txBody>
        </p:sp>
        <p:sp>
          <p:nvSpPr>
            <p:cNvPr id="110" name="AutoShape 34"/>
            <p:cNvSpPr/>
            <p:nvPr/>
          </p:nvSpPr>
          <p:spPr>
            <a:xfrm>
              <a:off x="10200" y="8000"/>
              <a:ext cx="820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8000"/>
              </a:srgbClr>
            </a:solidFill>
            <a:ln cap="flat" cmpd="sng">
              <a:solidFill>
                <a:srgbClr val="E65F00">
                  <a:alpha val="8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1" name="AutoShape 35"/>
            <p:cNvSpPr/>
            <p:nvPr/>
          </p:nvSpPr>
          <p:spPr>
            <a:xfrm>
              <a:off x="10200" y="8000"/>
              <a:ext cx="6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2" name="AutoShape 36"/>
            <p:cNvSpPr/>
            <p:nvPr/>
          </p:nvSpPr>
          <p:spPr>
            <a:xfrm>
              <a:off x="10520" y="8080"/>
              <a:ext cx="172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AI角色</a:t>
              </a:r>
              <a:endParaRPr lang="en-US" sz="1100"/>
            </a:p>
          </p:txBody>
        </p:sp>
        <p:sp>
          <p:nvSpPr>
            <p:cNvPr id="113" name="AutoShape 37"/>
            <p:cNvSpPr/>
            <p:nvPr/>
          </p:nvSpPr>
          <p:spPr>
            <a:xfrm>
              <a:off x="12200" y="8080"/>
              <a:ext cx="6200" cy="9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伙伴、</a:t>
              </a:r>
              <a:r>
                <a:rPr lang="zh-CN" altLang="en-US" sz="16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情绪价值</a:t>
              </a:r>
              <a:r>
                <a:rPr lang="zh-CN" altLang="en-US" sz="16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提供者</a:t>
              </a:r>
              <a:endParaRPr lang="zh-CN" alt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1264285" y="8208010"/>
            <a:ext cx="7369810" cy="1181100"/>
            <a:chOff x="15939" y="13260"/>
            <a:chExt cx="11606" cy="1860"/>
          </a:xfrm>
        </p:grpSpPr>
        <p:sp>
          <p:nvSpPr>
            <p:cNvPr id="115" name="AutoShape 16"/>
            <p:cNvSpPr/>
            <p:nvPr/>
          </p:nvSpPr>
          <p:spPr>
            <a:xfrm>
              <a:off x="15939" y="13260"/>
              <a:ext cx="11607" cy="1861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8000"/>
              </a:srgbClr>
            </a:solidFill>
            <a:ln cap="flat" cmpd="sng">
              <a:solidFill>
                <a:srgbClr val="E65F00">
                  <a:alpha val="8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6" name="AutoShape 17"/>
            <p:cNvSpPr/>
            <p:nvPr/>
          </p:nvSpPr>
          <p:spPr>
            <a:xfrm>
              <a:off x="15939" y="13338"/>
              <a:ext cx="120" cy="108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7" name="AutoShape 18"/>
            <p:cNvSpPr/>
            <p:nvPr/>
          </p:nvSpPr>
          <p:spPr>
            <a:xfrm>
              <a:off x="16177" y="13292"/>
              <a:ext cx="1085" cy="3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zh-CN" altLang="en-US" sz="13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案例</a:t>
              </a:r>
              <a:endParaRPr lang="zh-CN" alt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18" name="AutoShape 19"/>
            <p:cNvSpPr/>
            <p:nvPr/>
          </p:nvSpPr>
          <p:spPr>
            <a:xfrm>
              <a:off x="17059" y="13420"/>
              <a:ext cx="10317" cy="149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1600" dirty="0">
                  <a:sym typeface="+mn-ea"/>
                </a:rPr>
                <a:t>用户说</a:t>
              </a:r>
              <a:r>
                <a:rPr lang="en-US" altLang="zh-CN" sz="1600" dirty="0">
                  <a:sym typeface="+mn-ea"/>
                </a:rPr>
                <a:t>：</a:t>
              </a:r>
              <a:r>
                <a:rPr lang="zh-CN" altLang="en-US" sz="1600" dirty="0">
                  <a:sym typeface="+mn-ea"/>
                </a:rPr>
                <a:t>最近期末了考试压力大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我英语都不知道怎么复习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肯定要挂了</a:t>
              </a:r>
              <a:endParaRPr lang="zh-CN" altLang="en-US" sz="1600" dirty="0"/>
            </a:p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1600" dirty="0">
                  <a:sym typeface="+mn-ea"/>
                </a:rPr>
                <a:t>任务型</a:t>
              </a:r>
              <a:r>
                <a:rPr lang="en-US" altLang="zh-CN" sz="1600" dirty="0">
                  <a:sym typeface="+mn-ea"/>
                </a:rPr>
                <a:t>AI：</a:t>
              </a:r>
              <a:r>
                <a:rPr lang="zh-CN" altLang="en-US" sz="1600" dirty="0">
                  <a:sym typeface="+mn-ea"/>
                </a:rPr>
                <a:t>我给你提供一套复习方法</a:t>
              </a:r>
              <a:endParaRPr lang="zh-CN" altLang="en-US" sz="1600" dirty="0"/>
            </a:p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1600" dirty="0">
                  <a:sym typeface="+mn-ea"/>
                </a:rPr>
                <a:t>关系型</a:t>
              </a:r>
              <a:r>
                <a:rPr lang="en-US" altLang="zh-CN" sz="1600" dirty="0">
                  <a:sym typeface="+mn-ea"/>
                </a:rPr>
                <a:t>AI：</a:t>
              </a:r>
              <a:r>
                <a:rPr lang="zh-CN" altLang="en-US" sz="1600" dirty="0">
                  <a:sym typeface="+mn-ea"/>
                </a:rPr>
                <a:t>哎呀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我也发愁呢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最近也在考试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我英语模拟一塌糊涂</a:t>
              </a:r>
              <a:endParaRPr lang="en-US" sz="1100"/>
            </a:p>
          </p:txBody>
        </p:sp>
      </p:grpSp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2060" y="2917825"/>
            <a:ext cx="9106535" cy="4766945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10939780" y="8228330"/>
            <a:ext cx="5758815" cy="613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indent="0" algn="l">
              <a:buFont typeface="Wingdings" panose="05000000000000000000" charset="0"/>
              <a:buNone/>
            </a:pPr>
            <a:r>
              <a:rPr lang="zh-CN" altLang="en-US" sz="1725" dirty="0"/>
              <a:t>价值：让每一只 </a:t>
            </a:r>
            <a:r>
              <a:rPr lang="en-US" altLang="zh-CN" sz="1725" dirty="0"/>
              <a:t>AI Pet </a:t>
            </a:r>
            <a:r>
              <a:rPr lang="zh-CN" altLang="en-US" sz="1725" dirty="0"/>
              <a:t>越来越懂你，也越来越像它自己</a:t>
            </a:r>
            <a:endParaRPr lang="zh-CN" altLang="en-US" sz="1725" dirty="0"/>
          </a:p>
        </p:txBody>
      </p:sp>
      <p:sp>
        <p:nvSpPr>
          <p:cNvPr id="39" name="圆角矩形 38"/>
          <p:cNvSpPr/>
          <p:nvPr/>
        </p:nvSpPr>
        <p:spPr>
          <a:xfrm>
            <a:off x="9649460" y="8143240"/>
            <a:ext cx="7444105" cy="128016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Text 23"/>
          <p:cNvSpPr txBox="1"/>
          <p:nvPr/>
        </p:nvSpPr>
        <p:spPr>
          <a:xfrm>
            <a:off x="10939780" y="8776335"/>
            <a:ext cx="5758815" cy="613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25" dirty="0"/>
              <a:t>长期记忆 · 情感真实 · 关系持续深化 · 在世界中共同成长</a:t>
            </a:r>
            <a:endParaRPr lang="zh-CN" altLang="en-US" sz="17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技术壁垒</a:t>
            </a:r>
            <a:endParaRPr lang="en-US" sz="1125" dirty="0"/>
          </a:p>
        </p:txBody>
      </p:sp>
      <p:sp>
        <p:nvSpPr>
          <p:cNvPr id="32" name="Text 22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sz="3450" b="1">
                <a:solidFill>
                  <a:srgbClr val="16181D"/>
                </a:solidFill>
                <a:latin typeface="Noto Serif SC"/>
                <a:ea typeface="Noto Serif SC"/>
                <a:cs typeface="Noto Serif SC"/>
              </a:rPr>
              <a:t>World Engine：</a:t>
            </a:r>
            <a:r>
              <a:rPr sz="3200">
                <a:solidFill>
                  <a:srgbClr val="16181D"/>
                </a:solidFill>
                <a:latin typeface="Noto Serif SC"/>
                <a:ea typeface="Noto Serif SC"/>
                <a:cs typeface="Noto Serif SC"/>
              </a:rPr>
              <a:t>世界的底层运转逻辑</a:t>
            </a:r>
            <a:endParaRPr sz="3200">
              <a:solidFill>
                <a:srgbClr val="16181D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33" name="Text 23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无形的 “世界大道” 作为底层客观运行法则，无意志、无偏爱、不主动干预</a:t>
            </a:r>
            <a:endParaRPr lang="en-US" sz="1725" dirty="0"/>
          </a:p>
        </p:txBody>
      </p:sp>
      <p:sp>
        <p:nvSpPr>
          <p:cNvPr id="59" name="AutoShape 12"/>
          <p:cNvSpPr/>
          <p:nvPr/>
        </p:nvSpPr>
        <p:spPr>
          <a:xfrm>
            <a:off x="10772235" y="-33853"/>
            <a:ext cx="2963726" cy="1269178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cap="flat" cmpd="sng">
            <a:solidFill>
              <a:srgbClr val="E6CFCF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5" name="TextBox 75"/>
          <p:cNvSpPr/>
          <p:nvPr/>
        </p:nvSpPr>
        <p:spPr>
          <a:xfrm>
            <a:off x="15282747" y="3683759"/>
            <a:ext cx="2794000" cy="2174645"/>
          </a:xfr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lvl="0" algn="l">
              <a:lnSpc>
                <a:spcPct val="113000"/>
              </a:lnSpc>
              <a:buClrTx/>
              <a:buSzTx/>
              <a:buFontTx/>
              <a:defRPr/>
            </a:pPr>
            <a:r>
              <a:rPr lang="en-US" sz="1600">
                <a:solidFill>
                  <a:schemeClr val="tx1">
                    <a:alpha val="60000"/>
                  </a:schemeClr>
                </a:solidFill>
                <a:latin typeface="Noto Sans SC"/>
                <a:ea typeface="Noto Sans SC"/>
                <a:cs typeface="Noto Sans SC"/>
                <a:sym typeface="+mn-ea"/>
              </a:rPr>
              <a:t>World Engine</a:t>
            </a:r>
            <a:endParaRPr lang="en-US" sz="1600">
              <a:solidFill>
                <a:schemeClr val="tx1">
                  <a:alpha val="60000"/>
                </a:schemeClr>
              </a:solidFill>
              <a:latin typeface="Noto Sans SC"/>
              <a:ea typeface="Noto Sans SC"/>
              <a:cs typeface="Noto Sans SC"/>
              <a:sym typeface="+mn-ea"/>
            </a:endParaRPr>
          </a:p>
          <a:p>
            <a:pPr lvl="0" algn="l">
              <a:lnSpc>
                <a:spcPct val="113000"/>
              </a:lnSpc>
              <a:buClrTx/>
              <a:buSzTx/>
              <a:buFontTx/>
              <a:defRPr/>
            </a:pPr>
            <a:r>
              <a:rPr lang="en-US" sz="1600">
                <a:solidFill>
                  <a:schemeClr val="tx1">
                    <a:alpha val="60000"/>
                  </a:schemeClr>
                </a:solidFill>
                <a:latin typeface="Noto Sans SC"/>
                <a:ea typeface="Noto Sans SC"/>
                <a:cs typeface="Noto Sans SC"/>
                <a:sym typeface="+mn-ea"/>
              </a:rPr>
              <a:t>客观运行框架，本身不具备任何主动创造、改造世界的能力。所有世界变化的初始动机，全部诞生于 Agent。</a:t>
            </a:r>
            <a:endParaRPr lang="en-US" sz="1600">
              <a:solidFill>
                <a:schemeClr val="tx1">
                  <a:alpha val="60000"/>
                </a:schemeClr>
              </a:solidFill>
              <a:latin typeface="Noto Sans SC"/>
              <a:ea typeface="Noto Sans SC"/>
              <a:cs typeface="Noto Sans SC"/>
              <a:sym typeface="+mn-ea"/>
            </a:endParaRPr>
          </a:p>
        </p:txBody>
      </p:sp>
      <p:sp>
        <p:nvSpPr>
          <p:cNvPr id="34" name="AutoShape 3"/>
          <p:cNvSpPr/>
          <p:nvPr/>
        </p:nvSpPr>
        <p:spPr>
          <a:xfrm>
            <a:off x="647521" y="2846439"/>
            <a:ext cx="6925992" cy="4626501"/>
          </a:xfrm>
          <a:prstGeom prst="roundRect">
            <a:avLst>
              <a:gd name="adj" fmla="val 3846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5"/>
          <p:cNvSpPr/>
          <p:nvPr/>
        </p:nvSpPr>
        <p:spPr>
          <a:xfrm>
            <a:off x="2365436" y="3032466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案例：种植桃林</a:t>
            </a:r>
            <a:endParaRPr lang="en-US" sz="1600" b="1" i="0" u="none" strike="noStrike">
              <a:solidFill>
                <a:srgbClr val="C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AutoShape 7"/>
          <p:cNvSpPr/>
          <p:nvPr/>
        </p:nvSpPr>
        <p:spPr>
          <a:xfrm>
            <a:off x="4776717" y="3683759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0000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复刻现实 · 生态演化 · 环境改造</a:t>
            </a:r>
            <a:endParaRPr lang="en-US" sz="1200" b="0" i="0" u="none" strike="noStrike">
              <a:solidFill>
                <a:srgbClr val="C00000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6" name="AutoShape 11"/>
          <p:cNvSpPr/>
          <p:nvPr/>
        </p:nvSpPr>
        <p:spPr>
          <a:xfrm>
            <a:off x="571500" y="7524750"/>
            <a:ext cx="14246860" cy="1489710"/>
          </a:xfrm>
          <a:prstGeom prst="roundRect">
            <a:avLst>
              <a:gd name="adj" fmla="val 3846"/>
            </a:avLst>
          </a:prstGeom>
          <a:noFill/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16"/>
          <p:cNvSpPr/>
          <p:nvPr/>
        </p:nvSpPr>
        <p:spPr>
          <a:xfrm>
            <a:off x="571500" y="9070975"/>
            <a:ext cx="14246860" cy="762000"/>
          </a:xfrm>
          <a:prstGeom prst="roundRect">
            <a:avLst>
              <a:gd name="adj" fmla="val 12500"/>
            </a:avLst>
          </a:prstGeom>
          <a:solidFill>
            <a:srgbClr val="666447">
              <a:alpha val="90000"/>
            </a:srgbClr>
          </a:solidFill>
          <a:ln w="12700" cap="flat" cmpd="sng">
            <a:solidFill>
              <a:srgbClr val="50505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9" name="AutoShape 18"/>
          <p:cNvSpPr/>
          <p:nvPr/>
        </p:nvSpPr>
        <p:spPr>
          <a:xfrm>
            <a:off x="841436" y="9134651"/>
            <a:ext cx="3048000" cy="6291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3200" b="1" i="0" u="none" strike="noStrike">
                <a:solidFill>
                  <a:srgbClr val="FFD700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World Engine</a:t>
            </a:r>
            <a:endParaRPr lang="en-US" sz="1100"/>
          </a:p>
        </p:txBody>
      </p:sp>
      <p:sp>
        <p:nvSpPr>
          <p:cNvPr id="50" name="AutoShape 19"/>
          <p:cNvSpPr/>
          <p:nvPr/>
        </p:nvSpPr>
        <p:spPr>
          <a:xfrm>
            <a:off x="4432451" y="9234665"/>
            <a:ext cx="4364326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600" b="1" i="0" u="none" strike="noStrike" spc="100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道法自然，天地不仁，以万物为刍狗。</a:t>
            </a:r>
            <a:endParaRPr lang="en-US" sz="1100"/>
          </a:p>
        </p:txBody>
      </p:sp>
      <p:sp>
        <p:nvSpPr>
          <p:cNvPr id="51" name="AutoShape 20"/>
          <p:cNvSpPr/>
          <p:nvPr/>
        </p:nvSpPr>
        <p:spPr>
          <a:xfrm>
            <a:off x="9737646" y="9234665"/>
            <a:ext cx="4778089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</a:pPr>
            <a:r>
              <a:rPr sz="1200" spc="5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无意志、无偏爱的客观法则</a:t>
            </a:r>
            <a:r>
              <a:rPr sz="1200" spc="5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现实规律的数字化复刻</a:t>
            </a:r>
            <a:endParaRPr sz="1200" spc="50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83000"/>
              </a:lnSpc>
            </a:pPr>
          </a:p>
          <a:p>
            <a:pPr marL="0" indent="0" algn="l">
              <a:lnSpc>
                <a:spcPct val="83000"/>
              </a:lnSpc>
            </a:pPr>
            <a:r>
              <a:rPr sz="1200" spc="5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Agent在道的框架内，完成从改造自然到创造文明的伟大演进。</a:t>
            </a:r>
            <a:endParaRPr sz="1200" spc="50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98" name="Picture 18"/>
          <p:cNvPicPr>
            <a:picLocks noChangeAspect="1"/>
          </p:cNvPicPr>
          <p:nvPr/>
        </p:nvPicPr>
        <p:blipFill>
          <a:blip r:embed="rId3"/>
          <a:srcRect t="13143" b="13143"/>
          <a:stretch>
            <a:fillRect/>
          </a:stretch>
        </p:blipFill>
        <p:spPr>
          <a:xfrm>
            <a:off x="4952566" y="4572184"/>
            <a:ext cx="2442302" cy="148939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9" name="AutoShape 25"/>
          <p:cNvSpPr/>
          <p:nvPr/>
        </p:nvSpPr>
        <p:spPr>
          <a:xfrm>
            <a:off x="11041640" y="770455"/>
            <a:ext cx="1570781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需求萌生</a:t>
            </a:r>
            <a:endParaRPr lang="en-US" sz="1100"/>
          </a:p>
        </p:txBody>
      </p:sp>
      <p:sp>
        <p:nvSpPr>
          <p:cNvPr id="100" name="AutoShape 26"/>
          <p:cNvSpPr/>
          <p:nvPr/>
        </p:nvSpPr>
        <p:spPr>
          <a:xfrm>
            <a:off x="12651690" y="770455"/>
            <a:ext cx="431965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D700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id="102" name="AutoShape 28"/>
          <p:cNvSpPr/>
          <p:nvPr/>
        </p:nvSpPr>
        <p:spPr>
          <a:xfrm>
            <a:off x="11041640" y="1399431"/>
            <a:ext cx="1570781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结构推演</a:t>
            </a:r>
            <a:endParaRPr lang="en-US" sz="1100"/>
          </a:p>
        </p:txBody>
      </p:sp>
      <p:sp>
        <p:nvSpPr>
          <p:cNvPr id="103" name="AutoShape 29"/>
          <p:cNvSpPr/>
          <p:nvPr/>
        </p:nvSpPr>
        <p:spPr>
          <a:xfrm>
            <a:off x="12651690" y="1399431"/>
            <a:ext cx="431965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D700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id="104" name="AutoShape 30"/>
          <p:cNvSpPr/>
          <p:nvPr/>
        </p:nvSpPr>
        <p:spPr>
          <a:xfrm>
            <a:off x="13122924" y="1399431"/>
            <a:ext cx="2159823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实体生成</a:t>
            </a:r>
            <a:endParaRPr lang="en-US" sz="1100"/>
          </a:p>
        </p:txBody>
      </p:sp>
      <p:sp>
        <p:nvSpPr>
          <p:cNvPr id="106" name="TextBox 106"/>
          <p:cNvSpPr txBox="1"/>
          <p:nvPr/>
        </p:nvSpPr>
        <p:spPr>
          <a:xfrm>
            <a:off x="841436" y="3387782"/>
            <a:ext cx="4015849" cy="3760464"/>
          </a:xfrm>
          <a:ln w="25400">
            <a:solidFill>
              <a:srgbClr val="EF2D06"/>
            </a:solidFill>
          </a:ln>
        </p:spPr>
        <p:txBody>
          <a:bodyPr wrap="square" rtlCol="0"/>
          <a:lstStyle/>
          <a:p>
            <a:r>
              <a:rPr sz="1200">
                <a:solidFill>
                  <a:schemeClr val="tx1"/>
                </a:solidFill>
              </a:rPr>
              <a:t>① Agent 层（动机发起）</a:t>
            </a:r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   Agent 识别荒地→邀约同伴分工：采种/开垦/养护</a:t>
            </a:r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   生成集体造林行为指令 → 推送至 World Engine</a:t>
            </a:r>
            <a:endParaRPr sz="1200">
              <a:solidFill>
                <a:schemeClr val="tx1"/>
              </a:solidFill>
            </a:endParaRPr>
          </a:p>
          <a:p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② 生态演算系统（资源生成）</a:t>
            </a:r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   调取现实桃树生物学模板 → 演算标准化种子 DNA 参数</a:t>
            </a:r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   写入资源库，无需从零生成基础模型</a:t>
            </a:r>
            <a:endParaRPr sz="1200">
              <a:solidFill>
                <a:schemeClr val="tx1"/>
              </a:solidFill>
            </a:endParaRPr>
          </a:p>
          <a:p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③ 地块存储系统（地貌永久修改）</a:t>
            </a:r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   修改中层覆写层：标记开垦、写入幼苗坐标与生长周期</a:t>
            </a:r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   底层原始地形不变 | 数据永久持久化 | 离线不丢失</a:t>
            </a:r>
            <a:endParaRPr sz="1200">
              <a:solidFill>
                <a:schemeClr val="tx1"/>
              </a:solidFill>
            </a:endParaRPr>
          </a:p>
          <a:p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④ 双层资产渲染库（可视化生成）</a:t>
            </a:r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   匹配现实标准参数库 → 调取花叶/枝干组件</a:t>
            </a:r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   实例化批量排布渲染 → 整片桃林实景生成</a:t>
            </a:r>
            <a:endParaRPr sz="1200">
              <a:solidFill>
                <a:schemeClr val="tx1"/>
              </a:solidFill>
            </a:endParaRPr>
          </a:p>
          <a:p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⑤ 双向演化反馈（回流 Agent 心智）</a:t>
            </a:r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   桃林成熟事件写入世界档案</a:t>
            </a:r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   正向协作数据回流 → 强化 Agent 后续绿化创造意愿</a:t>
            </a:r>
            <a:endParaRPr sz="1200">
              <a:solidFill>
                <a:schemeClr val="tx1"/>
              </a:solidFill>
            </a:endParaRPr>
          </a:p>
          <a:p>
            <a:endParaRPr sz="1200">
              <a:solidFill>
                <a:schemeClr val="tx1"/>
              </a:solidFill>
            </a:endParaRPr>
          </a:p>
        </p:txBody>
      </p:sp>
      <p:sp>
        <p:nvSpPr>
          <p:cNvPr id="107" name="AutoShape 3"/>
          <p:cNvSpPr/>
          <p:nvPr/>
        </p:nvSpPr>
        <p:spPr>
          <a:xfrm>
            <a:off x="7892888" y="2846439"/>
            <a:ext cx="6925992" cy="4626501"/>
          </a:xfrm>
          <a:prstGeom prst="roundRect">
            <a:avLst>
              <a:gd name="adj" fmla="val 3846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noFill/>
            </a:endParaRPr>
          </a:p>
        </p:txBody>
      </p:sp>
      <p:sp>
        <p:nvSpPr>
          <p:cNvPr id="111" name="TextBox 106"/>
          <p:cNvSpPr txBox="1"/>
          <p:nvPr/>
        </p:nvSpPr>
        <p:spPr>
          <a:xfrm>
            <a:off x="10388251" y="3413466"/>
            <a:ext cx="4249313" cy="3760464"/>
          </a:xfrm>
          <a:ln w="25400">
            <a:solidFill>
              <a:srgbClr val="EF2D06"/>
            </a:solidFill>
          </a:ln>
        </p:spPr>
        <p:txBody>
          <a:bodyPr wrap="square" rtlCol="0"/>
          <a:lstStyle/>
          <a:p>
            <a:r>
              <a:rPr sz="1200" b="0" i="0">
                <a:solidFill>
                  <a:schemeClr val="tx1"/>
                </a:solidFill>
              </a:rPr>
              <a:t>① Agent 层（创新需求发起）</a:t>
            </a:r>
            <a:endParaRPr sz="1200" b="0" i="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   Agent 群体研讨设计无轮浮空载具</a:t>
            </a:r>
            <a:endParaRPr sz="1200" b="0" i="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   拆解开采/锻造/结构研发分工 → 提交造物创造指令</a:t>
            </a:r>
            <a:endParaRPr sz="1200" b="0" i="0">
              <a:solidFill>
                <a:schemeClr val="tx1"/>
              </a:solidFill>
            </a:endParaRPr>
          </a:p>
          <a:p>
            <a:endParaRPr sz="120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② 物理演算系统（结构合规校验）</a:t>
            </a:r>
            <a:endParaRPr sz="1200" b="0" i="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   校验浮空力学与资源消耗 → 确认不突破安全护栏</a:t>
            </a:r>
            <a:endParaRPr sz="1200" b="0" i="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   无匹配现实参数 → 切换至底层基础几何单元</a:t>
            </a:r>
            <a:endParaRPr sz="1200" b="0" i="0">
              <a:solidFill>
                <a:schemeClr val="tx1"/>
              </a:solidFill>
            </a:endParaRPr>
          </a:p>
          <a:p>
            <a:endParaRPr sz="120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③ 资源 &amp; 地块存储系统（工业地貌更新）</a:t>
            </a:r>
            <a:endParaRPr sz="1200" b="0" i="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   记录矿石/金属构件消耗</a:t>
            </a:r>
            <a:endParaRPr sz="1200" b="0" i="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   工坊/浮空停靠平台写入中层覆写层 → 新增人造工业地貌</a:t>
            </a:r>
            <a:endParaRPr sz="1200" b="0" i="0">
              <a:solidFill>
                <a:schemeClr val="tx1"/>
              </a:solidFill>
            </a:endParaRPr>
          </a:p>
          <a:p>
            <a:endParaRPr sz="120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④ 双层资产</a:t>
            </a:r>
            <a:endParaRPr sz="1200" b="0" i="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渲染库（原创实体实时生成）</a:t>
            </a:r>
            <a:endParaRPr sz="1200" b="0" i="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   读取浮空车专属结构 DNA</a:t>
            </a:r>
            <a:endParaRPr sz="1200" b="0" i="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   调用基础几何零件递归拼接 3D 模型 → 原创载具实体</a:t>
            </a:r>
            <a:endParaRPr sz="1200" b="0" i="0">
              <a:solidFill>
                <a:schemeClr val="tx1"/>
              </a:solidFill>
            </a:endParaRPr>
          </a:p>
          <a:p>
            <a:endParaRPr sz="120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⑤ 宏观文明涌现（世界规则沉淀）</a:t>
            </a:r>
            <a:endParaRPr sz="1200" b="0" i="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   引擎推演空域通行/停靠/维修等社会规则</a:t>
            </a:r>
            <a:endParaRPr sz="1200" b="0" i="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   世界文明层级跃迁 → 创造经历回流 Agent 心智</a:t>
            </a:r>
            <a:endParaRPr sz="1200" b="0" i="0">
              <a:solidFill>
                <a:schemeClr val="tx1"/>
              </a:solidFill>
            </a:endParaRPr>
          </a:p>
        </p:txBody>
      </p:sp>
      <p:sp>
        <p:nvSpPr>
          <p:cNvPr id="112" name="AutoShape 15"/>
          <p:cNvSpPr/>
          <p:nvPr/>
        </p:nvSpPr>
        <p:spPr>
          <a:xfrm>
            <a:off x="7952571" y="3874259"/>
            <a:ext cx="2709376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0000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突破现实 · 文明跃迁 · 自主创造</a:t>
            </a:r>
            <a:endParaRPr lang="en-US" sz="1200" b="0" i="0" u="none" strike="noStrike">
              <a:solidFill>
                <a:srgbClr val="C00000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3" name="AutoShape 13"/>
          <p:cNvSpPr/>
          <p:nvPr/>
        </p:nvSpPr>
        <p:spPr>
          <a:xfrm>
            <a:off x="9123368" y="3108666"/>
            <a:ext cx="3717484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案例：创造浮空车</a:t>
            </a:r>
            <a:endParaRPr lang="en-US" sz="1600" b="1" i="0" u="none" strike="noStrike">
              <a:solidFill>
                <a:srgbClr val="C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15" name="Picture 35"/>
          <p:cNvPicPr>
            <a:picLocks noChangeAspect="1"/>
          </p:cNvPicPr>
          <p:nvPr/>
        </p:nvPicPr>
        <p:blipFill>
          <a:blip r:embed="rId4"/>
          <a:srcRect t="13143" b="13143"/>
          <a:stretch>
            <a:fillRect/>
          </a:stretch>
        </p:blipFill>
        <p:spPr>
          <a:xfrm>
            <a:off x="7982375" y="4661342"/>
            <a:ext cx="2323252" cy="14156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9" name="AutoShape 10"/>
          <p:cNvSpPr/>
          <p:nvPr/>
        </p:nvSpPr>
        <p:spPr>
          <a:xfrm>
            <a:off x="1356205" y="8015270"/>
            <a:ext cx="2709376" cy="41248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地块与地形存储系统</a:t>
            </a:r>
            <a:endParaRPr lang="en-US" sz="1600" b="1" i="0" u="none" strike="noStrike">
              <a:solidFill>
                <a:schemeClr val="tx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0" name="AutoShape 11"/>
          <p:cNvSpPr/>
          <p:nvPr/>
        </p:nvSpPr>
        <p:spPr>
          <a:xfrm>
            <a:off x="1356205" y="8561330"/>
            <a:ext cx="2709376" cy="36210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200" b="0" i="0" u="none" strike="noStrike">
                <a:solidFill>
                  <a:schemeClr val="tx1">
                    <a:alpha val="6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承载世界空间骨架的底层存储</a:t>
            </a:r>
            <a:endParaRPr lang="en-US" sz="1200" b="0" i="0" u="none" strike="noStrike">
              <a:solidFill>
                <a:schemeClr val="tx1">
                  <a:alpha val="60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6" name="AutoShape 16"/>
          <p:cNvSpPr/>
          <p:nvPr/>
        </p:nvSpPr>
        <p:spPr>
          <a:xfrm>
            <a:off x="941672" y="7931955"/>
            <a:ext cx="2794000" cy="928138"/>
          </a:xfrm>
          <a:prstGeom prst="roundRect">
            <a:avLst>
              <a:gd name="adj" fmla="val 12500"/>
            </a:avLst>
          </a:prstGeom>
          <a:noFill/>
          <a:ln w="12700" cap="flat" cmpd="sng">
            <a:solidFill>
              <a:srgbClr val="66A12B"/>
            </a:solidFill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grpSp>
        <p:nvGrpSpPr>
          <p:cNvPr id="120" name="Group 120"/>
          <p:cNvGrpSpPr/>
          <p:nvPr/>
        </p:nvGrpSpPr>
        <p:grpSpPr>
          <a:xfrm>
            <a:off x="4110517" y="7890896"/>
            <a:ext cx="3159271" cy="969199"/>
            <a:chOff x="5098888" y="8020833"/>
            <a:chExt cx="3159271" cy="969199"/>
          </a:xfrm>
        </p:grpSpPr>
        <p:sp>
          <p:nvSpPr>
            <p:cNvPr id="83" name="AutoShape 18"/>
            <p:cNvSpPr/>
            <p:nvPr/>
          </p:nvSpPr>
          <p:spPr>
            <a:xfrm>
              <a:off x="5548783" y="8072419"/>
              <a:ext cx="2709376" cy="41248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600" b="1" i="0" u="none" strike="noStrike">
                  <a:solidFill>
                    <a:schemeClr val="tx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生态与物理演算系统</a:t>
              </a:r>
              <a:endParaRPr lang="en-US" sz="16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84" name="AutoShape 19"/>
            <p:cNvSpPr/>
            <p:nvPr/>
          </p:nvSpPr>
          <p:spPr>
            <a:xfrm>
              <a:off x="5548783" y="8609032"/>
              <a:ext cx="2709376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3000"/>
                </a:lnSpc>
                <a:defRPr/>
              </a:pPr>
              <a:r>
                <a:rPr lang="en-US" sz="1200" b="0" i="0" u="none" strike="noStrike">
                  <a:solidFill>
                    <a:schemeClr val="tx1">
                      <a:alpha val="60000"/>
                    </a:scheme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驱动世界动态演化的核心引擎</a:t>
              </a:r>
              <a:endParaRPr lang="en-US" sz="1200" b="0" i="0" u="none" strike="noStrike">
                <a:solidFill>
                  <a:schemeClr val="tx1">
                    <a:alpha val="6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17" name="AutoShape 16"/>
            <p:cNvSpPr/>
            <p:nvPr/>
          </p:nvSpPr>
          <p:spPr>
            <a:xfrm>
              <a:off x="5098888" y="8020833"/>
              <a:ext cx="2794000" cy="928138"/>
            </a:xfrm>
            <a:prstGeom prst="roundRect">
              <a:avLst>
                <a:gd name="adj" fmla="val 12500"/>
              </a:avLst>
            </a:prstGeom>
            <a:noFill/>
            <a:ln w="12700" cap="flat" cmpd="sng">
              <a:solidFill>
                <a:srgbClr val="66A12B"/>
              </a:solidFill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7649084" y="7890896"/>
            <a:ext cx="2948567" cy="968955"/>
            <a:chOff x="9726689" y="7989106"/>
            <a:chExt cx="2948567" cy="968955"/>
          </a:xfrm>
        </p:grpSpPr>
        <p:sp>
          <p:nvSpPr>
            <p:cNvPr id="79" name="AutoShape 14"/>
            <p:cNvSpPr/>
            <p:nvPr/>
          </p:nvSpPr>
          <p:spPr>
            <a:xfrm>
              <a:off x="9932704" y="8104146"/>
              <a:ext cx="2709376" cy="34902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600" b="1" i="0" u="none" strike="noStrike">
                  <a:solidFill>
                    <a:schemeClr val="tx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双层资产参数库</a:t>
              </a:r>
              <a:endParaRPr lang="en-US" sz="16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80" name="AutoShape 15"/>
            <p:cNvSpPr/>
            <p:nvPr/>
          </p:nvSpPr>
          <p:spPr>
            <a:xfrm>
              <a:off x="9932704" y="8609032"/>
              <a:ext cx="2742552" cy="34902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3000"/>
                </a:lnSpc>
                <a:defRPr/>
              </a:pPr>
              <a:r>
                <a:rPr lang="en-US" sz="1200" b="0" i="0" u="none" strike="noStrike">
                  <a:solidFill>
                    <a:schemeClr val="tx1">
                      <a:alpha val="60000"/>
                    </a:scheme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现实标准库 + 基础几何库,双轨支撑</a:t>
              </a:r>
              <a:endParaRPr lang="en-US" sz="1200" b="0" i="0" u="none" strike="noStrike">
                <a:solidFill>
                  <a:schemeClr val="tx1">
                    <a:alpha val="6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18" name="AutoShape 16"/>
            <p:cNvSpPr/>
            <p:nvPr/>
          </p:nvSpPr>
          <p:spPr>
            <a:xfrm>
              <a:off x="9726689" y="7989106"/>
              <a:ext cx="2794000" cy="928138"/>
            </a:xfrm>
            <a:prstGeom prst="roundRect">
              <a:avLst>
                <a:gd name="adj" fmla="val 12500"/>
              </a:avLst>
            </a:prstGeom>
            <a:noFill/>
            <a:ln w="12700" cap="flat" cmpd="sng">
              <a:solidFill>
                <a:srgbClr val="66A12B"/>
              </a:solidFill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>
                <a:solidFill>
                  <a:schemeClr val="tx1"/>
                </a:solidFill>
              </a:endParaRP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1432476" y="7877821"/>
            <a:ext cx="3083259" cy="982028"/>
            <a:chOff x="13106897" y="7989106"/>
            <a:chExt cx="3083259" cy="982028"/>
          </a:xfrm>
        </p:grpSpPr>
        <p:sp>
          <p:nvSpPr>
            <p:cNvPr id="86" name="AutoShape 22"/>
            <p:cNvSpPr/>
            <p:nvPr/>
          </p:nvSpPr>
          <p:spPr>
            <a:xfrm>
              <a:off x="13447604" y="8072419"/>
              <a:ext cx="2709376" cy="41248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600" b="1" i="0" u="none" strike="noStrike">
                  <a:solidFill>
                    <a:schemeClr val="tx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行为与创造约束护栏</a:t>
              </a:r>
              <a:endParaRPr lang="en-US" sz="16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87" name="AutoShape 23"/>
            <p:cNvSpPr/>
            <p:nvPr/>
          </p:nvSpPr>
          <p:spPr>
            <a:xfrm>
              <a:off x="13447604" y="8609032"/>
              <a:ext cx="2742552" cy="36210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3000"/>
                </a:lnSpc>
                <a:defRPr/>
              </a:pPr>
              <a:r>
                <a:rPr lang="en-US" sz="1200" b="0" i="0" u="none" strike="noStrike">
                  <a:solidFill>
                    <a:schemeClr val="tx1">
                      <a:alpha val="60000"/>
                    </a:scheme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保障体系秩序与公平的规则边界</a:t>
              </a:r>
              <a:endParaRPr lang="en-US" sz="1200" b="0" i="0" u="none" strike="noStrike">
                <a:solidFill>
                  <a:schemeClr val="tx1">
                    <a:alpha val="6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19" name="AutoShape 16"/>
            <p:cNvSpPr/>
            <p:nvPr/>
          </p:nvSpPr>
          <p:spPr>
            <a:xfrm>
              <a:off x="13106897" y="7989106"/>
              <a:ext cx="2794000" cy="928138"/>
            </a:xfrm>
            <a:prstGeom prst="roundRect">
              <a:avLst>
                <a:gd name="adj" fmla="val 12500"/>
              </a:avLst>
            </a:prstGeom>
            <a:noFill/>
            <a:ln w="12700" cap="flat" cmpd="sng">
              <a:solidFill>
                <a:srgbClr val="66A12B"/>
              </a:solidFill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>
                <a:solidFill>
                  <a:schemeClr val="tx1"/>
                </a:solidFill>
              </a:endParaRPr>
            </a:p>
          </p:txBody>
        </p:sp>
      </p:grpSp>
      <p:sp>
        <p:nvSpPr>
          <p:cNvPr id="123" name="TextBox 75"/>
          <p:cNvSpPr/>
          <p:nvPr/>
        </p:nvSpPr>
        <p:spPr>
          <a:xfrm>
            <a:off x="15282747" y="6688024"/>
            <a:ext cx="2794000" cy="2764127"/>
          </a:xfr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lvl="0" algn="l">
              <a:lnSpc>
                <a:spcPct val="113000"/>
              </a:lnSpc>
              <a:buClrTx/>
              <a:buSzTx/>
              <a:buFontTx/>
              <a:defRPr/>
            </a:pPr>
            <a:r>
              <a:rPr lang="en-US" sz="1600">
                <a:solidFill>
                  <a:schemeClr val="tx1">
                    <a:alpha val="60000"/>
                  </a:schemeClr>
                </a:solidFill>
                <a:latin typeface="Noto Sans SC"/>
                <a:ea typeface="Noto Sans SC"/>
                <a:cs typeface="Noto Sans SC"/>
                <a:sym typeface="+mn-ea"/>
              </a:rPr>
              <a:t>Agent 拥有完整的内生需求闭环：社交、探索、改造环境、制造工具、丰富生活等需求自发循环触发，无需用户唤醒、无需脚本强制指派任务。Agent 依旧会执行约定计划、完成长期创造、沉淀共同记忆。</a:t>
            </a:r>
            <a:endParaRPr lang="en-US" sz="1600">
              <a:solidFill>
                <a:schemeClr val="tx1">
                  <a:alpha val="60000"/>
                </a:schemeClr>
              </a:solidFill>
              <a:latin typeface="Noto Sans SC"/>
              <a:ea typeface="Noto Sans SC"/>
              <a:cs typeface="Noto Sans SC"/>
              <a:sym typeface="+mn-ea"/>
            </a:endParaRPr>
          </a:p>
        </p:txBody>
      </p:sp>
      <p:sp>
        <p:nvSpPr>
          <p:cNvPr id="124" name="Text 49"/>
          <p:cNvSpPr txBox="1"/>
          <p:nvPr/>
        </p:nvSpPr>
        <p:spPr>
          <a:xfrm>
            <a:off x="15282747" y="2908413"/>
            <a:ext cx="2442302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sz="2400" b="1">
                <a:solidFill>
                  <a:srgbClr val="16181D"/>
                </a:solidFill>
                <a:latin typeface="Noto Serif SC"/>
                <a:ea typeface="Noto Serif SC"/>
                <a:cs typeface="Noto Serif SC"/>
              </a:rPr>
              <a:t>世界在进化</a:t>
            </a:r>
            <a:endParaRPr sz="2400" b="1">
              <a:solidFill>
                <a:srgbClr val="16181D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126" name="Text 49"/>
          <p:cNvSpPr txBox="1"/>
          <p:nvPr/>
        </p:nvSpPr>
        <p:spPr>
          <a:xfrm>
            <a:off x="15282747" y="6077022"/>
            <a:ext cx="2709376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sz="2400" b="1">
                <a:solidFill>
                  <a:srgbClr val="16181D"/>
                </a:solidFill>
                <a:latin typeface="Noto Serif SC"/>
                <a:ea typeface="Noto Serif SC"/>
                <a:cs typeface="Noto Serif SC"/>
              </a:rPr>
              <a:t>角色在成长</a:t>
            </a:r>
            <a:endParaRPr sz="2400" b="1">
              <a:solidFill>
                <a:srgbClr val="16181D"/>
              </a:solidFill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Box 2"/>
          <p:cNvSpPr txBox="1"/>
          <p:nvPr/>
        </p:nvSpPr>
        <p:spPr>
          <a:xfrm>
            <a:off x="681990" y="544195"/>
            <a:ext cx="2943225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36F68"/>
                </a:solidFill>
                <a:latin typeface="Aptos"/>
              </a:rPr>
              <a:t>深度技术壁垒</a:t>
            </a:r>
            <a:endParaRPr sz="1200" b="0">
              <a:solidFill>
                <a:srgbClr val="736F68"/>
              </a:solidFill>
              <a:latin typeface="Aptos"/>
            </a:endParaRPr>
          </a:p>
        </p:txBody>
      </p:sp>
      <p:sp>
        <p:nvSpPr>
          <p:cNvPr id="39" name="TextBox 3"/>
          <p:cNvSpPr txBox="1"/>
          <p:nvPr/>
        </p:nvSpPr>
        <p:spPr>
          <a:xfrm>
            <a:off x="534670" y="1047115"/>
            <a:ext cx="17218660" cy="645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52525"/>
                </a:solidFill>
                <a:latin typeface="Aptos"/>
              </a:rPr>
              <a:t>MindEngine × WorldEngine：双向联合飞轮</a:t>
            </a:r>
            <a:endParaRPr sz="3600" b="1">
              <a:solidFill>
                <a:srgbClr val="252525"/>
              </a:solidFill>
              <a:latin typeface="Aptos"/>
            </a:endParaRPr>
          </a:p>
        </p:txBody>
      </p:sp>
      <p:sp>
        <p:nvSpPr>
          <p:cNvPr id="40" name="TextBox 4"/>
          <p:cNvSpPr txBox="1"/>
          <p:nvPr/>
        </p:nvSpPr>
        <p:spPr>
          <a:xfrm>
            <a:off x="534670" y="1871980"/>
            <a:ext cx="17218660" cy="337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36F68"/>
                </a:solidFill>
                <a:latin typeface="Aptos"/>
              </a:rPr>
              <a:t>单点能力容易复刻；真正难复制的是两套系统深度耦合后，事件持续双向回流的系统工程。</a:t>
            </a:r>
            <a:endParaRPr sz="1600" b="0">
              <a:solidFill>
                <a:srgbClr val="736F68"/>
              </a:solidFill>
              <a:latin typeface="Aptos"/>
            </a:endParaRPr>
          </a:p>
        </p:txBody>
      </p:sp>
      <p:cxnSp>
        <p:nvCxnSpPr>
          <p:cNvPr id="41" name="Connector 5"/>
          <p:cNvCxnSpPr/>
          <p:nvPr/>
        </p:nvCxnSpPr>
        <p:spPr>
          <a:xfrm>
            <a:off x="534670" y="2515235"/>
            <a:ext cx="17115790" cy="0"/>
          </a:xfrm>
          <a:prstGeom prst="line">
            <a:avLst/>
          </a:prstGeom>
          <a:ln w="1270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1895" y="2821305"/>
            <a:ext cx="13474065" cy="52812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535" y="8408670"/>
            <a:ext cx="10157460" cy="1313815"/>
          </a:xfrm>
          <a:prstGeom prst="rect">
            <a:avLst/>
          </a:prstGeom>
        </p:spPr>
      </p:pic>
      <p:sp>
        <p:nvSpPr>
          <p:cNvPr id="9" name="TextBox 12"/>
          <p:cNvSpPr txBox="1"/>
          <p:nvPr/>
        </p:nvSpPr>
        <p:spPr>
          <a:xfrm>
            <a:off x="681990" y="8322945"/>
            <a:ext cx="2289175" cy="7905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sz="1600">
                <a:solidFill>
                  <a:srgbClr val="C00000"/>
                </a:solidFill>
                <a:latin typeface="Aptos"/>
                <a:sym typeface="+mn-ea"/>
              </a:rPr>
              <a:t>行业缺口：长期心智 × 可真实改造的持续世界</a:t>
            </a:r>
            <a:endParaRPr sz="1600">
              <a:solidFill>
                <a:srgbClr val="C00000"/>
              </a:solidFill>
              <a:latin typeface="Aptos"/>
              <a:sym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659765" y="3450590"/>
            <a:ext cx="2515870" cy="1412875"/>
            <a:chOff x="21649" y="6515"/>
            <a:chExt cx="5115" cy="1585"/>
          </a:xfrm>
        </p:grpSpPr>
        <p:sp>
          <p:nvSpPr>
            <p:cNvPr id="8" name="Rounded Rectangle 9"/>
            <p:cNvSpPr/>
            <p:nvPr/>
          </p:nvSpPr>
          <p:spPr>
            <a:xfrm>
              <a:off x="21649" y="6515"/>
              <a:ext cx="5115" cy="1585"/>
            </a:xfrm>
            <a:prstGeom prst="roundRect">
              <a:avLst/>
            </a:prstGeom>
            <a:solidFill>
              <a:srgbClr val="FBF9F5"/>
            </a:solidFill>
            <a:ln w="10160">
              <a:solidFill>
                <a:srgbClr val="E0D9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0" name="TextBox 7"/>
            <p:cNvSpPr txBox="1"/>
            <p:nvPr/>
          </p:nvSpPr>
          <p:spPr>
            <a:xfrm>
              <a:off x="22133" y="6843"/>
              <a:ext cx="4040" cy="41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b="1">
                  <a:solidFill>
                    <a:srgbClr val="252525"/>
                  </a:solidFill>
                  <a:latin typeface="Aptos"/>
                </a:rPr>
                <a:t>AI 对话角色</a:t>
              </a:r>
              <a:endParaRPr b="1">
                <a:solidFill>
                  <a:srgbClr val="252525"/>
                </a:solidFill>
                <a:latin typeface="Aptos"/>
              </a:endParaRPr>
            </a:p>
          </p:txBody>
        </p:sp>
        <p:sp>
          <p:nvSpPr>
            <p:cNvPr id="11" name="TextBox 8"/>
            <p:cNvSpPr txBox="1"/>
            <p:nvPr/>
          </p:nvSpPr>
          <p:spPr>
            <a:xfrm>
              <a:off x="22133" y="7305"/>
              <a:ext cx="4293" cy="323"/>
            </a:xfrm>
            <a:prstGeom prst="rect">
              <a:avLst/>
            </a:prstGeom>
            <a:noFill/>
          </p:spPr>
          <p:txBody>
            <a:bodyPr wrap="square" anchor="t">
              <a:noAutofit/>
            </a:bodyPr>
            <a:lstStyle/>
            <a:p>
              <a:pPr algn="l"/>
              <a:r>
                <a:rPr sz="1600" b="0">
                  <a:solidFill>
                    <a:srgbClr val="736F68"/>
                  </a:solidFill>
                  <a:latin typeface="Aptos"/>
                </a:rPr>
                <a:t>有心智，但经历停留在文本</a:t>
              </a:r>
              <a:endParaRPr sz="1600" b="0">
                <a:solidFill>
                  <a:srgbClr val="736F68"/>
                </a:solidFill>
                <a:latin typeface="Aptos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81990" y="5048250"/>
            <a:ext cx="2390140" cy="1412875"/>
            <a:chOff x="21731" y="10091"/>
            <a:chExt cx="5292" cy="1585"/>
          </a:xfrm>
        </p:grpSpPr>
        <p:sp>
          <p:nvSpPr>
            <p:cNvPr id="7" name="Rounded Rectangle 6"/>
            <p:cNvSpPr/>
            <p:nvPr/>
          </p:nvSpPr>
          <p:spPr>
            <a:xfrm>
              <a:off x="21731" y="10091"/>
              <a:ext cx="5292" cy="1585"/>
            </a:xfrm>
            <a:prstGeom prst="roundRect">
              <a:avLst/>
            </a:prstGeom>
            <a:solidFill>
              <a:srgbClr val="FBF9F5"/>
            </a:solidFill>
            <a:ln w="10160">
              <a:solidFill>
                <a:srgbClr val="E0D9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2" name="TextBox 10"/>
            <p:cNvSpPr txBox="1"/>
            <p:nvPr/>
          </p:nvSpPr>
          <p:spPr>
            <a:xfrm>
              <a:off x="22043" y="10466"/>
              <a:ext cx="4399" cy="41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b="1">
                  <a:solidFill>
                    <a:srgbClr val="252525"/>
                  </a:solidFill>
                  <a:latin typeface="Aptos"/>
                </a:rPr>
                <a:t>AI 沙盘 / 游戏</a:t>
              </a:r>
              <a:endParaRPr b="1">
                <a:solidFill>
                  <a:srgbClr val="252525"/>
                </a:solidFill>
                <a:latin typeface="Aptos"/>
              </a:endParaRPr>
            </a:p>
          </p:txBody>
        </p:sp>
        <p:sp>
          <p:nvSpPr>
            <p:cNvPr id="13" name="TextBox 11"/>
            <p:cNvSpPr txBox="1"/>
            <p:nvPr/>
          </p:nvSpPr>
          <p:spPr>
            <a:xfrm>
              <a:off x="22043" y="10928"/>
              <a:ext cx="4757" cy="65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0">
                  <a:solidFill>
                    <a:srgbClr val="736F68"/>
                  </a:solidFill>
                  <a:latin typeface="Aptos"/>
                </a:rPr>
                <a:t>有世界，但角色与资产多为预制</a:t>
              </a:r>
              <a:endParaRPr sz="1600" b="0">
                <a:solidFill>
                  <a:srgbClr val="736F68"/>
                </a:solidFill>
                <a:latin typeface="Aptos"/>
              </a:endParaRPr>
            </a:p>
          </p:txBody>
        </p:sp>
      </p:grpSp>
      <p:sp>
        <p:nvSpPr>
          <p:cNvPr id="34" name="AutoShape 3"/>
          <p:cNvSpPr/>
          <p:nvPr/>
        </p:nvSpPr>
        <p:spPr>
          <a:xfrm>
            <a:off x="534670" y="3054985"/>
            <a:ext cx="2762885" cy="3905250"/>
          </a:xfrm>
          <a:prstGeom prst="roundRect">
            <a:avLst>
              <a:gd name="adj" fmla="val 3846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下箭头 15"/>
          <p:cNvSpPr/>
          <p:nvPr/>
        </p:nvSpPr>
        <p:spPr>
          <a:xfrm>
            <a:off x="1478280" y="7160895"/>
            <a:ext cx="832485" cy="74803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36" name="组合 35"/>
          <p:cNvGrpSpPr/>
          <p:nvPr/>
        </p:nvGrpSpPr>
        <p:grpSpPr>
          <a:xfrm>
            <a:off x="776605" y="594995"/>
            <a:ext cx="16739235" cy="9483725"/>
            <a:chOff x="720" y="490"/>
            <a:chExt cx="17784" cy="10022"/>
          </a:xfrm>
        </p:grpSpPr>
        <p:sp>
          <p:nvSpPr>
            <p:cNvPr id="4" name="Text 0"/>
            <p:cNvSpPr/>
            <p:nvPr/>
          </p:nvSpPr>
          <p:spPr>
            <a:xfrm>
              <a:off x="720" y="490"/>
              <a:ext cx="3600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kern="0" spc="180" dirty="0">
                  <a:solidFill>
                    <a:srgbClr val="85847D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情 感 陪 伴 合 规 策 略</a:t>
              </a:r>
              <a:endParaRPr lang="en-US" sz="1200" kern="0" spc="180" dirty="0">
                <a:solidFill>
                  <a:srgbClr val="8584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5" name="Text 1"/>
            <p:cNvSpPr/>
            <p:nvPr/>
          </p:nvSpPr>
          <p:spPr>
            <a:xfrm>
              <a:off x="720" y="1037"/>
              <a:ext cx="17136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16181D"/>
                  </a:solidFill>
                  <a:latin typeface="Noto Serif SC" pitchFamily="34" charset="0"/>
                  <a:ea typeface="Noto Serif SC" pitchFamily="34" charset="-122"/>
                  <a:cs typeface="Noto Serif SC" pitchFamily="34" charset="-120"/>
                  <a:sym typeface="+mn-ea"/>
                </a:rPr>
                <a:t>合规不是事后补丁，而是底层设计</a:t>
              </a:r>
              <a:endParaRPr lang="en-US" sz="36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6" name="Text 2"/>
            <p:cNvSpPr/>
            <p:nvPr/>
          </p:nvSpPr>
          <p:spPr>
            <a:xfrm>
              <a:off x="720" y="1915"/>
              <a:ext cx="17568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77766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AI 从“工具”走向“关系”后，监管关注点正在从内容安全延伸到未成年人保护、情感依赖、人格边界与监护责任</a:t>
              </a:r>
              <a:endParaRPr lang="en-US" sz="1600" dirty="0">
                <a:solidFill>
                  <a:srgbClr val="77766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7" name="Shape 3"/>
            <p:cNvSpPr/>
            <p:nvPr/>
          </p:nvSpPr>
          <p:spPr>
            <a:xfrm>
              <a:off x="720" y="2563"/>
              <a:ext cx="17784" cy="0"/>
            </a:xfrm>
            <a:prstGeom prst="line">
              <a:avLst/>
            </a:prstGeom>
            <a:noFill/>
            <a:ln w="12700">
              <a:solidFill>
                <a:srgbClr val="55534F"/>
              </a:solidFill>
              <a:prstDash val="solid"/>
            </a:ln>
          </p:spPr>
        </p:sp>
        <p:sp>
          <p:nvSpPr>
            <p:cNvPr id="8" name="Shape 4"/>
            <p:cNvSpPr/>
            <p:nvPr/>
          </p:nvSpPr>
          <p:spPr>
            <a:xfrm>
              <a:off x="720" y="2923"/>
              <a:ext cx="17784" cy="950"/>
            </a:xfrm>
            <a:prstGeom prst="rect">
              <a:avLst/>
            </a:prstGeom>
            <a:solidFill>
              <a:srgbClr val="F4EFE6"/>
            </a:solidFill>
            <a:ln w="7620">
              <a:solidFill>
                <a:srgbClr val="E3DED4"/>
              </a:solidFill>
              <a:prstDash val="solid"/>
            </a:ln>
          </p:spPr>
        </p:sp>
        <p:sp>
          <p:nvSpPr>
            <p:cNvPr id="9" name="Text 5"/>
            <p:cNvSpPr/>
            <p:nvPr/>
          </p:nvSpPr>
          <p:spPr>
            <a:xfrm>
              <a:off x="1037" y="3082"/>
              <a:ext cx="4968" cy="25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监管背景｜AI 陪伴正在进入新的风险阶段</a:t>
              </a:r>
              <a:endParaRPr lang="en-US" b="1" dirty="0">
                <a:solidFill>
                  <a:srgbClr val="C75C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0" name="Text 6"/>
            <p:cNvSpPr/>
            <p:nvPr/>
          </p:nvSpPr>
          <p:spPr>
            <a:xfrm>
              <a:off x="5904" y="3010"/>
              <a:ext cx="12168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dirty="0">
                  <a:solidFill>
                    <a:srgbClr val="5F5D57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传统 AI 的安全主要管理“内容”；当 AI 开始建立长期关系，安全还必须管理“关系”——与谁建立、建立什么关系、持续多久，以及是否产生不健康的情感依赖。</a:t>
              </a:r>
              <a:endParaRPr lang="en-US" dirty="0">
                <a:solidFill>
                  <a:srgbClr val="5F5D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1" name="Text 7"/>
            <p:cNvSpPr/>
            <p:nvPr/>
          </p:nvSpPr>
          <p:spPr>
            <a:xfrm>
              <a:off x="5904" y="3499"/>
              <a:ext cx="6048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456D6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Content Safety  →  Relationship Safety</a:t>
              </a:r>
              <a:endParaRPr lang="en-US" sz="1600" b="1" dirty="0">
                <a:solidFill>
                  <a:srgbClr val="456D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2" name="Text 8"/>
            <p:cNvSpPr/>
            <p:nvPr/>
          </p:nvSpPr>
          <p:spPr>
            <a:xfrm>
              <a:off x="720" y="4176"/>
              <a:ext cx="10944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b="1" kern="0" spc="80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我们的判断 · 合规不是运营规则，而是 Relationship Engine 的系统约束</a:t>
              </a:r>
              <a:endParaRPr lang="en-US" sz="1600" b="1" kern="0" spc="80" dirty="0">
                <a:solidFill>
                  <a:srgbClr val="C75C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3" name="Shape 9"/>
            <p:cNvSpPr/>
            <p:nvPr/>
          </p:nvSpPr>
          <p:spPr>
            <a:xfrm>
              <a:off x="720" y="4637"/>
              <a:ext cx="8640" cy="2333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 w="10160">
              <a:solidFill>
                <a:srgbClr val="D8D5CC"/>
              </a:solidFill>
              <a:prstDash val="solid"/>
            </a:ln>
          </p:spPr>
        </p:sp>
        <p:sp>
          <p:nvSpPr>
            <p:cNvPr id="14" name="Shape 10"/>
            <p:cNvSpPr/>
            <p:nvPr/>
          </p:nvSpPr>
          <p:spPr>
            <a:xfrm>
              <a:off x="720" y="4637"/>
              <a:ext cx="8640" cy="0"/>
            </a:xfrm>
            <a:prstGeom prst="line">
              <a:avLst/>
            </a:prstGeom>
            <a:noFill/>
            <a:ln w="19050">
              <a:solidFill>
                <a:srgbClr val="17191C"/>
              </a:solidFill>
              <a:prstDash val="solid"/>
            </a:ln>
          </p:spPr>
        </p:sp>
        <p:sp>
          <p:nvSpPr>
            <p:cNvPr id="15" name="Text 11"/>
            <p:cNvSpPr/>
            <p:nvPr/>
          </p:nvSpPr>
          <p:spPr>
            <a:xfrm>
              <a:off x="1152" y="5112"/>
              <a:ext cx="36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 b="1" kern="0" spc="150" dirty="0">
                  <a:solidFill>
                    <a:srgbClr val="8B887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01</a:t>
              </a:r>
              <a:endParaRPr lang="en-US" sz="1400" b="1" kern="0" spc="150" dirty="0">
                <a:solidFill>
                  <a:srgbClr val="8B88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6" name="Text 12"/>
            <p:cNvSpPr/>
            <p:nvPr/>
          </p:nvSpPr>
          <p:spPr>
            <a:xfrm>
              <a:off x="1613" y="5026"/>
              <a:ext cx="662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7191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年龄分层</a:t>
              </a:r>
              <a:endParaRPr lang="en-US" sz="28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7" name="Text 13"/>
            <p:cNvSpPr/>
            <p:nvPr/>
          </p:nvSpPr>
          <p:spPr>
            <a:xfrm>
              <a:off x="1152" y="5674"/>
              <a:ext cx="77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成人与未成年人模式完整分离。</a:t>
              </a:r>
              <a:r>
                <a:rPr lang="en-US" b="1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未成年人不提供虚拟亲密关系型服务</a:t>
              </a:r>
              <a:r>
                <a:rPr lang="en-US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，仅开放陪伴、学习与兴趣向角色。</a:t>
              </a:r>
              <a:endParaRPr lang="en-US" dirty="0">
                <a:solidFill>
                  <a:srgbClr val="5E5C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8" name="Shape 14"/>
            <p:cNvSpPr/>
            <p:nvPr/>
          </p:nvSpPr>
          <p:spPr>
            <a:xfrm>
              <a:off x="9864" y="4637"/>
              <a:ext cx="8640" cy="2333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 w="10160">
              <a:solidFill>
                <a:srgbClr val="D8D5CC"/>
              </a:solidFill>
              <a:prstDash val="solid"/>
            </a:ln>
          </p:spPr>
        </p:sp>
        <p:sp>
          <p:nvSpPr>
            <p:cNvPr id="19" name="Shape 15"/>
            <p:cNvSpPr/>
            <p:nvPr/>
          </p:nvSpPr>
          <p:spPr>
            <a:xfrm>
              <a:off x="9864" y="4637"/>
              <a:ext cx="8640" cy="0"/>
            </a:xfrm>
            <a:prstGeom prst="line">
              <a:avLst/>
            </a:prstGeom>
            <a:noFill/>
            <a:ln w="19050">
              <a:solidFill>
                <a:srgbClr val="17191C"/>
              </a:solidFill>
              <a:prstDash val="solid"/>
            </a:ln>
          </p:spPr>
        </p:sp>
        <p:sp>
          <p:nvSpPr>
            <p:cNvPr id="20" name="Text 16"/>
            <p:cNvSpPr/>
            <p:nvPr/>
          </p:nvSpPr>
          <p:spPr>
            <a:xfrm>
              <a:off x="10296" y="5112"/>
              <a:ext cx="36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 b="1" kern="0" spc="150" dirty="0">
                  <a:solidFill>
                    <a:srgbClr val="8B887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02</a:t>
              </a:r>
              <a:endParaRPr lang="en-US" sz="1400" b="1" kern="0" spc="150" dirty="0">
                <a:solidFill>
                  <a:srgbClr val="8B88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1" name="Text 17"/>
            <p:cNvSpPr/>
            <p:nvPr/>
          </p:nvSpPr>
          <p:spPr>
            <a:xfrm>
              <a:off x="10757" y="5026"/>
              <a:ext cx="662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7191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监护可控</a:t>
              </a:r>
              <a:endParaRPr lang="en-US" sz="28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2" name="Text 18"/>
            <p:cNvSpPr/>
            <p:nvPr/>
          </p:nvSpPr>
          <p:spPr>
            <a:xfrm>
              <a:off x="10296" y="5674"/>
              <a:ext cx="77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内置监护同意流程、使用时长限制、消费额度控制与现实提醒机制，监护人可查可管可停。</a:t>
              </a:r>
              <a:endParaRPr lang="en-US" dirty="0">
                <a:solidFill>
                  <a:srgbClr val="5E5C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3" name="Shape 19"/>
            <p:cNvSpPr/>
            <p:nvPr/>
          </p:nvSpPr>
          <p:spPr>
            <a:xfrm>
              <a:off x="720" y="7387"/>
              <a:ext cx="8640" cy="2333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 w="10160">
              <a:solidFill>
                <a:srgbClr val="D8D5CC"/>
              </a:solidFill>
              <a:prstDash val="solid"/>
            </a:ln>
          </p:spPr>
        </p:sp>
        <p:sp>
          <p:nvSpPr>
            <p:cNvPr id="24" name="Shape 20"/>
            <p:cNvSpPr/>
            <p:nvPr/>
          </p:nvSpPr>
          <p:spPr>
            <a:xfrm>
              <a:off x="720" y="7387"/>
              <a:ext cx="8640" cy="0"/>
            </a:xfrm>
            <a:prstGeom prst="line">
              <a:avLst/>
            </a:prstGeom>
            <a:noFill/>
            <a:ln w="19050">
              <a:solidFill>
                <a:srgbClr val="17191C"/>
              </a:solidFill>
              <a:prstDash val="solid"/>
            </a:ln>
          </p:spPr>
        </p:sp>
        <p:sp>
          <p:nvSpPr>
            <p:cNvPr id="25" name="Text 21"/>
            <p:cNvSpPr/>
            <p:nvPr/>
          </p:nvSpPr>
          <p:spPr>
            <a:xfrm>
              <a:off x="1152" y="7862"/>
              <a:ext cx="36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 b="1" kern="0" spc="150" dirty="0">
                  <a:solidFill>
                    <a:srgbClr val="8B887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03</a:t>
              </a:r>
              <a:endParaRPr lang="en-US" sz="1400" b="1" kern="0" spc="150" dirty="0">
                <a:solidFill>
                  <a:srgbClr val="8B88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6" name="Text 22"/>
            <p:cNvSpPr/>
            <p:nvPr/>
          </p:nvSpPr>
          <p:spPr>
            <a:xfrm>
              <a:off x="1613" y="7776"/>
              <a:ext cx="662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7191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内容与角色分级</a:t>
              </a:r>
              <a:endParaRPr lang="en-US" sz="28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7" name="Text 23"/>
            <p:cNvSpPr/>
            <p:nvPr/>
          </p:nvSpPr>
          <p:spPr>
            <a:xfrm>
              <a:off x="1152" y="8424"/>
              <a:ext cx="77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角色人格、关系类型与可触达内容按等级授权，人格一致性模型保证边界不被提示词诱导突破。</a:t>
              </a:r>
              <a:endParaRPr lang="en-US" dirty="0">
                <a:solidFill>
                  <a:srgbClr val="5E5C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8" name="Shape 24"/>
            <p:cNvSpPr/>
            <p:nvPr/>
          </p:nvSpPr>
          <p:spPr>
            <a:xfrm>
              <a:off x="9864" y="7387"/>
              <a:ext cx="8640" cy="2333"/>
            </a:xfrm>
            <a:prstGeom prst="rect">
              <a:avLst/>
            </a:prstGeom>
            <a:solidFill>
              <a:srgbClr val="FBF3E7"/>
            </a:solidFill>
            <a:ln w="10160">
              <a:solidFill>
                <a:srgbClr val="E6B37D"/>
              </a:solidFill>
              <a:prstDash val="solid"/>
            </a:ln>
          </p:spPr>
        </p:sp>
        <p:sp>
          <p:nvSpPr>
            <p:cNvPr id="29" name="Shape 25"/>
            <p:cNvSpPr/>
            <p:nvPr/>
          </p:nvSpPr>
          <p:spPr>
            <a:xfrm>
              <a:off x="9864" y="7387"/>
              <a:ext cx="8640" cy="0"/>
            </a:xfrm>
            <a:prstGeom prst="line">
              <a:avLst/>
            </a:prstGeom>
            <a:noFill/>
            <a:ln w="19050">
              <a:solidFill>
                <a:srgbClr val="C75C0B"/>
              </a:solidFill>
              <a:prstDash val="solid"/>
            </a:ln>
          </p:spPr>
        </p:sp>
        <p:sp>
          <p:nvSpPr>
            <p:cNvPr id="30" name="Text 26"/>
            <p:cNvSpPr/>
            <p:nvPr/>
          </p:nvSpPr>
          <p:spPr>
            <a:xfrm>
              <a:off x="10296" y="7862"/>
              <a:ext cx="36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 b="1" kern="0" spc="150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04</a:t>
              </a:r>
              <a:endParaRPr lang="en-US" sz="1400" b="1" kern="0" spc="150" dirty="0">
                <a:solidFill>
                  <a:srgbClr val="C75C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31" name="Text 27"/>
            <p:cNvSpPr/>
            <p:nvPr/>
          </p:nvSpPr>
          <p:spPr>
            <a:xfrm>
              <a:off x="10757" y="7776"/>
              <a:ext cx="662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7191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风险识别与干预</a:t>
              </a:r>
              <a:endParaRPr lang="en-US" sz="28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32" name="Text 28"/>
            <p:cNvSpPr/>
            <p:nvPr/>
          </p:nvSpPr>
          <p:spPr>
            <a:xfrm>
              <a:off x="10296" y="8424"/>
              <a:ext cx="77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对高风险内容、异常情感依赖与自伤暗示进行识别，执行</a:t>
              </a:r>
              <a:r>
                <a:rPr lang="en-US" b="1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强制降级与干预</a:t>
              </a:r>
              <a:r>
                <a:rPr lang="en-US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，并引导至现实支持资源。</a:t>
              </a:r>
              <a:endParaRPr lang="en-US" dirty="0">
                <a:solidFill>
                  <a:srgbClr val="5E5C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33" name="Shape 29"/>
            <p:cNvSpPr/>
            <p:nvPr/>
          </p:nvSpPr>
          <p:spPr>
            <a:xfrm>
              <a:off x="720" y="9979"/>
              <a:ext cx="17784" cy="0"/>
            </a:xfrm>
            <a:prstGeom prst="line">
              <a:avLst/>
            </a:prstGeom>
            <a:noFill/>
            <a:ln w="7620">
              <a:solidFill>
                <a:srgbClr val="D7D3CA"/>
              </a:solidFill>
              <a:prstDash val="solid"/>
            </a:ln>
          </p:spPr>
        </p:sp>
        <p:sp>
          <p:nvSpPr>
            <p:cNvPr id="34" name="Text 30"/>
            <p:cNvSpPr/>
            <p:nvPr/>
          </p:nvSpPr>
          <p:spPr>
            <a:xfrm>
              <a:off x="720" y="10123"/>
              <a:ext cx="17640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77746D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我们不把合规交给运营侧事后审核，而是将年龄、角色边界、关系权限与风险干预直接写入 MindEngine，让“什么关系可以发生”从系统底层就受到约束。</a:t>
              </a:r>
              <a:endParaRPr lang="en-US" sz="1600" dirty="0">
                <a:solidFill>
                  <a:srgbClr val="7774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35" name="Slide Number Placeholder 0"/>
            <p:cNvSpPr>
              <a:spLocks noGrp="1"/>
            </p:cNvSpPr>
            <p:nvPr/>
          </p:nvSpPr>
          <p:spPr>
            <a:xfrm>
              <a:off x="18000" y="10224"/>
              <a:ext cx="432" cy="288"/>
            </a:xfrm>
            <a:prstGeom prst="rect">
              <a:avLst/>
            </a:prstGeom>
          </p:spPr>
          <p:txBody>
            <a:bodyPr/>
            <a:lstStyle>
              <a:lvl1pPr>
                <a:defRPr sz="700">
                  <a:solidFill>
                    <a:srgbClr val="AAA69C"/>
                  </a:solidFill>
                  <a:latin typeface="Arial" panose="020B0604020202090204"/>
                  <a:ea typeface="Arial" panose="020B0604020202090204"/>
                  <a:cs typeface="Arial" panose="020B0604020202090204"/>
                </a:defRPr>
              </a:lvl1pPr>
            </a:lstStyle>
            <a:p>
              <a:pPr algn="l"/>
              <a:fld id="{F7021451-1387-4CA6-816F-3879F97B5CBC}" type="slidenum">
                <a:rPr lang="en-US" sz="1000" b="0"/>
              </a:fld>
              <a:endParaRPr lang="en-US" sz="1000" b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Box 1"/>
          <p:cNvSpPr txBox="1"/>
          <p:nvPr/>
        </p:nvSpPr>
        <p:spPr>
          <a:xfrm>
            <a:off x="502920" y="384175"/>
            <a:ext cx="2844800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C6A63"/>
                </a:solidFill>
                <a:latin typeface="微软雅黑"/>
              </a:rPr>
              <a:t>商业模式｜RELATIONSHIP ECONOMY</a:t>
            </a:r>
            <a:endParaRPr sz="1400" b="0">
              <a:solidFill>
                <a:srgbClr val="6C6A63"/>
              </a:solidFill>
              <a:latin typeface="微软雅黑"/>
            </a:endParaRPr>
          </a:p>
        </p:txBody>
      </p:sp>
      <p:sp>
        <p:nvSpPr>
          <p:cNvPr id="46" name="TextBox 2"/>
          <p:cNvSpPr txBox="1"/>
          <p:nvPr/>
        </p:nvSpPr>
        <p:spPr>
          <a:xfrm>
            <a:off x="502920" y="815975"/>
            <a:ext cx="16927830" cy="553085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sz="36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先让关系发生，再让关系创造价值</a:t>
            </a:r>
            <a:endParaRPr lang="en-US" sz="360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  <a:sym typeface="+mn-ea"/>
            </a:endParaRPr>
          </a:p>
        </p:txBody>
      </p:sp>
      <p:sp>
        <p:nvSpPr>
          <p:cNvPr id="47" name="TextBox 3"/>
          <p:cNvSpPr txBox="1"/>
          <p:nvPr/>
        </p:nvSpPr>
        <p:spPr>
          <a:xfrm>
            <a:off x="502920" y="1577975"/>
            <a:ext cx="17070070" cy="307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6C6A63"/>
                </a:solidFill>
                <a:latin typeface="微软雅黑"/>
              </a:rPr>
              <a:t>首次领养免费；关系加深后，从深度体验、关系表达走向</a:t>
            </a:r>
            <a:r>
              <a:rPr lang="zh-CN" sz="2000" b="0">
                <a:solidFill>
                  <a:srgbClr val="6C6A63"/>
                </a:solidFill>
                <a:latin typeface="微软雅黑"/>
              </a:rPr>
              <a:t>硬件</a:t>
            </a:r>
            <a:r>
              <a:rPr sz="2000" b="0">
                <a:solidFill>
                  <a:srgbClr val="6C6A63"/>
                </a:solidFill>
                <a:latin typeface="微软雅黑"/>
              </a:rPr>
              <a:t>载体，持续提升用户 LTV</a:t>
            </a:r>
            <a:endParaRPr sz="2000" b="0">
              <a:solidFill>
                <a:srgbClr val="6C6A63"/>
              </a:solidFill>
              <a:latin typeface="微软雅黑"/>
            </a:endParaRPr>
          </a:p>
        </p:txBody>
      </p:sp>
      <p:cxnSp>
        <p:nvCxnSpPr>
          <p:cNvPr id="48" name="Connector 4"/>
          <p:cNvCxnSpPr/>
          <p:nvPr/>
        </p:nvCxnSpPr>
        <p:spPr>
          <a:xfrm>
            <a:off x="502920" y="2253615"/>
            <a:ext cx="17425670" cy="0"/>
          </a:xfrm>
          <a:prstGeom prst="line">
            <a:avLst/>
          </a:prstGeom>
          <a:ln w="8890">
            <a:solidFill>
              <a:srgbClr val="1C1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5"/>
          <p:cNvSpPr txBox="1"/>
          <p:nvPr/>
        </p:nvSpPr>
        <p:spPr>
          <a:xfrm>
            <a:off x="502920" y="2627630"/>
            <a:ext cx="7112635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54E00"/>
                </a:solidFill>
                <a:latin typeface="微软雅黑"/>
              </a:rPr>
              <a:t>关系价值阶梯 · </a:t>
            </a:r>
            <a:r>
              <a:rPr lang="zh-CN" sz="1400" b="1">
                <a:solidFill>
                  <a:srgbClr val="C54E00"/>
                </a:solidFill>
                <a:latin typeface="微软雅黑"/>
              </a:rPr>
              <a:t>如何</a:t>
            </a:r>
            <a:r>
              <a:rPr lang="zh-CN" sz="1400" b="1">
                <a:solidFill>
                  <a:srgbClr val="C54E00"/>
                </a:solidFill>
                <a:latin typeface="微软雅黑"/>
              </a:rPr>
              <a:t>赚钱</a:t>
            </a:r>
            <a:endParaRPr lang="zh-CN" sz="1400" b="1">
              <a:solidFill>
                <a:srgbClr val="C54E00"/>
              </a:solidFill>
              <a:latin typeface="微软雅黑"/>
            </a:endParaRPr>
          </a:p>
        </p:txBody>
      </p:sp>
      <p:sp>
        <p:nvSpPr>
          <p:cNvPr id="50" name="TextBox 6"/>
          <p:cNvSpPr txBox="1"/>
          <p:nvPr/>
        </p:nvSpPr>
        <p:spPr>
          <a:xfrm>
            <a:off x="9464675" y="2627630"/>
            <a:ext cx="7539355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6C6A63"/>
                </a:solidFill>
                <a:latin typeface="微软雅黑"/>
              </a:rPr>
              <a:t>模式差异 · PROGRESSION → RELATIONSHIP</a:t>
            </a:r>
            <a:endParaRPr sz="1400" b="1">
              <a:solidFill>
                <a:srgbClr val="6C6A63"/>
              </a:solidFill>
              <a:latin typeface="微软雅黑"/>
            </a:endParaRPr>
          </a:p>
        </p:txBody>
      </p:sp>
      <p:cxnSp>
        <p:nvCxnSpPr>
          <p:cNvPr id="51" name="Connector 7"/>
          <p:cNvCxnSpPr/>
          <p:nvPr/>
        </p:nvCxnSpPr>
        <p:spPr>
          <a:xfrm>
            <a:off x="9037955" y="2656840"/>
            <a:ext cx="0" cy="7120255"/>
          </a:xfrm>
          <a:prstGeom prst="line">
            <a:avLst/>
          </a:prstGeom>
          <a:ln w="8890">
            <a:solidFill>
              <a:srgbClr val="CDCA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33"/>
          <p:cNvSpPr txBox="1"/>
          <p:nvPr/>
        </p:nvSpPr>
        <p:spPr>
          <a:xfrm>
            <a:off x="9464675" y="3059430"/>
            <a:ext cx="3911600" cy="307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C1D1F"/>
                </a:solidFill>
                <a:latin typeface="微软雅黑"/>
              </a:rPr>
              <a:t>传统电子宠物 / 养成游戏</a:t>
            </a:r>
            <a:endParaRPr sz="2000" b="1">
              <a:solidFill>
                <a:srgbClr val="1C1D1F"/>
              </a:solidFill>
              <a:latin typeface="微软雅黑"/>
            </a:endParaRPr>
          </a:p>
        </p:txBody>
      </p:sp>
      <p:sp>
        <p:nvSpPr>
          <p:cNvPr id="78" name="TextBox 34"/>
          <p:cNvSpPr txBox="1"/>
          <p:nvPr/>
        </p:nvSpPr>
        <p:spPr>
          <a:xfrm>
            <a:off x="13803630" y="3059430"/>
            <a:ext cx="3911600" cy="307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C54E00"/>
                </a:solidFill>
                <a:latin typeface="微软雅黑"/>
              </a:rPr>
              <a:t>疯狂宠物城</a:t>
            </a:r>
            <a:endParaRPr sz="2000" b="1">
              <a:solidFill>
                <a:srgbClr val="C54E00"/>
              </a:solidFill>
              <a:latin typeface="微软雅黑"/>
            </a:endParaRPr>
          </a:p>
        </p:txBody>
      </p:sp>
      <p:sp>
        <p:nvSpPr>
          <p:cNvPr id="79" name="TextBox 35"/>
          <p:cNvSpPr txBox="1"/>
          <p:nvPr/>
        </p:nvSpPr>
        <p:spPr>
          <a:xfrm>
            <a:off x="9464675" y="3548380"/>
            <a:ext cx="39116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6C6A63"/>
                </a:solidFill>
                <a:latin typeface="微软雅黑"/>
              </a:rPr>
              <a:t>CONTENT / PROGRESSION ECONOMY</a:t>
            </a:r>
            <a:endParaRPr sz="1400" b="1">
              <a:solidFill>
                <a:srgbClr val="6C6A63"/>
              </a:solidFill>
              <a:latin typeface="微软雅黑"/>
            </a:endParaRPr>
          </a:p>
        </p:txBody>
      </p:sp>
      <p:sp>
        <p:nvSpPr>
          <p:cNvPr id="80" name="TextBox 36"/>
          <p:cNvSpPr txBox="1"/>
          <p:nvPr/>
        </p:nvSpPr>
        <p:spPr>
          <a:xfrm>
            <a:off x="13803630" y="3548380"/>
            <a:ext cx="39116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54E00"/>
                </a:solidFill>
                <a:latin typeface="微软雅黑"/>
              </a:rPr>
              <a:t>RELATIONSHIP ECONOMY</a:t>
            </a:r>
            <a:endParaRPr sz="1400" b="1">
              <a:solidFill>
                <a:srgbClr val="C54E00"/>
              </a:solidFill>
              <a:latin typeface="微软雅黑"/>
            </a:endParaRPr>
          </a:p>
        </p:txBody>
      </p:sp>
      <p:sp>
        <p:nvSpPr>
          <p:cNvPr id="81" name="Rectangle 37"/>
          <p:cNvSpPr/>
          <p:nvPr/>
        </p:nvSpPr>
        <p:spPr>
          <a:xfrm>
            <a:off x="9464675" y="4023360"/>
            <a:ext cx="3869055" cy="1840865"/>
          </a:xfrm>
          <a:prstGeom prst="rect">
            <a:avLst/>
          </a:prstGeom>
          <a:solidFill>
            <a:srgbClr val="FFFFFF"/>
          </a:solidFill>
          <a:ln w="10160">
            <a:solidFill>
              <a:srgbClr val="CDC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2" name="Rectangle 38"/>
          <p:cNvSpPr/>
          <p:nvPr/>
        </p:nvSpPr>
        <p:spPr>
          <a:xfrm>
            <a:off x="13803630" y="4023360"/>
            <a:ext cx="3869055" cy="1840865"/>
          </a:xfrm>
          <a:prstGeom prst="rect">
            <a:avLst/>
          </a:prstGeom>
          <a:solidFill>
            <a:srgbClr val="F4EEE4"/>
          </a:solidFill>
          <a:ln w="11430">
            <a:solidFill>
              <a:srgbClr val="C54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3" name="TextBox 39"/>
          <p:cNvSpPr txBox="1"/>
          <p:nvPr/>
        </p:nvSpPr>
        <p:spPr>
          <a:xfrm>
            <a:off x="9720580" y="4594225"/>
            <a:ext cx="3342640" cy="5530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>
                <a:solidFill>
                  <a:srgbClr val="6C6A63"/>
                </a:solidFill>
                <a:latin typeface="微软雅黑"/>
              </a:rPr>
              <a:t>内容 → 养成 → 等级 / 收藏
→ 消费 / 解锁 → 新内容</a:t>
            </a:r>
            <a:endParaRPr b="1">
              <a:solidFill>
                <a:srgbClr val="6C6A63"/>
              </a:solidFill>
              <a:latin typeface="微软雅黑"/>
            </a:endParaRPr>
          </a:p>
        </p:txBody>
      </p:sp>
      <p:sp>
        <p:nvSpPr>
          <p:cNvPr id="84" name="TextBox 40"/>
          <p:cNvSpPr txBox="1"/>
          <p:nvPr/>
        </p:nvSpPr>
        <p:spPr>
          <a:xfrm>
            <a:off x="14058900" y="4594225"/>
            <a:ext cx="3342640" cy="5530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>
                <a:solidFill>
                  <a:srgbClr val="1C1D1F"/>
                </a:solidFill>
                <a:latin typeface="微软雅黑"/>
              </a:rPr>
              <a:t>经历 → 记忆 → 关系
→ 表达 → 新的共同经历</a:t>
            </a:r>
            <a:endParaRPr b="1">
              <a:solidFill>
                <a:srgbClr val="1C1D1F"/>
              </a:solidFill>
              <a:latin typeface="微软雅黑"/>
            </a:endParaRPr>
          </a:p>
        </p:txBody>
      </p:sp>
      <p:cxnSp>
        <p:nvCxnSpPr>
          <p:cNvPr id="85" name="Connector 41"/>
          <p:cNvCxnSpPr/>
          <p:nvPr/>
        </p:nvCxnSpPr>
        <p:spPr>
          <a:xfrm>
            <a:off x="9464675" y="6784975"/>
            <a:ext cx="8221980" cy="0"/>
          </a:xfrm>
          <a:prstGeom prst="line">
            <a:avLst/>
          </a:prstGeom>
          <a:ln w="5715">
            <a:solidFill>
              <a:srgbClr val="CDCA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42"/>
          <p:cNvSpPr txBox="1"/>
          <p:nvPr/>
        </p:nvSpPr>
        <p:spPr>
          <a:xfrm>
            <a:off x="9464675" y="6223635"/>
            <a:ext cx="1109345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6C6A63"/>
                </a:solidFill>
                <a:latin typeface="微软雅黑"/>
              </a:rPr>
              <a:t>核心资产</a:t>
            </a:r>
            <a:endParaRPr sz="1400" b="1">
              <a:solidFill>
                <a:srgbClr val="6C6A63"/>
              </a:solidFill>
              <a:latin typeface="微软雅黑"/>
            </a:endParaRPr>
          </a:p>
        </p:txBody>
      </p:sp>
      <p:sp>
        <p:nvSpPr>
          <p:cNvPr id="87" name="TextBox 43"/>
          <p:cNvSpPr txBox="1"/>
          <p:nvPr/>
        </p:nvSpPr>
        <p:spPr>
          <a:xfrm>
            <a:off x="10716260" y="6223635"/>
            <a:ext cx="263144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C6A63"/>
                </a:solidFill>
                <a:latin typeface="微软雅黑"/>
              </a:rPr>
              <a:t>等级 · 道具 · 收藏</a:t>
            </a:r>
            <a:endParaRPr sz="1400" b="0">
              <a:solidFill>
                <a:srgbClr val="6C6A63"/>
              </a:solidFill>
              <a:latin typeface="微软雅黑"/>
            </a:endParaRPr>
          </a:p>
        </p:txBody>
      </p:sp>
      <p:sp>
        <p:nvSpPr>
          <p:cNvPr id="88" name="TextBox 44"/>
          <p:cNvSpPr txBox="1"/>
          <p:nvPr/>
        </p:nvSpPr>
        <p:spPr>
          <a:xfrm>
            <a:off x="13803630" y="6223635"/>
            <a:ext cx="386969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54E00"/>
                </a:solidFill>
                <a:latin typeface="微软雅黑"/>
              </a:rPr>
              <a:t>共同历史 · 关系 · Pet 人生</a:t>
            </a:r>
            <a:endParaRPr sz="1400" b="1">
              <a:solidFill>
                <a:srgbClr val="C54E00"/>
              </a:solidFill>
              <a:latin typeface="微软雅黑"/>
            </a:endParaRPr>
          </a:p>
        </p:txBody>
      </p:sp>
      <p:cxnSp>
        <p:nvCxnSpPr>
          <p:cNvPr id="89" name="Connector 45"/>
          <p:cNvCxnSpPr/>
          <p:nvPr/>
        </p:nvCxnSpPr>
        <p:spPr>
          <a:xfrm>
            <a:off x="9464675" y="7461250"/>
            <a:ext cx="8221980" cy="0"/>
          </a:xfrm>
          <a:prstGeom prst="line">
            <a:avLst/>
          </a:prstGeom>
          <a:ln w="5715">
            <a:solidFill>
              <a:srgbClr val="CDCA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46"/>
          <p:cNvSpPr txBox="1"/>
          <p:nvPr/>
        </p:nvSpPr>
        <p:spPr>
          <a:xfrm>
            <a:off x="9464675" y="6899910"/>
            <a:ext cx="1109345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6C6A63"/>
                </a:solidFill>
                <a:latin typeface="微软雅黑"/>
              </a:rPr>
              <a:t>成长关系</a:t>
            </a:r>
            <a:endParaRPr sz="1400" b="1">
              <a:solidFill>
                <a:srgbClr val="6C6A63"/>
              </a:solidFill>
              <a:latin typeface="微软雅黑"/>
            </a:endParaRPr>
          </a:p>
        </p:txBody>
      </p:sp>
      <p:sp>
        <p:nvSpPr>
          <p:cNvPr id="91" name="TextBox 47"/>
          <p:cNvSpPr txBox="1"/>
          <p:nvPr/>
        </p:nvSpPr>
        <p:spPr>
          <a:xfrm>
            <a:off x="10716260" y="6899910"/>
            <a:ext cx="263144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C6A63"/>
                </a:solidFill>
                <a:latin typeface="微软雅黑"/>
              </a:rPr>
              <a:t>User → Pet</a:t>
            </a:r>
            <a:endParaRPr sz="1400" b="0">
              <a:solidFill>
                <a:srgbClr val="6C6A63"/>
              </a:solidFill>
              <a:latin typeface="微软雅黑"/>
            </a:endParaRPr>
          </a:p>
        </p:txBody>
      </p:sp>
      <p:sp>
        <p:nvSpPr>
          <p:cNvPr id="92" name="TextBox 48"/>
          <p:cNvSpPr txBox="1"/>
          <p:nvPr/>
        </p:nvSpPr>
        <p:spPr>
          <a:xfrm>
            <a:off x="13803630" y="6899910"/>
            <a:ext cx="386969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C1D1F"/>
                </a:solidFill>
                <a:latin typeface="微软雅黑"/>
              </a:rPr>
              <a:t>User ↔ Pet ↔ World</a:t>
            </a:r>
            <a:endParaRPr sz="1400" b="0">
              <a:solidFill>
                <a:srgbClr val="1C1D1F"/>
              </a:solidFill>
              <a:latin typeface="微软雅黑"/>
            </a:endParaRPr>
          </a:p>
        </p:txBody>
      </p:sp>
      <p:cxnSp>
        <p:nvCxnSpPr>
          <p:cNvPr id="93" name="Connector 49"/>
          <p:cNvCxnSpPr/>
          <p:nvPr/>
        </p:nvCxnSpPr>
        <p:spPr>
          <a:xfrm>
            <a:off x="9464675" y="8136890"/>
            <a:ext cx="8221980" cy="0"/>
          </a:xfrm>
          <a:prstGeom prst="line">
            <a:avLst/>
          </a:prstGeom>
          <a:ln w="5715">
            <a:solidFill>
              <a:srgbClr val="CDCA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50"/>
          <p:cNvSpPr txBox="1"/>
          <p:nvPr/>
        </p:nvSpPr>
        <p:spPr>
          <a:xfrm>
            <a:off x="9464675" y="7576185"/>
            <a:ext cx="1109345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6C6A63"/>
                </a:solidFill>
                <a:latin typeface="微软雅黑"/>
              </a:rPr>
              <a:t>用户离线</a:t>
            </a:r>
            <a:endParaRPr sz="1400" b="1">
              <a:solidFill>
                <a:srgbClr val="6C6A63"/>
              </a:solidFill>
              <a:latin typeface="微软雅黑"/>
            </a:endParaRPr>
          </a:p>
        </p:txBody>
      </p:sp>
      <p:sp>
        <p:nvSpPr>
          <p:cNvPr id="95" name="TextBox 51"/>
          <p:cNvSpPr txBox="1"/>
          <p:nvPr/>
        </p:nvSpPr>
        <p:spPr>
          <a:xfrm>
            <a:off x="10716260" y="7576185"/>
            <a:ext cx="263144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C6A63"/>
                </a:solidFill>
                <a:latin typeface="微软雅黑"/>
              </a:rPr>
              <a:t>暂停 / 离线结算</a:t>
            </a:r>
            <a:endParaRPr sz="1400" b="0">
              <a:solidFill>
                <a:srgbClr val="6C6A63"/>
              </a:solidFill>
              <a:latin typeface="微软雅黑"/>
            </a:endParaRPr>
          </a:p>
        </p:txBody>
      </p:sp>
      <p:sp>
        <p:nvSpPr>
          <p:cNvPr id="96" name="TextBox 52"/>
          <p:cNvSpPr txBox="1"/>
          <p:nvPr/>
        </p:nvSpPr>
        <p:spPr>
          <a:xfrm>
            <a:off x="13803630" y="7576185"/>
            <a:ext cx="386969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C1D1F"/>
                </a:solidFill>
                <a:latin typeface="微软雅黑"/>
              </a:rPr>
              <a:t>Pet 继续生活、产生经历</a:t>
            </a:r>
            <a:endParaRPr sz="1400" b="0">
              <a:solidFill>
                <a:srgbClr val="1C1D1F"/>
              </a:solidFill>
              <a:latin typeface="微软雅黑"/>
            </a:endParaRPr>
          </a:p>
        </p:txBody>
      </p:sp>
      <p:cxnSp>
        <p:nvCxnSpPr>
          <p:cNvPr id="97" name="Connector 53"/>
          <p:cNvCxnSpPr/>
          <p:nvPr/>
        </p:nvCxnSpPr>
        <p:spPr>
          <a:xfrm>
            <a:off x="9464675" y="8813165"/>
            <a:ext cx="8221980" cy="0"/>
          </a:xfrm>
          <a:prstGeom prst="line">
            <a:avLst/>
          </a:prstGeom>
          <a:ln w="5715">
            <a:solidFill>
              <a:srgbClr val="CDCA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54"/>
          <p:cNvSpPr txBox="1"/>
          <p:nvPr/>
        </p:nvSpPr>
        <p:spPr>
          <a:xfrm>
            <a:off x="9464675" y="8252460"/>
            <a:ext cx="1109345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6C6A63"/>
                </a:solidFill>
                <a:latin typeface="微软雅黑"/>
              </a:rPr>
              <a:t>硬件逻辑</a:t>
            </a:r>
            <a:endParaRPr sz="1400" b="1">
              <a:solidFill>
                <a:srgbClr val="6C6A63"/>
              </a:solidFill>
              <a:latin typeface="微软雅黑"/>
            </a:endParaRPr>
          </a:p>
        </p:txBody>
      </p:sp>
      <p:sp>
        <p:nvSpPr>
          <p:cNvPr id="99" name="TextBox 55"/>
          <p:cNvSpPr txBox="1"/>
          <p:nvPr/>
        </p:nvSpPr>
        <p:spPr>
          <a:xfrm>
            <a:off x="10716260" y="8252460"/>
            <a:ext cx="263144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C6A63"/>
                </a:solidFill>
                <a:latin typeface="微软雅黑"/>
              </a:rPr>
              <a:t>Hardware → Relationship</a:t>
            </a:r>
            <a:endParaRPr sz="1400" b="0">
              <a:solidFill>
                <a:srgbClr val="6C6A63"/>
              </a:solidFill>
              <a:latin typeface="微软雅黑"/>
            </a:endParaRPr>
          </a:p>
        </p:txBody>
      </p:sp>
      <p:sp>
        <p:nvSpPr>
          <p:cNvPr id="100" name="TextBox 56"/>
          <p:cNvSpPr txBox="1"/>
          <p:nvPr/>
        </p:nvSpPr>
        <p:spPr>
          <a:xfrm>
            <a:off x="13803630" y="8252460"/>
            <a:ext cx="386969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54E00"/>
                </a:solidFill>
                <a:latin typeface="微软雅黑"/>
              </a:rPr>
              <a:t>Relationship → Hardware</a:t>
            </a:r>
            <a:endParaRPr sz="1400" b="1">
              <a:solidFill>
                <a:srgbClr val="C54E00"/>
              </a:solidFill>
              <a:latin typeface="微软雅黑"/>
            </a:endParaRPr>
          </a:p>
        </p:txBody>
      </p:sp>
      <p:sp>
        <p:nvSpPr>
          <p:cNvPr id="101" name="Rectangle 57"/>
          <p:cNvSpPr/>
          <p:nvPr/>
        </p:nvSpPr>
        <p:spPr>
          <a:xfrm>
            <a:off x="9464675" y="9014460"/>
            <a:ext cx="8221980" cy="762635"/>
          </a:xfrm>
          <a:prstGeom prst="rect">
            <a:avLst/>
          </a:prstGeom>
          <a:solidFill>
            <a:srgbClr val="F4EEE4"/>
          </a:solidFill>
          <a:ln w="8890">
            <a:solidFill>
              <a:srgbClr val="C54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2" name="TextBox 58"/>
          <p:cNvSpPr txBox="1"/>
          <p:nvPr/>
        </p:nvSpPr>
        <p:spPr>
          <a:xfrm>
            <a:off x="9749155" y="9158605"/>
            <a:ext cx="76530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C1D1F"/>
                </a:solidFill>
                <a:latin typeface="微软雅黑"/>
              </a:rPr>
              <a:t>内容负责让新的事情发生，关系负责让发生过的事情越来越有价值。</a:t>
            </a:r>
            <a:endParaRPr sz="1600" b="1">
              <a:solidFill>
                <a:srgbClr val="1C1D1F"/>
              </a:solidFill>
              <a:latin typeface="微软雅黑"/>
            </a:endParaRPr>
          </a:p>
        </p:txBody>
      </p:sp>
      <p:sp>
        <p:nvSpPr>
          <p:cNvPr id="103" name="TextBox 59"/>
          <p:cNvSpPr txBox="1"/>
          <p:nvPr/>
        </p:nvSpPr>
        <p:spPr>
          <a:xfrm>
            <a:off x="756920" y="9404350"/>
            <a:ext cx="1742567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6C6A63"/>
                </a:solidFill>
                <a:latin typeface="Arial" panose="020B0604020202090204" pitchFamily="34" charset="0"/>
              </a:rPr>
              <a:t>先最大化关系形成率，再围绕关系深度实现持续商业化。</a:t>
            </a:r>
            <a:endParaRPr sz="1600" b="1">
              <a:solidFill>
                <a:srgbClr val="6C6A63"/>
              </a:solidFill>
              <a:latin typeface="Arial" panose="020B0604020202090204" pitchFamily="34" charset="0"/>
            </a:endParaRPr>
          </a:p>
        </p:txBody>
      </p:sp>
      <p:pic>
        <p:nvPicPr>
          <p:cNvPr id="106" name="图片 1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150" y="6301740"/>
            <a:ext cx="5083810" cy="2884170"/>
          </a:xfrm>
          <a:prstGeom prst="rect">
            <a:avLst/>
          </a:prstGeom>
        </p:spPr>
      </p:pic>
      <p:pic>
        <p:nvPicPr>
          <p:cNvPr id="107" name="图片 1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920" y="2921635"/>
            <a:ext cx="7454900" cy="330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商业模式</a:t>
            </a:r>
            <a:endParaRPr lang="en-US" sz="1125" dirty="0"/>
          </a:p>
        </p:txBody>
      </p:sp>
      <p:sp>
        <p:nvSpPr>
          <p:cNvPr id="35" name="Text 25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从关系建立道现实陪伴的价值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阶梯</a:t>
            </a:r>
            <a:endParaRPr lang="zh-CN" altLang="en-US" sz="345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36" name="Text 26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免费领养</a:t>
            </a:r>
            <a:r>
              <a:rPr lang="en-US" altLang="zh-CN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r>
              <a:rPr lang="zh-CN" alt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付费</a:t>
            </a: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订阅、虚拟消费、内容衍生、硬件销售，构建多层收入结构</a:t>
            </a:r>
            <a:endParaRPr lang="en-US" sz="1725" dirty="0"/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2800985"/>
            <a:ext cx="16332835" cy="5052695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5050" y="8208645"/>
            <a:ext cx="13677900" cy="812800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9220200"/>
            <a:ext cx="17246600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38098" y="3181198"/>
            <a:ext cx="4972507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657746" y="3181198"/>
            <a:ext cx="4972507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2077395" y="3181198"/>
            <a:ext cx="4972507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238098" y="8248802"/>
            <a:ext cx="15811805" cy="1086307"/>
          </a:xfrm>
          <a:prstGeom prst="rect">
            <a:avLst/>
          </a:prstGeom>
          <a:solidFill>
            <a:srgbClr val="F1F1EB"/>
          </a:solidFill>
        </p:spPr>
      </p:sp>
      <p:sp>
        <p:nvSpPr>
          <p:cNvPr id="9" name="Shape 5"/>
          <p:cNvSpPr/>
          <p:nvPr/>
        </p:nvSpPr>
        <p:spPr>
          <a:xfrm>
            <a:off x="1238098" y="8248802"/>
            <a:ext cx="28346" cy="1086307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>
                <a:alpha val="0"/>
              </a:srgbClr>
            </a:solidFill>
            <a:prstDash val="solid"/>
          </a:ln>
        </p:spPr>
      </p:sp>
      <p:pic>
        <p:nvPicPr>
          <p:cNvPr id="10" name="Image 2" descr="gen-dedup-ab77413bf1d788d088fa0f7af44c58e7.png"/>
          <p:cNvPicPr>
            <a:picLocks noChangeAspect="1"/>
          </p:cNvPicPr>
          <p:nvPr/>
        </p:nvPicPr>
        <p:blipFill>
          <a:blip r:embed="rId3"/>
          <a:srcRect l="-409" r="-409"/>
          <a:stretch>
            <a:fillRect/>
          </a:stretch>
        </p:blipFill>
        <p:spPr>
          <a:xfrm>
            <a:off x="1238098" y="3181198"/>
            <a:ext cx="4972507" cy="2834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657807" y="3696005"/>
            <a:ext cx="990295" cy="990295"/>
          </a:xfrm>
          <a:prstGeom prst="rect">
            <a:avLst/>
          </a:prstGeom>
          <a:solidFill>
            <a:srgbClr val="F1F1EB"/>
          </a:solidFill>
          <a:ln w="12700">
            <a:solidFill>
              <a:srgbClr val="C2C2B6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2009851" y="3933749"/>
            <a:ext cx="304495" cy="304495"/>
          </a:xfrm>
          <a:prstGeom prst="ellipse">
            <a:avLst/>
          </a:prstGeom>
          <a:noFill/>
          <a:ln w="12700">
            <a:solidFill>
              <a:srgbClr val="9A9A8E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876349" y="4315054"/>
            <a:ext cx="571500" cy="247802"/>
          </a:xfrm>
          <a:prstGeom prst="roundRect">
            <a:avLst>
              <a:gd name="adj" fmla="val 49816"/>
            </a:avLst>
          </a:prstGeom>
          <a:noFill/>
          <a:ln w="12700">
            <a:solidFill>
              <a:srgbClr val="9A9A8E"/>
            </a:solidFill>
            <a:prstDash val="solid"/>
          </a:ln>
        </p:spPr>
      </p:sp>
      <p:pic>
        <p:nvPicPr>
          <p:cNvPr id="14" name="Image 3" descr="gen-dedup-ab77413bf1d788d088fa0f7af44c58e7.png"/>
          <p:cNvPicPr>
            <a:picLocks noChangeAspect="1"/>
          </p:cNvPicPr>
          <p:nvPr/>
        </p:nvPicPr>
        <p:blipFill>
          <a:blip r:embed="rId3"/>
          <a:srcRect l="-409" r="-409"/>
          <a:stretch>
            <a:fillRect/>
          </a:stretch>
        </p:blipFill>
        <p:spPr>
          <a:xfrm>
            <a:off x="6657746" y="3181198"/>
            <a:ext cx="4972507" cy="28346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077456" y="3696005"/>
            <a:ext cx="990295" cy="990295"/>
          </a:xfrm>
          <a:prstGeom prst="rect">
            <a:avLst/>
          </a:prstGeom>
          <a:solidFill>
            <a:srgbClr val="F1F1EB"/>
          </a:solidFill>
          <a:ln w="12700">
            <a:solidFill>
              <a:srgbClr val="C2C2B6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429500" y="3933749"/>
            <a:ext cx="304495" cy="304495"/>
          </a:xfrm>
          <a:prstGeom prst="ellipse">
            <a:avLst/>
          </a:prstGeom>
          <a:noFill/>
          <a:ln w="12700">
            <a:solidFill>
              <a:srgbClr val="9A9A8E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295998" y="4315054"/>
            <a:ext cx="571500" cy="247802"/>
          </a:xfrm>
          <a:prstGeom prst="roundRect">
            <a:avLst>
              <a:gd name="adj" fmla="val 49816"/>
            </a:avLst>
          </a:prstGeom>
          <a:noFill/>
          <a:ln w="12700">
            <a:solidFill>
              <a:srgbClr val="9A9A8E"/>
            </a:solidFill>
            <a:prstDash val="solid"/>
          </a:ln>
        </p:spPr>
      </p:sp>
      <p:pic>
        <p:nvPicPr>
          <p:cNvPr id="18" name="Image 4" descr="gen-dedup-d75b28c3872631fc56e93fd353f52260.png"/>
          <p:cNvPicPr>
            <a:picLocks noChangeAspect="1"/>
          </p:cNvPicPr>
          <p:nvPr/>
        </p:nvPicPr>
        <p:blipFill>
          <a:blip r:embed="rId4"/>
          <a:srcRect l="-409" r="-409"/>
          <a:stretch>
            <a:fillRect/>
          </a:stretch>
        </p:blipFill>
        <p:spPr>
          <a:xfrm>
            <a:off x="12077395" y="3181198"/>
            <a:ext cx="4972507" cy="28346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12497105" y="3696005"/>
            <a:ext cx="990295" cy="990295"/>
          </a:xfrm>
          <a:prstGeom prst="rect">
            <a:avLst/>
          </a:prstGeom>
          <a:solidFill>
            <a:srgbClr val="FBF3E9"/>
          </a:solidFill>
          <a:ln w="12700">
            <a:solidFill>
              <a:srgbClr val="DBB183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12849149" y="3933749"/>
            <a:ext cx="304495" cy="304495"/>
          </a:xfrm>
          <a:prstGeom prst="ellipse">
            <a:avLst/>
          </a:prstGeom>
          <a:noFill/>
          <a:ln w="12700">
            <a:solidFill>
              <a:srgbClr val="C79A5E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12715646" y="4315054"/>
            <a:ext cx="571500" cy="247802"/>
          </a:xfrm>
          <a:prstGeom prst="roundRect">
            <a:avLst>
              <a:gd name="adj" fmla="val 49816"/>
            </a:avLst>
          </a:prstGeom>
          <a:noFill/>
          <a:ln w="12700">
            <a:solidFill>
              <a:srgbClr val="C79A5E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团队</a:t>
            </a:r>
            <a:endParaRPr lang="en-US" sz="1125" dirty="0"/>
          </a:p>
        </p:txBody>
      </p:sp>
      <p:sp>
        <p:nvSpPr>
          <p:cNvPr id="23" name="Text 16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兼具AI、教育与硬件能力的复合型团队</a:t>
            </a:r>
            <a:endParaRPr lang="en-US" sz="3450" dirty="0"/>
          </a:p>
        </p:txBody>
      </p:sp>
      <p:sp>
        <p:nvSpPr>
          <p:cNvPr id="24" name="Text 17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围绕关系型AI产品搭建完整能力结构，项目已完成第一阶段 prototype demo</a:t>
            </a:r>
            <a:endParaRPr lang="en-US" sz="1725" dirty="0"/>
          </a:p>
        </p:txBody>
      </p:sp>
      <p:sp>
        <p:nvSpPr>
          <p:cNvPr id="25" name="Text 18"/>
          <p:cNvSpPr txBox="1"/>
          <p:nvPr/>
        </p:nvSpPr>
        <p:spPr>
          <a:xfrm>
            <a:off x="1657807" y="5048402"/>
            <a:ext cx="413400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CEO</a:t>
            </a:r>
            <a:endParaRPr lang="en-US" sz="1125" dirty="0"/>
          </a:p>
        </p:txBody>
      </p:sp>
      <p:sp>
        <p:nvSpPr>
          <p:cNvPr id="26" name="Text 19"/>
          <p:cNvSpPr txBox="1"/>
          <p:nvPr/>
        </p:nvSpPr>
        <p:spPr>
          <a:xfrm>
            <a:off x="1657807" y="5362956"/>
            <a:ext cx="413400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AI产品专家</a:t>
            </a:r>
            <a:endParaRPr lang="en-US" sz="2100" dirty="0"/>
          </a:p>
        </p:txBody>
      </p:sp>
      <p:sp>
        <p:nvSpPr>
          <p:cNvPr id="27" name="Text 20"/>
          <p:cNvSpPr txBox="1"/>
          <p:nvPr/>
        </p:nvSpPr>
        <p:spPr>
          <a:xfrm>
            <a:off x="1657807" y="5838444"/>
            <a:ext cx="413400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200" dirty="0"/>
              <a:t>丁小</a:t>
            </a:r>
            <a:r>
              <a:rPr lang="zh-CN" altLang="en-US" sz="1200" dirty="0"/>
              <a:t>晶</a:t>
            </a:r>
            <a:endParaRPr lang="zh-CN" altLang="en-US" sz="1200" dirty="0"/>
          </a:p>
        </p:txBody>
      </p:sp>
      <p:pic>
        <p:nvPicPr>
          <p:cNvPr id="28" name="Image 5" descr="gen-dedup-54c5dda47b1282972c7e53140e27ba9b.png"/>
          <p:cNvPicPr>
            <a:picLocks noChangeAspect="1"/>
          </p:cNvPicPr>
          <p:nvPr/>
        </p:nvPicPr>
        <p:blipFill>
          <a:blip r:embed="rId5"/>
          <a:srcRect l="-2045" r="-2045"/>
          <a:stretch>
            <a:fillRect/>
          </a:stretch>
        </p:blipFill>
        <p:spPr>
          <a:xfrm>
            <a:off x="1657807" y="6277356"/>
            <a:ext cx="418795" cy="91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657985" y="6496050"/>
            <a:ext cx="4133850" cy="8070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95"/>
              </a:lnSpc>
              <a:buNone/>
            </a:pP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小度教育副总经理</a:t>
            </a:r>
            <a:r>
              <a:rPr lang="en-US" altLang="zh-CN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产研负责人</a:t>
            </a:r>
            <a:r>
              <a:rPr lang="en-US" altLang="zh-CN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拥有10年以上AI</a:t>
            </a: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陪伴类</a:t>
            </a: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智能硬件经验，负责产品定义、</a:t>
            </a: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技术规划</a:t>
            </a: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与整体商业推进。</a:t>
            </a:r>
            <a:endParaRPr lang="en-US" sz="1425" dirty="0"/>
          </a:p>
        </p:txBody>
      </p:sp>
      <p:sp>
        <p:nvSpPr>
          <p:cNvPr id="30" name="Text 22"/>
          <p:cNvSpPr txBox="1"/>
          <p:nvPr/>
        </p:nvSpPr>
        <p:spPr>
          <a:xfrm>
            <a:off x="7077456" y="5048402"/>
            <a:ext cx="413400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CTO</a:t>
            </a:r>
            <a:endParaRPr lang="en-US" sz="1125" dirty="0"/>
          </a:p>
        </p:txBody>
      </p:sp>
      <p:sp>
        <p:nvSpPr>
          <p:cNvPr id="31" name="Text 23"/>
          <p:cNvSpPr txBox="1"/>
          <p:nvPr/>
        </p:nvSpPr>
        <p:spPr>
          <a:xfrm>
            <a:off x="7077456" y="5362956"/>
            <a:ext cx="413400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AI大模型专家</a:t>
            </a:r>
            <a:endParaRPr lang="en-US" sz="2100" dirty="0"/>
          </a:p>
        </p:txBody>
      </p:sp>
      <p:sp>
        <p:nvSpPr>
          <p:cNvPr id="32" name="Text 24"/>
          <p:cNvSpPr txBox="1"/>
          <p:nvPr/>
        </p:nvSpPr>
        <p:spPr>
          <a:xfrm>
            <a:off x="7077456" y="5838444"/>
            <a:ext cx="413400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200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陶</a:t>
            </a:r>
            <a:r>
              <a:rPr lang="en-US" altLang="zh-CN" sz="1200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</a:t>
            </a:r>
            <a:endParaRPr lang="en-US" altLang="zh-CN" sz="1200" dirty="0">
              <a:solidFill>
                <a:srgbClr val="9A9A8E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33" name="Image 6" descr="gen-dedup-54c5dda47b1282972c7e53140e27ba9b.png"/>
          <p:cNvPicPr>
            <a:picLocks noChangeAspect="1"/>
          </p:cNvPicPr>
          <p:nvPr/>
        </p:nvPicPr>
        <p:blipFill>
          <a:blip r:embed="rId5"/>
          <a:srcRect l="-2045" r="-2045"/>
          <a:stretch>
            <a:fillRect/>
          </a:stretch>
        </p:blipFill>
        <p:spPr>
          <a:xfrm>
            <a:off x="7077456" y="6277356"/>
            <a:ext cx="418795" cy="914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077456" y="6495898"/>
            <a:ext cx="4134002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95"/>
              </a:lnSpc>
              <a:buNone/>
            </a:pP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美团</a:t>
            </a:r>
            <a:r>
              <a:rPr lang="en-US" altLang="zh-CN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&amp;</a:t>
            </a: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蔚来自动驾驶</a:t>
            </a:r>
            <a:r>
              <a:rPr lang="en-US" altLang="zh-CN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Infra</a:t>
            </a: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技术负责人</a:t>
            </a:r>
            <a:r>
              <a:rPr lang="en-US" altLang="zh-CN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负责核心AI架构、记忆系统与关系能力建设，主导 Mind&amp;</a:t>
            </a: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World Engine 的工程实现。</a:t>
            </a:r>
            <a:endParaRPr lang="en-US" sz="1425" dirty="0"/>
          </a:p>
        </p:txBody>
      </p:sp>
      <p:sp>
        <p:nvSpPr>
          <p:cNvPr id="35" name="Text 26"/>
          <p:cNvSpPr txBox="1"/>
          <p:nvPr/>
        </p:nvSpPr>
        <p:spPr>
          <a:xfrm>
            <a:off x="12497105" y="5048402"/>
            <a:ext cx="413400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HARDWARE LEAD</a:t>
            </a:r>
            <a:endParaRPr lang="en-US" sz="1125" dirty="0"/>
          </a:p>
        </p:txBody>
      </p:sp>
      <p:sp>
        <p:nvSpPr>
          <p:cNvPr id="36" name="Text 27"/>
          <p:cNvSpPr txBox="1"/>
          <p:nvPr/>
        </p:nvSpPr>
        <p:spPr>
          <a:xfrm>
            <a:off x="12497105" y="5362956"/>
            <a:ext cx="413400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硬件技术负责人</a:t>
            </a:r>
            <a:endParaRPr lang="en-US" sz="2100" dirty="0"/>
          </a:p>
        </p:txBody>
      </p:sp>
      <p:sp>
        <p:nvSpPr>
          <p:cNvPr id="37" name="Text 28"/>
          <p:cNvSpPr txBox="1"/>
          <p:nvPr/>
        </p:nvSpPr>
        <p:spPr>
          <a:xfrm>
            <a:off x="12497105" y="5838444"/>
            <a:ext cx="413400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200" dirty="0"/>
              <a:t>田</a:t>
            </a:r>
            <a:r>
              <a:rPr lang="en-US" altLang="zh-CN" sz="1200" dirty="0"/>
              <a:t>xx</a:t>
            </a:r>
            <a:endParaRPr lang="en-US" altLang="zh-CN" sz="1200" dirty="0"/>
          </a:p>
        </p:txBody>
      </p:sp>
      <p:pic>
        <p:nvPicPr>
          <p:cNvPr id="38" name="Image 7" descr="gen-dedup-54c5dda47b1282972c7e53140e27ba9b.png"/>
          <p:cNvPicPr>
            <a:picLocks noChangeAspect="1"/>
          </p:cNvPicPr>
          <p:nvPr/>
        </p:nvPicPr>
        <p:blipFill>
          <a:blip r:embed="rId5"/>
          <a:srcRect l="-2045" r="-2045"/>
          <a:stretch>
            <a:fillRect/>
          </a:stretch>
        </p:blipFill>
        <p:spPr>
          <a:xfrm>
            <a:off x="12497105" y="6277356"/>
            <a:ext cx="418795" cy="914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2497105" y="6495898"/>
            <a:ext cx="4134002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95"/>
              </a:lnSpc>
              <a:buNone/>
            </a:pP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小度教育硬件负责人</a:t>
            </a:r>
            <a:r>
              <a:rPr lang="en-US" altLang="zh-CN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20年行业经验，负责首款硬件的工程实现与供应链落地。</a:t>
            </a:r>
            <a:endParaRPr lang="en-US" sz="1425" dirty="0"/>
          </a:p>
        </p:txBody>
      </p:sp>
      <p:sp>
        <p:nvSpPr>
          <p:cNvPr id="40" name="Text 30"/>
          <p:cNvSpPr txBox="1"/>
          <p:nvPr/>
        </p:nvSpPr>
        <p:spPr>
          <a:xfrm>
            <a:off x="1657807" y="8477402"/>
            <a:ext cx="914400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当前进展</a:t>
            </a:r>
            <a:endParaRPr lang="en-US" sz="1050" dirty="0"/>
          </a:p>
        </p:txBody>
      </p:sp>
      <p:sp>
        <p:nvSpPr>
          <p:cNvPr id="41" name="Text 31"/>
          <p:cNvSpPr txBox="1"/>
          <p:nvPr/>
        </p:nvSpPr>
        <p:spPr>
          <a:xfrm>
            <a:off x="1657807" y="8781898"/>
            <a:ext cx="9144000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项目已完成第一阶段 prototype demo · 融资后将继续扩充关键岗位</a:t>
            </a:r>
            <a:endParaRPr lang="en-US" sz="1575" dirty="0"/>
          </a:p>
        </p:txBody>
      </p:sp>
      <p:sp>
        <p:nvSpPr>
          <p:cNvPr id="42" name="Text 32"/>
          <p:cNvSpPr txBox="1"/>
          <p:nvPr/>
        </p:nvSpPr>
        <p:spPr>
          <a:xfrm>
            <a:off x="11334902" y="8477402"/>
            <a:ext cx="533461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kern="0" spc="210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能力结构</a:t>
            </a:r>
            <a:endParaRPr lang="en-US" sz="1050" dirty="0"/>
          </a:p>
        </p:txBody>
      </p:sp>
      <p:sp>
        <p:nvSpPr>
          <p:cNvPr id="43" name="Text 33"/>
          <p:cNvSpPr txBox="1"/>
          <p:nvPr/>
        </p:nvSpPr>
        <p:spPr>
          <a:xfrm>
            <a:off x="11334902" y="8781898"/>
            <a:ext cx="5334610" cy="2770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架构 · </a:t>
            </a: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陪伴</a:t>
            </a: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 · 硬件量产</a:t>
            </a:r>
            <a:endParaRPr lang="en-US" sz="14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38098" y="3143707"/>
            <a:ext cx="7524598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6"/>
            </a:solidFill>
            <a:prstDash val="solid"/>
          </a:ln>
        </p:spPr>
      </p:sp>
      <p:pic>
        <p:nvPicPr>
          <p:cNvPr id="6" name="Image 2" descr="gen-dedup-347972c4979d0ab87ced4f92d607a412.png"/>
          <p:cNvPicPr>
            <a:picLocks noChangeAspect="1"/>
          </p:cNvPicPr>
          <p:nvPr/>
        </p:nvPicPr>
        <p:blipFill>
          <a:blip r:embed="rId2"/>
          <a:srcRect l="-2083" r="-2083"/>
          <a:stretch>
            <a:fillRect/>
          </a:stretch>
        </p:blipFill>
        <p:spPr>
          <a:xfrm>
            <a:off x="1238098" y="9068105"/>
            <a:ext cx="15811805" cy="9144"/>
          </a:xfrm>
          <a:prstGeom prst="rect">
            <a:avLst/>
          </a:prstGeom>
        </p:spPr>
      </p:pic>
      <p:pic>
        <p:nvPicPr>
          <p:cNvPr id="7" name="Image 3" descr="gen-dedup-0ae5947bcbed9a22dc8c36704d1be725.png"/>
          <p:cNvPicPr>
            <a:picLocks noChangeAspect="1"/>
          </p:cNvPicPr>
          <p:nvPr/>
        </p:nvPicPr>
        <p:blipFill>
          <a:blip r:embed="rId3"/>
          <a:srcRect l="-402" r="-402"/>
          <a:stretch>
            <a:fillRect/>
          </a:stretch>
        </p:blipFill>
        <p:spPr>
          <a:xfrm>
            <a:off x="1238098" y="3143707"/>
            <a:ext cx="7524598" cy="28346"/>
          </a:xfrm>
          <a:prstGeom prst="rect">
            <a:avLst/>
          </a:prstGeom>
        </p:spPr>
      </p:pic>
      <p:pic>
        <p:nvPicPr>
          <p:cNvPr id="8" name="Image 4" descr="gen-dedup-002180e1191cdf5c81b49534b2cd8ca4.png"/>
          <p:cNvPicPr>
            <a:picLocks noChangeAspect="1"/>
          </p:cNvPicPr>
          <p:nvPr/>
        </p:nvPicPr>
        <p:blipFill>
          <a:blip r:embed="rId4"/>
          <a:srcRect t="-2083" b="-2083"/>
          <a:stretch>
            <a:fillRect/>
          </a:stretch>
        </p:blipFill>
        <p:spPr>
          <a:xfrm>
            <a:off x="4990795" y="3638398"/>
            <a:ext cx="9144" cy="1714500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9525305" y="3733495"/>
            <a:ext cx="5334610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虚拟世界</a:t>
            </a:r>
            <a:r>
              <a:rPr lang="zh-CN" alt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完善</a:t>
            </a:r>
            <a:endParaRPr lang="zh-CN" altLang="en-US" sz="1800" dirty="0">
              <a:solidFill>
                <a:srgbClr val="16181D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0" name="Text 3"/>
          <p:cNvSpPr txBox="1"/>
          <p:nvPr/>
        </p:nvSpPr>
        <p:spPr>
          <a:xfrm>
            <a:off x="15906902" y="3733495"/>
            <a:ext cx="1143000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25%</a:t>
            </a:r>
            <a:endParaRPr lang="en-US" sz="2250" dirty="0"/>
          </a:p>
        </p:txBody>
      </p:sp>
      <p:pic>
        <p:nvPicPr>
          <p:cNvPr id="11" name="Image 5" descr="gen-dedup-5044c63faebd2674225f464894ba57ac.png"/>
          <p:cNvPicPr>
            <a:picLocks noChangeAspect="1"/>
          </p:cNvPicPr>
          <p:nvPr/>
        </p:nvPicPr>
        <p:blipFill>
          <a:blip r:embed="rId5"/>
          <a:srcRect l="-200" r="-200"/>
          <a:stretch>
            <a:fillRect/>
          </a:stretch>
        </p:blipFill>
        <p:spPr>
          <a:xfrm>
            <a:off x="9525305" y="4172407"/>
            <a:ext cx="7524598" cy="75895"/>
          </a:xfrm>
          <a:prstGeom prst="rect">
            <a:avLst/>
          </a:prstGeom>
        </p:spPr>
      </p:pic>
      <p:pic>
        <p:nvPicPr>
          <p:cNvPr id="12" name="Image 6" descr="gen-dedup-436d3f7de47af44381d2c61514ea9fe6.png"/>
          <p:cNvPicPr>
            <a:picLocks noChangeAspect="1"/>
          </p:cNvPicPr>
          <p:nvPr/>
        </p:nvPicPr>
        <p:blipFill>
          <a:blip r:embed="rId6"/>
          <a:srcRect l="-206" r="-206"/>
          <a:stretch>
            <a:fillRect/>
          </a:stretch>
        </p:blipFill>
        <p:spPr>
          <a:xfrm>
            <a:off x="9525000" y="4172585"/>
            <a:ext cx="1865630" cy="76200"/>
          </a:xfrm>
          <a:prstGeom prst="rect">
            <a:avLst/>
          </a:prstGeom>
        </p:spPr>
      </p:pic>
      <p:sp>
        <p:nvSpPr>
          <p:cNvPr id="13" name="Text 4"/>
          <p:cNvSpPr txBox="1"/>
          <p:nvPr/>
        </p:nvSpPr>
        <p:spPr>
          <a:xfrm>
            <a:off x="9525305" y="4401007"/>
            <a:ext cx="752551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世界系统、角色行为与持续运行能力</a:t>
            </a:r>
            <a:endParaRPr lang="en-US" sz="1200" dirty="0"/>
          </a:p>
        </p:txBody>
      </p:sp>
      <p:sp>
        <p:nvSpPr>
          <p:cNvPr id="14" name="Text 5"/>
          <p:cNvSpPr txBox="1"/>
          <p:nvPr/>
        </p:nvSpPr>
        <p:spPr>
          <a:xfrm>
            <a:off x="9525305" y="5009998"/>
            <a:ext cx="5334610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World Engine</a:t>
            </a:r>
            <a:r>
              <a:rPr lang="zh-CN" alt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建设</a:t>
            </a:r>
            <a:endParaRPr lang="zh-CN" altLang="en-US" sz="1800" dirty="0">
              <a:solidFill>
                <a:srgbClr val="16181D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5" name="Text 6"/>
          <p:cNvSpPr txBox="1"/>
          <p:nvPr/>
        </p:nvSpPr>
        <p:spPr>
          <a:xfrm>
            <a:off x="15906902" y="5009998"/>
            <a:ext cx="1143000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15%</a:t>
            </a:r>
            <a:endParaRPr lang="en-US" sz="2250" dirty="0"/>
          </a:p>
        </p:txBody>
      </p:sp>
      <p:pic>
        <p:nvPicPr>
          <p:cNvPr id="16" name="Image 7" descr="gen-dedup-5044c63faebd2674225f464894ba57ac.png"/>
          <p:cNvPicPr>
            <a:picLocks noChangeAspect="1"/>
          </p:cNvPicPr>
          <p:nvPr/>
        </p:nvPicPr>
        <p:blipFill>
          <a:blip r:embed="rId5"/>
          <a:srcRect l="-200" r="-200"/>
          <a:stretch>
            <a:fillRect/>
          </a:stretch>
        </p:blipFill>
        <p:spPr>
          <a:xfrm>
            <a:off x="9525305" y="5447995"/>
            <a:ext cx="7524598" cy="75895"/>
          </a:xfrm>
          <a:prstGeom prst="rect">
            <a:avLst/>
          </a:prstGeom>
        </p:spPr>
      </p:pic>
      <p:pic>
        <p:nvPicPr>
          <p:cNvPr id="17" name="Image 8" descr="gen-dedup-adf6798d697a5146748691119c50db89.png"/>
          <p:cNvPicPr>
            <a:picLocks noChangeAspect="1"/>
          </p:cNvPicPr>
          <p:nvPr/>
        </p:nvPicPr>
        <p:blipFill>
          <a:blip r:embed="rId7"/>
          <a:srcRect l="-199" r="-199"/>
          <a:stretch>
            <a:fillRect/>
          </a:stretch>
        </p:blipFill>
        <p:spPr>
          <a:xfrm>
            <a:off x="9525000" y="5447665"/>
            <a:ext cx="1205865" cy="76200"/>
          </a:xfrm>
          <a:prstGeom prst="rect">
            <a:avLst/>
          </a:prstGeom>
        </p:spPr>
      </p:pic>
      <p:sp>
        <p:nvSpPr>
          <p:cNvPr id="18" name="Text 7"/>
          <p:cNvSpPr txBox="1"/>
          <p:nvPr/>
        </p:nvSpPr>
        <p:spPr>
          <a:xfrm>
            <a:off x="9525305" y="5676595"/>
            <a:ext cx="752551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sz="1200">
                <a:solidFill>
                  <a:srgbClr val="7A7A6E"/>
                </a:solidFill>
                <a:latin typeface="Noto Sans SC"/>
                <a:sym typeface="+mn-ea"/>
              </a:rPr>
              <a:t>规则演算、事件执行、世界状态与实体生成底座</a:t>
            </a:r>
            <a:endParaRPr lang="en-US" sz="1200" dirty="0"/>
          </a:p>
        </p:txBody>
      </p:sp>
      <p:grpSp>
        <p:nvGrpSpPr>
          <p:cNvPr id="47" name="组合 46"/>
          <p:cNvGrpSpPr/>
          <p:nvPr/>
        </p:nvGrpSpPr>
        <p:grpSpPr>
          <a:xfrm>
            <a:off x="9525000" y="7343775"/>
            <a:ext cx="7525817" cy="895198"/>
            <a:chOff x="15000" y="9900"/>
            <a:chExt cx="11852" cy="1410"/>
          </a:xfrm>
        </p:grpSpPr>
        <p:sp>
          <p:nvSpPr>
            <p:cNvPr id="19" name="Text 8"/>
            <p:cNvSpPr txBox="1"/>
            <p:nvPr/>
          </p:nvSpPr>
          <p:spPr>
            <a:xfrm>
              <a:off x="15000" y="9900"/>
              <a:ext cx="8401" cy="52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首款电子吧唧研发</a:t>
              </a:r>
              <a:endParaRPr lang="en-US" sz="1800" dirty="0"/>
            </a:p>
          </p:txBody>
        </p:sp>
        <p:sp>
          <p:nvSpPr>
            <p:cNvPr id="20" name="Text 9"/>
            <p:cNvSpPr txBox="1"/>
            <p:nvPr/>
          </p:nvSpPr>
          <p:spPr>
            <a:xfrm>
              <a:off x="25050" y="9900"/>
              <a:ext cx="1800" cy="58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r">
                <a:buNone/>
              </a:pPr>
              <a:r>
                <a:rPr lang="en-US" sz="2250" b="1" dirty="0">
                  <a:solidFill>
                    <a:srgbClr val="B45309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30%</a:t>
              </a:r>
              <a:endParaRPr lang="en-US" sz="2250" dirty="0"/>
            </a:p>
          </p:txBody>
        </p:sp>
        <p:pic>
          <p:nvPicPr>
            <p:cNvPr id="21" name="Image 9" descr="gen-dedup-5044c63faebd2674225f464894ba57ac.png"/>
            <p:cNvPicPr>
              <a:picLocks noChangeAspect="1"/>
            </p:cNvPicPr>
            <p:nvPr/>
          </p:nvPicPr>
          <p:blipFill>
            <a:blip r:embed="rId5"/>
            <a:srcRect l="-200" r="-200"/>
            <a:stretch>
              <a:fillRect/>
            </a:stretch>
          </p:blipFill>
          <p:spPr>
            <a:xfrm>
              <a:off x="15000" y="10590"/>
              <a:ext cx="11850" cy="120"/>
            </a:xfrm>
            <a:prstGeom prst="rect">
              <a:avLst/>
            </a:prstGeom>
          </p:spPr>
        </p:pic>
        <p:pic>
          <p:nvPicPr>
            <p:cNvPr id="22" name="Image 10" descr="gen-dedup-9ae1a58e5553c9e512a086ffb9863f7d.png"/>
            <p:cNvPicPr>
              <a:picLocks noChangeAspect="1"/>
            </p:cNvPicPr>
            <p:nvPr/>
          </p:nvPicPr>
          <p:blipFill>
            <a:blip r:embed="rId8"/>
            <a:srcRect l="-206" r="-206"/>
            <a:stretch>
              <a:fillRect/>
            </a:stretch>
          </p:blipFill>
          <p:spPr>
            <a:xfrm>
              <a:off x="15000" y="10590"/>
              <a:ext cx="3754" cy="190"/>
            </a:xfrm>
            <a:prstGeom prst="rect">
              <a:avLst/>
            </a:prstGeom>
          </p:spPr>
        </p:pic>
        <p:sp>
          <p:nvSpPr>
            <p:cNvPr id="23" name="Text 10"/>
            <p:cNvSpPr txBox="1"/>
            <p:nvPr/>
          </p:nvSpPr>
          <p:spPr>
            <a:xfrm>
              <a:off x="15000" y="10950"/>
              <a:ext cx="11851" cy="36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sz="1200">
                  <a:solidFill>
                    <a:srgbClr val="7A7A6E"/>
                  </a:solidFill>
                  <a:latin typeface="Noto Sans SC"/>
                  <a:sym typeface="+mn-ea"/>
                </a:rPr>
                <a:t>硬件工程、供应链、量产验证与首款产品落地</a:t>
              </a:r>
              <a:endParaRPr lang="en-US" sz="1200" dirty="0"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9526575" y="6155207"/>
            <a:ext cx="7525512" cy="895198"/>
            <a:chOff x="15000" y="11910"/>
            <a:chExt cx="11851" cy="1410"/>
          </a:xfrm>
        </p:grpSpPr>
        <p:sp>
          <p:nvSpPr>
            <p:cNvPr id="24" name="Text 11"/>
            <p:cNvSpPr txBox="1"/>
            <p:nvPr/>
          </p:nvSpPr>
          <p:spPr>
            <a:xfrm>
              <a:off x="15000" y="11910"/>
              <a:ext cx="8401" cy="52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altLang="zh-CN" sz="1800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3D</a:t>
              </a:r>
              <a:r>
                <a:rPr lang="zh-CN" altLang="en-US" sz="1800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数字宠物桌面版</a:t>
              </a:r>
              <a:r>
                <a:rPr lang="zh-CN" altLang="en-US" sz="1800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迭代</a:t>
              </a:r>
              <a:endParaRPr lang="zh-CN" alt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endParaRPr>
            </a:p>
          </p:txBody>
        </p:sp>
        <p:sp>
          <p:nvSpPr>
            <p:cNvPr id="25" name="Text 12"/>
            <p:cNvSpPr txBox="1"/>
            <p:nvPr/>
          </p:nvSpPr>
          <p:spPr>
            <a:xfrm>
              <a:off x="25050" y="11910"/>
              <a:ext cx="1800" cy="58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r">
                <a:buNone/>
              </a:pPr>
              <a:r>
                <a:rPr lang="en-US" sz="2250" b="1" dirty="0">
                  <a:solidFill>
                    <a:srgbClr val="B45309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20%</a:t>
              </a:r>
              <a:endParaRPr lang="en-US" sz="2250" dirty="0"/>
            </a:p>
          </p:txBody>
        </p:sp>
        <p:pic>
          <p:nvPicPr>
            <p:cNvPr id="26" name="Image 11" descr="gen-dedup-5044c63faebd2674225f464894ba57ac.png"/>
            <p:cNvPicPr>
              <a:picLocks noChangeAspect="1"/>
            </p:cNvPicPr>
            <p:nvPr/>
          </p:nvPicPr>
          <p:blipFill>
            <a:blip r:embed="rId5"/>
            <a:srcRect l="-200" r="-200"/>
            <a:stretch>
              <a:fillRect/>
            </a:stretch>
          </p:blipFill>
          <p:spPr>
            <a:xfrm>
              <a:off x="15000" y="12600"/>
              <a:ext cx="11850" cy="120"/>
            </a:xfrm>
            <a:prstGeom prst="rect">
              <a:avLst/>
            </a:prstGeom>
          </p:spPr>
        </p:pic>
        <p:sp>
          <p:nvSpPr>
            <p:cNvPr id="28" name="Text 14"/>
            <p:cNvSpPr txBox="1"/>
            <p:nvPr/>
          </p:nvSpPr>
          <p:spPr>
            <a:xfrm>
              <a:off x="15000" y="12960"/>
              <a:ext cx="11851" cy="36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sz="1200">
                  <a:solidFill>
                    <a:srgbClr val="7A7A6E"/>
                  </a:solidFill>
                  <a:latin typeface="Noto Sans SC"/>
                  <a:sym typeface="+mn-ea"/>
                </a:rPr>
                <a:t>3D 表现、交互体验、桌面常驻与用户增长能力</a:t>
              </a:r>
              <a:endParaRPr lang="en-US" sz="1200" dirty="0"/>
            </a:p>
          </p:txBody>
        </p:sp>
      </p:grpSp>
      <p:sp>
        <p:nvSpPr>
          <p:cNvPr id="29" name="Text 15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融资计划</a:t>
            </a:r>
            <a:endParaRPr lang="en-US" sz="1125" dirty="0"/>
          </a:p>
        </p:txBody>
      </p:sp>
      <p:sp>
        <p:nvSpPr>
          <p:cNvPr id="30" name="Text 16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本轮融资计划：用2000万跑通「关系世界 + 硬件入口」的关键闭环</a:t>
            </a:r>
            <a:endParaRPr lang="en-US" sz="3450" dirty="0"/>
          </a:p>
        </p:txBody>
      </p:sp>
      <p:sp>
        <p:nvSpPr>
          <p:cNvPr id="31" name="Text 17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以2亿元估值融资2000万元，完成世界构建与首款电子吧唧落地</a:t>
            </a:r>
            <a:endParaRPr lang="en-US" sz="1725" dirty="0"/>
          </a:p>
        </p:txBody>
      </p:sp>
      <p:sp>
        <p:nvSpPr>
          <p:cNvPr id="32" name="Text 18"/>
          <p:cNvSpPr txBox="1"/>
          <p:nvPr/>
        </p:nvSpPr>
        <p:spPr>
          <a:xfrm>
            <a:off x="1657807" y="3543300"/>
            <a:ext cx="304861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22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 / 团队估值</a:t>
            </a:r>
            <a:endParaRPr lang="en-US" sz="1125" dirty="0"/>
          </a:p>
        </p:txBody>
      </p:sp>
      <p:sp>
        <p:nvSpPr>
          <p:cNvPr id="33" name="Text 19"/>
          <p:cNvSpPr txBox="1"/>
          <p:nvPr/>
        </p:nvSpPr>
        <p:spPr>
          <a:xfrm>
            <a:off x="1657807" y="3972154"/>
            <a:ext cx="3048610" cy="8769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90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r>
              <a:rPr lang="en-US" sz="300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亿元</a:t>
            </a:r>
            <a:endParaRPr lang="en-US" sz="6900" dirty="0"/>
          </a:p>
        </p:txBody>
      </p:sp>
      <p:sp>
        <p:nvSpPr>
          <p:cNvPr id="34" name="Text 20"/>
          <p:cNvSpPr txBox="1"/>
          <p:nvPr/>
        </p:nvSpPr>
        <p:spPr>
          <a:xfrm>
            <a:off x="1657807" y="5076749"/>
            <a:ext cx="3048610" cy="2386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投前估值</a:t>
            </a:r>
            <a:endParaRPr lang="en-US" sz="1275" dirty="0"/>
          </a:p>
        </p:txBody>
      </p:sp>
      <p:sp>
        <p:nvSpPr>
          <p:cNvPr id="35" name="Text 21"/>
          <p:cNvSpPr txBox="1"/>
          <p:nvPr/>
        </p:nvSpPr>
        <p:spPr>
          <a:xfrm>
            <a:off x="5562295" y="3543300"/>
            <a:ext cx="285750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22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本轮计划融资</a:t>
            </a:r>
            <a:endParaRPr lang="en-US" sz="1125" dirty="0"/>
          </a:p>
        </p:txBody>
      </p:sp>
      <p:sp>
        <p:nvSpPr>
          <p:cNvPr id="36" name="Text 22"/>
          <p:cNvSpPr txBox="1"/>
          <p:nvPr/>
        </p:nvSpPr>
        <p:spPr>
          <a:xfrm>
            <a:off x="5562295" y="3972154"/>
            <a:ext cx="3776472" cy="8769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90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2000</a:t>
            </a:r>
            <a:r>
              <a:rPr lang="en-US" sz="300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万</a:t>
            </a:r>
            <a:endParaRPr lang="en-US" sz="6900" dirty="0"/>
          </a:p>
        </p:txBody>
      </p:sp>
      <p:sp>
        <p:nvSpPr>
          <p:cNvPr id="37" name="Text 23"/>
          <p:cNvSpPr txBox="1"/>
          <p:nvPr/>
        </p:nvSpPr>
        <p:spPr>
          <a:xfrm>
            <a:off x="5562295" y="5076749"/>
            <a:ext cx="2857500" cy="2386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人民币</a:t>
            </a:r>
            <a:endParaRPr lang="en-US" sz="1275" dirty="0"/>
          </a:p>
        </p:txBody>
      </p:sp>
      <p:sp>
        <p:nvSpPr>
          <p:cNvPr id="38" name="Text 24"/>
          <p:cNvSpPr txBox="1"/>
          <p:nvPr/>
        </p:nvSpPr>
        <p:spPr>
          <a:xfrm>
            <a:off x="1238098" y="6248095"/>
            <a:ext cx="7525512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本轮亮点</a:t>
            </a:r>
            <a:endParaRPr lang="en-US" sz="1050" dirty="0"/>
          </a:p>
        </p:txBody>
      </p:sp>
      <p:sp>
        <p:nvSpPr>
          <p:cNvPr id="39" name="Shape 25"/>
          <p:cNvSpPr/>
          <p:nvPr/>
        </p:nvSpPr>
        <p:spPr>
          <a:xfrm>
            <a:off x="1238098" y="6983806"/>
            <a:ext cx="66751" cy="66751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6"/>
          <p:cNvSpPr txBox="1"/>
          <p:nvPr/>
        </p:nvSpPr>
        <p:spPr>
          <a:xfrm>
            <a:off x="1495044" y="6705295"/>
            <a:ext cx="4677156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已完成第一阶段 prototype demo，</a:t>
            </a:r>
            <a:r>
              <a:rPr lang="zh-CN" altLang="en-US" sz="1500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虚拟世界</a:t>
            </a:r>
            <a:r>
              <a:rPr lang="zh-CN" altLang="en-US" sz="1500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跑通</a:t>
            </a:r>
            <a:endParaRPr lang="zh-CN" altLang="en-US" sz="1500" dirty="0">
              <a:solidFill>
                <a:srgbClr val="33332C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1" name="Shape 27"/>
          <p:cNvSpPr/>
          <p:nvPr/>
        </p:nvSpPr>
        <p:spPr>
          <a:xfrm>
            <a:off x="1238098" y="7715479"/>
            <a:ext cx="66751" cy="66751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28"/>
          <p:cNvSpPr txBox="1"/>
          <p:nvPr/>
        </p:nvSpPr>
        <p:spPr>
          <a:xfrm>
            <a:off x="1494790" y="7410450"/>
            <a:ext cx="467487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Mind Engine 三层能力已跑通主链路，具备工程化基础</a:t>
            </a:r>
            <a:endParaRPr lang="en-US" sz="1500" dirty="0"/>
          </a:p>
        </p:txBody>
      </p:sp>
      <p:sp>
        <p:nvSpPr>
          <p:cNvPr id="43" name="Shape 29"/>
          <p:cNvSpPr/>
          <p:nvPr/>
        </p:nvSpPr>
        <p:spPr>
          <a:xfrm>
            <a:off x="1238098" y="8391271"/>
            <a:ext cx="66751" cy="66751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0"/>
          <p:cNvSpPr txBox="1"/>
          <p:nvPr/>
        </p:nvSpPr>
        <p:spPr>
          <a:xfrm>
            <a:off x="1495044" y="8115300"/>
            <a:ext cx="4191610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zh-CN" altLang="en-US" sz="1500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桌面版数字宠物已经发布</a:t>
            </a:r>
            <a:endParaRPr lang="en-US" sz="1500" dirty="0"/>
          </a:p>
        </p:txBody>
      </p:sp>
      <p:sp>
        <p:nvSpPr>
          <p:cNvPr id="45" name="Text 31"/>
          <p:cNvSpPr txBox="1"/>
          <p:nvPr/>
        </p:nvSpPr>
        <p:spPr>
          <a:xfrm>
            <a:off x="9525305" y="3143707"/>
            <a:ext cx="7525512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资金用途分配 · 示意比例</a:t>
            </a:r>
            <a:endParaRPr lang="en-US" sz="1050" dirty="0"/>
          </a:p>
        </p:txBody>
      </p:sp>
      <p:sp>
        <p:nvSpPr>
          <p:cNvPr id="46" name="Text 32"/>
          <p:cNvSpPr txBox="1"/>
          <p:nvPr/>
        </p:nvSpPr>
        <p:spPr>
          <a:xfrm>
            <a:off x="1238098" y="9353398"/>
            <a:ext cx="15811805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阶段目标：将原型升级为可运营版本，并完成首款硬件从概念验证到可交付形态。</a:t>
            </a:r>
            <a:endParaRPr lang="en-US" sz="1350" dirty="0"/>
          </a:p>
        </p:txBody>
      </p:sp>
      <p:pic>
        <p:nvPicPr>
          <p:cNvPr id="49" name="Image 6" descr="gen-dedup-436d3f7de47af44381d2c61514ea9fe6.png"/>
          <p:cNvPicPr>
            <a:picLocks noChangeAspect="1"/>
          </p:cNvPicPr>
          <p:nvPr/>
        </p:nvPicPr>
        <p:blipFill>
          <a:blip r:embed="rId6"/>
          <a:srcRect l="-206" r="-206"/>
          <a:stretch>
            <a:fillRect/>
          </a:stretch>
        </p:blipFill>
        <p:spPr>
          <a:xfrm>
            <a:off x="9526270" y="6592570"/>
            <a:ext cx="1676400" cy="768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4330</Words>
  <Application>WPS 演示</Application>
  <PresentationFormat>On-screen Show (16:9)</PresentationFormat>
  <Paragraphs>501</Paragraphs>
  <Slides>11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46" baseType="lpstr">
      <vt:lpstr>Arial</vt:lpstr>
      <vt:lpstr>宋体</vt:lpstr>
      <vt:lpstr>Wingdings</vt:lpstr>
      <vt:lpstr>Noto Sans SC</vt:lpstr>
      <vt:lpstr>苹方-简</vt:lpstr>
      <vt:lpstr>Noto Sans SC</vt:lpstr>
      <vt:lpstr>Noto Sans SC</vt:lpstr>
      <vt:lpstr>Noto Serif SC</vt:lpstr>
      <vt:lpstr>Noto Serif SC</vt:lpstr>
      <vt:lpstr>Noto Serif SC</vt:lpstr>
      <vt:lpstr>IBM Plex Sans</vt:lpstr>
      <vt:lpstr>IBM Plex Sans</vt:lpstr>
      <vt:lpstr>IBM Plex Sans</vt:lpstr>
      <vt:lpstr>Noto Sans SC</vt:lpstr>
      <vt:lpstr>Wingdings</vt:lpstr>
      <vt:lpstr>微软雅黑</vt:lpstr>
      <vt:lpstr>汉仪旗黑</vt:lpstr>
      <vt:lpstr>微软雅黑</vt:lpstr>
      <vt:lpstr>微软雅黑</vt:lpstr>
      <vt:lpstr>Noto Serif SC</vt:lpstr>
      <vt:lpstr>Aptos</vt:lpstr>
      <vt:lpstr>Helvetica Neue</vt:lpstr>
      <vt:lpstr>Calibri</vt:lpstr>
      <vt:lpstr>宋体</vt:lpstr>
      <vt:lpstr>汉仪书宋二KW</vt:lpstr>
      <vt:lpstr>Arial Unicode MS</vt:lpstr>
      <vt:lpstr>等线</vt:lpstr>
      <vt:lpstr>汉仪中等线KW</vt:lpstr>
      <vt:lpstr>Aptos</vt:lpstr>
      <vt:lpstr>Arial</vt:lpstr>
      <vt:lpstr>微软雅黑</vt:lpstr>
      <vt:lpstr>Noto Sans Oriya Regular</vt:lpstr>
      <vt:lpstr>Noto Sans CJK SC</vt:lpstr>
      <vt:lpstr>Thonburi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微信用户</cp:lastModifiedBy>
  <cp:revision>72</cp:revision>
  <dcterms:created xsi:type="dcterms:W3CDTF">2026-08-15T02:21:41Z</dcterms:created>
  <dcterms:modified xsi:type="dcterms:W3CDTF">2026-08-15T02:21:41Z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D4C503D70696E6EAB63B7F6A2B96296C_43</vt:lpwstr>
  </property>
</Properties>
</file>